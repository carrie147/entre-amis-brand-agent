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6.xml"/>
  <Override ContentType="application/vnd.openxmlformats-officedocument.presentationml.slideMaster+xml" PartName="/ppt/slideMasters/slideMaster5.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7.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3" r:id="rId4"/>
    <p:sldMasterId id="2147483674" r:id="rId5"/>
    <p:sldMasterId id="2147483675" r:id="rId6"/>
    <p:sldMasterId id="2147483676" r:id="rId7"/>
    <p:sldMasterId id="2147483677" r:id="rId8"/>
    <p:sldMasterId id="2147483678" r:id="rId9"/>
  </p:sldMasterIdLst>
  <p:notesMasterIdLst>
    <p:notesMasterId r:id="rId10"/>
  </p:notesMasterIdLst>
  <p:sldIdLst>
    <p:sldId id="256" r:id="rId11"/>
    <p:sldId id="257" r:id="rId12"/>
    <p:sldId id="258" r:id="rId13"/>
    <p:sldId id="259" r:id="rId14"/>
    <p:sldId id="260" r:id="rId15"/>
    <p:sldId id="261" r:id="rId16"/>
    <p:sldId id="263" r:id="rId18"/>
    <p:sldId id="264" r:id="rId19"/>
    <p:sldId id="265" r:id="rId20"/>
    <p:sldId id="266" r:id="rId21"/>
    <p:sldId id="267" r:id="rId22"/>
    <p:sldId id="268" r:id="rId23"/>
    <p:sldId id="269" r:id="rId24"/>
    <p:sldId id="270" r:id="rId25"/>
    <p:sldId id="271" r:id="rId26"/>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 id="285" r:id="rId40"/>
    <p:sldId id="286" r:id="rId41"/>
    <p:sldId id="287" r:id="rId42"/>
    <p:sldId id="288" r:id="rId43"/>
    <p:sldId id="289" r:id="rId44"/>
    <p:sldId id="290" r:id="rId45"/>
    <p:sldId id="291" r:id="rId46"/>
    <p:sldId id="292" r:id="rId47"/>
    <p:sldId id="293" r:id="rId48"/>
    <p:sldId id="294" r:id="rId49"/>
    <p:sldId id="295" r:id="rId50"/>
    <p:sldId id="296" r:id="rId51"/>
    <p:sldId id="297" r:id="rId52"/>
  </p:sldIdLst>
  <p:sldSz cy="6858000" cx="12192000"/>
  <p:notesSz cx="6858000" cy="12192000"/>
  <p:embeddedFontLst>
    <p:embeddedFont>
      <p:font typeface="Raleway SemiBold"/>
      <p:regular r:id="rId53"/>
      <p:bold r:id="rId54"/>
      <p:italic r:id="rId55"/>
      <p:boldItalic r:id="rId56"/>
    </p:embeddedFont>
    <p:embeddedFont>
      <p:font typeface="Raleway"/>
      <p:regular r:id="rId57"/>
      <p:bold r:id="rId58"/>
      <p:italic r:id="rId59"/>
      <p:boldItalic r:id="rId60"/>
    </p:embeddedFont>
    <p:embeddedFont>
      <p:font typeface="Raleway Light"/>
      <p:regular r:id="rId61"/>
      <p:bold r:id="rId62"/>
      <p:italic r:id="rId63"/>
      <p:boldItalic r:id="rId6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55FC373-D6BC-4E09-A9F9-84234A3C0306}">
  <a:tblStyle styleId="{655FC373-D6BC-4E09-A9F9-84234A3C0306}"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A1FAD5FD-ADFC-4D4B-842D-70D263419EB3}" styleName="Table_1">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BFD34F20-732D-4E8D-BD15-E54F2CFFFAEF}" styleName="Table_2">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BF5"/>
          </a:solidFill>
        </a:fill>
      </a:tcStyle>
    </a:wholeTbl>
    <a:band1H>
      <a:tcTxStyle/>
      <a:tcStyle>
        <a:fill>
          <a:solidFill>
            <a:srgbClr val="CDD4EA"/>
          </a:solidFill>
        </a:fill>
      </a:tcStyle>
    </a:band1H>
    <a:band2H>
      <a:tcTxStyle/>
    </a:band2H>
    <a:band1V>
      <a:tcTxStyle/>
      <a:tcStyle>
        <a:fill>
          <a:solidFill>
            <a:srgbClr val="CDD4EA"/>
          </a:solidFill>
        </a:fill>
      </a:tcStyle>
    </a:band1V>
    <a:band2V>
      <a:tcTxStyle/>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_rels/presentation.xml.rels><?xml version="1.0" encoding="utf-8"?><Relationships xmlns="http://schemas.openxmlformats.org/package/2006/relationships"><Relationship Id="rId40" Type="http://schemas.openxmlformats.org/officeDocument/2006/relationships/slide" Target="slides/slide30.xml"/><Relationship Id="rId42" Type="http://schemas.openxmlformats.org/officeDocument/2006/relationships/slide" Target="slides/slide32.xml"/><Relationship Id="rId41" Type="http://schemas.openxmlformats.org/officeDocument/2006/relationships/slide" Target="slides/slide31.xml"/><Relationship Id="rId44" Type="http://schemas.openxmlformats.org/officeDocument/2006/relationships/slide" Target="slides/slide34.xml"/><Relationship Id="rId43" Type="http://schemas.openxmlformats.org/officeDocument/2006/relationships/slide" Target="slides/slide33.xml"/><Relationship Id="rId46" Type="http://schemas.openxmlformats.org/officeDocument/2006/relationships/slide" Target="slides/slide36.xml"/><Relationship Id="rId45" Type="http://schemas.openxmlformats.org/officeDocument/2006/relationships/slide" Target="slides/slide35.xml"/><Relationship Id="rId1" Type="http://schemas.openxmlformats.org/officeDocument/2006/relationships/theme" Target="theme/theme7.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Master" Target="slideMasters/slideMaster6.xml"/><Relationship Id="rId48" Type="http://schemas.openxmlformats.org/officeDocument/2006/relationships/slide" Target="slides/slide38.xml"/><Relationship Id="rId47" Type="http://schemas.openxmlformats.org/officeDocument/2006/relationships/slide" Target="slides/slide37.xml"/><Relationship Id="rId49" Type="http://schemas.openxmlformats.org/officeDocument/2006/relationships/slide" Target="slides/slide39.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Master" Target="slideMasters/slideMaster5.xml"/><Relationship Id="rId31" Type="http://schemas.openxmlformats.org/officeDocument/2006/relationships/slide" Target="slides/slide21.xml"/><Relationship Id="rId30" Type="http://schemas.openxmlformats.org/officeDocument/2006/relationships/slide" Target="slides/slide20.xml"/><Relationship Id="rId33" Type="http://schemas.openxmlformats.org/officeDocument/2006/relationships/slide" Target="slides/slide23.xml"/><Relationship Id="rId32" Type="http://schemas.openxmlformats.org/officeDocument/2006/relationships/slide" Target="slides/slide22.xml"/><Relationship Id="rId35" Type="http://schemas.openxmlformats.org/officeDocument/2006/relationships/slide" Target="slides/slide25.xml"/><Relationship Id="rId34" Type="http://schemas.openxmlformats.org/officeDocument/2006/relationships/slide" Target="slides/slide24.xml"/><Relationship Id="rId37" Type="http://schemas.openxmlformats.org/officeDocument/2006/relationships/slide" Target="slides/slide27.xml"/><Relationship Id="rId36" Type="http://schemas.openxmlformats.org/officeDocument/2006/relationships/slide" Target="slides/slide26.xml"/><Relationship Id="rId39" Type="http://schemas.openxmlformats.org/officeDocument/2006/relationships/slide" Target="slides/slide29.xml"/><Relationship Id="rId38" Type="http://schemas.openxmlformats.org/officeDocument/2006/relationships/slide" Target="slides/slide28.xml"/><Relationship Id="rId62" Type="http://schemas.openxmlformats.org/officeDocument/2006/relationships/font" Target="fonts/RalewayLight-bold.fntdata"/><Relationship Id="rId61" Type="http://schemas.openxmlformats.org/officeDocument/2006/relationships/font" Target="fonts/RalewayLight-regular.fntdata"/><Relationship Id="rId20" Type="http://schemas.openxmlformats.org/officeDocument/2006/relationships/slide" Target="slides/slide10.xml"/><Relationship Id="rId64" Type="http://schemas.openxmlformats.org/officeDocument/2006/relationships/font" Target="fonts/RalewayLight-boldItalic.fntdata"/><Relationship Id="rId63" Type="http://schemas.openxmlformats.org/officeDocument/2006/relationships/font" Target="fonts/RalewayLight-italic.fntdata"/><Relationship Id="rId22" Type="http://schemas.openxmlformats.org/officeDocument/2006/relationships/slide" Target="slides/slide12.xml"/><Relationship Id="rId21" Type="http://schemas.openxmlformats.org/officeDocument/2006/relationships/slide" Target="slides/slide11.xml"/><Relationship Id="rId24" Type="http://schemas.openxmlformats.org/officeDocument/2006/relationships/slide" Target="slides/slide14.xml"/><Relationship Id="rId23" Type="http://schemas.openxmlformats.org/officeDocument/2006/relationships/slide" Target="slides/slide13.xml"/><Relationship Id="rId60" Type="http://schemas.openxmlformats.org/officeDocument/2006/relationships/font" Target="fonts/Raleway-boldItalic.fntdata"/><Relationship Id="rId26" Type="http://schemas.openxmlformats.org/officeDocument/2006/relationships/slide" Target="slides/slide16.xml"/><Relationship Id="rId25" Type="http://schemas.openxmlformats.org/officeDocument/2006/relationships/slide" Target="slides/slide15.xml"/><Relationship Id="rId28" Type="http://schemas.openxmlformats.org/officeDocument/2006/relationships/slide" Target="slides/slide18.xml"/><Relationship Id="rId27" Type="http://schemas.openxmlformats.org/officeDocument/2006/relationships/slide" Target="slides/slide17.xml"/><Relationship Id="rId29" Type="http://schemas.openxmlformats.org/officeDocument/2006/relationships/slide" Target="slides/slide19.xml"/><Relationship Id="rId51" Type="http://schemas.openxmlformats.org/officeDocument/2006/relationships/slide" Target="slides/slide41.xml"/><Relationship Id="rId50" Type="http://schemas.openxmlformats.org/officeDocument/2006/relationships/slide" Target="slides/slide40.xml"/><Relationship Id="rId53" Type="http://schemas.openxmlformats.org/officeDocument/2006/relationships/font" Target="fonts/RalewaySemiBold-regular.fntdata"/><Relationship Id="rId52" Type="http://schemas.openxmlformats.org/officeDocument/2006/relationships/slide" Target="slides/slide42.xml"/><Relationship Id="rId11" Type="http://schemas.openxmlformats.org/officeDocument/2006/relationships/slide" Target="slides/slide1.xml"/><Relationship Id="rId55" Type="http://schemas.openxmlformats.org/officeDocument/2006/relationships/font" Target="fonts/RalewaySemiBold-italic.fntdata"/><Relationship Id="rId10" Type="http://schemas.openxmlformats.org/officeDocument/2006/relationships/notesMaster" Target="notesMasters/notesMaster1.xml"/><Relationship Id="rId54" Type="http://schemas.openxmlformats.org/officeDocument/2006/relationships/font" Target="fonts/RalewaySemiBold-bold.fntdata"/><Relationship Id="rId13" Type="http://schemas.openxmlformats.org/officeDocument/2006/relationships/slide" Target="slides/slide3.xml"/><Relationship Id="rId57" Type="http://schemas.openxmlformats.org/officeDocument/2006/relationships/font" Target="fonts/Raleway-regular.fntdata"/><Relationship Id="rId12" Type="http://schemas.openxmlformats.org/officeDocument/2006/relationships/slide" Target="slides/slide2.xml"/><Relationship Id="rId56" Type="http://schemas.openxmlformats.org/officeDocument/2006/relationships/font" Target="fonts/RalewaySemiBold-boldItalic.fntdata"/><Relationship Id="rId15" Type="http://schemas.openxmlformats.org/officeDocument/2006/relationships/slide" Target="slides/slide5.xml"/><Relationship Id="rId59" Type="http://schemas.openxmlformats.org/officeDocument/2006/relationships/font" Target="fonts/Raleway-italic.fntdata"/><Relationship Id="rId14" Type="http://schemas.openxmlformats.org/officeDocument/2006/relationships/slide" Target="slides/slide4.xml"/><Relationship Id="rId58" Type="http://schemas.openxmlformats.org/officeDocument/2006/relationships/font" Target="fonts/Raleway-bold.fntdata"/><Relationship Id="rId16" Type="http://schemas.openxmlformats.org/officeDocument/2006/relationships/slide" Target="slides/slide6.xml"/><Relationship Id="rId19" Type="http://schemas.openxmlformats.org/officeDocument/2006/relationships/slide" Target="slides/slide9.xml"/><Relationship Id="rId18"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Raleway Light"/>
                <a:ea typeface="Raleway Light"/>
                <a:cs typeface="Raleway Light"/>
                <a:sym typeface="Raleway Light"/>
              </a:defRPr>
            </a:lvl1pPr>
            <a:lvl2pPr lvl="1"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Raleway Light"/>
                <a:ea typeface="Raleway Light"/>
                <a:cs typeface="Raleway Light"/>
                <a:sym typeface="Raleway Light"/>
              </a:defRPr>
            </a:lvl2pPr>
            <a:lvl3pPr lvl="2"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Raleway Light"/>
                <a:ea typeface="Raleway Light"/>
                <a:cs typeface="Raleway Light"/>
                <a:sym typeface="Raleway Light"/>
              </a:defRPr>
            </a:lvl3pPr>
            <a:lvl4pPr lvl="3"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Raleway Light"/>
                <a:ea typeface="Raleway Light"/>
                <a:cs typeface="Raleway Light"/>
                <a:sym typeface="Raleway Light"/>
              </a:defRPr>
            </a:lvl4pPr>
            <a:lvl5pPr lvl="4"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Raleway Light"/>
                <a:ea typeface="Raleway Light"/>
                <a:cs typeface="Raleway Light"/>
                <a:sym typeface="Raleway Light"/>
              </a:defRPr>
            </a:lvl5pPr>
            <a:lvl6pPr lvl="5"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Raleway Light"/>
                <a:ea typeface="Raleway Light"/>
                <a:cs typeface="Raleway Light"/>
                <a:sym typeface="Raleway Light"/>
              </a:defRPr>
            </a:lvl6pPr>
            <a:lvl7pPr lvl="6"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Raleway Light"/>
                <a:ea typeface="Raleway Light"/>
                <a:cs typeface="Raleway Light"/>
                <a:sym typeface="Raleway Light"/>
              </a:defRPr>
            </a:lvl7pPr>
            <a:lvl8pPr lvl="7"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Raleway Light"/>
                <a:ea typeface="Raleway Light"/>
                <a:cs typeface="Raleway Light"/>
                <a:sym typeface="Raleway Light"/>
              </a:defRPr>
            </a:lvl8pPr>
            <a:lvl9pPr lvl="8"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Raleway Light"/>
                <a:ea typeface="Raleway Light"/>
                <a:cs typeface="Raleway Light"/>
                <a:sym typeface="Raleway Light"/>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Raleway Light"/>
                <a:ea typeface="Raleway Light"/>
                <a:cs typeface="Raleway Light"/>
                <a:sym typeface="Raleway Light"/>
              </a:defRPr>
            </a:lvl1pPr>
            <a:lvl2pPr lvl="1"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Raleway Light"/>
                <a:ea typeface="Raleway Light"/>
                <a:cs typeface="Raleway Light"/>
                <a:sym typeface="Raleway Light"/>
              </a:defRPr>
            </a:lvl2pPr>
            <a:lvl3pPr lvl="2"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Raleway Light"/>
                <a:ea typeface="Raleway Light"/>
                <a:cs typeface="Raleway Light"/>
                <a:sym typeface="Raleway Light"/>
              </a:defRPr>
            </a:lvl3pPr>
            <a:lvl4pPr lvl="3"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Raleway Light"/>
                <a:ea typeface="Raleway Light"/>
                <a:cs typeface="Raleway Light"/>
                <a:sym typeface="Raleway Light"/>
              </a:defRPr>
            </a:lvl4pPr>
            <a:lvl5pPr lvl="4"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Raleway Light"/>
                <a:ea typeface="Raleway Light"/>
                <a:cs typeface="Raleway Light"/>
                <a:sym typeface="Raleway Light"/>
              </a:defRPr>
            </a:lvl5pPr>
            <a:lvl6pPr lvl="5"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Raleway Light"/>
                <a:ea typeface="Raleway Light"/>
                <a:cs typeface="Raleway Light"/>
                <a:sym typeface="Raleway Light"/>
              </a:defRPr>
            </a:lvl6pPr>
            <a:lvl7pPr lvl="6"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Raleway Light"/>
                <a:ea typeface="Raleway Light"/>
                <a:cs typeface="Raleway Light"/>
                <a:sym typeface="Raleway Light"/>
              </a:defRPr>
            </a:lvl7pPr>
            <a:lvl8pPr lvl="7"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Raleway Light"/>
                <a:ea typeface="Raleway Light"/>
                <a:cs typeface="Raleway Light"/>
                <a:sym typeface="Raleway Light"/>
              </a:defRPr>
            </a:lvl8pPr>
            <a:lvl9pPr lvl="8"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Raleway Light"/>
                <a:ea typeface="Raleway Light"/>
                <a:cs typeface="Raleway Light"/>
                <a:sym typeface="Raleway Light"/>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Raleway Light"/>
                <a:ea typeface="Raleway Light"/>
                <a:cs typeface="Raleway Light"/>
                <a:sym typeface="Raleway Light"/>
              </a:defRPr>
            </a:lvl1pPr>
            <a:lvl2pPr indent="-228600" lvl="1" marL="9144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Raleway Light"/>
                <a:ea typeface="Raleway Light"/>
                <a:cs typeface="Raleway Light"/>
                <a:sym typeface="Raleway Light"/>
              </a:defRPr>
            </a:lvl2pPr>
            <a:lvl3pPr indent="-228600" lvl="2" marL="13716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Raleway Light"/>
                <a:ea typeface="Raleway Light"/>
                <a:cs typeface="Raleway Light"/>
                <a:sym typeface="Raleway Light"/>
              </a:defRPr>
            </a:lvl3pPr>
            <a:lvl4pPr indent="-228600" lvl="3" marL="18288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Raleway Light"/>
                <a:ea typeface="Raleway Light"/>
                <a:cs typeface="Raleway Light"/>
                <a:sym typeface="Raleway Light"/>
              </a:defRPr>
            </a:lvl4pPr>
            <a:lvl5pPr indent="-228600" lvl="4" marL="22860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Raleway Light"/>
                <a:ea typeface="Raleway Light"/>
                <a:cs typeface="Raleway Light"/>
                <a:sym typeface="Raleway Light"/>
              </a:defRPr>
            </a:lvl5pPr>
            <a:lvl6pPr indent="-228600" lvl="5" marL="27432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Raleway Light"/>
                <a:ea typeface="Raleway Light"/>
                <a:cs typeface="Raleway Light"/>
                <a:sym typeface="Raleway Light"/>
              </a:defRPr>
            </a:lvl6pPr>
            <a:lvl7pPr indent="-228600" lvl="6" marL="32004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Raleway Light"/>
                <a:ea typeface="Raleway Light"/>
                <a:cs typeface="Raleway Light"/>
                <a:sym typeface="Raleway Light"/>
              </a:defRPr>
            </a:lvl7pPr>
            <a:lvl8pPr indent="-228600" lvl="7" marL="36576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Raleway Light"/>
                <a:ea typeface="Raleway Light"/>
                <a:cs typeface="Raleway Light"/>
                <a:sym typeface="Raleway Light"/>
              </a:defRPr>
            </a:lvl8pPr>
            <a:lvl9pPr indent="-228600" lvl="8" marL="41148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Raleway Light"/>
                <a:ea typeface="Raleway Light"/>
                <a:cs typeface="Raleway Light"/>
                <a:sym typeface="Raleway Light"/>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Raleway Light"/>
                <a:ea typeface="Raleway Light"/>
                <a:cs typeface="Raleway Light"/>
                <a:sym typeface="Raleway Light"/>
              </a:defRPr>
            </a:lvl1pPr>
            <a:lvl2pPr lvl="1"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Raleway Light"/>
                <a:ea typeface="Raleway Light"/>
                <a:cs typeface="Raleway Light"/>
                <a:sym typeface="Raleway Light"/>
              </a:defRPr>
            </a:lvl2pPr>
            <a:lvl3pPr lvl="2"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Raleway Light"/>
                <a:ea typeface="Raleway Light"/>
                <a:cs typeface="Raleway Light"/>
                <a:sym typeface="Raleway Light"/>
              </a:defRPr>
            </a:lvl3pPr>
            <a:lvl4pPr lvl="3"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Raleway Light"/>
                <a:ea typeface="Raleway Light"/>
                <a:cs typeface="Raleway Light"/>
                <a:sym typeface="Raleway Light"/>
              </a:defRPr>
            </a:lvl4pPr>
            <a:lvl5pPr lvl="4"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Raleway Light"/>
                <a:ea typeface="Raleway Light"/>
                <a:cs typeface="Raleway Light"/>
                <a:sym typeface="Raleway Light"/>
              </a:defRPr>
            </a:lvl5pPr>
            <a:lvl6pPr lvl="5"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Raleway Light"/>
                <a:ea typeface="Raleway Light"/>
                <a:cs typeface="Raleway Light"/>
                <a:sym typeface="Raleway Light"/>
              </a:defRPr>
            </a:lvl6pPr>
            <a:lvl7pPr lvl="6"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Raleway Light"/>
                <a:ea typeface="Raleway Light"/>
                <a:cs typeface="Raleway Light"/>
                <a:sym typeface="Raleway Light"/>
              </a:defRPr>
            </a:lvl7pPr>
            <a:lvl8pPr lvl="7"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Raleway Light"/>
                <a:ea typeface="Raleway Light"/>
                <a:cs typeface="Raleway Light"/>
                <a:sym typeface="Raleway Light"/>
              </a:defRPr>
            </a:lvl8pPr>
            <a:lvl9pPr lvl="8"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Raleway Light"/>
                <a:ea typeface="Raleway Light"/>
                <a:cs typeface="Raleway Light"/>
                <a:sym typeface="Raleway Light"/>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pc="0" sz="1200" u="none" cap="none" strike="noStrike">
                <a:solidFill>
                  <a:schemeClr val="dk1"/>
                </a:solidFill>
                <a:latin typeface="Raleway Light"/>
                <a:ea typeface="Raleway Light"/>
                <a:cs typeface="Raleway Light"/>
                <a:sym typeface="Raleway Light"/>
              </a:rPr>
              <a:t>‹#›</a:t>
            </a:fld>
            <a:endParaRPr b="0" i="0" spc="0" sz="1200" u="none" cap="none" strike="noStrike">
              <a:solidFill>
                <a:schemeClr val="dk1"/>
              </a:solidFill>
              <a:latin typeface="Raleway Light"/>
              <a:ea typeface="Raleway Light"/>
              <a:cs typeface="Raleway Light"/>
              <a:sym typeface="Raleway Light"/>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 name="Google Shape;132;p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USE IN: Brand story · Partner Mode pack · Event Mode pack · Internal master only</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SECTION: Cover</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28 OCT PASS: Added the supporting line and an internal-master label (remove the label in any shared version).</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29 OCT PASS: The designer’s final master logo replaces the September logo on every slide (founder, 29 October). Slide numbers added throughout.</a:t>
            </a:r>
            <a:endParaRPr/>
          </a:p>
        </p:txBody>
      </p:sp>
      <p:sp>
        <p:nvSpPr>
          <p:cNvPr id="133" name="Google Shape;133;p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 name="Google Shape;142;p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USE IN: Internal master only (purpose and vision are internal, not consumer lines)</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SECTION: Brand</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28 OCT, LINE HIERARCHY (founder): one line per job. Purpose: Where human connection thrives (sits above the vision). Vision: merged from the two earlier purpose and vision lines. Approach: the brand journey. Brand line: The setting changes. The spirit never does. "Everyone has something worth saying" stays a supporting line, off this slide. Queued for the Brand Brain.</a:t>
            </a:r>
            <a:endParaRPr/>
          </a:p>
        </p:txBody>
      </p:sp>
      <p:sp>
        <p:nvSpPr>
          <p:cNvPr id="143" name="Google Shape;143;p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9" name="Google Shape;149;p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USE IN: Brand story · Partner Mode pack · Event Mode pack</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SECTION: Brand</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28 OCT PASS: Confirmed idea wording; claim "conversations are better" and benefit claim "makes it easier" removed; bottle line replaced (responsible drinking).</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29 OCT PASS: “Conversation, not knowledge.” now has its comma, as in the Brand Brain; double space removed.</a:t>
            </a:r>
            <a:endParaRPr/>
          </a:p>
        </p:txBody>
      </p:sp>
      <p:sp>
        <p:nvSpPr>
          <p:cNvPr id="150" name="Google Shape;150;p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 name="Google Shape;17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USE IN: Brand story · Partner Mode pack</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SECTION: Brand</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28 OCT PASS: Added "Warm, never worthy" so all four tone pairs show, in Brand Brain order. Subtitle uses the first confirmed behaviour.</a:t>
            </a:r>
            <a:endParaRPr/>
          </a:p>
        </p:txBody>
      </p:sp>
      <p:sp>
        <p:nvSpPr>
          <p:cNvPr id="173" name="Google Shape;173;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0" name="Google Shape;200;p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USE IN: Brand story</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SECTION: Brand</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28 OCT PASS: Retitled as the brand journey. Personalisation line kept and made plain; the Brand Brain does not mention personalisation yet (flagged).</a:t>
            </a:r>
            <a:endParaRPr/>
          </a:p>
        </p:txBody>
      </p:sp>
      <p:sp>
        <p:nvSpPr>
          <p:cNvPr id="201" name="Google Shape;201;p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4" name="Google Shape;214;p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USE IN: Internal master only · Brand story</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SECTION: Brand</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28 OCT PASS: Retitled so it does not duplicate the old slide 7. Section colours approved (28 October). Stays shown as part of the vision (approved 28 October). Contains internal language (economics, insight) - internal use only.</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PASS 4 (28 OCT): rebuilt on an even five-column grid with more space; arrows now in brand colours (deep olive for consumers and the platform, blush for partners). Stays shown as part of the vision.</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Stays card shortened (founder, 28 Oct). Moved here: in Provence; built when the brand and economics are ready. Location kept off this overview slide; Provence stays on slide 16.</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29 OCT PASS: The old slide 7 (The Entre Amis world) was removed as a duplicate of this slide; this slide keeps stays as context (founder, 29 October). The v7 file keeps the removed slide.</a:t>
            </a:r>
            <a:endParaRPr/>
          </a:p>
        </p:txBody>
      </p:sp>
      <p:sp>
        <p:nvSpPr>
          <p:cNvPr id="215" name="Google Shape;215;p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8:notes"/>
          <p:cNvSpPr txBox="1"/>
          <p:nvPr>
            <p:ph idx="1" type="body"/>
          </p:nvPr>
        </p:nvSpPr>
        <p:spPr>
          <a:xfrm>
            <a:off x="685800" y="5791200"/>
            <a:ext cx="5486400" cy="54864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USE IN: Brand story · Internal master only</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SECTION: Brand</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28 OCT PASS: Rebuilt as editable PowerPoint shapes (founder, 28 October): the story, Sophie and the photos are kept; every word, tag and number is now editable. Real wines on the phone replaced with fictional ones (wine type, region, year; no producers). Tags use the section colours. Stop 7 shows stays as part of the vision. Sophie is illustrative, not a persona (personas are still TODO). Photos are crops of the original artwork; replace them with higher-resolution versions if you have them.</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PASS 5 (28 OCT): numbers removed (the journey is not a sequence; the coloured product tags carry the link to each product). 1–4 now down the left, 5–7 down the right. Curved links run from every experience back to the one account, restoring the organic link to the core. The phone shows My wines as a listing, as the app does today.</a:t>
            </a:r>
            <a:endParaRPr/>
          </a:p>
        </p:txBody>
      </p:sp>
      <p:sp>
        <p:nvSpPr>
          <p:cNvPr id="270" name="Google Shape;270;p8:notes"/>
          <p:cNvSpPr/>
          <p:nvPr>
            <p:ph idx="2" type="sldImg"/>
          </p:nvPr>
        </p:nvSpPr>
        <p:spPr>
          <a:xfrm>
            <a:off x="719864" y="914400"/>
            <a:ext cx="5418900" cy="4572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9" name="Google Shape;339;p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USE IN: Brand story · Partner Mode pack</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SECTION: The game</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28 OCT PASS: App-only Word Play/Wine Knowledge line replaced with Pour. Added confirmed game facts, the corks rule and the game line Talk. Laugh. Remember. Time-neutral wording.</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PASS 5 (28 OCT): sign-off line given the deck’s one sign-off treatment: deep olive band, cream SemiBold, centred.</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PASS 3 (28 OCT): card family chips added in the game colours (Brand Brain 04: game colours may appear when they signify a family).</a:t>
            </a:r>
            <a:endParaRPr/>
          </a:p>
        </p:txBody>
      </p:sp>
      <p:sp>
        <p:nvSpPr>
          <p:cNvPr id="340" name="Google Shape;340;p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9" name="Google Shape;37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USE IN: Brand story · Partner Mode pack · Event Mode pack</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SECTION: The app</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28 OCT PASS: "Personal wine library" is now My wines. Label photo, Wine 101, Just tasting and the 18+ gate added, all claimable as in development.</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29 OCT PASS: “Hosts can explore” is now “you can explore”: anyone with an account can use Just tasting.</a:t>
            </a:r>
            <a:endParaRPr/>
          </a:p>
        </p:txBody>
      </p:sp>
      <p:sp>
        <p:nvSpPr>
          <p:cNvPr id="380" name="Google Shape;380;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1" name="Google Shape;401;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USE IN: Partner Mode pack · Event Mode pack</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SECTION: Partner + Event</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28 OCT PASS: No copy change.</a:t>
            </a:r>
            <a:endParaRPr/>
          </a:p>
          <a:p>
            <a:pPr indent="-228600" lvl="0" marL="457200" marR="0" rtl="0" algn="l">
              <a:lnSpc>
                <a:spcPct val="100000"/>
              </a:lnSpc>
              <a:spcBef>
                <a:spcPts val="0"/>
              </a:spcBef>
              <a:spcAft>
                <a:spcPts val="0"/>
              </a:spcAft>
              <a:buClr>
                <a:srgbClr val="000000"/>
              </a:buClr>
              <a:buSzPts val="1400"/>
              <a:buFont typeface="Arial"/>
              <a:buNone/>
            </a:pPr>
            <a:r>
              <a:t/>
            </a:r>
            <a:endParaRPr b="0" i="0" spc="0" sz="1200" u="none" cap="none" strike="noStrike">
              <a:solidFill>
                <a:schemeClr val="dk1"/>
              </a:solidFill>
              <a:latin typeface="Raleway Light"/>
              <a:ea typeface="Raleway Light"/>
              <a:cs typeface="Raleway Light"/>
              <a:sym typeface="Raleway Light"/>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Lets a host see where they fit, and points organisers to the Event Mode pack.</a:t>
            </a:r>
            <a:endParaRPr/>
          </a:p>
        </p:txBody>
      </p:sp>
      <p:sp>
        <p:nvSpPr>
          <p:cNvPr id="402" name="Google Shape;402;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8" name="Google Shape;418;p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USE IN: Partner Mode pack</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SECTION: Partner Mode</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28 OCT PASS: Retitled. Contradiction fixed: events are Event Mode, not Partner Mode. Partner line added. "More memorable" benefit claim removed. Consent added to insight.</a:t>
            </a:r>
            <a:endParaRPr/>
          </a:p>
        </p:txBody>
      </p:sp>
      <p:sp>
        <p:nvSpPr>
          <p:cNvPr id="419" name="Google Shape;419;p1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3" name="Google Shape;433;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USE IN: Partner Mode pack</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SECTION: Partner Mode</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28 OCT PASS: Quizzes framed as discoveries (Brand Brain 00).</a:t>
            </a:r>
            <a:endParaRPr/>
          </a:p>
          <a:p>
            <a:pPr indent="-228600" lvl="0" marL="457200" marR="0" rtl="0" algn="l">
              <a:lnSpc>
                <a:spcPct val="100000"/>
              </a:lnSpc>
              <a:spcBef>
                <a:spcPts val="0"/>
              </a:spcBef>
              <a:spcAft>
                <a:spcPts val="0"/>
              </a:spcAft>
              <a:buClr>
                <a:srgbClr val="000000"/>
              </a:buClr>
              <a:buSzPts val="1400"/>
              <a:buFont typeface="Arial"/>
              <a:buNone/>
            </a:pPr>
            <a:r>
              <a:t/>
            </a:r>
            <a:endParaRPr b="0" i="0" spc="0" sz="1200" u="none" cap="none" strike="noStrike">
              <a:solidFill>
                <a:schemeClr val="dk1"/>
              </a:solidFill>
              <a:latin typeface="Raleway Light"/>
              <a:ea typeface="Raleway Light"/>
              <a:cs typeface="Raleway Light"/>
              <a:sym typeface="Raleway Light"/>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From your description (12 October): hosted tasting; Savour and Pour cards as an option; host-specific questions and quizzes; interactive voting shared as a learning experience; guests collate and share notes; information about the wines and the vineyard; favourite and store wines in a profile.</a:t>
            </a:r>
            <a:endParaRPr/>
          </a:p>
        </p:txBody>
      </p:sp>
      <p:sp>
        <p:nvSpPr>
          <p:cNvPr id="434" name="Google Shape;434;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2" name="Google Shape;462;p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USE IN: Brand story · Partner Mode pack</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SECTION: The app</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28 OCT PASS: New content, built only from confirmed functionality (Just tasting, label recognition, My wines on every device). Screens still to add.</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PASS 5 (28 OCT): status box removed: Just tasting is built to the same level as the other ways to play (founder).</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PASS 3 (28 OCT): screens added from the screen walkthrough (17 Oct). No screens of Just tasting itself were captured yet: the welcome and set-up screens stand in, and are captioned honestly. Replace with Just tasting screens when you have them.</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29 OCT PASS: Front door wording updated to the app since 25 October (Play with friends · Scan or enter a code · Just tasting). Screens replaced with Just tasting itself from the 29 October build, with the new logo.</a:t>
            </a:r>
            <a:endParaRPr/>
          </a:p>
        </p:txBody>
      </p:sp>
      <p:sp>
        <p:nvSpPr>
          <p:cNvPr id="463" name="Google Shape;463;p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5" name="Google Shape;485;p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USE IN: Event Mode pack</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SECTION: Event Mode</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28 OCT PASS: No copy change.</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PASS 5 (28 OCT): Save screen now full size like the others (it shows the organiser vote "Best red of the day"; see the ranking point). The four principles now sit in one centred panel because they apply across the whole day. Updated journey screens to follow from the next live version.</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PASS 3 (28 OCT): screens from the screen walkthrough (17 Oct), demo event with made-up producers. Save is cropped above the organiser votes, and the results screen is not used: both show producers ranked by percentage, which conflicts with the "No public ranking" promise (slides 20 and 25). Revisit shows a saved day in My wines from a host game.</a:t>
            </a:r>
            <a:endParaRPr/>
          </a:p>
          <a:p>
            <a:pPr indent="-228600" lvl="0" marL="457200" marR="0" rtl="0" algn="l">
              <a:lnSpc>
                <a:spcPct val="100000"/>
              </a:lnSpc>
              <a:spcBef>
                <a:spcPts val="0"/>
              </a:spcBef>
              <a:spcAft>
                <a:spcPts val="0"/>
              </a:spcAft>
              <a:buClr>
                <a:srgbClr val="000000"/>
              </a:buClr>
              <a:buSzPts val="1400"/>
              <a:buFont typeface="Arial"/>
              <a:buNone/>
            </a:pPr>
            <a:r>
              <a:t/>
            </a:r>
            <a:endParaRPr b="0" i="0" spc="0" sz="1200" u="none" cap="none" strike="noStrike">
              <a:solidFill>
                <a:schemeClr val="dk1"/>
              </a:solidFill>
              <a:latin typeface="Raleway Light"/>
              <a:ea typeface="Raleway Light"/>
              <a:cs typeface="Raleway Light"/>
              <a:sym typeface="Raleway Light"/>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Card bodies expand the October line: 'Quick to use. Optional questions. No compulsory tasting. Able to be tailored to enhance physical experience and help create lasting memories.' 'Enhance' and 'lasting memories' were benefit claims, so they're reworded.</a:t>
            </a:r>
            <a:endParaRPr/>
          </a:p>
        </p:txBody>
      </p:sp>
      <p:sp>
        <p:nvSpPr>
          <p:cNvPr id="486" name="Google Shape;486;p1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1" name="Google Shape;521;p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USE IN: Brand story · Partner Mode pack · Event Mode pack</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SECTION: The app</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28 OCT PASS: New content, built only from confirmed functionality. INTERNAL: the data behind My wines and Wine 101 isn't fully logging yet; never say this externally, and never describe either as complete.</a:t>
            </a:r>
            <a:endParaRPr/>
          </a:p>
        </p:txBody>
      </p:sp>
      <p:sp>
        <p:nvSpPr>
          <p:cNvPr id="522" name="Google Shape;522;p1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4" name="Google Shape;544;p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USE IN: Brand story · Internal master only</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SECTION: Stays</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28 OCT PASS: Stays may be referenced as part of the vision (founder, 28 October). "Pour another glass" removed (responsible drinking).</a:t>
            </a:r>
            <a:endParaRPr/>
          </a:p>
        </p:txBody>
      </p:sp>
      <p:sp>
        <p:nvSpPr>
          <p:cNvPr id="545" name="Google Shape;545;p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9" name="Google Shape;559;p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USE IN: Internal master only</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SECTION: Internal</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28 OCT PASS: Placeholder only. Early thinking is never described externally.</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PASS 3 (28 OCT): drafted from Brand Brain 00 (early thinking, stays), 06 (themed editions, trend reports) and the build and release plan (improvements after the port). Nothing new invented.</a:t>
            </a:r>
            <a:endParaRPr/>
          </a:p>
        </p:txBody>
      </p:sp>
      <p:sp>
        <p:nvSpPr>
          <p:cNvPr id="560" name="Google Shape;560;p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4" name="Google Shape;584;p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USE IN: Event Mode pack</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SECTION: Event Mode</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28 OCT PASS: Aligned to the Brand Brain and slide 28: a small table or corner with comfortable seats, never the centre of the event. Fee line kept and labelled as a commercial note.</a:t>
            </a:r>
            <a:endParaRPr/>
          </a:p>
        </p:txBody>
      </p:sp>
      <p:sp>
        <p:nvSpPr>
          <p:cNvPr id="585" name="Google Shape;585;p1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9" name="Google Shape;609;p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USE IN: Partner Mode pack · Event Mode pack</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SECTION: Partner + Event</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28 OCT PASS: "Customer" is now "Guest". "Not shared by default" made absolute (founder, 28 October). Contacts stay pending legal review.</a:t>
            </a:r>
            <a:endParaRPr/>
          </a:p>
        </p:txBody>
      </p:sp>
      <p:sp>
        <p:nvSpPr>
          <p:cNvPr id="610" name="Google Shape;610;p2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5" name="Google Shape;645;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USE IN: Partner Mode pack · Event Mode pack</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SECTION: Partner + Event</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28 OCT PASS: Marker covers both modes. Promises made absolute (founder, 28 October); the TO DECIDE box is resolved and removed.</a:t>
            </a:r>
            <a:endParaRPr/>
          </a:p>
          <a:p>
            <a:pPr indent="-228600" lvl="0" marL="457200" marR="0" rtl="0" algn="l">
              <a:lnSpc>
                <a:spcPct val="100000"/>
              </a:lnSpc>
              <a:spcBef>
                <a:spcPts val="0"/>
              </a:spcBef>
              <a:spcAft>
                <a:spcPts val="0"/>
              </a:spcAft>
              <a:buClr>
                <a:srgbClr val="000000"/>
              </a:buClr>
              <a:buSzPts val="1400"/>
              <a:buFont typeface="Arial"/>
              <a:buNone/>
            </a:pPr>
            <a:r>
              <a:t/>
            </a:r>
            <a:endParaRPr b="0" i="0" spc="0" sz="1200" u="none" cap="none" strike="noStrike">
              <a:solidFill>
                <a:schemeClr val="dk1"/>
              </a:solidFill>
              <a:latin typeface="Raleway Light"/>
              <a:ea typeface="Raleway Light"/>
              <a:cs typeface="Raleway Light"/>
              <a:sym typeface="Raleway Light"/>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Built from the confirmed Partner Mode data rules ('That trust is the brand — Say what you really think only works if people are safe to do so') and the promises from the October deck's 'Three layers of insight'.</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29 OCT PASS: Promises now match slide 25: “No risk of identifying anyone” and “No data sharing across platforms”.</a:t>
            </a:r>
            <a:endParaRPr/>
          </a:p>
        </p:txBody>
      </p:sp>
      <p:sp>
        <p:nvSpPr>
          <p:cNvPr id="646" name="Google Shape;646;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5" name="Shape 665"/>
        <p:cNvGrpSpPr/>
        <p:nvPr/>
      </p:nvGrpSpPr>
      <p:grpSpPr>
        <a:xfrm>
          <a:off x="0" y="0"/>
          <a:ext cx="0" cy="0"/>
          <a:chOff x="0" y="0"/>
          <a:chExt cx="0" cy="0"/>
        </a:xfrm>
      </p:grpSpPr>
      <p:sp>
        <p:nvSpPr>
          <p:cNvPr id="666" name="Google Shape;666;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7" name="Google Shape;667;p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USE IN: Internal master only</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SECTION: Internal</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28 OCT PASS: Divider, restyled only.</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PASS 3 (28 OCT): divider recoloured deep olive for clearer sections.</a:t>
            </a:r>
            <a:endParaRPr/>
          </a:p>
        </p:txBody>
      </p:sp>
      <p:sp>
        <p:nvSpPr>
          <p:cNvPr id="668" name="Google Shape;668;p2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p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USE IN: Event Mode pack · Internal master only</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SECTION: Event Mode</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28 OCT PASS: Subtitle and status note updated to the Brand Brain (reports built 16 October). Three of six benefits are not claimable externally yet.</a:t>
            </a:r>
            <a:endParaRPr/>
          </a:p>
        </p:txBody>
      </p:sp>
      <p:sp>
        <p:nvSpPr>
          <p:cNvPr id="676" name="Google Shape;676;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 name="Shape 696"/>
        <p:cNvGrpSpPr/>
        <p:nvPr/>
      </p:nvGrpSpPr>
      <p:grpSpPr>
        <a:xfrm>
          <a:off x="0" y="0"/>
          <a:ext cx="0" cy="0"/>
          <a:chOff x="0" y="0"/>
          <a:chExt cx="0" cy="0"/>
        </a:xfrm>
      </p:grpSpPr>
      <p:sp>
        <p:nvSpPr>
          <p:cNvPr id="697" name="Google Shape;697;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8" name="Google Shape;698;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USE IN: Event Mode pack</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SECTION: Event Mode</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28 OCT PASS: No copy change. Insight bank #12 (WineGB Tourism Report 2024) could support the problem, cited with caveats.</a:t>
            </a:r>
            <a:endParaRPr/>
          </a:p>
          <a:p>
            <a:pPr indent="-228600" lvl="0" marL="457200" marR="0" rtl="0" algn="l">
              <a:lnSpc>
                <a:spcPct val="100000"/>
              </a:lnSpc>
              <a:spcBef>
                <a:spcPts val="0"/>
              </a:spcBef>
              <a:spcAft>
                <a:spcPts val="0"/>
              </a:spcAft>
              <a:buClr>
                <a:srgbClr val="000000"/>
              </a:buClr>
              <a:buSzPts val="1400"/>
              <a:buFont typeface="Arial"/>
              <a:buNone/>
            </a:pPr>
            <a:r>
              <a:t/>
            </a:r>
            <a:endParaRPr b="0" i="0" spc="0" sz="1200" u="none" cap="none" strike="noStrike">
              <a:solidFill>
                <a:schemeClr val="dk1"/>
              </a:solidFill>
              <a:latin typeface="Raleway Light"/>
              <a:ea typeface="Raleway Light"/>
              <a:cs typeface="Raleway Light"/>
              <a:sym typeface="Raleway Light"/>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Rewritten from 'The event opportunity: a real gap' so it speaks to the organiser's problem first. Ticket buyers and 'one person may buy eight tickets' are your points. 'Where do all the wines you discovered go?' becomes the third card.</a:t>
            </a:r>
            <a:endParaRPr/>
          </a:p>
        </p:txBody>
      </p:sp>
      <p:sp>
        <p:nvSpPr>
          <p:cNvPr id="699" name="Google Shape;699;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5" name="Shape 715"/>
        <p:cNvGrpSpPr/>
        <p:nvPr/>
      </p:nvGrpSpPr>
      <p:grpSpPr>
        <a:xfrm>
          <a:off x="0" y="0"/>
          <a:ext cx="0" cy="0"/>
          <a:chOff x="0" y="0"/>
          <a:chExt cx="0" cy="0"/>
        </a:xfrm>
      </p:grpSpPr>
      <p:sp>
        <p:nvSpPr>
          <p:cNvPr id="716" name="Google Shape;716;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7" name="Google Shape;717;p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USE IN: Partner Mode pack</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SECTION: Partner Mode</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28 OCT PASS: No copy change. Consider reusing the slide 26 report design here.</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PASS 3 (28 OCT): example report drafted. Every number is illustrative, like slide 26. The Cellar House and Lune Basse are the made-up demo names from the screen walkthrough. Reactions use the four app reactions; the question and its fact follow the partner tasting screens. Reports for businesses are built but not claimable yet.</a:t>
            </a:r>
            <a:endParaRPr/>
          </a:p>
          <a:p>
            <a:pPr indent="-228600" lvl="0" marL="457200" marR="0" rtl="0" algn="l">
              <a:lnSpc>
                <a:spcPct val="100000"/>
              </a:lnSpc>
              <a:spcBef>
                <a:spcPts val="0"/>
              </a:spcBef>
              <a:spcAft>
                <a:spcPts val="0"/>
              </a:spcAft>
              <a:buClr>
                <a:srgbClr val="000000"/>
              </a:buClr>
              <a:buSzPts val="1400"/>
              <a:buFont typeface="Arial"/>
              <a:buNone/>
            </a:pPr>
            <a:r>
              <a:t/>
            </a:r>
            <a:endParaRPr b="0" i="0" spc="0" sz="1200" u="none" cap="none" strike="noStrike">
              <a:solidFill>
                <a:schemeClr val="dk1"/>
              </a:solidFill>
              <a:latin typeface="Raleway Light"/>
              <a:ea typeface="Raleway Light"/>
              <a:cs typeface="Raleway Light"/>
              <a:sym typeface="Raleway Light"/>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In Partner Mode, contacts go to that one host only (proposed, Brand Brain 03). Wider Entre Amis trends are not promised in Partner Mode: they depend on how it is built (founder, 12 October).</a:t>
            </a:r>
            <a:endParaRPr/>
          </a:p>
        </p:txBody>
      </p:sp>
      <p:sp>
        <p:nvSpPr>
          <p:cNvPr id="718" name="Google Shape;718;p2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7" name="Shape 767"/>
        <p:cNvGrpSpPr/>
        <p:nvPr/>
      </p:nvGrpSpPr>
      <p:grpSpPr>
        <a:xfrm>
          <a:off x="0" y="0"/>
          <a:ext cx="0" cy="0"/>
          <a:chOff x="0" y="0"/>
          <a:chExt cx="0" cy="0"/>
        </a:xfrm>
      </p:grpSpPr>
      <p:sp>
        <p:nvSpPr>
          <p:cNvPr id="768" name="Google Shape;768;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9" name="Google Shape;769;p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USE IN: Event Mode pack</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SECTION: Event Mode</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28 OCT PASS: Promises made absolute (founder, 28 October); the TO DECIDE box is resolved and removed. Contacts stay pending legal review.</a:t>
            </a:r>
            <a:endParaRPr/>
          </a:p>
          <a:p>
            <a:pPr indent="-228600" lvl="0" marL="457200" marR="0" rtl="0" algn="l">
              <a:lnSpc>
                <a:spcPct val="100000"/>
              </a:lnSpc>
              <a:spcBef>
                <a:spcPts val="0"/>
              </a:spcBef>
              <a:spcAft>
                <a:spcPts val="0"/>
              </a:spcAft>
              <a:buClr>
                <a:srgbClr val="000000"/>
              </a:buClr>
              <a:buSzPts val="1400"/>
              <a:buFont typeface="Arial"/>
              <a:buNone/>
            </a:pPr>
            <a:r>
              <a:t/>
            </a:r>
            <a:endParaRPr b="0" i="0" spc="0" sz="1200" u="none" cap="none" strike="noStrike">
              <a:solidFill>
                <a:schemeClr val="dk1"/>
              </a:solidFill>
              <a:latin typeface="Raleway Light"/>
              <a:ea typeface="Raleway Light"/>
              <a:cs typeface="Raleway Light"/>
              <a:sym typeface="Raleway Light"/>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In the October deck the labels and descriptions didn't match ('Event insight' described wider trends). Renamed 'Your event', 'Visitor contacts' and 'Wider trends'. 'Insight' removed from headings (internal language). 'Remove re-identification risk' reworded as 'No risk of identifying anyone'.</a:t>
            </a:r>
            <a:endParaRPr/>
          </a:p>
        </p:txBody>
      </p:sp>
      <p:sp>
        <p:nvSpPr>
          <p:cNvPr id="770" name="Google Shape;770;p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9" name="Shape 789"/>
        <p:cNvGrpSpPr/>
        <p:nvPr/>
      </p:nvGrpSpPr>
      <p:grpSpPr>
        <a:xfrm>
          <a:off x="0" y="0"/>
          <a:ext cx="0" cy="0"/>
          <a:chOff x="0" y="0"/>
          <a:chExt cx="0" cy="0"/>
        </a:xfrm>
      </p:grpSpPr>
      <p:sp>
        <p:nvSpPr>
          <p:cNvPr id="790" name="Google Shape;790;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1" name="Google Shape;791;p2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USE IN: Event Mode pack · Partner Mode pack</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SECTION: Event Mode</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28 OCT PASS: Title updated per the v4 review note (was What Hambledon Vineyard could learn; built for the Hambledon application). Producer rankings ("Best sparkling: Vineyard A") replaced: they broke wine neutrality and contradicted slide 25. Visitor comments labelled illustrative.</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PASS 5 (28 OCT): sign-off line given the deck’s one sign-off treatment: deep olive band, cream SemiBold, centred.</a:t>
            </a:r>
            <a:endParaRPr/>
          </a:p>
          <a:p>
            <a:pPr indent="-228600" lvl="0" marL="457200" marR="0" rtl="0" algn="l">
              <a:lnSpc>
                <a:spcPct val="100000"/>
              </a:lnSpc>
              <a:spcBef>
                <a:spcPts val="0"/>
              </a:spcBef>
              <a:spcAft>
                <a:spcPts val="0"/>
              </a:spcAft>
              <a:buClr>
                <a:srgbClr val="000000"/>
              </a:buClr>
              <a:buSzPts val="1400"/>
              <a:buFont typeface="Arial"/>
              <a:buNone/>
            </a:pPr>
            <a:r>
              <a:t/>
            </a:r>
            <a:endParaRPr b="0" i="0" spc="0" sz="1200" u="none" cap="none" strike="noStrike">
              <a:solidFill>
                <a:schemeClr val="dk1"/>
              </a:solidFill>
              <a:latin typeface="Raleway Light"/>
              <a:ea typeface="Raleway Light"/>
              <a:cs typeface="Raleway Light"/>
              <a:sym typeface="Raleway Light"/>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Saved wine memories, producer stories and aggregate insight, from the v2 copy.</a:t>
            </a:r>
            <a:br>
              <a:rPr b="0" i="0" lang="en-US" spc="0" sz="1200" u="none" cap="none" strike="noStrike">
                <a:solidFill>
                  <a:schemeClr val="dk1"/>
                </a:solidFill>
                <a:latin typeface="Raleway Light"/>
                <a:ea typeface="Raleway Light"/>
                <a:cs typeface="Raleway Light"/>
                <a:sym typeface="Raleway Light"/>
              </a:rPr>
            </a:br>
            <a:br>
              <a:rPr b="0" i="0" lang="en-US" spc="0" sz="1200" u="none" cap="none" strike="noStrike">
                <a:solidFill>
                  <a:schemeClr val="dk1"/>
                </a:solidFill>
                <a:latin typeface="Raleway Light"/>
                <a:ea typeface="Raleway Light"/>
                <a:cs typeface="Raleway Light"/>
                <a:sym typeface="Raleway Light"/>
              </a:rPr>
            </a:br>
            <a:r>
              <a:rPr b="0" i="0" lang="en-US" spc="0" sz="1200" u="none" cap="none" strike="noStrike">
                <a:solidFill>
                  <a:schemeClr val="dk1"/>
                </a:solidFill>
                <a:latin typeface="Raleway Light"/>
                <a:ea typeface="Raleway Light"/>
                <a:cs typeface="Raleway Light"/>
                <a:sym typeface="Raleway Light"/>
              </a:rPr>
              <a:t>Audit, 21 October: producer pages with stories are built (stories entered by Entre Amis for now); Save my day to My wines is built; a producer report sees only its own wines and questions, never the votes, and refuses anything under five people. Built in code, not yet live-tested. Meet the Maker videos are not built, so 'videos' is left off the slide.</a:t>
            </a:r>
            <a:br>
              <a:rPr b="0" i="0" lang="en-US" spc="0" sz="1200" u="none" cap="none" strike="noStrike">
                <a:solidFill>
                  <a:schemeClr val="dk1"/>
                </a:solidFill>
                <a:latin typeface="Raleway Light"/>
                <a:ea typeface="Raleway Light"/>
                <a:cs typeface="Raleway Light"/>
                <a:sym typeface="Raleway Light"/>
              </a:rPr>
            </a:br>
            <a:br>
              <a:rPr b="0" i="0" lang="en-US" spc="0" sz="1200" u="none" cap="none" strike="noStrike">
                <a:solidFill>
                  <a:schemeClr val="dk1"/>
                </a:solidFill>
                <a:latin typeface="Raleway Light"/>
                <a:ea typeface="Raleway Light"/>
                <a:cs typeface="Raleway Light"/>
                <a:sym typeface="Raleway Light"/>
              </a:rPr>
            </a:br>
            <a:r>
              <a:rPr b="0" i="0" lang="en-US" spc="0" sz="1200" u="none" cap="none" strike="noStrike">
                <a:solidFill>
                  <a:schemeClr val="dk1"/>
                </a:solidFill>
                <a:latin typeface="Raleway Light"/>
                <a:ea typeface="Raleway Light"/>
                <a:cs typeface="Raleway Light"/>
                <a:sym typeface="Raleway Light"/>
              </a:rPr>
              <a:t>Nothing suggests personal data is shared automatically. Producer contact permission is separate, unticked by default and explicit, per the contact-details rule the founder confirmed on 21 October; the wording still needs legal review. The producer summary and the visitor comments are illustrative: made up to show the kind of feedback a vineyard would see, never attributed to anyone (founder, v4 review). Title shortened to 'Value for every vineyard' and row status tags removed (founder, v4 review).</a:t>
            </a:r>
            <a:endParaRPr/>
          </a:p>
        </p:txBody>
      </p:sp>
      <p:sp>
        <p:nvSpPr>
          <p:cNvPr id="792" name="Google Shape;792;p2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2" name="Shape 842"/>
        <p:cNvGrpSpPr/>
        <p:nvPr/>
      </p:nvGrpSpPr>
      <p:grpSpPr>
        <a:xfrm>
          <a:off x="0" y="0"/>
          <a:ext cx="0" cy="0"/>
          <a:chOff x="0" y="0"/>
          <a:chExt cx="0" cy="0"/>
        </a:xfrm>
      </p:grpSpPr>
      <p:sp>
        <p:nvSpPr>
          <p:cNvPr id="843" name="Google Shape;843;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4" name="Google Shape;844;p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USE IN: Event Mode pack</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SECTION: Event Mode</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28 OCT PASS: Quizzes are in both Partner Mode and Event Mode (founder, 28 October). Meet the Maker videos marked as to come. Prize draw still awaits the legal check.</a:t>
            </a:r>
            <a:endParaRPr/>
          </a:p>
          <a:p>
            <a:pPr indent="-228600" lvl="0" marL="457200" marR="0" rtl="0" algn="l">
              <a:lnSpc>
                <a:spcPct val="100000"/>
              </a:lnSpc>
              <a:spcBef>
                <a:spcPts val="0"/>
              </a:spcBef>
              <a:spcAft>
                <a:spcPts val="0"/>
              </a:spcAft>
              <a:buClr>
                <a:srgbClr val="000000"/>
              </a:buClr>
              <a:buSzPts val="1400"/>
              <a:buFont typeface="Arial"/>
              <a:buNone/>
            </a:pPr>
            <a:r>
              <a:t/>
            </a:r>
            <a:endParaRPr b="0" i="0" spc="0" sz="1200" u="none" cap="none" strike="noStrike">
              <a:solidFill>
                <a:schemeClr val="dk1"/>
              </a:solidFill>
              <a:latin typeface="Raleway Light"/>
              <a:ea typeface="Raleway Light"/>
              <a:cs typeface="Raleway Light"/>
              <a:sym typeface="Raleway Light"/>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New spine for the pack, as you suggested. Visitor side from the October 'During / Personal / After' slide. Quizzes and prizes left off until decided: quizzes need to fit 'no wrong answers', and prizes near alcohol need checking against CAP and Portman Group rules. 'Save wines in seconds' isn't used: it's a speed claim.</a:t>
            </a:r>
            <a:endParaRPr/>
          </a:p>
        </p:txBody>
      </p:sp>
      <p:sp>
        <p:nvSpPr>
          <p:cNvPr id="845" name="Google Shape;845;p2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8" name="Shape 858"/>
        <p:cNvGrpSpPr/>
        <p:nvPr/>
      </p:nvGrpSpPr>
      <p:grpSpPr>
        <a:xfrm>
          <a:off x="0" y="0"/>
          <a:ext cx="0" cy="0"/>
          <a:chOff x="0" y="0"/>
          <a:chExt cx="0" cy="0"/>
        </a:xfrm>
      </p:grpSpPr>
      <p:sp>
        <p:nvSpPr>
          <p:cNvPr id="859" name="Google Shape;859;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0" name="Google Shape;860;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USE IN: Event Mode pack</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SECTION: Event Mode</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28 OCT PASS: No copy change.</a:t>
            </a:r>
            <a:endParaRPr/>
          </a:p>
          <a:p>
            <a:pPr indent="-228600" lvl="0" marL="457200" marR="0" rtl="0" algn="l">
              <a:lnSpc>
                <a:spcPct val="100000"/>
              </a:lnSpc>
              <a:spcBef>
                <a:spcPts val="0"/>
              </a:spcBef>
              <a:spcAft>
                <a:spcPts val="0"/>
              </a:spcAft>
              <a:buClr>
                <a:srgbClr val="000000"/>
              </a:buClr>
              <a:buSzPts val="1400"/>
              <a:buFont typeface="Arial"/>
              <a:buNone/>
            </a:pPr>
            <a:r>
              <a:t/>
            </a:r>
            <a:endParaRPr b="0" i="0" spc="0" sz="1200" u="none" cap="none" strike="noStrike">
              <a:solidFill>
                <a:schemeClr val="dk1"/>
              </a:solidFill>
              <a:latin typeface="Raleway Light"/>
              <a:ea typeface="Raleway Light"/>
              <a:cs typeface="Raleway Light"/>
              <a:sym typeface="Raleway Light"/>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'Hosted Entre Amis Table' is now 'a small Entre Amis corner', in line with how Entre Amis shows up at events.</a:t>
            </a:r>
            <a:endParaRPr/>
          </a:p>
        </p:txBody>
      </p:sp>
      <p:sp>
        <p:nvSpPr>
          <p:cNvPr id="861" name="Google Shape;861;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5" name="Shape 875"/>
        <p:cNvGrpSpPr/>
        <p:nvPr/>
      </p:nvGrpSpPr>
      <p:grpSpPr>
        <a:xfrm>
          <a:off x="0" y="0"/>
          <a:ext cx="0" cy="0"/>
          <a:chOff x="0" y="0"/>
          <a:chExt cx="0" cy="0"/>
        </a:xfrm>
      </p:grpSpPr>
      <p:sp>
        <p:nvSpPr>
          <p:cNvPr id="876" name="Google Shape;876;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7" name="Google Shape;877;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USE IN: Event Mode pack</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SECTION: Event Mode</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28 OCT PASS: Status note updated to 16 October.</a:t>
            </a:r>
            <a:endParaRPr/>
          </a:p>
          <a:p>
            <a:pPr indent="-228600" lvl="0" marL="457200" marR="0" rtl="0" algn="l">
              <a:lnSpc>
                <a:spcPct val="100000"/>
              </a:lnSpc>
              <a:spcBef>
                <a:spcPts val="0"/>
              </a:spcBef>
              <a:spcAft>
                <a:spcPts val="0"/>
              </a:spcAft>
              <a:buClr>
                <a:srgbClr val="000000"/>
              </a:buClr>
              <a:buSzPts val="1400"/>
              <a:buFont typeface="Arial"/>
              <a:buNone/>
            </a:pPr>
            <a:r>
              <a:t/>
            </a:r>
            <a:endParaRPr b="0" i="0" spc="0" sz="1200" u="none" cap="none" strike="noStrike">
              <a:solidFill>
                <a:schemeClr val="dk1"/>
              </a:solidFill>
              <a:latin typeface="Raleway Light"/>
              <a:ea typeface="Raleway Light"/>
              <a:cs typeface="Raleway Light"/>
              <a:sym typeface="Raleway Light"/>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From 'Before we build event partner mode'. The 'Ecosystem story' card was a note about the deck itself, so it's left out.</a:t>
            </a:r>
            <a:endParaRPr/>
          </a:p>
        </p:txBody>
      </p:sp>
      <p:sp>
        <p:nvSpPr>
          <p:cNvPr id="878" name="Google Shape;878;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2" name="Shape 892"/>
        <p:cNvGrpSpPr/>
        <p:nvPr/>
      </p:nvGrpSpPr>
      <p:grpSpPr>
        <a:xfrm>
          <a:off x="0" y="0"/>
          <a:ext cx="0" cy="0"/>
          <a:chOff x="0" y="0"/>
          <a:chExt cx="0" cy="0"/>
        </a:xfrm>
      </p:grpSpPr>
      <p:sp>
        <p:nvSpPr>
          <p:cNvPr id="893" name="Google Shape;893;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4" name="Google Shape;894;p3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USE IN: Event Mode pack · Internal master only</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SECTION: Event Mode</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28 OCT PASS: Founding partnership terms agreed (founder, 28 October). Still belongs in an individual organiser proposal.</a:t>
            </a:r>
            <a:endParaRPr/>
          </a:p>
        </p:txBody>
      </p:sp>
      <p:sp>
        <p:nvSpPr>
          <p:cNvPr id="895" name="Google Shape;895;p3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4" name="Shape 904"/>
        <p:cNvGrpSpPr/>
        <p:nvPr/>
      </p:nvGrpSpPr>
      <p:grpSpPr>
        <a:xfrm>
          <a:off x="0" y="0"/>
          <a:ext cx="0" cy="0"/>
          <a:chOff x="0" y="0"/>
          <a:chExt cx="0" cy="0"/>
        </a:xfrm>
      </p:grpSpPr>
      <p:sp>
        <p:nvSpPr>
          <p:cNvPr id="905" name="Google Shape;905;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6" name="Google Shape;906;p3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USE IN: Internal master only</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SECTION: Internal</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28 OCT PASS: Divider, restyled only.</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PASS 3 (28 OCT): divider recoloured deep olive for clearer sections.</a:t>
            </a:r>
            <a:endParaRPr/>
          </a:p>
        </p:txBody>
      </p:sp>
      <p:sp>
        <p:nvSpPr>
          <p:cNvPr id="907" name="Google Shape;907;p3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3" name="Shape 913"/>
        <p:cNvGrpSpPr/>
        <p:nvPr/>
      </p:nvGrpSpPr>
      <p:grpSpPr>
        <a:xfrm>
          <a:off x="0" y="0"/>
          <a:ext cx="0" cy="0"/>
          <a:chOff x="0" y="0"/>
          <a:chExt cx="0" cy="0"/>
        </a:xfrm>
      </p:grpSpPr>
      <p:sp>
        <p:nvSpPr>
          <p:cNvPr id="914" name="Google Shape;914;p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USE IN: Brand story · Partner Mode pack · Event Mode pack · Internal master only</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SECTION: Brand</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28 OCT PASS: Retitled "Why now": this is a point of view, not customer research (evidence still TODO). Typo fixed. Strong opener for shared versions.</a:t>
            </a:r>
            <a:endParaRPr/>
          </a:p>
        </p:txBody>
      </p:sp>
      <p:sp>
        <p:nvSpPr>
          <p:cNvPr id="915" name="Google Shape;915;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6" name="Shape 936"/>
        <p:cNvGrpSpPr/>
        <p:nvPr/>
      </p:nvGrpSpPr>
      <p:grpSpPr>
        <a:xfrm>
          <a:off x="0" y="0"/>
          <a:ext cx="0" cy="0"/>
          <a:chOff x="0" y="0"/>
          <a:chExt cx="0" cy="0"/>
        </a:xfrm>
      </p:grpSpPr>
      <p:sp>
        <p:nvSpPr>
          <p:cNvPr id="937" name="Google Shape;937;p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USE IN: Internal master only</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SECTION: Internal</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28 OCT PASS: SPIEL Essen 2026 figures are not in the insight bank: source-check and add as PROPOSED. Comparison with other wine games is a claim to flag before external use.</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PASS 5 (28 OCT): sign-off line given the deck’s one sign-off treatment: deep olive band, cream SemiBold, centred.</a:t>
            </a:r>
            <a:endParaRPr/>
          </a:p>
        </p:txBody>
      </p:sp>
      <p:sp>
        <p:nvSpPr>
          <p:cNvPr id="938" name="Google Shape;938;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p3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USE IN: Internal master only</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SECTION: Internal</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28 OCT PASS: Competitor names approved for this master (founder, 28 October).</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PASS 5 (28 OCT): sign-off line given the deck’s one sign-off treatment: deep olive band, cream SemiBold, centred.</a:t>
            </a:r>
            <a:endParaRPr/>
          </a:p>
        </p:txBody>
      </p:sp>
      <p:sp>
        <p:nvSpPr>
          <p:cNvPr id="950" name="Google Shape;950;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0" name="Shape 960"/>
        <p:cNvGrpSpPr/>
        <p:nvPr/>
      </p:nvGrpSpPr>
      <p:grpSpPr>
        <a:xfrm>
          <a:off x="0" y="0"/>
          <a:ext cx="0" cy="0"/>
          <a:chOff x="0" y="0"/>
          <a:chExt cx="0" cy="0"/>
        </a:xfrm>
      </p:grpSpPr>
      <p:sp>
        <p:nvSpPr>
          <p:cNvPr id="961" name="Google Shape;961;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2" name="Google Shape;962;p3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USE IN: Internal master only</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SECTION: Internal</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28 OCT PASS: Content approved as is (founder, 28 October). App payment model is still TODO in Brand Brain 06.</a:t>
            </a:r>
            <a:endParaRPr/>
          </a:p>
        </p:txBody>
      </p:sp>
      <p:sp>
        <p:nvSpPr>
          <p:cNvPr id="963" name="Google Shape;963;p3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2" name="Shape 972"/>
        <p:cNvGrpSpPr/>
        <p:nvPr/>
      </p:nvGrpSpPr>
      <p:grpSpPr>
        <a:xfrm>
          <a:off x="0" y="0"/>
          <a:ext cx="0" cy="0"/>
          <a:chOff x="0" y="0"/>
          <a:chExt cx="0" cy="0"/>
        </a:xfrm>
      </p:grpSpPr>
      <p:sp>
        <p:nvSpPr>
          <p:cNvPr id="973" name="Google Shape;973;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4" name="Google Shape;974;p3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USE IN: Internal master only</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SECTION: Internal</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28 OCT PASS: Fizz Fest spelling corrected (founder, 28 October). "Manufacturer quotes underway" still conflicts with Brand Brain 06.</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PASS 5 (28 OCT): route numbers removed; nothing else in the deck refers to them.</a:t>
            </a:r>
            <a:endParaRPr/>
          </a:p>
        </p:txBody>
      </p:sp>
      <p:sp>
        <p:nvSpPr>
          <p:cNvPr id="975" name="Google Shape;975;p3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4" name="Shape 984"/>
        <p:cNvGrpSpPr/>
        <p:nvPr/>
      </p:nvGrpSpPr>
      <p:grpSpPr>
        <a:xfrm>
          <a:off x="0" y="0"/>
          <a:ext cx="0" cy="0"/>
          <a:chOff x="0" y="0"/>
          <a:chExt cx="0" cy="0"/>
        </a:xfrm>
      </p:grpSpPr>
      <p:sp>
        <p:nvSpPr>
          <p:cNvPr id="985" name="Google Shape;985;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6" name="Google Shape;986;p3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USE IN: Internal master only</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SECTION: Internal</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28 OCT PASS: Unfinished. Placeholder only; nothing invented.</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PASS 5 (28 OCT): unit cost and availability now under investigation (founder).</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PASS 3 (28 OCT): drafted from Brand Brain 06 and the commercial decisions brief (24 Oct). Nothing added beyond what those hold; the ex-VAT price and royalty range are 06's own arithmetic.</a:t>
            </a:r>
            <a:endParaRPr/>
          </a:p>
        </p:txBody>
      </p:sp>
      <p:sp>
        <p:nvSpPr>
          <p:cNvPr id="987" name="Google Shape;987;p3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7" name="Shape 997"/>
        <p:cNvGrpSpPr/>
        <p:nvPr/>
      </p:nvGrpSpPr>
      <p:grpSpPr>
        <a:xfrm>
          <a:off x="0" y="0"/>
          <a:ext cx="0" cy="0"/>
          <a:chOff x="0" y="0"/>
          <a:chExt cx="0" cy="0"/>
        </a:xfrm>
      </p:grpSpPr>
      <p:sp>
        <p:nvSpPr>
          <p:cNvPr id="998" name="Google Shape;998;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9" name="Google Shape;999;p3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USE IN: Internal master only</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SECTION: Internal</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28 OCT PASS: Image not edited. GameCo/ExperienceCo, IP and ecosystem are internal language.</a:t>
            </a:r>
            <a:endParaRPr/>
          </a:p>
        </p:txBody>
      </p:sp>
      <p:sp>
        <p:nvSpPr>
          <p:cNvPr id="1000" name="Google Shape;1000;p3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0" name="Shape 1010"/>
        <p:cNvGrpSpPr/>
        <p:nvPr/>
      </p:nvGrpSpPr>
      <p:grpSpPr>
        <a:xfrm>
          <a:off x="0" y="0"/>
          <a:ext cx="0" cy="0"/>
          <a:chOff x="0" y="0"/>
          <a:chExt cx="0" cy="0"/>
        </a:xfrm>
      </p:grpSpPr>
      <p:sp>
        <p:nvSpPr>
          <p:cNvPr id="1011" name="Google Shape;1011;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2" name="Google Shape;1012;p4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USE IN: Internal master only</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SECTION: Internal</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28 OCT PASS: Trade mark status and equity are never external. Brand Brain spells it "trade mark".</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PASS 5 (28 OCT): box headings set in Raleway Bold, larger, so they stand out.</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PASS 5 (28 OCT): sign-off line given the deck’s one sign-off treatment: deep olive band, cream SemiBold, centred.</a:t>
            </a:r>
            <a:endParaRPr/>
          </a:p>
        </p:txBody>
      </p:sp>
      <p:sp>
        <p:nvSpPr>
          <p:cNvPr id="1013" name="Google Shape;1013;p4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3" name="Shape 1023"/>
        <p:cNvGrpSpPr/>
        <p:nvPr/>
      </p:nvGrpSpPr>
      <p:grpSpPr>
        <a:xfrm>
          <a:off x="0" y="0"/>
          <a:ext cx="0" cy="0"/>
          <a:chOff x="0" y="0"/>
          <a:chExt cx="0" cy="0"/>
        </a:xfrm>
      </p:grpSpPr>
      <p:sp>
        <p:nvSpPr>
          <p:cNvPr id="1024" name="Google Shape;1024;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5" name="Google Shape;1025;p4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USE IN: Internal master only</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SECTION: Internal</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28 OCT PASS: Unfinished. Placeholder only; investors are deferred in the Brand Brain.</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PASS 3 (28 OCT): launch path drafted from the build and release plan (22 Oct), the commercial decisions brief and Brand Brain 06. Funding holds questions only: no amounts are invented.</a:t>
            </a:r>
            <a:endParaRPr/>
          </a:p>
        </p:txBody>
      </p:sp>
      <p:sp>
        <p:nvSpPr>
          <p:cNvPr id="1026" name="Google Shape;1026;p4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4" name="Shape 1044"/>
        <p:cNvGrpSpPr/>
        <p:nvPr/>
      </p:nvGrpSpPr>
      <p:grpSpPr>
        <a:xfrm>
          <a:off x="0" y="0"/>
          <a:ext cx="0" cy="0"/>
          <a:chOff x="0" y="0"/>
          <a:chExt cx="0" cy="0"/>
        </a:xfrm>
      </p:grpSpPr>
      <p:sp>
        <p:nvSpPr>
          <p:cNvPr id="1045" name="Google Shape;1045;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6" name="Google Shape;1046;p4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USE IN: Partner Mode pack · Event Mode pack · Brand story</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SECTION: Founder</a:t>
            </a:r>
            <a:endParaRPr/>
          </a:p>
          <a:p>
            <a:pPr indent="-228600" lvl="0" marL="457200" marR="0" rtl="0" algn="l">
              <a:lnSpc>
                <a:spcPct val="100000"/>
              </a:lnSpc>
              <a:spcBef>
                <a:spcPts val="0"/>
              </a:spcBef>
              <a:spcAft>
                <a:spcPts val="0"/>
              </a:spcAft>
              <a:buClr>
                <a:srgbClr val="000000"/>
              </a:buClr>
              <a:buSzPts val="1400"/>
              <a:buFont typeface="Arial"/>
              <a:buNone/>
            </a:pPr>
            <a:r>
              <a:rPr b="0" i="0" lang="en-US" spc="0" sz="1200" u="none" cap="none" strike="noStrike">
                <a:solidFill>
                  <a:schemeClr val="dk1"/>
                </a:solidFill>
                <a:latin typeface="Raleway Light"/>
                <a:ea typeface="Raleway Light"/>
                <a:cs typeface="Raleway Light"/>
                <a:sym typeface="Raleway Light"/>
              </a:rPr>
              <a:t>28 OCT PASS: "More than 25 years" corrected to "over 30 years". Founder facts approved as written (28 October); Brand Brain 01 to be updated to match. Surname to add.</a:t>
            </a:r>
            <a:endParaRPr/>
          </a:p>
        </p:txBody>
      </p:sp>
      <p:sp>
        <p:nvSpPr>
          <p:cNvPr id="1047" name="Google Shape;1047;p4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1" name="Shape 11"/>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A Content">
  <p:cSld name="EA Content">
    <p:bg>
      <p:bgPr>
        <a:solidFill>
          <a:schemeClr val="lt2"/>
        </a:solidFill>
      </p:bgPr>
    </p:bg>
    <p:spTree>
      <p:nvGrpSpPr>
        <p:cNvPr id="12" name="Shape 12"/>
        <p:cNvGrpSpPr/>
        <p:nvPr/>
      </p:nvGrpSpPr>
      <p:grpSpPr>
        <a:xfrm>
          <a:off x="0" y="0"/>
          <a:ext cx="0" cy="0"/>
          <a:chOff x="0" y="0"/>
          <a:chExt cx="0" cy="0"/>
        </a:xfrm>
      </p:grpSpPr>
      <p:sp>
        <p:nvSpPr>
          <p:cNvPr id="13" name="Google Shape;13;p3"/>
          <p:cNvSpPr txBox="1"/>
          <p:nvPr/>
        </p:nvSpPr>
        <p:spPr>
          <a:xfrm>
            <a:off x="548640" y="6355080"/>
            <a:ext cx="45720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000"/>
              <a:buFont typeface="Raleway Light"/>
              <a:buNone/>
            </a:pPr>
            <a:r>
              <a:rPr b="0" i="0" lang="en-US" spc="0" sz="1000" u="none" cap="none" strike="noStrike">
                <a:solidFill>
                  <a:schemeClr val="dk1"/>
                </a:solidFill>
                <a:latin typeface="Raleway Light"/>
                <a:ea typeface="Raleway Light"/>
                <a:cs typeface="Raleway Light"/>
                <a:sym typeface="Raleway Light"/>
              </a:rPr>
              <a:t>Say what you really think.</a:t>
            </a:r>
            <a:endParaRPr b="0" i="0" spc="0" sz="1000" u="none" cap="none" strike="noStrike">
              <a:solidFill>
                <a:schemeClr val="dk1"/>
              </a:solidFill>
              <a:latin typeface="Raleway Light"/>
              <a:ea typeface="Raleway Light"/>
              <a:cs typeface="Raleway Light"/>
              <a:sym typeface="Raleway Light"/>
            </a:endParaRPr>
          </a:p>
        </p:txBody>
      </p:sp>
      <p:pic>
        <p:nvPicPr>
          <p:cNvPr descr="Entre Amis logo" id="14" name="Google Shape;14;p3"/>
          <p:cNvPicPr preferRelativeResize="0"/>
          <p:nvPr/>
        </p:nvPicPr>
        <p:blipFill rotWithShape="1">
          <a:blip r:embed="rId2">
            <a:alphaModFix/>
          </a:blip>
          <a:srcRect b="0" l="0" r="0" t="0"/>
          <a:stretch/>
        </p:blipFill>
        <p:spPr>
          <a:xfrm>
            <a:off x="10637215" y="6144768"/>
            <a:ext cx="1005840" cy="506229"/>
          </a:xfrm>
          <a:prstGeom prst="rect">
            <a:avLst/>
          </a:prstGeom>
          <a:noFill/>
          <a:ln>
            <a:noFill/>
          </a:ln>
        </p:spPr>
      </p:pic>
      <p:sp>
        <p:nvSpPr>
          <p:cNvPr id="15" name="Google Shape;15;p3"/>
          <p:cNvSpPr txBox="1"/>
          <p:nvPr>
            <p:ph type="title"/>
          </p:nvPr>
        </p:nvSpPr>
        <p:spPr>
          <a:xfrm>
            <a:off x="548640" y="411480"/>
            <a:ext cx="8138160" cy="6858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chemeClr val="dk1"/>
              </a:buClr>
              <a:buSzPts val="3600"/>
              <a:buFont typeface="Raleway Light"/>
              <a:buNone/>
              <a:defRPr b="0" i="0" spc="0" sz="3600" u="none" cap="none" strike="noStrike">
                <a:solidFill>
                  <a:schemeClr val="dk1"/>
                </a:solidFill>
                <a:latin typeface="Raleway Light"/>
                <a:ea typeface="Raleway Light"/>
                <a:cs typeface="Raleway Light"/>
                <a:sym typeface="Raleway Light"/>
              </a:defRPr>
            </a:lvl1pPr>
            <a:lvl2pPr lvl="1"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9pPr>
          </a:lstStyle>
          <a:p/>
        </p:txBody>
      </p:sp>
      <p:sp>
        <p:nvSpPr>
          <p:cNvPr id="16" name="Google Shape;16;p3"/>
          <p:cNvSpPr txBox="1"/>
          <p:nvPr>
            <p:ph idx="1" type="body"/>
          </p:nvPr>
        </p:nvSpPr>
        <p:spPr>
          <a:xfrm>
            <a:off x="548640" y="1115568"/>
            <a:ext cx="11094415" cy="41148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360"/>
              </a:spcBef>
              <a:spcAft>
                <a:spcPts val="0"/>
              </a:spcAft>
              <a:buClr>
                <a:schemeClr val="dk1"/>
              </a:buClr>
              <a:buSzPts val="1800"/>
              <a:buFont typeface="Arial"/>
              <a:buNone/>
              <a:defRPr b="0" i="0" spc="0" sz="1800" u="none" cap="none" strike="noStrike">
                <a:solidFill>
                  <a:schemeClr val="dk1"/>
                </a:solidFill>
                <a:latin typeface="Raleway Light"/>
                <a:ea typeface="Raleway Light"/>
                <a:cs typeface="Raleway Light"/>
                <a:sym typeface="Raleway Light"/>
              </a:defRPr>
            </a:lvl1pPr>
            <a:lvl2pPr indent="-406400" lvl="1" marL="914400" marR="0" rtl="0" algn="l">
              <a:lnSpc>
                <a:spcPct val="100000"/>
              </a:lnSpc>
              <a:spcBef>
                <a:spcPts val="560"/>
              </a:spcBef>
              <a:spcAft>
                <a:spcPts val="0"/>
              </a:spcAft>
              <a:buClr>
                <a:schemeClr val="dk1"/>
              </a:buClr>
              <a:buSzPts val="2800"/>
              <a:buFont typeface="Arial"/>
              <a:buChar char="–"/>
              <a:defRPr b="0" i="0" spc="0" sz="2800" u="none" cap="none" strike="noStrike">
                <a:solidFill>
                  <a:schemeClr val="dk1"/>
                </a:solidFill>
                <a:latin typeface="Raleway Light"/>
                <a:ea typeface="Raleway Light"/>
                <a:cs typeface="Raleway Light"/>
                <a:sym typeface="Raleway Light"/>
              </a:defRPr>
            </a:lvl2pPr>
            <a:lvl3pPr indent="-381000" lvl="2" marL="1371600" marR="0" rtl="0" algn="l">
              <a:lnSpc>
                <a:spcPct val="100000"/>
              </a:lnSpc>
              <a:spcBef>
                <a:spcPts val="480"/>
              </a:spcBef>
              <a:spcAft>
                <a:spcPts val="0"/>
              </a:spcAft>
              <a:buClr>
                <a:schemeClr val="dk1"/>
              </a:buClr>
              <a:buSzPts val="2400"/>
              <a:buFont typeface="Arial"/>
              <a:buChar char="•"/>
              <a:defRPr b="0" i="0" spc="0" sz="2400" u="none" cap="none" strike="noStrike">
                <a:solidFill>
                  <a:schemeClr val="dk1"/>
                </a:solidFill>
                <a:latin typeface="Raleway Light"/>
                <a:ea typeface="Raleway Light"/>
                <a:cs typeface="Raleway Light"/>
                <a:sym typeface="Raleway Light"/>
              </a:defRPr>
            </a:lvl3pPr>
            <a:lvl4pPr indent="-355600" lvl="3" marL="18288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Raleway Light"/>
                <a:ea typeface="Raleway Light"/>
                <a:cs typeface="Raleway Light"/>
                <a:sym typeface="Raleway Light"/>
              </a:defRPr>
            </a:lvl4pPr>
            <a:lvl5pPr indent="-355600" lvl="4" marL="22860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Raleway Light"/>
                <a:ea typeface="Raleway Light"/>
                <a:cs typeface="Raleway Light"/>
                <a:sym typeface="Raleway Light"/>
              </a:defRPr>
            </a:lvl5pPr>
            <a:lvl6pPr indent="-355600" lvl="5" marL="27432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Raleway Light"/>
                <a:ea typeface="Raleway Light"/>
                <a:cs typeface="Raleway Light"/>
                <a:sym typeface="Raleway Light"/>
              </a:defRPr>
            </a:lvl6pPr>
            <a:lvl7pPr indent="-355600" lvl="6" marL="32004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Raleway Light"/>
                <a:ea typeface="Raleway Light"/>
                <a:cs typeface="Raleway Light"/>
                <a:sym typeface="Raleway Light"/>
              </a:defRPr>
            </a:lvl7pPr>
            <a:lvl8pPr indent="-355600" lvl="7" marL="36576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Raleway Light"/>
                <a:ea typeface="Raleway Light"/>
                <a:cs typeface="Raleway Light"/>
                <a:sym typeface="Raleway Light"/>
              </a:defRPr>
            </a:lvl8pPr>
            <a:lvl9pPr indent="-355600" lvl="8" marL="41148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Raleway Light"/>
                <a:ea typeface="Raleway Light"/>
                <a:cs typeface="Raleway Light"/>
                <a:sym typeface="Raleway Light"/>
              </a:defRPr>
            </a:lvl9pPr>
          </a:lstStyle>
          <a:p/>
        </p:txBody>
      </p:sp>
      <p:sp>
        <p:nvSpPr>
          <p:cNvPr id="17" name="Google Shape;17;p3"/>
          <p:cNvSpPr txBox="1"/>
          <p:nvPr>
            <p:ph idx="12" type="sldNum"/>
          </p:nvPr>
        </p:nvSpPr>
        <p:spPr>
          <a:xfrm>
            <a:off x="11094415" y="457200"/>
            <a:ext cx="548640" cy="27432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pc="0" sz="1200" u="none" cap="none" strike="noStrike">
                <a:solidFill>
                  <a:schemeClr val="dk1"/>
                </a:solidFill>
                <a:latin typeface="Raleway Light"/>
                <a:ea typeface="Raleway Light"/>
                <a:cs typeface="Raleway Light"/>
                <a:sym typeface="Raleway Light"/>
              </a:defRPr>
            </a:lvl1pPr>
            <a:lvl2pPr indent="0" lvl="1" marL="0" marR="0" algn="r">
              <a:lnSpc>
                <a:spcPct val="100000"/>
              </a:lnSpc>
              <a:spcBef>
                <a:spcPts val="0"/>
              </a:spcBef>
              <a:spcAft>
                <a:spcPts val="0"/>
              </a:spcAft>
              <a:buClr>
                <a:srgbClr val="000000"/>
              </a:buClr>
              <a:buSzPts val="1200"/>
              <a:buFont typeface="Arial"/>
              <a:buNone/>
              <a:defRPr b="0" i="0" spc="0" sz="1200" u="none" cap="none" strike="noStrike">
                <a:solidFill>
                  <a:schemeClr val="dk1"/>
                </a:solidFill>
                <a:latin typeface="Raleway Light"/>
                <a:ea typeface="Raleway Light"/>
                <a:cs typeface="Raleway Light"/>
                <a:sym typeface="Raleway Light"/>
              </a:defRPr>
            </a:lvl2pPr>
            <a:lvl3pPr indent="0" lvl="2" marL="0" marR="0" algn="r">
              <a:lnSpc>
                <a:spcPct val="100000"/>
              </a:lnSpc>
              <a:spcBef>
                <a:spcPts val="0"/>
              </a:spcBef>
              <a:spcAft>
                <a:spcPts val="0"/>
              </a:spcAft>
              <a:buClr>
                <a:srgbClr val="000000"/>
              </a:buClr>
              <a:buSzPts val="1200"/>
              <a:buFont typeface="Arial"/>
              <a:buNone/>
              <a:defRPr b="0" i="0" spc="0" sz="1200" u="none" cap="none" strike="noStrike">
                <a:solidFill>
                  <a:schemeClr val="dk1"/>
                </a:solidFill>
                <a:latin typeface="Raleway Light"/>
                <a:ea typeface="Raleway Light"/>
                <a:cs typeface="Raleway Light"/>
                <a:sym typeface="Raleway Light"/>
              </a:defRPr>
            </a:lvl3pPr>
            <a:lvl4pPr indent="0" lvl="3" marL="0" marR="0" algn="r">
              <a:lnSpc>
                <a:spcPct val="100000"/>
              </a:lnSpc>
              <a:spcBef>
                <a:spcPts val="0"/>
              </a:spcBef>
              <a:spcAft>
                <a:spcPts val="0"/>
              </a:spcAft>
              <a:buClr>
                <a:srgbClr val="000000"/>
              </a:buClr>
              <a:buSzPts val="1200"/>
              <a:buFont typeface="Arial"/>
              <a:buNone/>
              <a:defRPr b="0" i="0" spc="0" sz="1200" u="none" cap="none" strike="noStrike">
                <a:solidFill>
                  <a:schemeClr val="dk1"/>
                </a:solidFill>
                <a:latin typeface="Raleway Light"/>
                <a:ea typeface="Raleway Light"/>
                <a:cs typeface="Raleway Light"/>
                <a:sym typeface="Raleway Light"/>
              </a:defRPr>
            </a:lvl4pPr>
            <a:lvl5pPr indent="0" lvl="4" marL="0" marR="0" algn="r">
              <a:lnSpc>
                <a:spcPct val="100000"/>
              </a:lnSpc>
              <a:spcBef>
                <a:spcPts val="0"/>
              </a:spcBef>
              <a:spcAft>
                <a:spcPts val="0"/>
              </a:spcAft>
              <a:buClr>
                <a:srgbClr val="000000"/>
              </a:buClr>
              <a:buSzPts val="1200"/>
              <a:buFont typeface="Arial"/>
              <a:buNone/>
              <a:defRPr b="0" i="0" spc="0" sz="1200" u="none" cap="none" strike="noStrike">
                <a:solidFill>
                  <a:schemeClr val="dk1"/>
                </a:solidFill>
                <a:latin typeface="Raleway Light"/>
                <a:ea typeface="Raleway Light"/>
                <a:cs typeface="Raleway Light"/>
                <a:sym typeface="Raleway Light"/>
              </a:defRPr>
            </a:lvl5pPr>
            <a:lvl6pPr indent="0" lvl="5" marL="0" marR="0" algn="r">
              <a:lnSpc>
                <a:spcPct val="100000"/>
              </a:lnSpc>
              <a:spcBef>
                <a:spcPts val="0"/>
              </a:spcBef>
              <a:spcAft>
                <a:spcPts val="0"/>
              </a:spcAft>
              <a:buClr>
                <a:srgbClr val="000000"/>
              </a:buClr>
              <a:buSzPts val="1200"/>
              <a:buFont typeface="Arial"/>
              <a:buNone/>
              <a:defRPr b="0" i="0" spc="0" sz="1200" u="none" cap="none" strike="noStrike">
                <a:solidFill>
                  <a:schemeClr val="dk1"/>
                </a:solidFill>
                <a:latin typeface="Raleway Light"/>
                <a:ea typeface="Raleway Light"/>
                <a:cs typeface="Raleway Light"/>
                <a:sym typeface="Raleway Light"/>
              </a:defRPr>
            </a:lvl6pPr>
            <a:lvl7pPr indent="0" lvl="6" marL="0" marR="0" algn="r">
              <a:lnSpc>
                <a:spcPct val="100000"/>
              </a:lnSpc>
              <a:spcBef>
                <a:spcPts val="0"/>
              </a:spcBef>
              <a:spcAft>
                <a:spcPts val="0"/>
              </a:spcAft>
              <a:buClr>
                <a:srgbClr val="000000"/>
              </a:buClr>
              <a:buSzPts val="1200"/>
              <a:buFont typeface="Arial"/>
              <a:buNone/>
              <a:defRPr b="0" i="0" spc="0" sz="1200" u="none" cap="none" strike="noStrike">
                <a:solidFill>
                  <a:schemeClr val="dk1"/>
                </a:solidFill>
                <a:latin typeface="Raleway Light"/>
                <a:ea typeface="Raleway Light"/>
                <a:cs typeface="Raleway Light"/>
                <a:sym typeface="Raleway Light"/>
              </a:defRPr>
            </a:lvl7pPr>
            <a:lvl8pPr indent="0" lvl="7" marL="0" marR="0" algn="r">
              <a:lnSpc>
                <a:spcPct val="100000"/>
              </a:lnSpc>
              <a:spcBef>
                <a:spcPts val="0"/>
              </a:spcBef>
              <a:spcAft>
                <a:spcPts val="0"/>
              </a:spcAft>
              <a:buClr>
                <a:srgbClr val="000000"/>
              </a:buClr>
              <a:buSzPts val="1200"/>
              <a:buFont typeface="Arial"/>
              <a:buNone/>
              <a:defRPr b="0" i="0" spc="0" sz="1200" u="none" cap="none" strike="noStrike">
                <a:solidFill>
                  <a:schemeClr val="dk1"/>
                </a:solidFill>
                <a:latin typeface="Raleway Light"/>
                <a:ea typeface="Raleway Light"/>
                <a:cs typeface="Raleway Light"/>
                <a:sym typeface="Raleway Light"/>
              </a:defRPr>
            </a:lvl8pPr>
            <a:lvl9pPr indent="0" lvl="8" marL="0" marR="0" algn="r">
              <a:lnSpc>
                <a:spcPct val="100000"/>
              </a:lnSpc>
              <a:spcBef>
                <a:spcPts val="0"/>
              </a:spcBef>
              <a:spcAft>
                <a:spcPts val="0"/>
              </a:spcAft>
              <a:buClr>
                <a:srgbClr val="000000"/>
              </a:buClr>
              <a:buSzPts val="1200"/>
              <a:buFont typeface="Arial"/>
              <a:buNone/>
              <a:defRPr b="0" i="0" spc="0" sz="1200" u="none" cap="none" strike="noStrike">
                <a:solidFill>
                  <a:schemeClr val="dk1"/>
                </a:solidFill>
                <a:latin typeface="Raleway Light"/>
                <a:ea typeface="Raleway Light"/>
                <a:cs typeface="Raleway Light"/>
                <a:sym typeface="Raleway Ligh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A Cover">
  <p:cSld name="EA Cover">
    <p:bg>
      <p:bgPr>
        <a:solidFill>
          <a:schemeClr val="lt2"/>
        </a:solidFill>
      </p:bgPr>
    </p:bg>
    <p:spTree>
      <p:nvGrpSpPr>
        <p:cNvPr id="18" name="Shape 18"/>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20" name="Shape 20"/>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1" name="Shape 21"/>
        <p:cNvGrpSpPr/>
        <p:nvPr/>
      </p:nvGrpSpPr>
      <p:grpSpPr>
        <a:xfrm>
          <a:off x="0" y="0"/>
          <a:ext cx="0" cy="0"/>
          <a:chOff x="0" y="0"/>
          <a:chExt cx="0" cy="0"/>
        </a:xfrm>
      </p:grpSpPr>
      <p:sp>
        <p:nvSpPr>
          <p:cNvPr id="22" name="Google Shape;22;p7"/>
          <p:cNvSpPr txBox="1"/>
          <p:nvPr>
            <p:ph idx="10" type="dt"/>
          </p:nvPr>
        </p:nvSpPr>
        <p:spPr>
          <a:xfrm>
            <a:off x="457212" y="6356350"/>
            <a:ext cx="21336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9pPr>
          </a:lstStyle>
          <a:p/>
        </p:txBody>
      </p:sp>
      <p:sp>
        <p:nvSpPr>
          <p:cNvPr id="23" name="Google Shape;23;p7"/>
          <p:cNvSpPr txBox="1"/>
          <p:nvPr>
            <p:ph idx="11" type="ftr"/>
          </p:nvPr>
        </p:nvSpPr>
        <p:spPr>
          <a:xfrm>
            <a:off x="3124283" y="6356350"/>
            <a:ext cx="28956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9pPr>
          </a:lstStyle>
          <a:p/>
        </p:txBody>
      </p:sp>
      <p:sp>
        <p:nvSpPr>
          <p:cNvPr id="24" name="Google Shape;24;p7"/>
          <p:cNvSpPr txBox="1"/>
          <p:nvPr>
            <p:ph idx="12" type="sldNum"/>
          </p:nvPr>
        </p:nvSpPr>
        <p:spPr>
          <a:xfrm>
            <a:off x="6553375" y="6356350"/>
            <a:ext cx="21336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400"/>
              <a:buFont typeface="Arial"/>
              <a:buNone/>
              <a:defRPr b="0" i="0" spc="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1" name="Shape 31"/>
        <p:cNvGrpSpPr/>
        <p:nvPr/>
      </p:nvGrpSpPr>
      <p:grpSpPr>
        <a:xfrm>
          <a:off x="0" y="0"/>
          <a:ext cx="0" cy="0"/>
          <a:chOff x="0" y="0"/>
          <a:chExt cx="0" cy="0"/>
        </a:xfrm>
      </p:grpSpPr>
      <p:sp>
        <p:nvSpPr>
          <p:cNvPr id="32" name="Google Shape;32;p9"/>
          <p:cNvSpPr txBox="1"/>
          <p:nvPr>
            <p:ph idx="10" type="dt"/>
          </p:nvPr>
        </p:nvSpPr>
        <p:spPr>
          <a:xfrm>
            <a:off x="406400" y="4767263"/>
            <a:ext cx="1896600" cy="273900"/>
          </a:xfrm>
          <a:prstGeom prst="rect">
            <a:avLst/>
          </a:prstGeom>
          <a:noFill/>
          <a:ln>
            <a:noFill/>
          </a:ln>
        </p:spPr>
        <p:txBody>
          <a:bodyPr anchorCtr="0" anchor="ctr" bIns="38500" lIns="77025" spcFirstLastPara="1" rIns="77025" wrap="square" tIns="38500">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33" name="Google Shape;33;p9"/>
          <p:cNvSpPr txBox="1"/>
          <p:nvPr>
            <p:ph idx="11" type="ftr"/>
          </p:nvPr>
        </p:nvSpPr>
        <p:spPr>
          <a:xfrm>
            <a:off x="2777067" y="4767263"/>
            <a:ext cx="2574000" cy="273900"/>
          </a:xfrm>
          <a:prstGeom prst="rect">
            <a:avLst/>
          </a:prstGeom>
          <a:noFill/>
          <a:ln>
            <a:noFill/>
          </a:ln>
        </p:spPr>
        <p:txBody>
          <a:bodyPr anchorCtr="0" anchor="ctr" bIns="38500" lIns="77025" spcFirstLastPara="1" rIns="77025" wrap="square" tIns="38500">
            <a:noAutofit/>
          </a:bodyPr>
          <a:lstStyle>
            <a:lvl1pPr lvl="0" algn="ctr">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34" name="Google Shape;34;p9"/>
          <p:cNvSpPr txBox="1"/>
          <p:nvPr>
            <p:ph idx="12" type="sldNum"/>
          </p:nvPr>
        </p:nvSpPr>
        <p:spPr>
          <a:xfrm>
            <a:off x="5825067" y="4767263"/>
            <a:ext cx="1896600" cy="273900"/>
          </a:xfrm>
          <a:prstGeom prst="rect">
            <a:avLst/>
          </a:prstGeom>
          <a:noFill/>
          <a:ln>
            <a:noFill/>
          </a:ln>
        </p:spPr>
        <p:txBody>
          <a:bodyPr anchorCtr="0" anchor="ctr" bIns="38500" lIns="77025" spcFirstLastPara="1" rIns="77025" wrap="square" tIns="38500">
            <a:noAutofit/>
          </a:bodyPr>
          <a:lstStyle>
            <a:lvl1pPr indent="0" lvl="0"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5" name="Shape 35"/>
        <p:cNvGrpSpPr/>
        <p:nvPr/>
      </p:nvGrpSpPr>
      <p:grpSpPr>
        <a:xfrm>
          <a:off x="0" y="0"/>
          <a:ext cx="0" cy="0"/>
          <a:chOff x="0" y="0"/>
          <a:chExt cx="0" cy="0"/>
        </a:xfrm>
      </p:grpSpPr>
      <p:sp>
        <p:nvSpPr>
          <p:cNvPr id="36" name="Google Shape;36;p10"/>
          <p:cNvSpPr txBox="1"/>
          <p:nvPr>
            <p:ph type="ctrTitle"/>
          </p:nvPr>
        </p:nvSpPr>
        <p:spPr>
          <a:xfrm>
            <a:off x="609600" y="1597819"/>
            <a:ext cx="6908700" cy="1102500"/>
          </a:xfrm>
          <a:prstGeom prst="rect">
            <a:avLst/>
          </a:prstGeom>
          <a:noFill/>
          <a:ln>
            <a:noFill/>
          </a:ln>
        </p:spPr>
        <p:txBody>
          <a:bodyPr anchorCtr="0" anchor="ctr" bIns="38500" lIns="77025" spcFirstLastPara="1" rIns="77025" wrap="square" tIns="38500">
            <a:normAutofit/>
          </a:bodyPr>
          <a:lstStyle>
            <a:lvl1pPr lvl="0" algn="ctr">
              <a:lnSpc>
                <a:spcPct val="100000"/>
              </a:lnSpc>
              <a:spcBef>
                <a:spcPts val="0"/>
              </a:spcBef>
              <a:spcAft>
                <a:spcPts val="0"/>
              </a:spcAft>
              <a:buClr>
                <a:schemeClr val="dk1"/>
              </a:buClr>
              <a:buSzPts val="15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37" name="Google Shape;37;p10"/>
          <p:cNvSpPr txBox="1"/>
          <p:nvPr>
            <p:ph idx="1" type="subTitle"/>
          </p:nvPr>
        </p:nvSpPr>
        <p:spPr>
          <a:xfrm>
            <a:off x="1219200" y="2914650"/>
            <a:ext cx="5689500" cy="1314600"/>
          </a:xfrm>
          <a:prstGeom prst="rect">
            <a:avLst/>
          </a:prstGeom>
          <a:noFill/>
          <a:ln>
            <a:noFill/>
          </a:ln>
        </p:spPr>
        <p:txBody>
          <a:bodyPr anchorCtr="0" anchor="t" bIns="38500" lIns="77025" spcFirstLastPara="1" rIns="77025" wrap="square" tIns="38500">
            <a:normAutofit/>
          </a:bodyPr>
          <a:lstStyle>
            <a:lvl1pPr lvl="0" algn="ctr">
              <a:lnSpc>
                <a:spcPct val="100000"/>
              </a:lnSpc>
              <a:spcBef>
                <a:spcPts val="500"/>
              </a:spcBef>
              <a:spcAft>
                <a:spcPts val="0"/>
              </a:spcAft>
              <a:buClr>
                <a:srgbClr val="888888"/>
              </a:buClr>
              <a:buSzPts val="2700"/>
              <a:buNone/>
              <a:defRPr>
                <a:solidFill>
                  <a:srgbClr val="888888"/>
                </a:solidFill>
              </a:defRPr>
            </a:lvl1pPr>
            <a:lvl2pPr lvl="1" algn="ctr">
              <a:lnSpc>
                <a:spcPct val="100000"/>
              </a:lnSpc>
              <a:spcBef>
                <a:spcPts val="500"/>
              </a:spcBef>
              <a:spcAft>
                <a:spcPts val="0"/>
              </a:spcAft>
              <a:buClr>
                <a:srgbClr val="888888"/>
              </a:buClr>
              <a:buSzPts val="2400"/>
              <a:buNone/>
              <a:defRPr>
                <a:solidFill>
                  <a:srgbClr val="888888"/>
                </a:solidFill>
              </a:defRPr>
            </a:lvl2pPr>
            <a:lvl3pPr lvl="2" algn="ctr">
              <a:lnSpc>
                <a:spcPct val="100000"/>
              </a:lnSpc>
              <a:spcBef>
                <a:spcPts val="400"/>
              </a:spcBef>
              <a:spcAft>
                <a:spcPts val="0"/>
              </a:spcAft>
              <a:buClr>
                <a:srgbClr val="888888"/>
              </a:buClr>
              <a:buSzPts val="2000"/>
              <a:buNone/>
              <a:defRPr>
                <a:solidFill>
                  <a:srgbClr val="888888"/>
                </a:solidFill>
              </a:defRPr>
            </a:lvl3pPr>
            <a:lvl4pPr lvl="3" algn="ctr">
              <a:lnSpc>
                <a:spcPct val="100000"/>
              </a:lnSpc>
              <a:spcBef>
                <a:spcPts val="300"/>
              </a:spcBef>
              <a:spcAft>
                <a:spcPts val="0"/>
              </a:spcAft>
              <a:buClr>
                <a:srgbClr val="888888"/>
              </a:buClr>
              <a:buSzPts val="1700"/>
              <a:buNone/>
              <a:defRPr>
                <a:solidFill>
                  <a:srgbClr val="888888"/>
                </a:solidFill>
              </a:defRPr>
            </a:lvl4pPr>
            <a:lvl5pPr lvl="4" algn="ctr">
              <a:lnSpc>
                <a:spcPct val="100000"/>
              </a:lnSpc>
              <a:spcBef>
                <a:spcPts val="300"/>
              </a:spcBef>
              <a:spcAft>
                <a:spcPts val="0"/>
              </a:spcAft>
              <a:buClr>
                <a:srgbClr val="888888"/>
              </a:buClr>
              <a:buSzPts val="1700"/>
              <a:buNone/>
              <a:defRPr>
                <a:solidFill>
                  <a:srgbClr val="888888"/>
                </a:solidFill>
              </a:defRPr>
            </a:lvl5pPr>
            <a:lvl6pPr lvl="5" algn="ctr">
              <a:lnSpc>
                <a:spcPct val="100000"/>
              </a:lnSpc>
              <a:spcBef>
                <a:spcPts val="300"/>
              </a:spcBef>
              <a:spcAft>
                <a:spcPts val="0"/>
              </a:spcAft>
              <a:buClr>
                <a:srgbClr val="888888"/>
              </a:buClr>
              <a:buSzPts val="1700"/>
              <a:buNone/>
              <a:defRPr>
                <a:solidFill>
                  <a:srgbClr val="888888"/>
                </a:solidFill>
              </a:defRPr>
            </a:lvl6pPr>
            <a:lvl7pPr lvl="6" algn="ctr">
              <a:lnSpc>
                <a:spcPct val="100000"/>
              </a:lnSpc>
              <a:spcBef>
                <a:spcPts val="300"/>
              </a:spcBef>
              <a:spcAft>
                <a:spcPts val="0"/>
              </a:spcAft>
              <a:buClr>
                <a:srgbClr val="888888"/>
              </a:buClr>
              <a:buSzPts val="1700"/>
              <a:buNone/>
              <a:defRPr>
                <a:solidFill>
                  <a:srgbClr val="888888"/>
                </a:solidFill>
              </a:defRPr>
            </a:lvl7pPr>
            <a:lvl8pPr lvl="7" algn="ctr">
              <a:lnSpc>
                <a:spcPct val="100000"/>
              </a:lnSpc>
              <a:spcBef>
                <a:spcPts val="300"/>
              </a:spcBef>
              <a:spcAft>
                <a:spcPts val="0"/>
              </a:spcAft>
              <a:buClr>
                <a:srgbClr val="888888"/>
              </a:buClr>
              <a:buSzPts val="1700"/>
              <a:buNone/>
              <a:defRPr>
                <a:solidFill>
                  <a:srgbClr val="888888"/>
                </a:solidFill>
              </a:defRPr>
            </a:lvl8pPr>
            <a:lvl9pPr lvl="8" algn="ctr">
              <a:lnSpc>
                <a:spcPct val="100000"/>
              </a:lnSpc>
              <a:spcBef>
                <a:spcPts val="300"/>
              </a:spcBef>
              <a:spcAft>
                <a:spcPts val="0"/>
              </a:spcAft>
              <a:buClr>
                <a:srgbClr val="888888"/>
              </a:buClr>
              <a:buSzPts val="1700"/>
              <a:buNone/>
              <a:defRPr>
                <a:solidFill>
                  <a:srgbClr val="888888"/>
                </a:solidFill>
              </a:defRPr>
            </a:lvl9pPr>
          </a:lstStyle>
          <a:p/>
        </p:txBody>
      </p:sp>
      <p:sp>
        <p:nvSpPr>
          <p:cNvPr id="38" name="Google Shape;38;p10"/>
          <p:cNvSpPr txBox="1"/>
          <p:nvPr>
            <p:ph idx="10" type="dt"/>
          </p:nvPr>
        </p:nvSpPr>
        <p:spPr>
          <a:xfrm>
            <a:off x="406400" y="4767263"/>
            <a:ext cx="1896600" cy="273900"/>
          </a:xfrm>
          <a:prstGeom prst="rect">
            <a:avLst/>
          </a:prstGeom>
          <a:noFill/>
          <a:ln>
            <a:noFill/>
          </a:ln>
        </p:spPr>
        <p:txBody>
          <a:bodyPr anchorCtr="0" anchor="ctr" bIns="38500" lIns="77025" spcFirstLastPara="1" rIns="77025" wrap="square" tIns="38500">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39" name="Google Shape;39;p10"/>
          <p:cNvSpPr txBox="1"/>
          <p:nvPr>
            <p:ph idx="11" type="ftr"/>
          </p:nvPr>
        </p:nvSpPr>
        <p:spPr>
          <a:xfrm>
            <a:off x="2777067" y="4767263"/>
            <a:ext cx="2574000" cy="273900"/>
          </a:xfrm>
          <a:prstGeom prst="rect">
            <a:avLst/>
          </a:prstGeom>
          <a:noFill/>
          <a:ln>
            <a:noFill/>
          </a:ln>
        </p:spPr>
        <p:txBody>
          <a:bodyPr anchorCtr="0" anchor="ctr" bIns="38500" lIns="77025" spcFirstLastPara="1" rIns="77025" wrap="square" tIns="38500">
            <a:noAutofit/>
          </a:bodyPr>
          <a:lstStyle>
            <a:lvl1pPr lvl="0" algn="ctr">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40" name="Google Shape;40;p10"/>
          <p:cNvSpPr txBox="1"/>
          <p:nvPr>
            <p:ph idx="12" type="sldNum"/>
          </p:nvPr>
        </p:nvSpPr>
        <p:spPr>
          <a:xfrm>
            <a:off x="5825067" y="4767263"/>
            <a:ext cx="1896600" cy="273900"/>
          </a:xfrm>
          <a:prstGeom prst="rect">
            <a:avLst/>
          </a:prstGeom>
          <a:noFill/>
          <a:ln>
            <a:noFill/>
          </a:ln>
        </p:spPr>
        <p:txBody>
          <a:bodyPr anchorCtr="0" anchor="ctr" bIns="38500" lIns="77025" spcFirstLastPara="1" rIns="77025" wrap="square" tIns="38500">
            <a:noAutofit/>
          </a:bodyPr>
          <a:lstStyle>
            <a:lvl1pPr indent="0" lvl="0"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1" name="Shape 41"/>
        <p:cNvGrpSpPr/>
        <p:nvPr/>
      </p:nvGrpSpPr>
      <p:grpSpPr>
        <a:xfrm>
          <a:off x="0" y="0"/>
          <a:ext cx="0" cy="0"/>
          <a:chOff x="0" y="0"/>
          <a:chExt cx="0" cy="0"/>
        </a:xfrm>
      </p:grpSpPr>
      <p:sp>
        <p:nvSpPr>
          <p:cNvPr id="42" name="Google Shape;42;p11"/>
          <p:cNvSpPr txBox="1"/>
          <p:nvPr>
            <p:ph type="title"/>
          </p:nvPr>
        </p:nvSpPr>
        <p:spPr>
          <a:xfrm>
            <a:off x="406400" y="205978"/>
            <a:ext cx="7315200" cy="857400"/>
          </a:xfrm>
          <a:prstGeom prst="rect">
            <a:avLst/>
          </a:prstGeom>
          <a:noFill/>
          <a:ln>
            <a:noFill/>
          </a:ln>
        </p:spPr>
        <p:txBody>
          <a:bodyPr anchorCtr="0" anchor="ctr" bIns="38500" lIns="77025" spcFirstLastPara="1" rIns="77025" wrap="square" tIns="38500">
            <a:normAutofit/>
          </a:bodyPr>
          <a:lstStyle>
            <a:lvl1pPr lvl="0" algn="ctr">
              <a:lnSpc>
                <a:spcPct val="100000"/>
              </a:lnSpc>
              <a:spcBef>
                <a:spcPts val="0"/>
              </a:spcBef>
              <a:spcAft>
                <a:spcPts val="0"/>
              </a:spcAft>
              <a:buClr>
                <a:schemeClr val="dk1"/>
              </a:buClr>
              <a:buSzPts val="15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43" name="Google Shape;43;p11"/>
          <p:cNvSpPr txBox="1"/>
          <p:nvPr>
            <p:ph idx="1" type="body"/>
          </p:nvPr>
        </p:nvSpPr>
        <p:spPr>
          <a:xfrm>
            <a:off x="406400" y="1200150"/>
            <a:ext cx="7315200" cy="3394500"/>
          </a:xfrm>
          <a:prstGeom prst="rect">
            <a:avLst/>
          </a:prstGeom>
          <a:noFill/>
          <a:ln>
            <a:noFill/>
          </a:ln>
        </p:spPr>
        <p:txBody>
          <a:bodyPr anchorCtr="0" anchor="t" bIns="38500" lIns="77025" spcFirstLastPara="1" rIns="77025" wrap="square" tIns="38500">
            <a:normAutofit/>
          </a:bodyPr>
          <a:lstStyle>
            <a:lvl1pPr indent="-323850" lvl="0" marL="457200" algn="l">
              <a:lnSpc>
                <a:spcPct val="100000"/>
              </a:lnSpc>
              <a:spcBef>
                <a:spcPts val="300"/>
              </a:spcBef>
              <a:spcAft>
                <a:spcPts val="0"/>
              </a:spcAft>
              <a:buClr>
                <a:schemeClr val="dk1"/>
              </a:buClr>
              <a:buSzPts val="1500"/>
              <a:buChar char="•"/>
              <a:defRPr/>
            </a:lvl1pPr>
            <a:lvl2pPr indent="-323850" lvl="1" marL="914400" algn="l">
              <a:lnSpc>
                <a:spcPct val="100000"/>
              </a:lnSpc>
              <a:spcBef>
                <a:spcPts val="300"/>
              </a:spcBef>
              <a:spcAft>
                <a:spcPts val="0"/>
              </a:spcAft>
              <a:buClr>
                <a:schemeClr val="dk1"/>
              </a:buClr>
              <a:buSzPts val="1500"/>
              <a:buChar char="–"/>
              <a:defRPr/>
            </a:lvl2pPr>
            <a:lvl3pPr indent="-323850" lvl="2" marL="1371600" algn="l">
              <a:lnSpc>
                <a:spcPct val="100000"/>
              </a:lnSpc>
              <a:spcBef>
                <a:spcPts val="300"/>
              </a:spcBef>
              <a:spcAft>
                <a:spcPts val="0"/>
              </a:spcAft>
              <a:buClr>
                <a:schemeClr val="dk1"/>
              </a:buClr>
              <a:buSzPts val="1500"/>
              <a:buChar char="•"/>
              <a:defRPr/>
            </a:lvl3pPr>
            <a:lvl4pPr indent="-323850" lvl="3" marL="1828800" algn="l">
              <a:lnSpc>
                <a:spcPct val="100000"/>
              </a:lnSpc>
              <a:spcBef>
                <a:spcPts val="300"/>
              </a:spcBef>
              <a:spcAft>
                <a:spcPts val="0"/>
              </a:spcAft>
              <a:buClr>
                <a:schemeClr val="dk1"/>
              </a:buClr>
              <a:buSzPts val="1500"/>
              <a:buChar char="–"/>
              <a:defRPr/>
            </a:lvl4pPr>
            <a:lvl5pPr indent="-323850" lvl="4" marL="2286000" algn="l">
              <a:lnSpc>
                <a:spcPct val="100000"/>
              </a:lnSpc>
              <a:spcBef>
                <a:spcPts val="300"/>
              </a:spcBef>
              <a:spcAft>
                <a:spcPts val="0"/>
              </a:spcAft>
              <a:buClr>
                <a:schemeClr val="dk1"/>
              </a:buClr>
              <a:buSzPts val="1500"/>
              <a:buChar char="»"/>
              <a:defRPr/>
            </a:lvl5pPr>
            <a:lvl6pPr indent="-323850" lvl="5" marL="2743200" algn="l">
              <a:lnSpc>
                <a:spcPct val="100000"/>
              </a:lnSpc>
              <a:spcBef>
                <a:spcPts val="300"/>
              </a:spcBef>
              <a:spcAft>
                <a:spcPts val="0"/>
              </a:spcAft>
              <a:buClr>
                <a:schemeClr val="dk1"/>
              </a:buClr>
              <a:buSzPts val="1500"/>
              <a:buChar char="•"/>
              <a:defRPr/>
            </a:lvl6pPr>
            <a:lvl7pPr indent="-323850" lvl="6" marL="3200400" algn="l">
              <a:lnSpc>
                <a:spcPct val="100000"/>
              </a:lnSpc>
              <a:spcBef>
                <a:spcPts val="300"/>
              </a:spcBef>
              <a:spcAft>
                <a:spcPts val="0"/>
              </a:spcAft>
              <a:buClr>
                <a:schemeClr val="dk1"/>
              </a:buClr>
              <a:buSzPts val="1500"/>
              <a:buChar char="•"/>
              <a:defRPr/>
            </a:lvl7pPr>
            <a:lvl8pPr indent="-323850" lvl="7" marL="3657600" algn="l">
              <a:lnSpc>
                <a:spcPct val="100000"/>
              </a:lnSpc>
              <a:spcBef>
                <a:spcPts val="300"/>
              </a:spcBef>
              <a:spcAft>
                <a:spcPts val="0"/>
              </a:spcAft>
              <a:buClr>
                <a:schemeClr val="dk1"/>
              </a:buClr>
              <a:buSzPts val="1500"/>
              <a:buChar char="•"/>
              <a:defRPr/>
            </a:lvl8pPr>
            <a:lvl9pPr indent="-323850" lvl="8" marL="4114800" algn="l">
              <a:lnSpc>
                <a:spcPct val="100000"/>
              </a:lnSpc>
              <a:spcBef>
                <a:spcPts val="300"/>
              </a:spcBef>
              <a:spcAft>
                <a:spcPts val="0"/>
              </a:spcAft>
              <a:buClr>
                <a:schemeClr val="dk1"/>
              </a:buClr>
              <a:buSzPts val="1500"/>
              <a:buChar char="•"/>
              <a:defRPr/>
            </a:lvl9pPr>
          </a:lstStyle>
          <a:p/>
        </p:txBody>
      </p:sp>
      <p:sp>
        <p:nvSpPr>
          <p:cNvPr id="44" name="Google Shape;44;p11"/>
          <p:cNvSpPr txBox="1"/>
          <p:nvPr>
            <p:ph idx="10" type="dt"/>
          </p:nvPr>
        </p:nvSpPr>
        <p:spPr>
          <a:xfrm>
            <a:off x="406400" y="4767263"/>
            <a:ext cx="1896600" cy="273900"/>
          </a:xfrm>
          <a:prstGeom prst="rect">
            <a:avLst/>
          </a:prstGeom>
          <a:noFill/>
          <a:ln>
            <a:noFill/>
          </a:ln>
        </p:spPr>
        <p:txBody>
          <a:bodyPr anchorCtr="0" anchor="ctr" bIns="38500" lIns="77025" spcFirstLastPara="1" rIns="77025" wrap="square" tIns="38500">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45" name="Google Shape;45;p11"/>
          <p:cNvSpPr txBox="1"/>
          <p:nvPr>
            <p:ph idx="11" type="ftr"/>
          </p:nvPr>
        </p:nvSpPr>
        <p:spPr>
          <a:xfrm>
            <a:off x="2777067" y="4767263"/>
            <a:ext cx="2574000" cy="273900"/>
          </a:xfrm>
          <a:prstGeom prst="rect">
            <a:avLst/>
          </a:prstGeom>
          <a:noFill/>
          <a:ln>
            <a:noFill/>
          </a:ln>
        </p:spPr>
        <p:txBody>
          <a:bodyPr anchorCtr="0" anchor="ctr" bIns="38500" lIns="77025" spcFirstLastPara="1" rIns="77025" wrap="square" tIns="38500">
            <a:noAutofit/>
          </a:bodyPr>
          <a:lstStyle>
            <a:lvl1pPr lvl="0" algn="ctr">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46" name="Google Shape;46;p11"/>
          <p:cNvSpPr txBox="1"/>
          <p:nvPr>
            <p:ph idx="12" type="sldNum"/>
          </p:nvPr>
        </p:nvSpPr>
        <p:spPr>
          <a:xfrm>
            <a:off x="5825067" y="4767263"/>
            <a:ext cx="1896600" cy="273900"/>
          </a:xfrm>
          <a:prstGeom prst="rect">
            <a:avLst/>
          </a:prstGeom>
          <a:noFill/>
          <a:ln>
            <a:noFill/>
          </a:ln>
        </p:spPr>
        <p:txBody>
          <a:bodyPr anchorCtr="0" anchor="ctr" bIns="38500" lIns="77025" spcFirstLastPara="1" rIns="77025" wrap="square" tIns="38500">
            <a:noAutofit/>
          </a:bodyPr>
          <a:lstStyle>
            <a:lvl1pPr indent="0" lvl="0"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7" name="Shape 47"/>
        <p:cNvGrpSpPr/>
        <p:nvPr/>
      </p:nvGrpSpPr>
      <p:grpSpPr>
        <a:xfrm>
          <a:off x="0" y="0"/>
          <a:ext cx="0" cy="0"/>
          <a:chOff x="0" y="0"/>
          <a:chExt cx="0" cy="0"/>
        </a:xfrm>
      </p:grpSpPr>
      <p:sp>
        <p:nvSpPr>
          <p:cNvPr id="48" name="Google Shape;48;p12"/>
          <p:cNvSpPr txBox="1"/>
          <p:nvPr>
            <p:ph type="title"/>
          </p:nvPr>
        </p:nvSpPr>
        <p:spPr>
          <a:xfrm>
            <a:off x="642056" y="3305175"/>
            <a:ext cx="6908700" cy="1021500"/>
          </a:xfrm>
          <a:prstGeom prst="rect">
            <a:avLst/>
          </a:prstGeom>
          <a:noFill/>
          <a:ln>
            <a:noFill/>
          </a:ln>
        </p:spPr>
        <p:txBody>
          <a:bodyPr anchorCtr="0" anchor="t" bIns="38500" lIns="77025" spcFirstLastPara="1" rIns="77025" wrap="square" tIns="38500">
            <a:normAutofit/>
          </a:bodyPr>
          <a:lstStyle>
            <a:lvl1pPr lvl="0" algn="l">
              <a:lnSpc>
                <a:spcPct val="100000"/>
              </a:lnSpc>
              <a:spcBef>
                <a:spcPts val="0"/>
              </a:spcBef>
              <a:spcAft>
                <a:spcPts val="0"/>
              </a:spcAft>
              <a:buClr>
                <a:schemeClr val="dk1"/>
              </a:buClr>
              <a:buSzPts val="3400"/>
              <a:buFont typeface="Calibri"/>
              <a:buNone/>
              <a:defRPr b="1" sz="3400" cap="none"/>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49" name="Google Shape;49;p12"/>
          <p:cNvSpPr txBox="1"/>
          <p:nvPr>
            <p:ph idx="1" type="body"/>
          </p:nvPr>
        </p:nvSpPr>
        <p:spPr>
          <a:xfrm>
            <a:off x="642056" y="2180035"/>
            <a:ext cx="6908700" cy="1125300"/>
          </a:xfrm>
          <a:prstGeom prst="rect">
            <a:avLst/>
          </a:prstGeom>
          <a:noFill/>
          <a:ln>
            <a:noFill/>
          </a:ln>
        </p:spPr>
        <p:txBody>
          <a:bodyPr anchorCtr="0" anchor="b" bIns="38500" lIns="77025" spcFirstLastPara="1" rIns="77025" wrap="square" tIns="38500">
            <a:normAutofit/>
          </a:bodyPr>
          <a:lstStyle>
            <a:lvl1pPr indent="-228600" lvl="0" marL="457200" algn="l">
              <a:lnSpc>
                <a:spcPct val="100000"/>
              </a:lnSpc>
              <a:spcBef>
                <a:spcPts val="300"/>
              </a:spcBef>
              <a:spcAft>
                <a:spcPts val="0"/>
              </a:spcAft>
              <a:buClr>
                <a:srgbClr val="888888"/>
              </a:buClr>
              <a:buSzPts val="1700"/>
              <a:buNone/>
              <a:defRPr sz="1700">
                <a:solidFill>
                  <a:srgbClr val="888888"/>
                </a:solidFill>
              </a:defRPr>
            </a:lvl1pPr>
            <a:lvl2pPr indent="-228600" lvl="1" marL="914400" algn="l">
              <a:lnSpc>
                <a:spcPct val="100000"/>
              </a:lnSpc>
              <a:spcBef>
                <a:spcPts val="300"/>
              </a:spcBef>
              <a:spcAft>
                <a:spcPts val="0"/>
              </a:spcAft>
              <a:buClr>
                <a:srgbClr val="888888"/>
              </a:buClr>
              <a:buSzPts val="1500"/>
              <a:buNone/>
              <a:defRPr sz="1500">
                <a:solidFill>
                  <a:srgbClr val="888888"/>
                </a:solidFill>
              </a:defRPr>
            </a:lvl2pPr>
            <a:lvl3pPr indent="-228600" lvl="2" marL="1371600" algn="l">
              <a:lnSpc>
                <a:spcPct val="100000"/>
              </a:lnSpc>
              <a:spcBef>
                <a:spcPts val="300"/>
              </a:spcBef>
              <a:spcAft>
                <a:spcPts val="0"/>
              </a:spcAft>
              <a:buClr>
                <a:srgbClr val="888888"/>
              </a:buClr>
              <a:buSzPts val="1300"/>
              <a:buNone/>
              <a:defRPr sz="1300">
                <a:solidFill>
                  <a:srgbClr val="888888"/>
                </a:solidFill>
              </a:defRPr>
            </a:lvl3pPr>
            <a:lvl4pPr indent="-228600" lvl="3" marL="1828800" algn="l">
              <a:lnSpc>
                <a:spcPct val="100000"/>
              </a:lnSpc>
              <a:spcBef>
                <a:spcPts val="200"/>
              </a:spcBef>
              <a:spcAft>
                <a:spcPts val="0"/>
              </a:spcAft>
              <a:buClr>
                <a:srgbClr val="888888"/>
              </a:buClr>
              <a:buSzPts val="1200"/>
              <a:buNone/>
              <a:defRPr sz="1200">
                <a:solidFill>
                  <a:srgbClr val="888888"/>
                </a:solidFill>
              </a:defRPr>
            </a:lvl4pPr>
            <a:lvl5pPr indent="-228600" lvl="4" marL="2286000" algn="l">
              <a:lnSpc>
                <a:spcPct val="100000"/>
              </a:lnSpc>
              <a:spcBef>
                <a:spcPts val="200"/>
              </a:spcBef>
              <a:spcAft>
                <a:spcPts val="0"/>
              </a:spcAft>
              <a:buClr>
                <a:srgbClr val="888888"/>
              </a:buClr>
              <a:buSzPts val="1200"/>
              <a:buNone/>
              <a:defRPr sz="1200">
                <a:solidFill>
                  <a:srgbClr val="888888"/>
                </a:solidFill>
              </a:defRPr>
            </a:lvl5pPr>
            <a:lvl6pPr indent="-228600" lvl="5" marL="2743200" algn="l">
              <a:lnSpc>
                <a:spcPct val="100000"/>
              </a:lnSpc>
              <a:spcBef>
                <a:spcPts val="200"/>
              </a:spcBef>
              <a:spcAft>
                <a:spcPts val="0"/>
              </a:spcAft>
              <a:buClr>
                <a:srgbClr val="888888"/>
              </a:buClr>
              <a:buSzPts val="1200"/>
              <a:buNone/>
              <a:defRPr sz="1200">
                <a:solidFill>
                  <a:srgbClr val="888888"/>
                </a:solidFill>
              </a:defRPr>
            </a:lvl6pPr>
            <a:lvl7pPr indent="-228600" lvl="6" marL="3200400" algn="l">
              <a:lnSpc>
                <a:spcPct val="100000"/>
              </a:lnSpc>
              <a:spcBef>
                <a:spcPts val="200"/>
              </a:spcBef>
              <a:spcAft>
                <a:spcPts val="0"/>
              </a:spcAft>
              <a:buClr>
                <a:srgbClr val="888888"/>
              </a:buClr>
              <a:buSzPts val="1200"/>
              <a:buNone/>
              <a:defRPr sz="1200">
                <a:solidFill>
                  <a:srgbClr val="888888"/>
                </a:solidFill>
              </a:defRPr>
            </a:lvl7pPr>
            <a:lvl8pPr indent="-228600" lvl="7" marL="3657600" algn="l">
              <a:lnSpc>
                <a:spcPct val="100000"/>
              </a:lnSpc>
              <a:spcBef>
                <a:spcPts val="200"/>
              </a:spcBef>
              <a:spcAft>
                <a:spcPts val="0"/>
              </a:spcAft>
              <a:buClr>
                <a:srgbClr val="888888"/>
              </a:buClr>
              <a:buSzPts val="1200"/>
              <a:buNone/>
              <a:defRPr sz="1200">
                <a:solidFill>
                  <a:srgbClr val="888888"/>
                </a:solidFill>
              </a:defRPr>
            </a:lvl8pPr>
            <a:lvl9pPr indent="-228600" lvl="8" marL="4114800" algn="l">
              <a:lnSpc>
                <a:spcPct val="100000"/>
              </a:lnSpc>
              <a:spcBef>
                <a:spcPts val="200"/>
              </a:spcBef>
              <a:spcAft>
                <a:spcPts val="0"/>
              </a:spcAft>
              <a:buClr>
                <a:srgbClr val="888888"/>
              </a:buClr>
              <a:buSzPts val="1200"/>
              <a:buNone/>
              <a:defRPr sz="1200">
                <a:solidFill>
                  <a:srgbClr val="888888"/>
                </a:solidFill>
              </a:defRPr>
            </a:lvl9pPr>
          </a:lstStyle>
          <a:p/>
        </p:txBody>
      </p:sp>
      <p:sp>
        <p:nvSpPr>
          <p:cNvPr id="50" name="Google Shape;50;p12"/>
          <p:cNvSpPr txBox="1"/>
          <p:nvPr>
            <p:ph idx="10" type="dt"/>
          </p:nvPr>
        </p:nvSpPr>
        <p:spPr>
          <a:xfrm>
            <a:off x="406400" y="4767263"/>
            <a:ext cx="1896600" cy="273900"/>
          </a:xfrm>
          <a:prstGeom prst="rect">
            <a:avLst/>
          </a:prstGeom>
          <a:noFill/>
          <a:ln>
            <a:noFill/>
          </a:ln>
        </p:spPr>
        <p:txBody>
          <a:bodyPr anchorCtr="0" anchor="ctr" bIns="38500" lIns="77025" spcFirstLastPara="1" rIns="77025" wrap="square" tIns="38500">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51" name="Google Shape;51;p12"/>
          <p:cNvSpPr txBox="1"/>
          <p:nvPr>
            <p:ph idx="11" type="ftr"/>
          </p:nvPr>
        </p:nvSpPr>
        <p:spPr>
          <a:xfrm>
            <a:off x="2777067" y="4767263"/>
            <a:ext cx="2574000" cy="273900"/>
          </a:xfrm>
          <a:prstGeom prst="rect">
            <a:avLst/>
          </a:prstGeom>
          <a:noFill/>
          <a:ln>
            <a:noFill/>
          </a:ln>
        </p:spPr>
        <p:txBody>
          <a:bodyPr anchorCtr="0" anchor="ctr" bIns="38500" lIns="77025" spcFirstLastPara="1" rIns="77025" wrap="square" tIns="38500">
            <a:noAutofit/>
          </a:bodyPr>
          <a:lstStyle>
            <a:lvl1pPr lvl="0" algn="ctr">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52" name="Google Shape;52;p12"/>
          <p:cNvSpPr txBox="1"/>
          <p:nvPr>
            <p:ph idx="12" type="sldNum"/>
          </p:nvPr>
        </p:nvSpPr>
        <p:spPr>
          <a:xfrm>
            <a:off x="5825067" y="4767263"/>
            <a:ext cx="1896600" cy="273900"/>
          </a:xfrm>
          <a:prstGeom prst="rect">
            <a:avLst/>
          </a:prstGeom>
          <a:noFill/>
          <a:ln>
            <a:noFill/>
          </a:ln>
        </p:spPr>
        <p:txBody>
          <a:bodyPr anchorCtr="0" anchor="ctr" bIns="38500" lIns="77025" spcFirstLastPara="1" rIns="77025" wrap="square" tIns="38500">
            <a:noAutofit/>
          </a:bodyPr>
          <a:lstStyle>
            <a:lvl1pPr indent="0" lvl="0"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3" name="Shape 53"/>
        <p:cNvGrpSpPr/>
        <p:nvPr/>
      </p:nvGrpSpPr>
      <p:grpSpPr>
        <a:xfrm>
          <a:off x="0" y="0"/>
          <a:ext cx="0" cy="0"/>
          <a:chOff x="0" y="0"/>
          <a:chExt cx="0" cy="0"/>
        </a:xfrm>
      </p:grpSpPr>
      <p:sp>
        <p:nvSpPr>
          <p:cNvPr id="54" name="Google Shape;54;p13"/>
          <p:cNvSpPr txBox="1"/>
          <p:nvPr>
            <p:ph type="title"/>
          </p:nvPr>
        </p:nvSpPr>
        <p:spPr>
          <a:xfrm>
            <a:off x="406400" y="205978"/>
            <a:ext cx="7315200" cy="857400"/>
          </a:xfrm>
          <a:prstGeom prst="rect">
            <a:avLst/>
          </a:prstGeom>
          <a:noFill/>
          <a:ln>
            <a:noFill/>
          </a:ln>
        </p:spPr>
        <p:txBody>
          <a:bodyPr anchorCtr="0" anchor="ctr" bIns="38500" lIns="77025" spcFirstLastPara="1" rIns="77025" wrap="square" tIns="38500">
            <a:normAutofit/>
          </a:bodyPr>
          <a:lstStyle>
            <a:lvl1pPr lvl="0" algn="ctr">
              <a:lnSpc>
                <a:spcPct val="100000"/>
              </a:lnSpc>
              <a:spcBef>
                <a:spcPts val="0"/>
              </a:spcBef>
              <a:spcAft>
                <a:spcPts val="0"/>
              </a:spcAft>
              <a:buClr>
                <a:schemeClr val="dk1"/>
              </a:buClr>
              <a:buSzPts val="15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55" name="Google Shape;55;p13"/>
          <p:cNvSpPr txBox="1"/>
          <p:nvPr>
            <p:ph idx="1" type="body"/>
          </p:nvPr>
        </p:nvSpPr>
        <p:spPr>
          <a:xfrm>
            <a:off x="406400" y="1200150"/>
            <a:ext cx="3589800" cy="3394500"/>
          </a:xfrm>
          <a:prstGeom prst="rect">
            <a:avLst/>
          </a:prstGeom>
          <a:noFill/>
          <a:ln>
            <a:noFill/>
          </a:ln>
        </p:spPr>
        <p:txBody>
          <a:bodyPr anchorCtr="0" anchor="t" bIns="38500" lIns="77025" spcFirstLastPara="1" rIns="77025" wrap="square" tIns="38500">
            <a:normAutofit/>
          </a:bodyPr>
          <a:lstStyle>
            <a:lvl1pPr indent="-381000" lvl="0" marL="457200" algn="l">
              <a:lnSpc>
                <a:spcPct val="100000"/>
              </a:lnSpc>
              <a:spcBef>
                <a:spcPts val="50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36550" lvl="2" marL="1371600" algn="l">
              <a:lnSpc>
                <a:spcPct val="100000"/>
              </a:lnSpc>
              <a:spcBef>
                <a:spcPts val="300"/>
              </a:spcBef>
              <a:spcAft>
                <a:spcPts val="0"/>
              </a:spcAft>
              <a:buClr>
                <a:schemeClr val="dk1"/>
              </a:buClr>
              <a:buSzPts val="1700"/>
              <a:buChar char="•"/>
              <a:defRPr sz="1700"/>
            </a:lvl3pPr>
            <a:lvl4pPr indent="-323850" lvl="3" marL="1828800" algn="l">
              <a:lnSpc>
                <a:spcPct val="100000"/>
              </a:lnSpc>
              <a:spcBef>
                <a:spcPts val="300"/>
              </a:spcBef>
              <a:spcAft>
                <a:spcPts val="0"/>
              </a:spcAft>
              <a:buClr>
                <a:schemeClr val="dk1"/>
              </a:buClr>
              <a:buSzPts val="1500"/>
              <a:buChar char="–"/>
              <a:defRPr sz="1500"/>
            </a:lvl4pPr>
            <a:lvl5pPr indent="-323850" lvl="4" marL="2286000" algn="l">
              <a:lnSpc>
                <a:spcPct val="100000"/>
              </a:lnSpc>
              <a:spcBef>
                <a:spcPts val="300"/>
              </a:spcBef>
              <a:spcAft>
                <a:spcPts val="0"/>
              </a:spcAft>
              <a:buClr>
                <a:schemeClr val="dk1"/>
              </a:buClr>
              <a:buSzPts val="1500"/>
              <a:buChar char="»"/>
              <a:defRPr sz="1500"/>
            </a:lvl5pPr>
            <a:lvl6pPr indent="-323850" lvl="5" marL="2743200" algn="l">
              <a:lnSpc>
                <a:spcPct val="100000"/>
              </a:lnSpc>
              <a:spcBef>
                <a:spcPts val="300"/>
              </a:spcBef>
              <a:spcAft>
                <a:spcPts val="0"/>
              </a:spcAft>
              <a:buClr>
                <a:schemeClr val="dk1"/>
              </a:buClr>
              <a:buSzPts val="1500"/>
              <a:buChar char="•"/>
              <a:defRPr sz="1500"/>
            </a:lvl6pPr>
            <a:lvl7pPr indent="-323850" lvl="6" marL="3200400" algn="l">
              <a:lnSpc>
                <a:spcPct val="100000"/>
              </a:lnSpc>
              <a:spcBef>
                <a:spcPts val="300"/>
              </a:spcBef>
              <a:spcAft>
                <a:spcPts val="0"/>
              </a:spcAft>
              <a:buClr>
                <a:schemeClr val="dk1"/>
              </a:buClr>
              <a:buSzPts val="1500"/>
              <a:buChar char="•"/>
              <a:defRPr sz="1500"/>
            </a:lvl7pPr>
            <a:lvl8pPr indent="-323850" lvl="7" marL="3657600" algn="l">
              <a:lnSpc>
                <a:spcPct val="100000"/>
              </a:lnSpc>
              <a:spcBef>
                <a:spcPts val="300"/>
              </a:spcBef>
              <a:spcAft>
                <a:spcPts val="0"/>
              </a:spcAft>
              <a:buClr>
                <a:schemeClr val="dk1"/>
              </a:buClr>
              <a:buSzPts val="1500"/>
              <a:buChar char="•"/>
              <a:defRPr sz="1500"/>
            </a:lvl8pPr>
            <a:lvl9pPr indent="-323850" lvl="8" marL="4114800" algn="l">
              <a:lnSpc>
                <a:spcPct val="100000"/>
              </a:lnSpc>
              <a:spcBef>
                <a:spcPts val="300"/>
              </a:spcBef>
              <a:spcAft>
                <a:spcPts val="0"/>
              </a:spcAft>
              <a:buClr>
                <a:schemeClr val="dk1"/>
              </a:buClr>
              <a:buSzPts val="1500"/>
              <a:buChar char="•"/>
              <a:defRPr sz="1500"/>
            </a:lvl9pPr>
          </a:lstStyle>
          <a:p/>
        </p:txBody>
      </p:sp>
      <p:sp>
        <p:nvSpPr>
          <p:cNvPr id="56" name="Google Shape;56;p13"/>
          <p:cNvSpPr txBox="1"/>
          <p:nvPr>
            <p:ph idx="2" type="body"/>
          </p:nvPr>
        </p:nvSpPr>
        <p:spPr>
          <a:xfrm>
            <a:off x="4131733" y="1200150"/>
            <a:ext cx="3589800" cy="3394500"/>
          </a:xfrm>
          <a:prstGeom prst="rect">
            <a:avLst/>
          </a:prstGeom>
          <a:noFill/>
          <a:ln>
            <a:noFill/>
          </a:ln>
        </p:spPr>
        <p:txBody>
          <a:bodyPr anchorCtr="0" anchor="t" bIns="38500" lIns="77025" spcFirstLastPara="1" rIns="77025" wrap="square" tIns="38500">
            <a:normAutofit/>
          </a:bodyPr>
          <a:lstStyle>
            <a:lvl1pPr indent="-381000" lvl="0" marL="457200" algn="l">
              <a:lnSpc>
                <a:spcPct val="100000"/>
              </a:lnSpc>
              <a:spcBef>
                <a:spcPts val="50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36550" lvl="2" marL="1371600" algn="l">
              <a:lnSpc>
                <a:spcPct val="100000"/>
              </a:lnSpc>
              <a:spcBef>
                <a:spcPts val="300"/>
              </a:spcBef>
              <a:spcAft>
                <a:spcPts val="0"/>
              </a:spcAft>
              <a:buClr>
                <a:schemeClr val="dk1"/>
              </a:buClr>
              <a:buSzPts val="1700"/>
              <a:buChar char="•"/>
              <a:defRPr sz="1700"/>
            </a:lvl3pPr>
            <a:lvl4pPr indent="-323850" lvl="3" marL="1828800" algn="l">
              <a:lnSpc>
                <a:spcPct val="100000"/>
              </a:lnSpc>
              <a:spcBef>
                <a:spcPts val="300"/>
              </a:spcBef>
              <a:spcAft>
                <a:spcPts val="0"/>
              </a:spcAft>
              <a:buClr>
                <a:schemeClr val="dk1"/>
              </a:buClr>
              <a:buSzPts val="1500"/>
              <a:buChar char="–"/>
              <a:defRPr sz="1500"/>
            </a:lvl4pPr>
            <a:lvl5pPr indent="-323850" lvl="4" marL="2286000" algn="l">
              <a:lnSpc>
                <a:spcPct val="100000"/>
              </a:lnSpc>
              <a:spcBef>
                <a:spcPts val="300"/>
              </a:spcBef>
              <a:spcAft>
                <a:spcPts val="0"/>
              </a:spcAft>
              <a:buClr>
                <a:schemeClr val="dk1"/>
              </a:buClr>
              <a:buSzPts val="1500"/>
              <a:buChar char="»"/>
              <a:defRPr sz="1500"/>
            </a:lvl5pPr>
            <a:lvl6pPr indent="-323850" lvl="5" marL="2743200" algn="l">
              <a:lnSpc>
                <a:spcPct val="100000"/>
              </a:lnSpc>
              <a:spcBef>
                <a:spcPts val="300"/>
              </a:spcBef>
              <a:spcAft>
                <a:spcPts val="0"/>
              </a:spcAft>
              <a:buClr>
                <a:schemeClr val="dk1"/>
              </a:buClr>
              <a:buSzPts val="1500"/>
              <a:buChar char="•"/>
              <a:defRPr sz="1500"/>
            </a:lvl6pPr>
            <a:lvl7pPr indent="-323850" lvl="6" marL="3200400" algn="l">
              <a:lnSpc>
                <a:spcPct val="100000"/>
              </a:lnSpc>
              <a:spcBef>
                <a:spcPts val="300"/>
              </a:spcBef>
              <a:spcAft>
                <a:spcPts val="0"/>
              </a:spcAft>
              <a:buClr>
                <a:schemeClr val="dk1"/>
              </a:buClr>
              <a:buSzPts val="1500"/>
              <a:buChar char="•"/>
              <a:defRPr sz="1500"/>
            </a:lvl7pPr>
            <a:lvl8pPr indent="-323850" lvl="7" marL="3657600" algn="l">
              <a:lnSpc>
                <a:spcPct val="100000"/>
              </a:lnSpc>
              <a:spcBef>
                <a:spcPts val="300"/>
              </a:spcBef>
              <a:spcAft>
                <a:spcPts val="0"/>
              </a:spcAft>
              <a:buClr>
                <a:schemeClr val="dk1"/>
              </a:buClr>
              <a:buSzPts val="1500"/>
              <a:buChar char="•"/>
              <a:defRPr sz="1500"/>
            </a:lvl8pPr>
            <a:lvl9pPr indent="-323850" lvl="8" marL="4114800" algn="l">
              <a:lnSpc>
                <a:spcPct val="100000"/>
              </a:lnSpc>
              <a:spcBef>
                <a:spcPts val="300"/>
              </a:spcBef>
              <a:spcAft>
                <a:spcPts val="0"/>
              </a:spcAft>
              <a:buClr>
                <a:schemeClr val="dk1"/>
              </a:buClr>
              <a:buSzPts val="1500"/>
              <a:buChar char="•"/>
              <a:defRPr sz="1500"/>
            </a:lvl9pPr>
          </a:lstStyle>
          <a:p/>
        </p:txBody>
      </p:sp>
      <p:sp>
        <p:nvSpPr>
          <p:cNvPr id="57" name="Google Shape;57;p13"/>
          <p:cNvSpPr txBox="1"/>
          <p:nvPr>
            <p:ph idx="10" type="dt"/>
          </p:nvPr>
        </p:nvSpPr>
        <p:spPr>
          <a:xfrm>
            <a:off x="406400" y="4767263"/>
            <a:ext cx="1896600" cy="273900"/>
          </a:xfrm>
          <a:prstGeom prst="rect">
            <a:avLst/>
          </a:prstGeom>
          <a:noFill/>
          <a:ln>
            <a:noFill/>
          </a:ln>
        </p:spPr>
        <p:txBody>
          <a:bodyPr anchorCtr="0" anchor="ctr" bIns="38500" lIns="77025" spcFirstLastPara="1" rIns="77025" wrap="square" tIns="38500">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58" name="Google Shape;58;p13"/>
          <p:cNvSpPr txBox="1"/>
          <p:nvPr>
            <p:ph idx="11" type="ftr"/>
          </p:nvPr>
        </p:nvSpPr>
        <p:spPr>
          <a:xfrm>
            <a:off x="2777067" y="4767263"/>
            <a:ext cx="2574000" cy="273900"/>
          </a:xfrm>
          <a:prstGeom prst="rect">
            <a:avLst/>
          </a:prstGeom>
          <a:noFill/>
          <a:ln>
            <a:noFill/>
          </a:ln>
        </p:spPr>
        <p:txBody>
          <a:bodyPr anchorCtr="0" anchor="ctr" bIns="38500" lIns="77025" spcFirstLastPara="1" rIns="77025" wrap="square" tIns="38500">
            <a:noAutofit/>
          </a:bodyPr>
          <a:lstStyle>
            <a:lvl1pPr lvl="0" algn="ctr">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59" name="Google Shape;59;p13"/>
          <p:cNvSpPr txBox="1"/>
          <p:nvPr>
            <p:ph idx="12" type="sldNum"/>
          </p:nvPr>
        </p:nvSpPr>
        <p:spPr>
          <a:xfrm>
            <a:off x="5825067" y="4767263"/>
            <a:ext cx="1896600" cy="273900"/>
          </a:xfrm>
          <a:prstGeom prst="rect">
            <a:avLst/>
          </a:prstGeom>
          <a:noFill/>
          <a:ln>
            <a:noFill/>
          </a:ln>
        </p:spPr>
        <p:txBody>
          <a:bodyPr anchorCtr="0" anchor="ctr" bIns="38500" lIns="77025" spcFirstLastPara="1" rIns="77025" wrap="square" tIns="38500">
            <a:noAutofit/>
          </a:bodyPr>
          <a:lstStyle>
            <a:lvl1pPr indent="0" lvl="0"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0" name="Shape 60"/>
        <p:cNvGrpSpPr/>
        <p:nvPr/>
      </p:nvGrpSpPr>
      <p:grpSpPr>
        <a:xfrm>
          <a:off x="0" y="0"/>
          <a:ext cx="0" cy="0"/>
          <a:chOff x="0" y="0"/>
          <a:chExt cx="0" cy="0"/>
        </a:xfrm>
      </p:grpSpPr>
      <p:sp>
        <p:nvSpPr>
          <p:cNvPr id="61" name="Google Shape;61;p14"/>
          <p:cNvSpPr txBox="1"/>
          <p:nvPr>
            <p:ph type="title"/>
          </p:nvPr>
        </p:nvSpPr>
        <p:spPr>
          <a:xfrm>
            <a:off x="406400" y="205978"/>
            <a:ext cx="7315200" cy="857400"/>
          </a:xfrm>
          <a:prstGeom prst="rect">
            <a:avLst/>
          </a:prstGeom>
          <a:noFill/>
          <a:ln>
            <a:noFill/>
          </a:ln>
        </p:spPr>
        <p:txBody>
          <a:bodyPr anchorCtr="0" anchor="ctr" bIns="38500" lIns="77025" spcFirstLastPara="1" rIns="77025" wrap="square" tIns="38500">
            <a:normAutofit/>
          </a:bodyPr>
          <a:lstStyle>
            <a:lvl1pPr lvl="0" algn="ctr">
              <a:lnSpc>
                <a:spcPct val="100000"/>
              </a:lnSpc>
              <a:spcBef>
                <a:spcPts val="0"/>
              </a:spcBef>
              <a:spcAft>
                <a:spcPts val="0"/>
              </a:spcAft>
              <a:buClr>
                <a:schemeClr val="dk1"/>
              </a:buClr>
              <a:buSzPts val="3700"/>
              <a:buFont typeface="Calibri"/>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62" name="Google Shape;62;p14"/>
          <p:cNvSpPr txBox="1"/>
          <p:nvPr>
            <p:ph idx="1" type="body"/>
          </p:nvPr>
        </p:nvSpPr>
        <p:spPr>
          <a:xfrm>
            <a:off x="406400" y="1151335"/>
            <a:ext cx="3591300" cy="480000"/>
          </a:xfrm>
          <a:prstGeom prst="rect">
            <a:avLst/>
          </a:prstGeom>
          <a:noFill/>
          <a:ln>
            <a:noFill/>
          </a:ln>
        </p:spPr>
        <p:txBody>
          <a:bodyPr anchorCtr="0" anchor="b" bIns="38500" lIns="77025" spcFirstLastPara="1" rIns="77025" wrap="square" tIns="38500">
            <a:normAutofit/>
          </a:bodyPr>
          <a:lstStyle>
            <a:lvl1pPr indent="-228600" lvl="0" marL="457200" algn="l">
              <a:lnSpc>
                <a:spcPct val="100000"/>
              </a:lnSpc>
              <a:spcBef>
                <a:spcPts val="400"/>
              </a:spcBef>
              <a:spcAft>
                <a:spcPts val="0"/>
              </a:spcAft>
              <a:buClr>
                <a:schemeClr val="dk1"/>
              </a:buClr>
              <a:buSzPts val="2000"/>
              <a:buNone/>
              <a:defRPr b="1" sz="2000"/>
            </a:lvl1pPr>
            <a:lvl2pPr indent="-228600" lvl="1" marL="914400" algn="l">
              <a:lnSpc>
                <a:spcPct val="100000"/>
              </a:lnSpc>
              <a:spcBef>
                <a:spcPts val="300"/>
              </a:spcBef>
              <a:spcAft>
                <a:spcPts val="0"/>
              </a:spcAft>
              <a:buClr>
                <a:schemeClr val="dk1"/>
              </a:buClr>
              <a:buSzPts val="1700"/>
              <a:buNone/>
              <a:defRPr b="1" sz="1700"/>
            </a:lvl2pPr>
            <a:lvl3pPr indent="-228600" lvl="2" marL="1371600" algn="l">
              <a:lnSpc>
                <a:spcPct val="100000"/>
              </a:lnSpc>
              <a:spcBef>
                <a:spcPts val="300"/>
              </a:spcBef>
              <a:spcAft>
                <a:spcPts val="0"/>
              </a:spcAft>
              <a:buClr>
                <a:schemeClr val="dk1"/>
              </a:buClr>
              <a:buSzPts val="1500"/>
              <a:buNone/>
              <a:defRPr b="1" sz="1500"/>
            </a:lvl3pPr>
            <a:lvl4pPr indent="-228600" lvl="3" marL="1828800" algn="l">
              <a:lnSpc>
                <a:spcPct val="100000"/>
              </a:lnSpc>
              <a:spcBef>
                <a:spcPts val="300"/>
              </a:spcBef>
              <a:spcAft>
                <a:spcPts val="0"/>
              </a:spcAft>
              <a:buClr>
                <a:schemeClr val="dk1"/>
              </a:buClr>
              <a:buSzPts val="1300"/>
              <a:buNone/>
              <a:defRPr b="1" sz="1300"/>
            </a:lvl4pPr>
            <a:lvl5pPr indent="-228600" lvl="4" marL="2286000" algn="l">
              <a:lnSpc>
                <a:spcPct val="100000"/>
              </a:lnSpc>
              <a:spcBef>
                <a:spcPts val="300"/>
              </a:spcBef>
              <a:spcAft>
                <a:spcPts val="0"/>
              </a:spcAft>
              <a:buClr>
                <a:schemeClr val="dk1"/>
              </a:buClr>
              <a:buSzPts val="1300"/>
              <a:buNone/>
              <a:defRPr b="1" sz="1300"/>
            </a:lvl5pPr>
            <a:lvl6pPr indent="-228600" lvl="5" marL="2743200" algn="l">
              <a:lnSpc>
                <a:spcPct val="100000"/>
              </a:lnSpc>
              <a:spcBef>
                <a:spcPts val="300"/>
              </a:spcBef>
              <a:spcAft>
                <a:spcPts val="0"/>
              </a:spcAft>
              <a:buClr>
                <a:schemeClr val="dk1"/>
              </a:buClr>
              <a:buSzPts val="1300"/>
              <a:buNone/>
              <a:defRPr b="1" sz="1300"/>
            </a:lvl6pPr>
            <a:lvl7pPr indent="-228600" lvl="6" marL="3200400" algn="l">
              <a:lnSpc>
                <a:spcPct val="100000"/>
              </a:lnSpc>
              <a:spcBef>
                <a:spcPts val="300"/>
              </a:spcBef>
              <a:spcAft>
                <a:spcPts val="0"/>
              </a:spcAft>
              <a:buClr>
                <a:schemeClr val="dk1"/>
              </a:buClr>
              <a:buSzPts val="1300"/>
              <a:buNone/>
              <a:defRPr b="1" sz="1300"/>
            </a:lvl7pPr>
            <a:lvl8pPr indent="-228600" lvl="7" marL="3657600" algn="l">
              <a:lnSpc>
                <a:spcPct val="100000"/>
              </a:lnSpc>
              <a:spcBef>
                <a:spcPts val="300"/>
              </a:spcBef>
              <a:spcAft>
                <a:spcPts val="0"/>
              </a:spcAft>
              <a:buClr>
                <a:schemeClr val="dk1"/>
              </a:buClr>
              <a:buSzPts val="1300"/>
              <a:buNone/>
              <a:defRPr b="1" sz="1300"/>
            </a:lvl8pPr>
            <a:lvl9pPr indent="-228600" lvl="8" marL="4114800" algn="l">
              <a:lnSpc>
                <a:spcPct val="100000"/>
              </a:lnSpc>
              <a:spcBef>
                <a:spcPts val="300"/>
              </a:spcBef>
              <a:spcAft>
                <a:spcPts val="0"/>
              </a:spcAft>
              <a:buClr>
                <a:schemeClr val="dk1"/>
              </a:buClr>
              <a:buSzPts val="1300"/>
              <a:buNone/>
              <a:defRPr b="1" sz="1300"/>
            </a:lvl9pPr>
          </a:lstStyle>
          <a:p/>
        </p:txBody>
      </p:sp>
      <p:sp>
        <p:nvSpPr>
          <p:cNvPr id="63" name="Google Shape;63;p14"/>
          <p:cNvSpPr txBox="1"/>
          <p:nvPr>
            <p:ph idx="2" type="body"/>
          </p:nvPr>
        </p:nvSpPr>
        <p:spPr>
          <a:xfrm>
            <a:off x="406400" y="1631156"/>
            <a:ext cx="3591300" cy="2963400"/>
          </a:xfrm>
          <a:prstGeom prst="rect">
            <a:avLst/>
          </a:prstGeom>
          <a:noFill/>
          <a:ln>
            <a:noFill/>
          </a:ln>
        </p:spPr>
        <p:txBody>
          <a:bodyPr anchorCtr="0" anchor="t" bIns="38500" lIns="77025" spcFirstLastPara="1" rIns="77025" wrap="square" tIns="38500">
            <a:normAutofit/>
          </a:bodyPr>
          <a:lstStyle>
            <a:lvl1pPr indent="-355600" lvl="0" marL="457200" algn="l">
              <a:lnSpc>
                <a:spcPct val="100000"/>
              </a:lnSpc>
              <a:spcBef>
                <a:spcPts val="400"/>
              </a:spcBef>
              <a:spcAft>
                <a:spcPts val="0"/>
              </a:spcAft>
              <a:buClr>
                <a:schemeClr val="dk1"/>
              </a:buClr>
              <a:buSzPts val="2000"/>
              <a:buChar char="•"/>
              <a:defRPr sz="2000"/>
            </a:lvl1pPr>
            <a:lvl2pPr indent="-336550" lvl="1" marL="914400" algn="l">
              <a:lnSpc>
                <a:spcPct val="100000"/>
              </a:lnSpc>
              <a:spcBef>
                <a:spcPts val="300"/>
              </a:spcBef>
              <a:spcAft>
                <a:spcPts val="0"/>
              </a:spcAft>
              <a:buClr>
                <a:schemeClr val="dk1"/>
              </a:buClr>
              <a:buSzPts val="1700"/>
              <a:buChar char="–"/>
              <a:defRPr sz="1700"/>
            </a:lvl2pPr>
            <a:lvl3pPr indent="-323850" lvl="2" marL="1371600" algn="l">
              <a:lnSpc>
                <a:spcPct val="100000"/>
              </a:lnSpc>
              <a:spcBef>
                <a:spcPts val="300"/>
              </a:spcBef>
              <a:spcAft>
                <a:spcPts val="0"/>
              </a:spcAft>
              <a:buClr>
                <a:schemeClr val="dk1"/>
              </a:buClr>
              <a:buSzPts val="1500"/>
              <a:buChar char="•"/>
              <a:defRPr sz="1500"/>
            </a:lvl3pPr>
            <a:lvl4pPr indent="-311150" lvl="3" marL="1828800" algn="l">
              <a:lnSpc>
                <a:spcPct val="100000"/>
              </a:lnSpc>
              <a:spcBef>
                <a:spcPts val="300"/>
              </a:spcBef>
              <a:spcAft>
                <a:spcPts val="0"/>
              </a:spcAft>
              <a:buClr>
                <a:schemeClr val="dk1"/>
              </a:buClr>
              <a:buSzPts val="1300"/>
              <a:buChar char="–"/>
              <a:defRPr sz="1300"/>
            </a:lvl4pPr>
            <a:lvl5pPr indent="-311150" lvl="4" marL="2286000" algn="l">
              <a:lnSpc>
                <a:spcPct val="100000"/>
              </a:lnSpc>
              <a:spcBef>
                <a:spcPts val="300"/>
              </a:spcBef>
              <a:spcAft>
                <a:spcPts val="0"/>
              </a:spcAft>
              <a:buClr>
                <a:schemeClr val="dk1"/>
              </a:buClr>
              <a:buSzPts val="1300"/>
              <a:buChar char="»"/>
              <a:defRPr sz="1300"/>
            </a:lvl5pPr>
            <a:lvl6pPr indent="-311150" lvl="5" marL="2743200" algn="l">
              <a:lnSpc>
                <a:spcPct val="100000"/>
              </a:lnSpc>
              <a:spcBef>
                <a:spcPts val="300"/>
              </a:spcBef>
              <a:spcAft>
                <a:spcPts val="0"/>
              </a:spcAft>
              <a:buClr>
                <a:schemeClr val="dk1"/>
              </a:buClr>
              <a:buSzPts val="1300"/>
              <a:buChar char="•"/>
              <a:defRPr sz="1300"/>
            </a:lvl6pPr>
            <a:lvl7pPr indent="-311150" lvl="6" marL="3200400" algn="l">
              <a:lnSpc>
                <a:spcPct val="100000"/>
              </a:lnSpc>
              <a:spcBef>
                <a:spcPts val="300"/>
              </a:spcBef>
              <a:spcAft>
                <a:spcPts val="0"/>
              </a:spcAft>
              <a:buClr>
                <a:schemeClr val="dk1"/>
              </a:buClr>
              <a:buSzPts val="1300"/>
              <a:buChar char="•"/>
              <a:defRPr sz="1300"/>
            </a:lvl7pPr>
            <a:lvl8pPr indent="-311150" lvl="7" marL="3657600" algn="l">
              <a:lnSpc>
                <a:spcPct val="100000"/>
              </a:lnSpc>
              <a:spcBef>
                <a:spcPts val="300"/>
              </a:spcBef>
              <a:spcAft>
                <a:spcPts val="0"/>
              </a:spcAft>
              <a:buClr>
                <a:schemeClr val="dk1"/>
              </a:buClr>
              <a:buSzPts val="1300"/>
              <a:buChar char="•"/>
              <a:defRPr sz="1300"/>
            </a:lvl8pPr>
            <a:lvl9pPr indent="-311150" lvl="8" marL="4114800" algn="l">
              <a:lnSpc>
                <a:spcPct val="100000"/>
              </a:lnSpc>
              <a:spcBef>
                <a:spcPts val="300"/>
              </a:spcBef>
              <a:spcAft>
                <a:spcPts val="0"/>
              </a:spcAft>
              <a:buClr>
                <a:schemeClr val="dk1"/>
              </a:buClr>
              <a:buSzPts val="1300"/>
              <a:buChar char="•"/>
              <a:defRPr sz="1300"/>
            </a:lvl9pPr>
          </a:lstStyle>
          <a:p/>
        </p:txBody>
      </p:sp>
      <p:sp>
        <p:nvSpPr>
          <p:cNvPr id="64" name="Google Shape;64;p14"/>
          <p:cNvSpPr txBox="1"/>
          <p:nvPr>
            <p:ph idx="3" type="body"/>
          </p:nvPr>
        </p:nvSpPr>
        <p:spPr>
          <a:xfrm>
            <a:off x="4128911" y="1151335"/>
            <a:ext cx="3592800" cy="480000"/>
          </a:xfrm>
          <a:prstGeom prst="rect">
            <a:avLst/>
          </a:prstGeom>
          <a:noFill/>
          <a:ln>
            <a:noFill/>
          </a:ln>
        </p:spPr>
        <p:txBody>
          <a:bodyPr anchorCtr="0" anchor="b" bIns="38500" lIns="77025" spcFirstLastPara="1" rIns="77025" wrap="square" tIns="38500">
            <a:normAutofit/>
          </a:bodyPr>
          <a:lstStyle>
            <a:lvl1pPr indent="-228600" lvl="0" marL="457200" algn="l">
              <a:lnSpc>
                <a:spcPct val="100000"/>
              </a:lnSpc>
              <a:spcBef>
                <a:spcPts val="400"/>
              </a:spcBef>
              <a:spcAft>
                <a:spcPts val="0"/>
              </a:spcAft>
              <a:buClr>
                <a:schemeClr val="dk1"/>
              </a:buClr>
              <a:buSzPts val="2000"/>
              <a:buNone/>
              <a:defRPr b="1" sz="2000"/>
            </a:lvl1pPr>
            <a:lvl2pPr indent="-228600" lvl="1" marL="914400" algn="l">
              <a:lnSpc>
                <a:spcPct val="100000"/>
              </a:lnSpc>
              <a:spcBef>
                <a:spcPts val="300"/>
              </a:spcBef>
              <a:spcAft>
                <a:spcPts val="0"/>
              </a:spcAft>
              <a:buClr>
                <a:schemeClr val="dk1"/>
              </a:buClr>
              <a:buSzPts val="1700"/>
              <a:buNone/>
              <a:defRPr b="1" sz="1700"/>
            </a:lvl2pPr>
            <a:lvl3pPr indent="-228600" lvl="2" marL="1371600" algn="l">
              <a:lnSpc>
                <a:spcPct val="100000"/>
              </a:lnSpc>
              <a:spcBef>
                <a:spcPts val="300"/>
              </a:spcBef>
              <a:spcAft>
                <a:spcPts val="0"/>
              </a:spcAft>
              <a:buClr>
                <a:schemeClr val="dk1"/>
              </a:buClr>
              <a:buSzPts val="1500"/>
              <a:buNone/>
              <a:defRPr b="1" sz="1500"/>
            </a:lvl3pPr>
            <a:lvl4pPr indent="-228600" lvl="3" marL="1828800" algn="l">
              <a:lnSpc>
                <a:spcPct val="100000"/>
              </a:lnSpc>
              <a:spcBef>
                <a:spcPts val="300"/>
              </a:spcBef>
              <a:spcAft>
                <a:spcPts val="0"/>
              </a:spcAft>
              <a:buClr>
                <a:schemeClr val="dk1"/>
              </a:buClr>
              <a:buSzPts val="1300"/>
              <a:buNone/>
              <a:defRPr b="1" sz="1300"/>
            </a:lvl4pPr>
            <a:lvl5pPr indent="-228600" lvl="4" marL="2286000" algn="l">
              <a:lnSpc>
                <a:spcPct val="100000"/>
              </a:lnSpc>
              <a:spcBef>
                <a:spcPts val="300"/>
              </a:spcBef>
              <a:spcAft>
                <a:spcPts val="0"/>
              </a:spcAft>
              <a:buClr>
                <a:schemeClr val="dk1"/>
              </a:buClr>
              <a:buSzPts val="1300"/>
              <a:buNone/>
              <a:defRPr b="1" sz="1300"/>
            </a:lvl5pPr>
            <a:lvl6pPr indent="-228600" lvl="5" marL="2743200" algn="l">
              <a:lnSpc>
                <a:spcPct val="100000"/>
              </a:lnSpc>
              <a:spcBef>
                <a:spcPts val="300"/>
              </a:spcBef>
              <a:spcAft>
                <a:spcPts val="0"/>
              </a:spcAft>
              <a:buClr>
                <a:schemeClr val="dk1"/>
              </a:buClr>
              <a:buSzPts val="1300"/>
              <a:buNone/>
              <a:defRPr b="1" sz="1300"/>
            </a:lvl6pPr>
            <a:lvl7pPr indent="-228600" lvl="6" marL="3200400" algn="l">
              <a:lnSpc>
                <a:spcPct val="100000"/>
              </a:lnSpc>
              <a:spcBef>
                <a:spcPts val="300"/>
              </a:spcBef>
              <a:spcAft>
                <a:spcPts val="0"/>
              </a:spcAft>
              <a:buClr>
                <a:schemeClr val="dk1"/>
              </a:buClr>
              <a:buSzPts val="1300"/>
              <a:buNone/>
              <a:defRPr b="1" sz="1300"/>
            </a:lvl7pPr>
            <a:lvl8pPr indent="-228600" lvl="7" marL="3657600" algn="l">
              <a:lnSpc>
                <a:spcPct val="100000"/>
              </a:lnSpc>
              <a:spcBef>
                <a:spcPts val="300"/>
              </a:spcBef>
              <a:spcAft>
                <a:spcPts val="0"/>
              </a:spcAft>
              <a:buClr>
                <a:schemeClr val="dk1"/>
              </a:buClr>
              <a:buSzPts val="1300"/>
              <a:buNone/>
              <a:defRPr b="1" sz="1300"/>
            </a:lvl8pPr>
            <a:lvl9pPr indent="-228600" lvl="8" marL="4114800" algn="l">
              <a:lnSpc>
                <a:spcPct val="100000"/>
              </a:lnSpc>
              <a:spcBef>
                <a:spcPts val="300"/>
              </a:spcBef>
              <a:spcAft>
                <a:spcPts val="0"/>
              </a:spcAft>
              <a:buClr>
                <a:schemeClr val="dk1"/>
              </a:buClr>
              <a:buSzPts val="1300"/>
              <a:buNone/>
              <a:defRPr b="1" sz="1300"/>
            </a:lvl9pPr>
          </a:lstStyle>
          <a:p/>
        </p:txBody>
      </p:sp>
      <p:sp>
        <p:nvSpPr>
          <p:cNvPr id="65" name="Google Shape;65;p14"/>
          <p:cNvSpPr txBox="1"/>
          <p:nvPr>
            <p:ph idx="4" type="body"/>
          </p:nvPr>
        </p:nvSpPr>
        <p:spPr>
          <a:xfrm>
            <a:off x="4128911" y="1631156"/>
            <a:ext cx="3592800" cy="2963400"/>
          </a:xfrm>
          <a:prstGeom prst="rect">
            <a:avLst/>
          </a:prstGeom>
          <a:noFill/>
          <a:ln>
            <a:noFill/>
          </a:ln>
        </p:spPr>
        <p:txBody>
          <a:bodyPr anchorCtr="0" anchor="t" bIns="38500" lIns="77025" spcFirstLastPara="1" rIns="77025" wrap="square" tIns="38500">
            <a:normAutofit/>
          </a:bodyPr>
          <a:lstStyle>
            <a:lvl1pPr indent="-355600" lvl="0" marL="457200" algn="l">
              <a:lnSpc>
                <a:spcPct val="100000"/>
              </a:lnSpc>
              <a:spcBef>
                <a:spcPts val="400"/>
              </a:spcBef>
              <a:spcAft>
                <a:spcPts val="0"/>
              </a:spcAft>
              <a:buClr>
                <a:schemeClr val="dk1"/>
              </a:buClr>
              <a:buSzPts val="2000"/>
              <a:buChar char="•"/>
              <a:defRPr sz="2000"/>
            </a:lvl1pPr>
            <a:lvl2pPr indent="-336550" lvl="1" marL="914400" algn="l">
              <a:lnSpc>
                <a:spcPct val="100000"/>
              </a:lnSpc>
              <a:spcBef>
                <a:spcPts val="300"/>
              </a:spcBef>
              <a:spcAft>
                <a:spcPts val="0"/>
              </a:spcAft>
              <a:buClr>
                <a:schemeClr val="dk1"/>
              </a:buClr>
              <a:buSzPts val="1700"/>
              <a:buChar char="–"/>
              <a:defRPr sz="1700"/>
            </a:lvl2pPr>
            <a:lvl3pPr indent="-323850" lvl="2" marL="1371600" algn="l">
              <a:lnSpc>
                <a:spcPct val="100000"/>
              </a:lnSpc>
              <a:spcBef>
                <a:spcPts val="300"/>
              </a:spcBef>
              <a:spcAft>
                <a:spcPts val="0"/>
              </a:spcAft>
              <a:buClr>
                <a:schemeClr val="dk1"/>
              </a:buClr>
              <a:buSzPts val="1500"/>
              <a:buChar char="•"/>
              <a:defRPr sz="1500"/>
            </a:lvl3pPr>
            <a:lvl4pPr indent="-311150" lvl="3" marL="1828800" algn="l">
              <a:lnSpc>
                <a:spcPct val="100000"/>
              </a:lnSpc>
              <a:spcBef>
                <a:spcPts val="300"/>
              </a:spcBef>
              <a:spcAft>
                <a:spcPts val="0"/>
              </a:spcAft>
              <a:buClr>
                <a:schemeClr val="dk1"/>
              </a:buClr>
              <a:buSzPts val="1300"/>
              <a:buChar char="–"/>
              <a:defRPr sz="1300"/>
            </a:lvl4pPr>
            <a:lvl5pPr indent="-311150" lvl="4" marL="2286000" algn="l">
              <a:lnSpc>
                <a:spcPct val="100000"/>
              </a:lnSpc>
              <a:spcBef>
                <a:spcPts val="300"/>
              </a:spcBef>
              <a:spcAft>
                <a:spcPts val="0"/>
              </a:spcAft>
              <a:buClr>
                <a:schemeClr val="dk1"/>
              </a:buClr>
              <a:buSzPts val="1300"/>
              <a:buChar char="»"/>
              <a:defRPr sz="1300"/>
            </a:lvl5pPr>
            <a:lvl6pPr indent="-311150" lvl="5" marL="2743200" algn="l">
              <a:lnSpc>
                <a:spcPct val="100000"/>
              </a:lnSpc>
              <a:spcBef>
                <a:spcPts val="300"/>
              </a:spcBef>
              <a:spcAft>
                <a:spcPts val="0"/>
              </a:spcAft>
              <a:buClr>
                <a:schemeClr val="dk1"/>
              </a:buClr>
              <a:buSzPts val="1300"/>
              <a:buChar char="•"/>
              <a:defRPr sz="1300"/>
            </a:lvl6pPr>
            <a:lvl7pPr indent="-311150" lvl="6" marL="3200400" algn="l">
              <a:lnSpc>
                <a:spcPct val="100000"/>
              </a:lnSpc>
              <a:spcBef>
                <a:spcPts val="300"/>
              </a:spcBef>
              <a:spcAft>
                <a:spcPts val="0"/>
              </a:spcAft>
              <a:buClr>
                <a:schemeClr val="dk1"/>
              </a:buClr>
              <a:buSzPts val="1300"/>
              <a:buChar char="•"/>
              <a:defRPr sz="1300"/>
            </a:lvl7pPr>
            <a:lvl8pPr indent="-311150" lvl="7" marL="3657600" algn="l">
              <a:lnSpc>
                <a:spcPct val="100000"/>
              </a:lnSpc>
              <a:spcBef>
                <a:spcPts val="300"/>
              </a:spcBef>
              <a:spcAft>
                <a:spcPts val="0"/>
              </a:spcAft>
              <a:buClr>
                <a:schemeClr val="dk1"/>
              </a:buClr>
              <a:buSzPts val="1300"/>
              <a:buChar char="•"/>
              <a:defRPr sz="1300"/>
            </a:lvl8pPr>
            <a:lvl9pPr indent="-311150" lvl="8" marL="4114800" algn="l">
              <a:lnSpc>
                <a:spcPct val="100000"/>
              </a:lnSpc>
              <a:spcBef>
                <a:spcPts val="300"/>
              </a:spcBef>
              <a:spcAft>
                <a:spcPts val="0"/>
              </a:spcAft>
              <a:buClr>
                <a:schemeClr val="dk1"/>
              </a:buClr>
              <a:buSzPts val="1300"/>
              <a:buChar char="•"/>
              <a:defRPr sz="1300"/>
            </a:lvl9pPr>
          </a:lstStyle>
          <a:p/>
        </p:txBody>
      </p:sp>
      <p:sp>
        <p:nvSpPr>
          <p:cNvPr id="66" name="Google Shape;66;p14"/>
          <p:cNvSpPr txBox="1"/>
          <p:nvPr>
            <p:ph idx="10" type="dt"/>
          </p:nvPr>
        </p:nvSpPr>
        <p:spPr>
          <a:xfrm>
            <a:off x="406400" y="4767263"/>
            <a:ext cx="1896600" cy="273900"/>
          </a:xfrm>
          <a:prstGeom prst="rect">
            <a:avLst/>
          </a:prstGeom>
          <a:noFill/>
          <a:ln>
            <a:noFill/>
          </a:ln>
        </p:spPr>
        <p:txBody>
          <a:bodyPr anchorCtr="0" anchor="ctr" bIns="38500" lIns="77025" spcFirstLastPara="1" rIns="77025" wrap="square" tIns="38500">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67" name="Google Shape;67;p14"/>
          <p:cNvSpPr txBox="1"/>
          <p:nvPr>
            <p:ph idx="11" type="ftr"/>
          </p:nvPr>
        </p:nvSpPr>
        <p:spPr>
          <a:xfrm>
            <a:off x="2777067" y="4767263"/>
            <a:ext cx="2574000" cy="273900"/>
          </a:xfrm>
          <a:prstGeom prst="rect">
            <a:avLst/>
          </a:prstGeom>
          <a:noFill/>
          <a:ln>
            <a:noFill/>
          </a:ln>
        </p:spPr>
        <p:txBody>
          <a:bodyPr anchorCtr="0" anchor="ctr" bIns="38500" lIns="77025" spcFirstLastPara="1" rIns="77025" wrap="square" tIns="38500">
            <a:noAutofit/>
          </a:bodyPr>
          <a:lstStyle>
            <a:lvl1pPr lvl="0" algn="ctr">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68" name="Google Shape;68;p14"/>
          <p:cNvSpPr txBox="1"/>
          <p:nvPr>
            <p:ph idx="12" type="sldNum"/>
          </p:nvPr>
        </p:nvSpPr>
        <p:spPr>
          <a:xfrm>
            <a:off x="5825067" y="4767263"/>
            <a:ext cx="1896600" cy="273900"/>
          </a:xfrm>
          <a:prstGeom prst="rect">
            <a:avLst/>
          </a:prstGeom>
          <a:noFill/>
          <a:ln>
            <a:noFill/>
          </a:ln>
        </p:spPr>
        <p:txBody>
          <a:bodyPr anchorCtr="0" anchor="ctr" bIns="38500" lIns="77025" spcFirstLastPara="1" rIns="77025" wrap="square" tIns="38500">
            <a:noAutofit/>
          </a:bodyPr>
          <a:lstStyle>
            <a:lvl1pPr indent="0" lvl="0"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9" name="Shape 69"/>
        <p:cNvGrpSpPr/>
        <p:nvPr/>
      </p:nvGrpSpPr>
      <p:grpSpPr>
        <a:xfrm>
          <a:off x="0" y="0"/>
          <a:ext cx="0" cy="0"/>
          <a:chOff x="0" y="0"/>
          <a:chExt cx="0" cy="0"/>
        </a:xfrm>
      </p:grpSpPr>
      <p:sp>
        <p:nvSpPr>
          <p:cNvPr id="70" name="Google Shape;70;p15"/>
          <p:cNvSpPr txBox="1"/>
          <p:nvPr>
            <p:ph type="title"/>
          </p:nvPr>
        </p:nvSpPr>
        <p:spPr>
          <a:xfrm>
            <a:off x="406400" y="205978"/>
            <a:ext cx="7315200" cy="857400"/>
          </a:xfrm>
          <a:prstGeom prst="rect">
            <a:avLst/>
          </a:prstGeom>
          <a:noFill/>
          <a:ln>
            <a:noFill/>
          </a:ln>
        </p:spPr>
        <p:txBody>
          <a:bodyPr anchorCtr="0" anchor="ctr" bIns="38500" lIns="77025" spcFirstLastPara="1" rIns="77025" wrap="square" tIns="38500">
            <a:normAutofit/>
          </a:bodyPr>
          <a:lstStyle>
            <a:lvl1pPr lvl="0" algn="ctr">
              <a:lnSpc>
                <a:spcPct val="100000"/>
              </a:lnSpc>
              <a:spcBef>
                <a:spcPts val="0"/>
              </a:spcBef>
              <a:spcAft>
                <a:spcPts val="0"/>
              </a:spcAft>
              <a:buClr>
                <a:schemeClr val="dk1"/>
              </a:buClr>
              <a:buSzPts val="15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71" name="Google Shape;71;p15"/>
          <p:cNvSpPr txBox="1"/>
          <p:nvPr>
            <p:ph idx="10" type="dt"/>
          </p:nvPr>
        </p:nvSpPr>
        <p:spPr>
          <a:xfrm>
            <a:off x="406400" y="4767263"/>
            <a:ext cx="1896600" cy="273900"/>
          </a:xfrm>
          <a:prstGeom prst="rect">
            <a:avLst/>
          </a:prstGeom>
          <a:noFill/>
          <a:ln>
            <a:noFill/>
          </a:ln>
        </p:spPr>
        <p:txBody>
          <a:bodyPr anchorCtr="0" anchor="ctr" bIns="38500" lIns="77025" spcFirstLastPara="1" rIns="77025" wrap="square" tIns="38500">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72" name="Google Shape;72;p15"/>
          <p:cNvSpPr txBox="1"/>
          <p:nvPr>
            <p:ph idx="11" type="ftr"/>
          </p:nvPr>
        </p:nvSpPr>
        <p:spPr>
          <a:xfrm>
            <a:off x="2777067" y="4767263"/>
            <a:ext cx="2574000" cy="273900"/>
          </a:xfrm>
          <a:prstGeom prst="rect">
            <a:avLst/>
          </a:prstGeom>
          <a:noFill/>
          <a:ln>
            <a:noFill/>
          </a:ln>
        </p:spPr>
        <p:txBody>
          <a:bodyPr anchorCtr="0" anchor="ctr" bIns="38500" lIns="77025" spcFirstLastPara="1" rIns="77025" wrap="square" tIns="38500">
            <a:noAutofit/>
          </a:bodyPr>
          <a:lstStyle>
            <a:lvl1pPr lvl="0" algn="ctr">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73" name="Google Shape;73;p15"/>
          <p:cNvSpPr txBox="1"/>
          <p:nvPr>
            <p:ph idx="12" type="sldNum"/>
          </p:nvPr>
        </p:nvSpPr>
        <p:spPr>
          <a:xfrm>
            <a:off x="5825067" y="4767263"/>
            <a:ext cx="1896600" cy="273900"/>
          </a:xfrm>
          <a:prstGeom prst="rect">
            <a:avLst/>
          </a:prstGeom>
          <a:noFill/>
          <a:ln>
            <a:noFill/>
          </a:ln>
        </p:spPr>
        <p:txBody>
          <a:bodyPr anchorCtr="0" anchor="ctr" bIns="38500" lIns="77025" spcFirstLastPara="1" rIns="77025" wrap="square" tIns="38500">
            <a:noAutofit/>
          </a:bodyPr>
          <a:lstStyle>
            <a:lvl1pPr indent="0" lvl="0"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4" name="Shape 74"/>
        <p:cNvGrpSpPr/>
        <p:nvPr/>
      </p:nvGrpSpPr>
      <p:grpSpPr>
        <a:xfrm>
          <a:off x="0" y="0"/>
          <a:ext cx="0" cy="0"/>
          <a:chOff x="0" y="0"/>
          <a:chExt cx="0" cy="0"/>
        </a:xfrm>
      </p:grpSpPr>
      <p:sp>
        <p:nvSpPr>
          <p:cNvPr id="75" name="Google Shape;75;p16"/>
          <p:cNvSpPr txBox="1"/>
          <p:nvPr>
            <p:ph type="title"/>
          </p:nvPr>
        </p:nvSpPr>
        <p:spPr>
          <a:xfrm>
            <a:off x="406400" y="204788"/>
            <a:ext cx="2674200" cy="871800"/>
          </a:xfrm>
          <a:prstGeom prst="rect">
            <a:avLst/>
          </a:prstGeom>
          <a:noFill/>
          <a:ln>
            <a:noFill/>
          </a:ln>
        </p:spPr>
        <p:txBody>
          <a:bodyPr anchorCtr="0" anchor="b" bIns="38500" lIns="77025" spcFirstLastPara="1" rIns="77025" wrap="square" tIns="38500">
            <a:normAutofit/>
          </a:bodyPr>
          <a:lstStyle>
            <a:lvl1pPr lvl="0" algn="l">
              <a:lnSpc>
                <a:spcPct val="100000"/>
              </a:lnSpc>
              <a:spcBef>
                <a:spcPts val="0"/>
              </a:spcBef>
              <a:spcAft>
                <a:spcPts val="0"/>
              </a:spcAft>
              <a:buClr>
                <a:schemeClr val="dk1"/>
              </a:buClr>
              <a:buSzPts val="1700"/>
              <a:buFont typeface="Calibri"/>
              <a:buNone/>
              <a:defRPr b="1" sz="1700"/>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76" name="Google Shape;76;p16"/>
          <p:cNvSpPr txBox="1"/>
          <p:nvPr>
            <p:ph idx="1" type="body"/>
          </p:nvPr>
        </p:nvSpPr>
        <p:spPr>
          <a:xfrm>
            <a:off x="3177822" y="204788"/>
            <a:ext cx="4543800" cy="4389900"/>
          </a:xfrm>
          <a:prstGeom prst="rect">
            <a:avLst/>
          </a:prstGeom>
          <a:noFill/>
          <a:ln>
            <a:noFill/>
          </a:ln>
        </p:spPr>
        <p:txBody>
          <a:bodyPr anchorCtr="0" anchor="t" bIns="38500" lIns="77025" spcFirstLastPara="1" rIns="77025" wrap="square" tIns="38500">
            <a:normAutofit/>
          </a:bodyPr>
          <a:lstStyle>
            <a:lvl1pPr indent="-400050" lvl="0" marL="457200" algn="l">
              <a:lnSpc>
                <a:spcPct val="100000"/>
              </a:lnSpc>
              <a:spcBef>
                <a:spcPts val="500"/>
              </a:spcBef>
              <a:spcAft>
                <a:spcPts val="0"/>
              </a:spcAft>
              <a:buClr>
                <a:schemeClr val="dk1"/>
              </a:buClr>
              <a:buSzPts val="2700"/>
              <a:buChar char="•"/>
              <a:defRPr sz="2700"/>
            </a:lvl1pPr>
            <a:lvl2pPr indent="-381000" lvl="1" marL="914400" algn="l">
              <a:lnSpc>
                <a:spcPct val="100000"/>
              </a:lnSpc>
              <a:spcBef>
                <a:spcPts val="50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36550" lvl="3" marL="1828800" algn="l">
              <a:lnSpc>
                <a:spcPct val="100000"/>
              </a:lnSpc>
              <a:spcBef>
                <a:spcPts val="300"/>
              </a:spcBef>
              <a:spcAft>
                <a:spcPts val="0"/>
              </a:spcAft>
              <a:buClr>
                <a:schemeClr val="dk1"/>
              </a:buClr>
              <a:buSzPts val="1700"/>
              <a:buChar char="–"/>
              <a:defRPr sz="1700"/>
            </a:lvl4pPr>
            <a:lvl5pPr indent="-336550" lvl="4" marL="2286000" algn="l">
              <a:lnSpc>
                <a:spcPct val="100000"/>
              </a:lnSpc>
              <a:spcBef>
                <a:spcPts val="300"/>
              </a:spcBef>
              <a:spcAft>
                <a:spcPts val="0"/>
              </a:spcAft>
              <a:buClr>
                <a:schemeClr val="dk1"/>
              </a:buClr>
              <a:buSzPts val="1700"/>
              <a:buChar char="»"/>
              <a:defRPr sz="1700"/>
            </a:lvl5pPr>
            <a:lvl6pPr indent="-336550" lvl="5" marL="2743200" algn="l">
              <a:lnSpc>
                <a:spcPct val="100000"/>
              </a:lnSpc>
              <a:spcBef>
                <a:spcPts val="300"/>
              </a:spcBef>
              <a:spcAft>
                <a:spcPts val="0"/>
              </a:spcAft>
              <a:buClr>
                <a:schemeClr val="dk1"/>
              </a:buClr>
              <a:buSzPts val="1700"/>
              <a:buChar char="•"/>
              <a:defRPr sz="1700"/>
            </a:lvl6pPr>
            <a:lvl7pPr indent="-336550" lvl="6" marL="3200400" algn="l">
              <a:lnSpc>
                <a:spcPct val="100000"/>
              </a:lnSpc>
              <a:spcBef>
                <a:spcPts val="300"/>
              </a:spcBef>
              <a:spcAft>
                <a:spcPts val="0"/>
              </a:spcAft>
              <a:buClr>
                <a:schemeClr val="dk1"/>
              </a:buClr>
              <a:buSzPts val="1700"/>
              <a:buChar char="•"/>
              <a:defRPr sz="1700"/>
            </a:lvl7pPr>
            <a:lvl8pPr indent="-336550" lvl="7" marL="3657600" algn="l">
              <a:lnSpc>
                <a:spcPct val="100000"/>
              </a:lnSpc>
              <a:spcBef>
                <a:spcPts val="300"/>
              </a:spcBef>
              <a:spcAft>
                <a:spcPts val="0"/>
              </a:spcAft>
              <a:buClr>
                <a:schemeClr val="dk1"/>
              </a:buClr>
              <a:buSzPts val="1700"/>
              <a:buChar char="•"/>
              <a:defRPr sz="1700"/>
            </a:lvl8pPr>
            <a:lvl9pPr indent="-336550" lvl="8" marL="4114800" algn="l">
              <a:lnSpc>
                <a:spcPct val="100000"/>
              </a:lnSpc>
              <a:spcBef>
                <a:spcPts val="300"/>
              </a:spcBef>
              <a:spcAft>
                <a:spcPts val="0"/>
              </a:spcAft>
              <a:buClr>
                <a:schemeClr val="dk1"/>
              </a:buClr>
              <a:buSzPts val="1700"/>
              <a:buChar char="•"/>
              <a:defRPr sz="1700"/>
            </a:lvl9pPr>
          </a:lstStyle>
          <a:p/>
        </p:txBody>
      </p:sp>
      <p:sp>
        <p:nvSpPr>
          <p:cNvPr id="77" name="Google Shape;77;p16"/>
          <p:cNvSpPr txBox="1"/>
          <p:nvPr>
            <p:ph idx="2" type="body"/>
          </p:nvPr>
        </p:nvSpPr>
        <p:spPr>
          <a:xfrm>
            <a:off x="406400" y="1076325"/>
            <a:ext cx="2674200" cy="3518400"/>
          </a:xfrm>
          <a:prstGeom prst="rect">
            <a:avLst/>
          </a:prstGeom>
          <a:noFill/>
          <a:ln>
            <a:noFill/>
          </a:ln>
        </p:spPr>
        <p:txBody>
          <a:bodyPr anchorCtr="0" anchor="t" bIns="38500" lIns="77025" spcFirstLastPara="1" rIns="77025" wrap="square" tIns="38500">
            <a:normAutofit/>
          </a:bodyPr>
          <a:lstStyle>
            <a:lvl1pPr indent="-228600" lvl="0" marL="457200" algn="l">
              <a:lnSpc>
                <a:spcPct val="100000"/>
              </a:lnSpc>
              <a:spcBef>
                <a:spcPts val="200"/>
              </a:spcBef>
              <a:spcAft>
                <a:spcPts val="0"/>
              </a:spcAft>
              <a:buClr>
                <a:schemeClr val="dk1"/>
              </a:buClr>
              <a:buSzPts val="1200"/>
              <a:buNone/>
              <a:defRPr sz="1200"/>
            </a:lvl1pPr>
            <a:lvl2pPr indent="-228600" lvl="1" marL="914400" algn="l">
              <a:lnSpc>
                <a:spcPct val="100000"/>
              </a:lnSpc>
              <a:spcBef>
                <a:spcPts val="200"/>
              </a:spcBef>
              <a:spcAft>
                <a:spcPts val="0"/>
              </a:spcAft>
              <a:buClr>
                <a:schemeClr val="dk1"/>
              </a:buClr>
              <a:buSzPts val="1000"/>
              <a:buNone/>
              <a:defRPr sz="1000"/>
            </a:lvl2pPr>
            <a:lvl3pPr indent="-228600" lvl="2" marL="1371600" algn="l">
              <a:lnSpc>
                <a:spcPct val="100000"/>
              </a:lnSpc>
              <a:spcBef>
                <a:spcPts val="200"/>
              </a:spcBef>
              <a:spcAft>
                <a:spcPts val="0"/>
              </a:spcAft>
              <a:buClr>
                <a:schemeClr val="dk1"/>
              </a:buClr>
              <a:buSzPts val="800"/>
              <a:buNone/>
              <a:defRPr sz="800"/>
            </a:lvl3pPr>
            <a:lvl4pPr indent="-228600" lvl="3" marL="1828800" algn="l">
              <a:lnSpc>
                <a:spcPct val="100000"/>
              </a:lnSpc>
              <a:spcBef>
                <a:spcPts val="200"/>
              </a:spcBef>
              <a:spcAft>
                <a:spcPts val="0"/>
              </a:spcAft>
              <a:buClr>
                <a:schemeClr val="dk1"/>
              </a:buClr>
              <a:buSzPts val="800"/>
              <a:buNone/>
              <a:defRPr sz="800"/>
            </a:lvl4pPr>
            <a:lvl5pPr indent="-228600" lvl="4" marL="2286000" algn="l">
              <a:lnSpc>
                <a:spcPct val="100000"/>
              </a:lnSpc>
              <a:spcBef>
                <a:spcPts val="200"/>
              </a:spcBef>
              <a:spcAft>
                <a:spcPts val="0"/>
              </a:spcAft>
              <a:buClr>
                <a:schemeClr val="dk1"/>
              </a:buClr>
              <a:buSzPts val="800"/>
              <a:buNone/>
              <a:defRPr sz="800"/>
            </a:lvl5pPr>
            <a:lvl6pPr indent="-228600" lvl="5" marL="2743200" algn="l">
              <a:lnSpc>
                <a:spcPct val="100000"/>
              </a:lnSpc>
              <a:spcBef>
                <a:spcPts val="200"/>
              </a:spcBef>
              <a:spcAft>
                <a:spcPts val="0"/>
              </a:spcAft>
              <a:buClr>
                <a:schemeClr val="dk1"/>
              </a:buClr>
              <a:buSzPts val="800"/>
              <a:buNone/>
              <a:defRPr sz="800"/>
            </a:lvl6pPr>
            <a:lvl7pPr indent="-228600" lvl="6" marL="3200400" algn="l">
              <a:lnSpc>
                <a:spcPct val="100000"/>
              </a:lnSpc>
              <a:spcBef>
                <a:spcPts val="200"/>
              </a:spcBef>
              <a:spcAft>
                <a:spcPts val="0"/>
              </a:spcAft>
              <a:buClr>
                <a:schemeClr val="dk1"/>
              </a:buClr>
              <a:buSzPts val="800"/>
              <a:buNone/>
              <a:defRPr sz="800"/>
            </a:lvl7pPr>
            <a:lvl8pPr indent="-228600" lvl="7" marL="3657600" algn="l">
              <a:lnSpc>
                <a:spcPct val="100000"/>
              </a:lnSpc>
              <a:spcBef>
                <a:spcPts val="200"/>
              </a:spcBef>
              <a:spcAft>
                <a:spcPts val="0"/>
              </a:spcAft>
              <a:buClr>
                <a:schemeClr val="dk1"/>
              </a:buClr>
              <a:buSzPts val="800"/>
              <a:buNone/>
              <a:defRPr sz="800"/>
            </a:lvl8pPr>
            <a:lvl9pPr indent="-228600" lvl="8" marL="4114800" algn="l">
              <a:lnSpc>
                <a:spcPct val="100000"/>
              </a:lnSpc>
              <a:spcBef>
                <a:spcPts val="200"/>
              </a:spcBef>
              <a:spcAft>
                <a:spcPts val="0"/>
              </a:spcAft>
              <a:buClr>
                <a:schemeClr val="dk1"/>
              </a:buClr>
              <a:buSzPts val="800"/>
              <a:buNone/>
              <a:defRPr sz="800"/>
            </a:lvl9pPr>
          </a:lstStyle>
          <a:p/>
        </p:txBody>
      </p:sp>
      <p:sp>
        <p:nvSpPr>
          <p:cNvPr id="78" name="Google Shape;78;p16"/>
          <p:cNvSpPr txBox="1"/>
          <p:nvPr>
            <p:ph idx="10" type="dt"/>
          </p:nvPr>
        </p:nvSpPr>
        <p:spPr>
          <a:xfrm>
            <a:off x="406400" y="4767263"/>
            <a:ext cx="1896600" cy="273900"/>
          </a:xfrm>
          <a:prstGeom prst="rect">
            <a:avLst/>
          </a:prstGeom>
          <a:noFill/>
          <a:ln>
            <a:noFill/>
          </a:ln>
        </p:spPr>
        <p:txBody>
          <a:bodyPr anchorCtr="0" anchor="ctr" bIns="38500" lIns="77025" spcFirstLastPara="1" rIns="77025" wrap="square" tIns="38500">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79" name="Google Shape;79;p16"/>
          <p:cNvSpPr txBox="1"/>
          <p:nvPr>
            <p:ph idx="11" type="ftr"/>
          </p:nvPr>
        </p:nvSpPr>
        <p:spPr>
          <a:xfrm>
            <a:off x="2777067" y="4767263"/>
            <a:ext cx="2574000" cy="273900"/>
          </a:xfrm>
          <a:prstGeom prst="rect">
            <a:avLst/>
          </a:prstGeom>
          <a:noFill/>
          <a:ln>
            <a:noFill/>
          </a:ln>
        </p:spPr>
        <p:txBody>
          <a:bodyPr anchorCtr="0" anchor="ctr" bIns="38500" lIns="77025" spcFirstLastPara="1" rIns="77025" wrap="square" tIns="38500">
            <a:noAutofit/>
          </a:bodyPr>
          <a:lstStyle>
            <a:lvl1pPr lvl="0" algn="ctr">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80" name="Google Shape;80;p16"/>
          <p:cNvSpPr txBox="1"/>
          <p:nvPr>
            <p:ph idx="12" type="sldNum"/>
          </p:nvPr>
        </p:nvSpPr>
        <p:spPr>
          <a:xfrm>
            <a:off x="5825067" y="4767263"/>
            <a:ext cx="1896600" cy="273900"/>
          </a:xfrm>
          <a:prstGeom prst="rect">
            <a:avLst/>
          </a:prstGeom>
          <a:noFill/>
          <a:ln>
            <a:noFill/>
          </a:ln>
        </p:spPr>
        <p:txBody>
          <a:bodyPr anchorCtr="0" anchor="ctr" bIns="38500" lIns="77025" spcFirstLastPara="1" rIns="77025" wrap="square" tIns="38500">
            <a:noAutofit/>
          </a:bodyPr>
          <a:lstStyle>
            <a:lvl1pPr indent="0" lvl="0"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1" name="Shape 81"/>
        <p:cNvGrpSpPr/>
        <p:nvPr/>
      </p:nvGrpSpPr>
      <p:grpSpPr>
        <a:xfrm>
          <a:off x="0" y="0"/>
          <a:ext cx="0" cy="0"/>
          <a:chOff x="0" y="0"/>
          <a:chExt cx="0" cy="0"/>
        </a:xfrm>
      </p:grpSpPr>
      <p:sp>
        <p:nvSpPr>
          <p:cNvPr id="82" name="Google Shape;82;p17"/>
          <p:cNvSpPr txBox="1"/>
          <p:nvPr>
            <p:ph type="title"/>
          </p:nvPr>
        </p:nvSpPr>
        <p:spPr>
          <a:xfrm>
            <a:off x="1593145" y="3600450"/>
            <a:ext cx="4876800" cy="425100"/>
          </a:xfrm>
          <a:prstGeom prst="rect">
            <a:avLst/>
          </a:prstGeom>
          <a:noFill/>
          <a:ln>
            <a:noFill/>
          </a:ln>
        </p:spPr>
        <p:txBody>
          <a:bodyPr anchorCtr="0" anchor="b" bIns="38500" lIns="77025" spcFirstLastPara="1" rIns="77025" wrap="square" tIns="38500">
            <a:normAutofit/>
          </a:bodyPr>
          <a:lstStyle>
            <a:lvl1pPr lvl="0" algn="l">
              <a:lnSpc>
                <a:spcPct val="100000"/>
              </a:lnSpc>
              <a:spcBef>
                <a:spcPts val="0"/>
              </a:spcBef>
              <a:spcAft>
                <a:spcPts val="0"/>
              </a:spcAft>
              <a:buClr>
                <a:schemeClr val="dk1"/>
              </a:buClr>
              <a:buSzPts val="1700"/>
              <a:buFont typeface="Calibri"/>
              <a:buNone/>
              <a:defRPr b="1" sz="1700"/>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83" name="Google Shape;83;p17"/>
          <p:cNvSpPr/>
          <p:nvPr>
            <p:ph idx="2" type="pic"/>
          </p:nvPr>
        </p:nvSpPr>
        <p:spPr>
          <a:xfrm>
            <a:off x="1593145" y="459581"/>
            <a:ext cx="4876800" cy="3086100"/>
          </a:xfrm>
          <a:prstGeom prst="rect">
            <a:avLst/>
          </a:prstGeom>
          <a:noFill/>
          <a:ln>
            <a:noFill/>
          </a:ln>
        </p:spPr>
      </p:sp>
      <p:sp>
        <p:nvSpPr>
          <p:cNvPr id="84" name="Google Shape;84;p17"/>
          <p:cNvSpPr txBox="1"/>
          <p:nvPr>
            <p:ph idx="1" type="body"/>
          </p:nvPr>
        </p:nvSpPr>
        <p:spPr>
          <a:xfrm>
            <a:off x="1593145" y="4025504"/>
            <a:ext cx="4876800" cy="603600"/>
          </a:xfrm>
          <a:prstGeom prst="rect">
            <a:avLst/>
          </a:prstGeom>
          <a:noFill/>
          <a:ln>
            <a:noFill/>
          </a:ln>
        </p:spPr>
        <p:txBody>
          <a:bodyPr anchorCtr="0" anchor="t" bIns="38500" lIns="77025" spcFirstLastPara="1" rIns="77025" wrap="square" tIns="38500">
            <a:normAutofit/>
          </a:bodyPr>
          <a:lstStyle>
            <a:lvl1pPr indent="-228600" lvl="0" marL="457200" algn="l">
              <a:lnSpc>
                <a:spcPct val="100000"/>
              </a:lnSpc>
              <a:spcBef>
                <a:spcPts val="200"/>
              </a:spcBef>
              <a:spcAft>
                <a:spcPts val="0"/>
              </a:spcAft>
              <a:buClr>
                <a:schemeClr val="dk1"/>
              </a:buClr>
              <a:buSzPts val="1200"/>
              <a:buNone/>
              <a:defRPr sz="1200"/>
            </a:lvl1pPr>
            <a:lvl2pPr indent="-228600" lvl="1" marL="914400" algn="l">
              <a:lnSpc>
                <a:spcPct val="100000"/>
              </a:lnSpc>
              <a:spcBef>
                <a:spcPts val="200"/>
              </a:spcBef>
              <a:spcAft>
                <a:spcPts val="0"/>
              </a:spcAft>
              <a:buClr>
                <a:schemeClr val="dk1"/>
              </a:buClr>
              <a:buSzPts val="1000"/>
              <a:buNone/>
              <a:defRPr sz="1000"/>
            </a:lvl2pPr>
            <a:lvl3pPr indent="-228600" lvl="2" marL="1371600" algn="l">
              <a:lnSpc>
                <a:spcPct val="100000"/>
              </a:lnSpc>
              <a:spcBef>
                <a:spcPts val="200"/>
              </a:spcBef>
              <a:spcAft>
                <a:spcPts val="0"/>
              </a:spcAft>
              <a:buClr>
                <a:schemeClr val="dk1"/>
              </a:buClr>
              <a:buSzPts val="800"/>
              <a:buNone/>
              <a:defRPr sz="800"/>
            </a:lvl3pPr>
            <a:lvl4pPr indent="-228600" lvl="3" marL="1828800" algn="l">
              <a:lnSpc>
                <a:spcPct val="100000"/>
              </a:lnSpc>
              <a:spcBef>
                <a:spcPts val="200"/>
              </a:spcBef>
              <a:spcAft>
                <a:spcPts val="0"/>
              </a:spcAft>
              <a:buClr>
                <a:schemeClr val="dk1"/>
              </a:buClr>
              <a:buSzPts val="800"/>
              <a:buNone/>
              <a:defRPr sz="800"/>
            </a:lvl4pPr>
            <a:lvl5pPr indent="-228600" lvl="4" marL="2286000" algn="l">
              <a:lnSpc>
                <a:spcPct val="100000"/>
              </a:lnSpc>
              <a:spcBef>
                <a:spcPts val="200"/>
              </a:spcBef>
              <a:spcAft>
                <a:spcPts val="0"/>
              </a:spcAft>
              <a:buClr>
                <a:schemeClr val="dk1"/>
              </a:buClr>
              <a:buSzPts val="800"/>
              <a:buNone/>
              <a:defRPr sz="800"/>
            </a:lvl5pPr>
            <a:lvl6pPr indent="-228600" lvl="5" marL="2743200" algn="l">
              <a:lnSpc>
                <a:spcPct val="100000"/>
              </a:lnSpc>
              <a:spcBef>
                <a:spcPts val="200"/>
              </a:spcBef>
              <a:spcAft>
                <a:spcPts val="0"/>
              </a:spcAft>
              <a:buClr>
                <a:schemeClr val="dk1"/>
              </a:buClr>
              <a:buSzPts val="800"/>
              <a:buNone/>
              <a:defRPr sz="800"/>
            </a:lvl6pPr>
            <a:lvl7pPr indent="-228600" lvl="6" marL="3200400" algn="l">
              <a:lnSpc>
                <a:spcPct val="100000"/>
              </a:lnSpc>
              <a:spcBef>
                <a:spcPts val="200"/>
              </a:spcBef>
              <a:spcAft>
                <a:spcPts val="0"/>
              </a:spcAft>
              <a:buClr>
                <a:schemeClr val="dk1"/>
              </a:buClr>
              <a:buSzPts val="800"/>
              <a:buNone/>
              <a:defRPr sz="800"/>
            </a:lvl7pPr>
            <a:lvl8pPr indent="-228600" lvl="7" marL="3657600" algn="l">
              <a:lnSpc>
                <a:spcPct val="100000"/>
              </a:lnSpc>
              <a:spcBef>
                <a:spcPts val="200"/>
              </a:spcBef>
              <a:spcAft>
                <a:spcPts val="0"/>
              </a:spcAft>
              <a:buClr>
                <a:schemeClr val="dk1"/>
              </a:buClr>
              <a:buSzPts val="800"/>
              <a:buNone/>
              <a:defRPr sz="800"/>
            </a:lvl8pPr>
            <a:lvl9pPr indent="-228600" lvl="8" marL="4114800" algn="l">
              <a:lnSpc>
                <a:spcPct val="100000"/>
              </a:lnSpc>
              <a:spcBef>
                <a:spcPts val="200"/>
              </a:spcBef>
              <a:spcAft>
                <a:spcPts val="0"/>
              </a:spcAft>
              <a:buClr>
                <a:schemeClr val="dk1"/>
              </a:buClr>
              <a:buSzPts val="800"/>
              <a:buNone/>
              <a:defRPr sz="800"/>
            </a:lvl9pPr>
          </a:lstStyle>
          <a:p/>
        </p:txBody>
      </p:sp>
      <p:sp>
        <p:nvSpPr>
          <p:cNvPr id="85" name="Google Shape;85;p17"/>
          <p:cNvSpPr txBox="1"/>
          <p:nvPr>
            <p:ph idx="10" type="dt"/>
          </p:nvPr>
        </p:nvSpPr>
        <p:spPr>
          <a:xfrm>
            <a:off x="406400" y="4767263"/>
            <a:ext cx="1896600" cy="273900"/>
          </a:xfrm>
          <a:prstGeom prst="rect">
            <a:avLst/>
          </a:prstGeom>
          <a:noFill/>
          <a:ln>
            <a:noFill/>
          </a:ln>
        </p:spPr>
        <p:txBody>
          <a:bodyPr anchorCtr="0" anchor="ctr" bIns="38500" lIns="77025" spcFirstLastPara="1" rIns="77025" wrap="square" tIns="38500">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86" name="Google Shape;86;p17"/>
          <p:cNvSpPr txBox="1"/>
          <p:nvPr>
            <p:ph idx="11" type="ftr"/>
          </p:nvPr>
        </p:nvSpPr>
        <p:spPr>
          <a:xfrm>
            <a:off x="2777067" y="4767263"/>
            <a:ext cx="2574000" cy="273900"/>
          </a:xfrm>
          <a:prstGeom prst="rect">
            <a:avLst/>
          </a:prstGeom>
          <a:noFill/>
          <a:ln>
            <a:noFill/>
          </a:ln>
        </p:spPr>
        <p:txBody>
          <a:bodyPr anchorCtr="0" anchor="ctr" bIns="38500" lIns="77025" spcFirstLastPara="1" rIns="77025" wrap="square" tIns="38500">
            <a:noAutofit/>
          </a:bodyPr>
          <a:lstStyle>
            <a:lvl1pPr lvl="0" algn="ctr">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87" name="Google Shape;87;p17"/>
          <p:cNvSpPr txBox="1"/>
          <p:nvPr>
            <p:ph idx="12" type="sldNum"/>
          </p:nvPr>
        </p:nvSpPr>
        <p:spPr>
          <a:xfrm>
            <a:off x="5825067" y="4767263"/>
            <a:ext cx="1896600" cy="273900"/>
          </a:xfrm>
          <a:prstGeom prst="rect">
            <a:avLst/>
          </a:prstGeom>
          <a:noFill/>
          <a:ln>
            <a:noFill/>
          </a:ln>
        </p:spPr>
        <p:txBody>
          <a:bodyPr anchorCtr="0" anchor="ctr" bIns="38500" lIns="77025" spcFirstLastPara="1" rIns="77025" wrap="square" tIns="38500">
            <a:noAutofit/>
          </a:bodyPr>
          <a:lstStyle>
            <a:lvl1pPr indent="0" lvl="0"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8" name="Shape 88"/>
        <p:cNvGrpSpPr/>
        <p:nvPr/>
      </p:nvGrpSpPr>
      <p:grpSpPr>
        <a:xfrm>
          <a:off x="0" y="0"/>
          <a:ext cx="0" cy="0"/>
          <a:chOff x="0" y="0"/>
          <a:chExt cx="0" cy="0"/>
        </a:xfrm>
      </p:grpSpPr>
      <p:sp>
        <p:nvSpPr>
          <p:cNvPr id="89" name="Google Shape;89;p18"/>
          <p:cNvSpPr txBox="1"/>
          <p:nvPr>
            <p:ph type="title"/>
          </p:nvPr>
        </p:nvSpPr>
        <p:spPr>
          <a:xfrm>
            <a:off x="406400" y="205978"/>
            <a:ext cx="7315200" cy="857400"/>
          </a:xfrm>
          <a:prstGeom prst="rect">
            <a:avLst/>
          </a:prstGeom>
          <a:noFill/>
          <a:ln>
            <a:noFill/>
          </a:ln>
        </p:spPr>
        <p:txBody>
          <a:bodyPr anchorCtr="0" anchor="ctr" bIns="38500" lIns="77025" spcFirstLastPara="1" rIns="77025" wrap="square" tIns="38500">
            <a:normAutofit/>
          </a:bodyPr>
          <a:lstStyle>
            <a:lvl1pPr lvl="0" algn="ctr">
              <a:lnSpc>
                <a:spcPct val="100000"/>
              </a:lnSpc>
              <a:spcBef>
                <a:spcPts val="0"/>
              </a:spcBef>
              <a:spcAft>
                <a:spcPts val="0"/>
              </a:spcAft>
              <a:buClr>
                <a:schemeClr val="dk1"/>
              </a:buClr>
              <a:buSzPts val="15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90" name="Google Shape;90;p18"/>
          <p:cNvSpPr txBox="1"/>
          <p:nvPr>
            <p:ph idx="1" type="body"/>
          </p:nvPr>
        </p:nvSpPr>
        <p:spPr>
          <a:xfrm rot="5400000">
            <a:off x="2366750" y="-760200"/>
            <a:ext cx="3394500" cy="7315200"/>
          </a:xfrm>
          <a:prstGeom prst="rect">
            <a:avLst/>
          </a:prstGeom>
          <a:noFill/>
          <a:ln>
            <a:noFill/>
          </a:ln>
        </p:spPr>
        <p:txBody>
          <a:bodyPr anchorCtr="0" anchor="t" bIns="38500" lIns="77025" spcFirstLastPara="1" rIns="77025" wrap="square" tIns="38500">
            <a:normAutofit/>
          </a:bodyPr>
          <a:lstStyle>
            <a:lvl1pPr indent="-323850" lvl="0" marL="457200" algn="l">
              <a:lnSpc>
                <a:spcPct val="100000"/>
              </a:lnSpc>
              <a:spcBef>
                <a:spcPts val="300"/>
              </a:spcBef>
              <a:spcAft>
                <a:spcPts val="0"/>
              </a:spcAft>
              <a:buClr>
                <a:schemeClr val="dk1"/>
              </a:buClr>
              <a:buSzPts val="1500"/>
              <a:buChar char="•"/>
              <a:defRPr/>
            </a:lvl1pPr>
            <a:lvl2pPr indent="-323850" lvl="1" marL="914400" algn="l">
              <a:lnSpc>
                <a:spcPct val="100000"/>
              </a:lnSpc>
              <a:spcBef>
                <a:spcPts val="300"/>
              </a:spcBef>
              <a:spcAft>
                <a:spcPts val="0"/>
              </a:spcAft>
              <a:buClr>
                <a:schemeClr val="dk1"/>
              </a:buClr>
              <a:buSzPts val="1500"/>
              <a:buChar char="–"/>
              <a:defRPr/>
            </a:lvl2pPr>
            <a:lvl3pPr indent="-323850" lvl="2" marL="1371600" algn="l">
              <a:lnSpc>
                <a:spcPct val="100000"/>
              </a:lnSpc>
              <a:spcBef>
                <a:spcPts val="300"/>
              </a:spcBef>
              <a:spcAft>
                <a:spcPts val="0"/>
              </a:spcAft>
              <a:buClr>
                <a:schemeClr val="dk1"/>
              </a:buClr>
              <a:buSzPts val="1500"/>
              <a:buChar char="•"/>
              <a:defRPr/>
            </a:lvl3pPr>
            <a:lvl4pPr indent="-323850" lvl="3" marL="1828800" algn="l">
              <a:lnSpc>
                <a:spcPct val="100000"/>
              </a:lnSpc>
              <a:spcBef>
                <a:spcPts val="300"/>
              </a:spcBef>
              <a:spcAft>
                <a:spcPts val="0"/>
              </a:spcAft>
              <a:buClr>
                <a:schemeClr val="dk1"/>
              </a:buClr>
              <a:buSzPts val="1500"/>
              <a:buChar char="–"/>
              <a:defRPr/>
            </a:lvl4pPr>
            <a:lvl5pPr indent="-323850" lvl="4" marL="2286000" algn="l">
              <a:lnSpc>
                <a:spcPct val="100000"/>
              </a:lnSpc>
              <a:spcBef>
                <a:spcPts val="300"/>
              </a:spcBef>
              <a:spcAft>
                <a:spcPts val="0"/>
              </a:spcAft>
              <a:buClr>
                <a:schemeClr val="dk1"/>
              </a:buClr>
              <a:buSzPts val="1500"/>
              <a:buChar char="»"/>
              <a:defRPr/>
            </a:lvl5pPr>
            <a:lvl6pPr indent="-323850" lvl="5" marL="2743200" algn="l">
              <a:lnSpc>
                <a:spcPct val="100000"/>
              </a:lnSpc>
              <a:spcBef>
                <a:spcPts val="300"/>
              </a:spcBef>
              <a:spcAft>
                <a:spcPts val="0"/>
              </a:spcAft>
              <a:buClr>
                <a:schemeClr val="dk1"/>
              </a:buClr>
              <a:buSzPts val="1500"/>
              <a:buChar char="•"/>
              <a:defRPr/>
            </a:lvl6pPr>
            <a:lvl7pPr indent="-323850" lvl="6" marL="3200400" algn="l">
              <a:lnSpc>
                <a:spcPct val="100000"/>
              </a:lnSpc>
              <a:spcBef>
                <a:spcPts val="300"/>
              </a:spcBef>
              <a:spcAft>
                <a:spcPts val="0"/>
              </a:spcAft>
              <a:buClr>
                <a:schemeClr val="dk1"/>
              </a:buClr>
              <a:buSzPts val="1500"/>
              <a:buChar char="•"/>
              <a:defRPr/>
            </a:lvl7pPr>
            <a:lvl8pPr indent="-323850" lvl="7" marL="3657600" algn="l">
              <a:lnSpc>
                <a:spcPct val="100000"/>
              </a:lnSpc>
              <a:spcBef>
                <a:spcPts val="300"/>
              </a:spcBef>
              <a:spcAft>
                <a:spcPts val="0"/>
              </a:spcAft>
              <a:buClr>
                <a:schemeClr val="dk1"/>
              </a:buClr>
              <a:buSzPts val="1500"/>
              <a:buChar char="•"/>
              <a:defRPr/>
            </a:lvl8pPr>
            <a:lvl9pPr indent="-323850" lvl="8" marL="4114800" algn="l">
              <a:lnSpc>
                <a:spcPct val="100000"/>
              </a:lnSpc>
              <a:spcBef>
                <a:spcPts val="300"/>
              </a:spcBef>
              <a:spcAft>
                <a:spcPts val="0"/>
              </a:spcAft>
              <a:buClr>
                <a:schemeClr val="dk1"/>
              </a:buClr>
              <a:buSzPts val="1500"/>
              <a:buChar char="•"/>
              <a:defRPr/>
            </a:lvl9pPr>
          </a:lstStyle>
          <a:p/>
        </p:txBody>
      </p:sp>
      <p:sp>
        <p:nvSpPr>
          <p:cNvPr id="91" name="Google Shape;91;p18"/>
          <p:cNvSpPr txBox="1"/>
          <p:nvPr>
            <p:ph idx="10" type="dt"/>
          </p:nvPr>
        </p:nvSpPr>
        <p:spPr>
          <a:xfrm>
            <a:off x="406400" y="4767263"/>
            <a:ext cx="1896600" cy="273900"/>
          </a:xfrm>
          <a:prstGeom prst="rect">
            <a:avLst/>
          </a:prstGeom>
          <a:noFill/>
          <a:ln>
            <a:noFill/>
          </a:ln>
        </p:spPr>
        <p:txBody>
          <a:bodyPr anchorCtr="0" anchor="ctr" bIns="38500" lIns="77025" spcFirstLastPara="1" rIns="77025" wrap="square" tIns="38500">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92" name="Google Shape;92;p18"/>
          <p:cNvSpPr txBox="1"/>
          <p:nvPr>
            <p:ph idx="11" type="ftr"/>
          </p:nvPr>
        </p:nvSpPr>
        <p:spPr>
          <a:xfrm>
            <a:off x="2777067" y="4767263"/>
            <a:ext cx="2574000" cy="273900"/>
          </a:xfrm>
          <a:prstGeom prst="rect">
            <a:avLst/>
          </a:prstGeom>
          <a:noFill/>
          <a:ln>
            <a:noFill/>
          </a:ln>
        </p:spPr>
        <p:txBody>
          <a:bodyPr anchorCtr="0" anchor="ctr" bIns="38500" lIns="77025" spcFirstLastPara="1" rIns="77025" wrap="square" tIns="38500">
            <a:noAutofit/>
          </a:bodyPr>
          <a:lstStyle>
            <a:lvl1pPr lvl="0" algn="ctr">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93" name="Google Shape;93;p18"/>
          <p:cNvSpPr txBox="1"/>
          <p:nvPr>
            <p:ph idx="12" type="sldNum"/>
          </p:nvPr>
        </p:nvSpPr>
        <p:spPr>
          <a:xfrm>
            <a:off x="5825067" y="4767263"/>
            <a:ext cx="1896600" cy="273900"/>
          </a:xfrm>
          <a:prstGeom prst="rect">
            <a:avLst/>
          </a:prstGeom>
          <a:noFill/>
          <a:ln>
            <a:noFill/>
          </a:ln>
        </p:spPr>
        <p:txBody>
          <a:bodyPr anchorCtr="0" anchor="ctr" bIns="38500" lIns="77025" spcFirstLastPara="1" rIns="77025" wrap="square" tIns="38500">
            <a:noAutofit/>
          </a:bodyPr>
          <a:lstStyle>
            <a:lvl1pPr indent="0" lvl="0"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4" name="Shape 94"/>
        <p:cNvGrpSpPr/>
        <p:nvPr/>
      </p:nvGrpSpPr>
      <p:grpSpPr>
        <a:xfrm>
          <a:off x="0" y="0"/>
          <a:ext cx="0" cy="0"/>
          <a:chOff x="0" y="0"/>
          <a:chExt cx="0" cy="0"/>
        </a:xfrm>
      </p:grpSpPr>
      <p:sp>
        <p:nvSpPr>
          <p:cNvPr id="95" name="Google Shape;95;p19"/>
          <p:cNvSpPr txBox="1"/>
          <p:nvPr>
            <p:ph type="title"/>
          </p:nvPr>
        </p:nvSpPr>
        <p:spPr>
          <a:xfrm rot="5400000">
            <a:off x="4612850" y="1485929"/>
            <a:ext cx="4388700" cy="1828800"/>
          </a:xfrm>
          <a:prstGeom prst="rect">
            <a:avLst/>
          </a:prstGeom>
          <a:noFill/>
          <a:ln>
            <a:noFill/>
          </a:ln>
        </p:spPr>
        <p:txBody>
          <a:bodyPr anchorCtr="0" anchor="ctr" bIns="38500" lIns="77025" spcFirstLastPara="1" rIns="77025" wrap="square" tIns="38500">
            <a:normAutofit/>
          </a:bodyPr>
          <a:lstStyle>
            <a:lvl1pPr lvl="0" algn="ctr">
              <a:lnSpc>
                <a:spcPct val="100000"/>
              </a:lnSpc>
              <a:spcBef>
                <a:spcPts val="0"/>
              </a:spcBef>
              <a:spcAft>
                <a:spcPts val="0"/>
              </a:spcAft>
              <a:buClr>
                <a:schemeClr val="dk1"/>
              </a:buClr>
              <a:buSzPts val="15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96" name="Google Shape;96;p19"/>
          <p:cNvSpPr txBox="1"/>
          <p:nvPr>
            <p:ph idx="1" type="body"/>
          </p:nvPr>
        </p:nvSpPr>
        <p:spPr>
          <a:xfrm rot="5400000">
            <a:off x="887583" y="-275071"/>
            <a:ext cx="4388700" cy="5350800"/>
          </a:xfrm>
          <a:prstGeom prst="rect">
            <a:avLst/>
          </a:prstGeom>
          <a:noFill/>
          <a:ln>
            <a:noFill/>
          </a:ln>
        </p:spPr>
        <p:txBody>
          <a:bodyPr anchorCtr="0" anchor="t" bIns="38500" lIns="77025" spcFirstLastPara="1" rIns="77025" wrap="square" tIns="38500">
            <a:normAutofit/>
          </a:bodyPr>
          <a:lstStyle>
            <a:lvl1pPr indent="-323850" lvl="0" marL="457200" algn="l">
              <a:lnSpc>
                <a:spcPct val="100000"/>
              </a:lnSpc>
              <a:spcBef>
                <a:spcPts val="300"/>
              </a:spcBef>
              <a:spcAft>
                <a:spcPts val="0"/>
              </a:spcAft>
              <a:buClr>
                <a:schemeClr val="dk1"/>
              </a:buClr>
              <a:buSzPts val="1500"/>
              <a:buChar char="•"/>
              <a:defRPr/>
            </a:lvl1pPr>
            <a:lvl2pPr indent="-323850" lvl="1" marL="914400" algn="l">
              <a:lnSpc>
                <a:spcPct val="100000"/>
              </a:lnSpc>
              <a:spcBef>
                <a:spcPts val="300"/>
              </a:spcBef>
              <a:spcAft>
                <a:spcPts val="0"/>
              </a:spcAft>
              <a:buClr>
                <a:schemeClr val="dk1"/>
              </a:buClr>
              <a:buSzPts val="1500"/>
              <a:buChar char="–"/>
              <a:defRPr/>
            </a:lvl2pPr>
            <a:lvl3pPr indent="-323850" lvl="2" marL="1371600" algn="l">
              <a:lnSpc>
                <a:spcPct val="100000"/>
              </a:lnSpc>
              <a:spcBef>
                <a:spcPts val="300"/>
              </a:spcBef>
              <a:spcAft>
                <a:spcPts val="0"/>
              </a:spcAft>
              <a:buClr>
                <a:schemeClr val="dk1"/>
              </a:buClr>
              <a:buSzPts val="1500"/>
              <a:buChar char="•"/>
              <a:defRPr/>
            </a:lvl3pPr>
            <a:lvl4pPr indent="-323850" lvl="3" marL="1828800" algn="l">
              <a:lnSpc>
                <a:spcPct val="100000"/>
              </a:lnSpc>
              <a:spcBef>
                <a:spcPts val="300"/>
              </a:spcBef>
              <a:spcAft>
                <a:spcPts val="0"/>
              </a:spcAft>
              <a:buClr>
                <a:schemeClr val="dk1"/>
              </a:buClr>
              <a:buSzPts val="1500"/>
              <a:buChar char="–"/>
              <a:defRPr/>
            </a:lvl4pPr>
            <a:lvl5pPr indent="-323850" lvl="4" marL="2286000" algn="l">
              <a:lnSpc>
                <a:spcPct val="100000"/>
              </a:lnSpc>
              <a:spcBef>
                <a:spcPts val="300"/>
              </a:spcBef>
              <a:spcAft>
                <a:spcPts val="0"/>
              </a:spcAft>
              <a:buClr>
                <a:schemeClr val="dk1"/>
              </a:buClr>
              <a:buSzPts val="1500"/>
              <a:buChar char="»"/>
              <a:defRPr/>
            </a:lvl5pPr>
            <a:lvl6pPr indent="-323850" lvl="5" marL="2743200" algn="l">
              <a:lnSpc>
                <a:spcPct val="100000"/>
              </a:lnSpc>
              <a:spcBef>
                <a:spcPts val="300"/>
              </a:spcBef>
              <a:spcAft>
                <a:spcPts val="0"/>
              </a:spcAft>
              <a:buClr>
                <a:schemeClr val="dk1"/>
              </a:buClr>
              <a:buSzPts val="1500"/>
              <a:buChar char="•"/>
              <a:defRPr/>
            </a:lvl6pPr>
            <a:lvl7pPr indent="-323850" lvl="6" marL="3200400" algn="l">
              <a:lnSpc>
                <a:spcPct val="100000"/>
              </a:lnSpc>
              <a:spcBef>
                <a:spcPts val="300"/>
              </a:spcBef>
              <a:spcAft>
                <a:spcPts val="0"/>
              </a:spcAft>
              <a:buClr>
                <a:schemeClr val="dk1"/>
              </a:buClr>
              <a:buSzPts val="1500"/>
              <a:buChar char="•"/>
              <a:defRPr/>
            </a:lvl7pPr>
            <a:lvl8pPr indent="-323850" lvl="7" marL="3657600" algn="l">
              <a:lnSpc>
                <a:spcPct val="100000"/>
              </a:lnSpc>
              <a:spcBef>
                <a:spcPts val="300"/>
              </a:spcBef>
              <a:spcAft>
                <a:spcPts val="0"/>
              </a:spcAft>
              <a:buClr>
                <a:schemeClr val="dk1"/>
              </a:buClr>
              <a:buSzPts val="1500"/>
              <a:buChar char="•"/>
              <a:defRPr/>
            </a:lvl8pPr>
            <a:lvl9pPr indent="-323850" lvl="8" marL="4114800" algn="l">
              <a:lnSpc>
                <a:spcPct val="100000"/>
              </a:lnSpc>
              <a:spcBef>
                <a:spcPts val="300"/>
              </a:spcBef>
              <a:spcAft>
                <a:spcPts val="0"/>
              </a:spcAft>
              <a:buClr>
                <a:schemeClr val="dk1"/>
              </a:buClr>
              <a:buSzPts val="1500"/>
              <a:buChar char="•"/>
              <a:defRPr/>
            </a:lvl9pPr>
          </a:lstStyle>
          <a:p/>
        </p:txBody>
      </p:sp>
      <p:sp>
        <p:nvSpPr>
          <p:cNvPr id="97" name="Google Shape;97;p19"/>
          <p:cNvSpPr txBox="1"/>
          <p:nvPr>
            <p:ph idx="10" type="dt"/>
          </p:nvPr>
        </p:nvSpPr>
        <p:spPr>
          <a:xfrm>
            <a:off x="406400" y="4767263"/>
            <a:ext cx="1896600" cy="273900"/>
          </a:xfrm>
          <a:prstGeom prst="rect">
            <a:avLst/>
          </a:prstGeom>
          <a:noFill/>
          <a:ln>
            <a:noFill/>
          </a:ln>
        </p:spPr>
        <p:txBody>
          <a:bodyPr anchorCtr="0" anchor="ctr" bIns="38500" lIns="77025" spcFirstLastPara="1" rIns="77025" wrap="square" tIns="38500">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98" name="Google Shape;98;p19"/>
          <p:cNvSpPr txBox="1"/>
          <p:nvPr>
            <p:ph idx="11" type="ftr"/>
          </p:nvPr>
        </p:nvSpPr>
        <p:spPr>
          <a:xfrm>
            <a:off x="2777067" y="4767263"/>
            <a:ext cx="2574000" cy="273900"/>
          </a:xfrm>
          <a:prstGeom prst="rect">
            <a:avLst/>
          </a:prstGeom>
          <a:noFill/>
          <a:ln>
            <a:noFill/>
          </a:ln>
        </p:spPr>
        <p:txBody>
          <a:bodyPr anchorCtr="0" anchor="ctr" bIns="38500" lIns="77025" spcFirstLastPara="1" rIns="77025" wrap="square" tIns="38500">
            <a:noAutofit/>
          </a:bodyPr>
          <a:lstStyle>
            <a:lvl1pPr lvl="0" algn="ctr">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99" name="Google Shape;99;p19"/>
          <p:cNvSpPr txBox="1"/>
          <p:nvPr>
            <p:ph idx="12" type="sldNum"/>
          </p:nvPr>
        </p:nvSpPr>
        <p:spPr>
          <a:xfrm>
            <a:off x="5825067" y="4767263"/>
            <a:ext cx="1896600" cy="273900"/>
          </a:xfrm>
          <a:prstGeom prst="rect">
            <a:avLst/>
          </a:prstGeom>
          <a:noFill/>
          <a:ln>
            <a:noFill/>
          </a:ln>
        </p:spPr>
        <p:txBody>
          <a:bodyPr anchorCtr="0" anchor="ctr" bIns="38500" lIns="77025" spcFirstLastPara="1" rIns="77025" wrap="square" tIns="38500">
            <a:noAutofit/>
          </a:bodyPr>
          <a:lstStyle>
            <a:lvl1pPr indent="0" lvl="0"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A Content">
  <p:cSld name="EA Content">
    <p:bg>
      <p:bgPr>
        <a:solidFill>
          <a:schemeClr val="lt2"/>
        </a:solidFill>
      </p:bgPr>
    </p:bg>
    <p:spTree>
      <p:nvGrpSpPr>
        <p:cNvPr id="102" name="Shape 102"/>
        <p:cNvGrpSpPr/>
        <p:nvPr/>
      </p:nvGrpSpPr>
      <p:grpSpPr>
        <a:xfrm>
          <a:off x="0" y="0"/>
          <a:ext cx="0" cy="0"/>
          <a:chOff x="0" y="0"/>
          <a:chExt cx="0" cy="0"/>
        </a:xfrm>
      </p:grpSpPr>
      <p:sp>
        <p:nvSpPr>
          <p:cNvPr id="103" name="Google Shape;103;p21"/>
          <p:cNvSpPr txBox="1"/>
          <p:nvPr/>
        </p:nvSpPr>
        <p:spPr>
          <a:xfrm>
            <a:off x="548640" y="6355080"/>
            <a:ext cx="45720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000"/>
              <a:buFont typeface="Raleway Light"/>
              <a:buNone/>
            </a:pPr>
            <a:r>
              <a:rPr b="0" i="0" lang="en-US" spc="0" sz="1000" u="none" cap="none" strike="noStrike">
                <a:solidFill>
                  <a:schemeClr val="dk1"/>
                </a:solidFill>
                <a:latin typeface="Raleway Light"/>
                <a:ea typeface="Raleway Light"/>
                <a:cs typeface="Raleway Light"/>
                <a:sym typeface="Raleway Light"/>
              </a:rPr>
              <a:t>Say what you really think.</a:t>
            </a:r>
            <a:endParaRPr b="0" i="0" spc="0" sz="1000" u="none" cap="none" strike="noStrike">
              <a:solidFill>
                <a:schemeClr val="dk1"/>
              </a:solidFill>
              <a:latin typeface="Raleway Light"/>
              <a:ea typeface="Raleway Light"/>
              <a:cs typeface="Raleway Light"/>
              <a:sym typeface="Raleway Light"/>
            </a:endParaRPr>
          </a:p>
        </p:txBody>
      </p:sp>
      <p:pic>
        <p:nvPicPr>
          <p:cNvPr descr="Entre Amis logo" id="104" name="Google Shape;104;p21"/>
          <p:cNvPicPr preferRelativeResize="0"/>
          <p:nvPr/>
        </p:nvPicPr>
        <p:blipFill rotWithShape="1">
          <a:blip r:embed="rId2">
            <a:alphaModFix/>
          </a:blip>
          <a:srcRect b="0" l="0" r="0" t="0"/>
          <a:stretch/>
        </p:blipFill>
        <p:spPr>
          <a:xfrm>
            <a:off x="10637215" y="6144768"/>
            <a:ext cx="1005840" cy="506229"/>
          </a:xfrm>
          <a:prstGeom prst="rect">
            <a:avLst/>
          </a:prstGeom>
          <a:noFill/>
          <a:ln>
            <a:noFill/>
          </a:ln>
        </p:spPr>
      </p:pic>
      <p:sp>
        <p:nvSpPr>
          <p:cNvPr id="105" name="Google Shape;105;p21"/>
          <p:cNvSpPr txBox="1"/>
          <p:nvPr>
            <p:ph type="title"/>
          </p:nvPr>
        </p:nvSpPr>
        <p:spPr>
          <a:xfrm>
            <a:off x="548640" y="411480"/>
            <a:ext cx="8138160" cy="6858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chemeClr val="dk1"/>
              </a:buClr>
              <a:buSzPts val="3600"/>
              <a:buFont typeface="Raleway Light"/>
              <a:buNone/>
              <a:defRPr b="0" i="0" spc="0" sz="3600" u="none" cap="none" strike="noStrike">
                <a:solidFill>
                  <a:schemeClr val="dk1"/>
                </a:solidFill>
                <a:latin typeface="Raleway Light"/>
                <a:ea typeface="Raleway Light"/>
                <a:cs typeface="Raleway Light"/>
                <a:sym typeface="Raleway Light"/>
              </a:defRPr>
            </a:lvl1pPr>
            <a:lvl2pPr lvl="1"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9pPr>
          </a:lstStyle>
          <a:p/>
        </p:txBody>
      </p:sp>
      <p:sp>
        <p:nvSpPr>
          <p:cNvPr id="106" name="Google Shape;106;p21"/>
          <p:cNvSpPr txBox="1"/>
          <p:nvPr>
            <p:ph idx="1" type="body"/>
          </p:nvPr>
        </p:nvSpPr>
        <p:spPr>
          <a:xfrm>
            <a:off x="548640" y="1115568"/>
            <a:ext cx="11094415" cy="41148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360"/>
              </a:spcBef>
              <a:spcAft>
                <a:spcPts val="0"/>
              </a:spcAft>
              <a:buClr>
                <a:schemeClr val="dk1"/>
              </a:buClr>
              <a:buSzPts val="1800"/>
              <a:buFont typeface="Arial"/>
              <a:buNone/>
              <a:defRPr b="0" i="0" spc="0" sz="1800" u="none" cap="none" strike="noStrike">
                <a:solidFill>
                  <a:schemeClr val="dk1"/>
                </a:solidFill>
                <a:latin typeface="Raleway Light"/>
                <a:ea typeface="Raleway Light"/>
                <a:cs typeface="Raleway Light"/>
                <a:sym typeface="Raleway Light"/>
              </a:defRPr>
            </a:lvl1pPr>
            <a:lvl2pPr indent="-406400" lvl="1" marL="914400" marR="0" rtl="0" algn="l">
              <a:lnSpc>
                <a:spcPct val="100000"/>
              </a:lnSpc>
              <a:spcBef>
                <a:spcPts val="560"/>
              </a:spcBef>
              <a:spcAft>
                <a:spcPts val="0"/>
              </a:spcAft>
              <a:buClr>
                <a:schemeClr val="dk1"/>
              </a:buClr>
              <a:buSzPts val="2800"/>
              <a:buFont typeface="Arial"/>
              <a:buChar char="–"/>
              <a:defRPr b="0" i="0" spc="0" sz="2800" u="none" cap="none" strike="noStrike">
                <a:solidFill>
                  <a:schemeClr val="dk1"/>
                </a:solidFill>
                <a:latin typeface="Raleway Light"/>
                <a:ea typeface="Raleway Light"/>
                <a:cs typeface="Raleway Light"/>
                <a:sym typeface="Raleway Light"/>
              </a:defRPr>
            </a:lvl2pPr>
            <a:lvl3pPr indent="-381000" lvl="2" marL="1371600" marR="0" rtl="0" algn="l">
              <a:lnSpc>
                <a:spcPct val="100000"/>
              </a:lnSpc>
              <a:spcBef>
                <a:spcPts val="480"/>
              </a:spcBef>
              <a:spcAft>
                <a:spcPts val="0"/>
              </a:spcAft>
              <a:buClr>
                <a:schemeClr val="dk1"/>
              </a:buClr>
              <a:buSzPts val="2400"/>
              <a:buFont typeface="Arial"/>
              <a:buChar char="•"/>
              <a:defRPr b="0" i="0" spc="0" sz="2400" u="none" cap="none" strike="noStrike">
                <a:solidFill>
                  <a:schemeClr val="dk1"/>
                </a:solidFill>
                <a:latin typeface="Raleway Light"/>
                <a:ea typeface="Raleway Light"/>
                <a:cs typeface="Raleway Light"/>
                <a:sym typeface="Raleway Light"/>
              </a:defRPr>
            </a:lvl3pPr>
            <a:lvl4pPr indent="-355600" lvl="3" marL="18288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Raleway Light"/>
                <a:ea typeface="Raleway Light"/>
                <a:cs typeface="Raleway Light"/>
                <a:sym typeface="Raleway Light"/>
              </a:defRPr>
            </a:lvl4pPr>
            <a:lvl5pPr indent="-355600" lvl="4" marL="22860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Raleway Light"/>
                <a:ea typeface="Raleway Light"/>
                <a:cs typeface="Raleway Light"/>
                <a:sym typeface="Raleway Light"/>
              </a:defRPr>
            </a:lvl5pPr>
            <a:lvl6pPr indent="-355600" lvl="5" marL="27432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Raleway Light"/>
                <a:ea typeface="Raleway Light"/>
                <a:cs typeface="Raleway Light"/>
                <a:sym typeface="Raleway Light"/>
              </a:defRPr>
            </a:lvl6pPr>
            <a:lvl7pPr indent="-355600" lvl="6" marL="32004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Raleway Light"/>
                <a:ea typeface="Raleway Light"/>
                <a:cs typeface="Raleway Light"/>
                <a:sym typeface="Raleway Light"/>
              </a:defRPr>
            </a:lvl7pPr>
            <a:lvl8pPr indent="-355600" lvl="7" marL="36576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Raleway Light"/>
                <a:ea typeface="Raleway Light"/>
                <a:cs typeface="Raleway Light"/>
                <a:sym typeface="Raleway Light"/>
              </a:defRPr>
            </a:lvl8pPr>
            <a:lvl9pPr indent="-355600" lvl="8" marL="41148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Raleway Light"/>
                <a:ea typeface="Raleway Light"/>
                <a:cs typeface="Raleway Light"/>
                <a:sym typeface="Raleway Light"/>
              </a:defRPr>
            </a:lvl9pPr>
          </a:lstStyle>
          <a:p/>
        </p:txBody>
      </p:sp>
      <p:sp>
        <p:nvSpPr>
          <p:cNvPr id="107" name="Google Shape;107;p21"/>
          <p:cNvSpPr txBox="1"/>
          <p:nvPr>
            <p:ph idx="12" type="sldNum"/>
          </p:nvPr>
        </p:nvSpPr>
        <p:spPr>
          <a:xfrm>
            <a:off x="10180015" y="6355080"/>
            <a:ext cx="365760" cy="27432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000"/>
              <a:buFont typeface="Arial"/>
              <a:buNone/>
              <a:defRPr b="0" i="0" spc="0" sz="1000" u="none" cap="none" strike="noStrike">
                <a:solidFill>
                  <a:schemeClr val="dk1"/>
                </a:solidFill>
                <a:latin typeface="Raleway Light"/>
                <a:ea typeface="Raleway Light"/>
                <a:cs typeface="Raleway Light"/>
                <a:sym typeface="Raleway Light"/>
              </a:defRPr>
            </a:lvl1pPr>
            <a:lvl2pPr indent="0" lvl="1" marL="0" marR="0" algn="l">
              <a:lnSpc>
                <a:spcPct val="100000"/>
              </a:lnSpc>
              <a:spcBef>
                <a:spcPts val="0"/>
              </a:spcBef>
              <a:spcAft>
                <a:spcPts val="0"/>
              </a:spcAft>
              <a:buClr>
                <a:srgbClr val="000000"/>
              </a:buClr>
              <a:buSzPts val="1000"/>
              <a:buFont typeface="Arial"/>
              <a:buNone/>
              <a:defRPr b="0" i="0" spc="0" sz="1000" u="none" cap="none" strike="noStrike">
                <a:solidFill>
                  <a:schemeClr val="dk1"/>
                </a:solidFill>
                <a:latin typeface="Raleway Light"/>
                <a:ea typeface="Raleway Light"/>
                <a:cs typeface="Raleway Light"/>
                <a:sym typeface="Raleway Light"/>
              </a:defRPr>
            </a:lvl2pPr>
            <a:lvl3pPr indent="0" lvl="2" marL="0" marR="0" algn="l">
              <a:lnSpc>
                <a:spcPct val="100000"/>
              </a:lnSpc>
              <a:spcBef>
                <a:spcPts val="0"/>
              </a:spcBef>
              <a:spcAft>
                <a:spcPts val="0"/>
              </a:spcAft>
              <a:buClr>
                <a:srgbClr val="000000"/>
              </a:buClr>
              <a:buSzPts val="1000"/>
              <a:buFont typeface="Arial"/>
              <a:buNone/>
              <a:defRPr b="0" i="0" spc="0" sz="1000" u="none" cap="none" strike="noStrike">
                <a:solidFill>
                  <a:schemeClr val="dk1"/>
                </a:solidFill>
                <a:latin typeface="Raleway Light"/>
                <a:ea typeface="Raleway Light"/>
                <a:cs typeface="Raleway Light"/>
                <a:sym typeface="Raleway Light"/>
              </a:defRPr>
            </a:lvl3pPr>
            <a:lvl4pPr indent="0" lvl="3" marL="0" marR="0" algn="l">
              <a:lnSpc>
                <a:spcPct val="100000"/>
              </a:lnSpc>
              <a:spcBef>
                <a:spcPts val="0"/>
              </a:spcBef>
              <a:spcAft>
                <a:spcPts val="0"/>
              </a:spcAft>
              <a:buClr>
                <a:srgbClr val="000000"/>
              </a:buClr>
              <a:buSzPts val="1000"/>
              <a:buFont typeface="Arial"/>
              <a:buNone/>
              <a:defRPr b="0" i="0" spc="0" sz="1000" u="none" cap="none" strike="noStrike">
                <a:solidFill>
                  <a:schemeClr val="dk1"/>
                </a:solidFill>
                <a:latin typeface="Raleway Light"/>
                <a:ea typeface="Raleway Light"/>
                <a:cs typeface="Raleway Light"/>
                <a:sym typeface="Raleway Light"/>
              </a:defRPr>
            </a:lvl4pPr>
            <a:lvl5pPr indent="0" lvl="4" marL="0" marR="0" algn="l">
              <a:lnSpc>
                <a:spcPct val="100000"/>
              </a:lnSpc>
              <a:spcBef>
                <a:spcPts val="0"/>
              </a:spcBef>
              <a:spcAft>
                <a:spcPts val="0"/>
              </a:spcAft>
              <a:buClr>
                <a:srgbClr val="000000"/>
              </a:buClr>
              <a:buSzPts val="1000"/>
              <a:buFont typeface="Arial"/>
              <a:buNone/>
              <a:defRPr b="0" i="0" spc="0" sz="1000" u="none" cap="none" strike="noStrike">
                <a:solidFill>
                  <a:schemeClr val="dk1"/>
                </a:solidFill>
                <a:latin typeface="Raleway Light"/>
                <a:ea typeface="Raleway Light"/>
                <a:cs typeface="Raleway Light"/>
                <a:sym typeface="Raleway Light"/>
              </a:defRPr>
            </a:lvl5pPr>
            <a:lvl6pPr indent="0" lvl="5" marL="0" marR="0" algn="l">
              <a:lnSpc>
                <a:spcPct val="100000"/>
              </a:lnSpc>
              <a:spcBef>
                <a:spcPts val="0"/>
              </a:spcBef>
              <a:spcAft>
                <a:spcPts val="0"/>
              </a:spcAft>
              <a:buClr>
                <a:srgbClr val="000000"/>
              </a:buClr>
              <a:buSzPts val="1000"/>
              <a:buFont typeface="Arial"/>
              <a:buNone/>
              <a:defRPr b="0" i="0" spc="0" sz="1000" u="none" cap="none" strike="noStrike">
                <a:solidFill>
                  <a:schemeClr val="dk1"/>
                </a:solidFill>
                <a:latin typeface="Raleway Light"/>
                <a:ea typeface="Raleway Light"/>
                <a:cs typeface="Raleway Light"/>
                <a:sym typeface="Raleway Light"/>
              </a:defRPr>
            </a:lvl6pPr>
            <a:lvl7pPr indent="0" lvl="6" marL="0" marR="0" algn="l">
              <a:lnSpc>
                <a:spcPct val="100000"/>
              </a:lnSpc>
              <a:spcBef>
                <a:spcPts val="0"/>
              </a:spcBef>
              <a:spcAft>
                <a:spcPts val="0"/>
              </a:spcAft>
              <a:buClr>
                <a:srgbClr val="000000"/>
              </a:buClr>
              <a:buSzPts val="1000"/>
              <a:buFont typeface="Arial"/>
              <a:buNone/>
              <a:defRPr b="0" i="0" spc="0" sz="1000" u="none" cap="none" strike="noStrike">
                <a:solidFill>
                  <a:schemeClr val="dk1"/>
                </a:solidFill>
                <a:latin typeface="Raleway Light"/>
                <a:ea typeface="Raleway Light"/>
                <a:cs typeface="Raleway Light"/>
                <a:sym typeface="Raleway Light"/>
              </a:defRPr>
            </a:lvl7pPr>
            <a:lvl8pPr indent="0" lvl="7" marL="0" marR="0" algn="l">
              <a:lnSpc>
                <a:spcPct val="100000"/>
              </a:lnSpc>
              <a:spcBef>
                <a:spcPts val="0"/>
              </a:spcBef>
              <a:spcAft>
                <a:spcPts val="0"/>
              </a:spcAft>
              <a:buClr>
                <a:srgbClr val="000000"/>
              </a:buClr>
              <a:buSzPts val="1000"/>
              <a:buFont typeface="Arial"/>
              <a:buNone/>
              <a:defRPr b="0" i="0" spc="0" sz="1000" u="none" cap="none" strike="noStrike">
                <a:solidFill>
                  <a:schemeClr val="dk1"/>
                </a:solidFill>
                <a:latin typeface="Raleway Light"/>
                <a:ea typeface="Raleway Light"/>
                <a:cs typeface="Raleway Light"/>
                <a:sym typeface="Raleway Light"/>
              </a:defRPr>
            </a:lvl8pPr>
            <a:lvl9pPr indent="0" lvl="8" marL="0" marR="0" algn="l">
              <a:lnSpc>
                <a:spcPct val="100000"/>
              </a:lnSpc>
              <a:spcBef>
                <a:spcPts val="0"/>
              </a:spcBef>
              <a:spcAft>
                <a:spcPts val="0"/>
              </a:spcAft>
              <a:buClr>
                <a:srgbClr val="000000"/>
              </a:buClr>
              <a:buSzPts val="1000"/>
              <a:buFont typeface="Arial"/>
              <a:buNone/>
              <a:defRPr b="0" i="0" spc="0" sz="1000" u="none" cap="none" strike="noStrike">
                <a:solidFill>
                  <a:schemeClr val="dk1"/>
                </a:solidFill>
                <a:latin typeface="Raleway Light"/>
                <a:ea typeface="Raleway Light"/>
                <a:cs typeface="Raleway Light"/>
                <a:sym typeface="Raleway Light"/>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A Cover">
  <p:cSld name="EA Cover">
    <p:bg>
      <p:bgPr>
        <a:solidFill>
          <a:schemeClr val="lt2"/>
        </a:solidFill>
      </p:bgPr>
    </p:bg>
    <p:spTree>
      <p:nvGrpSpPr>
        <p:cNvPr id="108" name="Shape 108"/>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9" name="Shape 109"/>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A Content">
  <p:cSld name="EA Content">
    <p:bg>
      <p:bgPr>
        <a:solidFill>
          <a:schemeClr val="lt2"/>
        </a:solidFill>
      </p:bgPr>
    </p:bg>
    <p:spTree>
      <p:nvGrpSpPr>
        <p:cNvPr id="112" name="Shape 112"/>
        <p:cNvGrpSpPr/>
        <p:nvPr/>
      </p:nvGrpSpPr>
      <p:grpSpPr>
        <a:xfrm>
          <a:off x="0" y="0"/>
          <a:ext cx="0" cy="0"/>
          <a:chOff x="0" y="0"/>
          <a:chExt cx="0" cy="0"/>
        </a:xfrm>
      </p:grpSpPr>
      <p:sp>
        <p:nvSpPr>
          <p:cNvPr id="113" name="Google Shape;113;p25"/>
          <p:cNvSpPr txBox="1"/>
          <p:nvPr/>
        </p:nvSpPr>
        <p:spPr>
          <a:xfrm>
            <a:off x="548640" y="6355080"/>
            <a:ext cx="45720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000"/>
              <a:buFont typeface="Raleway Light"/>
              <a:buNone/>
            </a:pPr>
            <a:r>
              <a:rPr b="0" i="0" lang="en-US" spc="0" sz="1000" u="none" cap="none" strike="noStrike">
                <a:solidFill>
                  <a:schemeClr val="dk1"/>
                </a:solidFill>
                <a:latin typeface="Raleway Light"/>
                <a:ea typeface="Raleway Light"/>
                <a:cs typeface="Raleway Light"/>
                <a:sym typeface="Raleway Light"/>
              </a:rPr>
              <a:t>Say what you really think.</a:t>
            </a:r>
            <a:endParaRPr b="0" i="0" spc="0" sz="1000" u="none" cap="none" strike="noStrike">
              <a:solidFill>
                <a:schemeClr val="dk1"/>
              </a:solidFill>
              <a:latin typeface="Raleway Light"/>
              <a:ea typeface="Raleway Light"/>
              <a:cs typeface="Raleway Light"/>
              <a:sym typeface="Raleway Light"/>
            </a:endParaRPr>
          </a:p>
        </p:txBody>
      </p:sp>
      <p:pic>
        <p:nvPicPr>
          <p:cNvPr descr="Entre Amis logo" id="114" name="Google Shape;114;p25"/>
          <p:cNvPicPr preferRelativeResize="0"/>
          <p:nvPr/>
        </p:nvPicPr>
        <p:blipFill rotWithShape="1">
          <a:blip r:embed="rId2">
            <a:alphaModFix/>
          </a:blip>
          <a:srcRect b="0" l="0" r="0" t="0"/>
          <a:stretch/>
        </p:blipFill>
        <p:spPr>
          <a:xfrm>
            <a:off x="10637215" y="6144768"/>
            <a:ext cx="1005840" cy="506229"/>
          </a:xfrm>
          <a:prstGeom prst="rect">
            <a:avLst/>
          </a:prstGeom>
          <a:noFill/>
          <a:ln>
            <a:noFill/>
          </a:ln>
        </p:spPr>
      </p:pic>
      <p:sp>
        <p:nvSpPr>
          <p:cNvPr id="115" name="Google Shape;115;p25"/>
          <p:cNvSpPr txBox="1"/>
          <p:nvPr>
            <p:ph type="title"/>
          </p:nvPr>
        </p:nvSpPr>
        <p:spPr>
          <a:xfrm>
            <a:off x="548640" y="411480"/>
            <a:ext cx="8138160" cy="6858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chemeClr val="dk1"/>
              </a:buClr>
              <a:buSzPts val="3600"/>
              <a:buFont typeface="Raleway Light"/>
              <a:buNone/>
              <a:defRPr b="0" i="0" spc="0" sz="3600" u="none" cap="none" strike="noStrike">
                <a:solidFill>
                  <a:schemeClr val="dk1"/>
                </a:solidFill>
                <a:latin typeface="Raleway Light"/>
                <a:ea typeface="Raleway Light"/>
                <a:cs typeface="Raleway Light"/>
                <a:sym typeface="Raleway Light"/>
              </a:defRPr>
            </a:lvl1pPr>
            <a:lvl2pPr lvl="1"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9pPr>
          </a:lstStyle>
          <a:p/>
        </p:txBody>
      </p:sp>
      <p:sp>
        <p:nvSpPr>
          <p:cNvPr id="116" name="Google Shape;116;p25"/>
          <p:cNvSpPr txBox="1"/>
          <p:nvPr>
            <p:ph idx="1" type="body"/>
          </p:nvPr>
        </p:nvSpPr>
        <p:spPr>
          <a:xfrm>
            <a:off x="548640" y="1115568"/>
            <a:ext cx="11094415" cy="41148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360"/>
              </a:spcBef>
              <a:spcAft>
                <a:spcPts val="0"/>
              </a:spcAft>
              <a:buClr>
                <a:schemeClr val="dk1"/>
              </a:buClr>
              <a:buSzPts val="1800"/>
              <a:buFont typeface="Arial"/>
              <a:buNone/>
              <a:defRPr b="0" i="0" spc="0" sz="1800" u="none" cap="none" strike="noStrike">
                <a:solidFill>
                  <a:schemeClr val="dk1"/>
                </a:solidFill>
                <a:latin typeface="Raleway Light"/>
                <a:ea typeface="Raleway Light"/>
                <a:cs typeface="Raleway Light"/>
                <a:sym typeface="Raleway Light"/>
              </a:defRPr>
            </a:lvl1pPr>
            <a:lvl2pPr indent="-406400" lvl="1" marL="914400" marR="0" rtl="0" algn="l">
              <a:lnSpc>
                <a:spcPct val="100000"/>
              </a:lnSpc>
              <a:spcBef>
                <a:spcPts val="560"/>
              </a:spcBef>
              <a:spcAft>
                <a:spcPts val="0"/>
              </a:spcAft>
              <a:buClr>
                <a:schemeClr val="dk1"/>
              </a:buClr>
              <a:buSzPts val="2800"/>
              <a:buFont typeface="Arial"/>
              <a:buChar char="–"/>
              <a:defRPr b="0" i="0" spc="0" sz="2800" u="none" cap="none" strike="noStrike">
                <a:solidFill>
                  <a:schemeClr val="dk1"/>
                </a:solidFill>
                <a:latin typeface="Raleway Light"/>
                <a:ea typeface="Raleway Light"/>
                <a:cs typeface="Raleway Light"/>
                <a:sym typeface="Raleway Light"/>
              </a:defRPr>
            </a:lvl2pPr>
            <a:lvl3pPr indent="-381000" lvl="2" marL="1371600" marR="0" rtl="0" algn="l">
              <a:lnSpc>
                <a:spcPct val="100000"/>
              </a:lnSpc>
              <a:spcBef>
                <a:spcPts val="480"/>
              </a:spcBef>
              <a:spcAft>
                <a:spcPts val="0"/>
              </a:spcAft>
              <a:buClr>
                <a:schemeClr val="dk1"/>
              </a:buClr>
              <a:buSzPts val="2400"/>
              <a:buFont typeface="Arial"/>
              <a:buChar char="•"/>
              <a:defRPr b="0" i="0" spc="0" sz="2400" u="none" cap="none" strike="noStrike">
                <a:solidFill>
                  <a:schemeClr val="dk1"/>
                </a:solidFill>
                <a:latin typeface="Raleway Light"/>
                <a:ea typeface="Raleway Light"/>
                <a:cs typeface="Raleway Light"/>
                <a:sym typeface="Raleway Light"/>
              </a:defRPr>
            </a:lvl3pPr>
            <a:lvl4pPr indent="-355600" lvl="3" marL="18288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Raleway Light"/>
                <a:ea typeface="Raleway Light"/>
                <a:cs typeface="Raleway Light"/>
                <a:sym typeface="Raleway Light"/>
              </a:defRPr>
            </a:lvl4pPr>
            <a:lvl5pPr indent="-355600" lvl="4" marL="22860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Raleway Light"/>
                <a:ea typeface="Raleway Light"/>
                <a:cs typeface="Raleway Light"/>
                <a:sym typeface="Raleway Light"/>
              </a:defRPr>
            </a:lvl5pPr>
            <a:lvl6pPr indent="-355600" lvl="5" marL="27432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Raleway Light"/>
                <a:ea typeface="Raleway Light"/>
                <a:cs typeface="Raleway Light"/>
                <a:sym typeface="Raleway Light"/>
              </a:defRPr>
            </a:lvl6pPr>
            <a:lvl7pPr indent="-355600" lvl="6" marL="32004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Raleway Light"/>
                <a:ea typeface="Raleway Light"/>
                <a:cs typeface="Raleway Light"/>
                <a:sym typeface="Raleway Light"/>
              </a:defRPr>
            </a:lvl7pPr>
            <a:lvl8pPr indent="-355600" lvl="7" marL="36576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Raleway Light"/>
                <a:ea typeface="Raleway Light"/>
                <a:cs typeface="Raleway Light"/>
                <a:sym typeface="Raleway Light"/>
              </a:defRPr>
            </a:lvl8pPr>
            <a:lvl9pPr indent="-355600" lvl="8" marL="41148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Raleway Light"/>
                <a:ea typeface="Raleway Light"/>
                <a:cs typeface="Raleway Light"/>
                <a:sym typeface="Raleway Light"/>
              </a:defRPr>
            </a:lvl9pPr>
          </a:lstStyle>
          <a:p/>
        </p:txBody>
      </p:sp>
      <p:sp>
        <p:nvSpPr>
          <p:cNvPr id="117" name="Google Shape;117;p25"/>
          <p:cNvSpPr txBox="1"/>
          <p:nvPr>
            <p:ph idx="12" type="sldNum"/>
          </p:nvPr>
        </p:nvSpPr>
        <p:spPr>
          <a:xfrm>
            <a:off x="11094415" y="457200"/>
            <a:ext cx="548640" cy="27432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pc="0" sz="1200" u="none" cap="none" strike="noStrike">
                <a:solidFill>
                  <a:schemeClr val="dk1"/>
                </a:solidFill>
                <a:latin typeface="Raleway Light"/>
                <a:ea typeface="Raleway Light"/>
                <a:cs typeface="Raleway Light"/>
                <a:sym typeface="Raleway Light"/>
              </a:defRPr>
            </a:lvl1pPr>
            <a:lvl2pPr indent="0" lvl="1" marL="0" marR="0" algn="r">
              <a:lnSpc>
                <a:spcPct val="100000"/>
              </a:lnSpc>
              <a:spcBef>
                <a:spcPts val="0"/>
              </a:spcBef>
              <a:spcAft>
                <a:spcPts val="0"/>
              </a:spcAft>
              <a:buClr>
                <a:srgbClr val="000000"/>
              </a:buClr>
              <a:buSzPts val="1200"/>
              <a:buFont typeface="Arial"/>
              <a:buNone/>
              <a:defRPr b="0" i="0" spc="0" sz="1200" u="none" cap="none" strike="noStrike">
                <a:solidFill>
                  <a:schemeClr val="dk1"/>
                </a:solidFill>
                <a:latin typeface="Raleway Light"/>
                <a:ea typeface="Raleway Light"/>
                <a:cs typeface="Raleway Light"/>
                <a:sym typeface="Raleway Light"/>
              </a:defRPr>
            </a:lvl2pPr>
            <a:lvl3pPr indent="0" lvl="2" marL="0" marR="0" algn="r">
              <a:lnSpc>
                <a:spcPct val="100000"/>
              </a:lnSpc>
              <a:spcBef>
                <a:spcPts val="0"/>
              </a:spcBef>
              <a:spcAft>
                <a:spcPts val="0"/>
              </a:spcAft>
              <a:buClr>
                <a:srgbClr val="000000"/>
              </a:buClr>
              <a:buSzPts val="1200"/>
              <a:buFont typeface="Arial"/>
              <a:buNone/>
              <a:defRPr b="0" i="0" spc="0" sz="1200" u="none" cap="none" strike="noStrike">
                <a:solidFill>
                  <a:schemeClr val="dk1"/>
                </a:solidFill>
                <a:latin typeface="Raleway Light"/>
                <a:ea typeface="Raleway Light"/>
                <a:cs typeface="Raleway Light"/>
                <a:sym typeface="Raleway Light"/>
              </a:defRPr>
            </a:lvl3pPr>
            <a:lvl4pPr indent="0" lvl="3" marL="0" marR="0" algn="r">
              <a:lnSpc>
                <a:spcPct val="100000"/>
              </a:lnSpc>
              <a:spcBef>
                <a:spcPts val="0"/>
              </a:spcBef>
              <a:spcAft>
                <a:spcPts val="0"/>
              </a:spcAft>
              <a:buClr>
                <a:srgbClr val="000000"/>
              </a:buClr>
              <a:buSzPts val="1200"/>
              <a:buFont typeface="Arial"/>
              <a:buNone/>
              <a:defRPr b="0" i="0" spc="0" sz="1200" u="none" cap="none" strike="noStrike">
                <a:solidFill>
                  <a:schemeClr val="dk1"/>
                </a:solidFill>
                <a:latin typeface="Raleway Light"/>
                <a:ea typeface="Raleway Light"/>
                <a:cs typeface="Raleway Light"/>
                <a:sym typeface="Raleway Light"/>
              </a:defRPr>
            </a:lvl4pPr>
            <a:lvl5pPr indent="0" lvl="4" marL="0" marR="0" algn="r">
              <a:lnSpc>
                <a:spcPct val="100000"/>
              </a:lnSpc>
              <a:spcBef>
                <a:spcPts val="0"/>
              </a:spcBef>
              <a:spcAft>
                <a:spcPts val="0"/>
              </a:spcAft>
              <a:buClr>
                <a:srgbClr val="000000"/>
              </a:buClr>
              <a:buSzPts val="1200"/>
              <a:buFont typeface="Arial"/>
              <a:buNone/>
              <a:defRPr b="0" i="0" spc="0" sz="1200" u="none" cap="none" strike="noStrike">
                <a:solidFill>
                  <a:schemeClr val="dk1"/>
                </a:solidFill>
                <a:latin typeface="Raleway Light"/>
                <a:ea typeface="Raleway Light"/>
                <a:cs typeface="Raleway Light"/>
                <a:sym typeface="Raleway Light"/>
              </a:defRPr>
            </a:lvl5pPr>
            <a:lvl6pPr indent="0" lvl="5" marL="0" marR="0" algn="r">
              <a:lnSpc>
                <a:spcPct val="100000"/>
              </a:lnSpc>
              <a:spcBef>
                <a:spcPts val="0"/>
              </a:spcBef>
              <a:spcAft>
                <a:spcPts val="0"/>
              </a:spcAft>
              <a:buClr>
                <a:srgbClr val="000000"/>
              </a:buClr>
              <a:buSzPts val="1200"/>
              <a:buFont typeface="Arial"/>
              <a:buNone/>
              <a:defRPr b="0" i="0" spc="0" sz="1200" u="none" cap="none" strike="noStrike">
                <a:solidFill>
                  <a:schemeClr val="dk1"/>
                </a:solidFill>
                <a:latin typeface="Raleway Light"/>
                <a:ea typeface="Raleway Light"/>
                <a:cs typeface="Raleway Light"/>
                <a:sym typeface="Raleway Light"/>
              </a:defRPr>
            </a:lvl6pPr>
            <a:lvl7pPr indent="0" lvl="6" marL="0" marR="0" algn="r">
              <a:lnSpc>
                <a:spcPct val="100000"/>
              </a:lnSpc>
              <a:spcBef>
                <a:spcPts val="0"/>
              </a:spcBef>
              <a:spcAft>
                <a:spcPts val="0"/>
              </a:spcAft>
              <a:buClr>
                <a:srgbClr val="000000"/>
              </a:buClr>
              <a:buSzPts val="1200"/>
              <a:buFont typeface="Arial"/>
              <a:buNone/>
              <a:defRPr b="0" i="0" spc="0" sz="1200" u="none" cap="none" strike="noStrike">
                <a:solidFill>
                  <a:schemeClr val="dk1"/>
                </a:solidFill>
                <a:latin typeface="Raleway Light"/>
                <a:ea typeface="Raleway Light"/>
                <a:cs typeface="Raleway Light"/>
                <a:sym typeface="Raleway Light"/>
              </a:defRPr>
            </a:lvl7pPr>
            <a:lvl8pPr indent="0" lvl="7" marL="0" marR="0" algn="r">
              <a:lnSpc>
                <a:spcPct val="100000"/>
              </a:lnSpc>
              <a:spcBef>
                <a:spcPts val="0"/>
              </a:spcBef>
              <a:spcAft>
                <a:spcPts val="0"/>
              </a:spcAft>
              <a:buClr>
                <a:srgbClr val="000000"/>
              </a:buClr>
              <a:buSzPts val="1200"/>
              <a:buFont typeface="Arial"/>
              <a:buNone/>
              <a:defRPr b="0" i="0" spc="0" sz="1200" u="none" cap="none" strike="noStrike">
                <a:solidFill>
                  <a:schemeClr val="dk1"/>
                </a:solidFill>
                <a:latin typeface="Raleway Light"/>
                <a:ea typeface="Raleway Light"/>
                <a:cs typeface="Raleway Light"/>
                <a:sym typeface="Raleway Light"/>
              </a:defRPr>
            </a:lvl8pPr>
            <a:lvl9pPr indent="0" lvl="8" marL="0" marR="0" algn="r">
              <a:lnSpc>
                <a:spcPct val="100000"/>
              </a:lnSpc>
              <a:spcBef>
                <a:spcPts val="0"/>
              </a:spcBef>
              <a:spcAft>
                <a:spcPts val="0"/>
              </a:spcAft>
              <a:buClr>
                <a:srgbClr val="000000"/>
              </a:buClr>
              <a:buSzPts val="1200"/>
              <a:buFont typeface="Arial"/>
              <a:buNone/>
              <a:defRPr b="0" i="0" spc="0" sz="1200" u="none" cap="none" strike="noStrike">
                <a:solidFill>
                  <a:schemeClr val="dk1"/>
                </a:solidFill>
                <a:latin typeface="Raleway Light"/>
                <a:ea typeface="Raleway Light"/>
                <a:cs typeface="Raleway Light"/>
                <a:sym typeface="Raleway Ligh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A Cover">
  <p:cSld name="EA Cover">
    <p:bg>
      <p:bgPr>
        <a:solidFill>
          <a:schemeClr val="lt2"/>
        </a:solidFill>
      </p:bgPr>
    </p:bg>
    <p:spTree>
      <p:nvGrpSpPr>
        <p:cNvPr id="118" name="Shape 118"/>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19" name="Shape 119"/>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A Content">
  <p:cSld name="EA Content">
    <p:bg>
      <p:bgPr>
        <a:solidFill>
          <a:schemeClr val="lt2"/>
        </a:solidFill>
      </p:bgPr>
    </p:bg>
    <p:spTree>
      <p:nvGrpSpPr>
        <p:cNvPr id="122" name="Shape 122"/>
        <p:cNvGrpSpPr/>
        <p:nvPr/>
      </p:nvGrpSpPr>
      <p:grpSpPr>
        <a:xfrm>
          <a:off x="0" y="0"/>
          <a:ext cx="0" cy="0"/>
          <a:chOff x="0" y="0"/>
          <a:chExt cx="0" cy="0"/>
        </a:xfrm>
      </p:grpSpPr>
      <p:sp>
        <p:nvSpPr>
          <p:cNvPr id="123" name="Google Shape;123;p29"/>
          <p:cNvSpPr txBox="1"/>
          <p:nvPr/>
        </p:nvSpPr>
        <p:spPr>
          <a:xfrm>
            <a:off x="548640" y="6355080"/>
            <a:ext cx="45720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000"/>
              <a:buFont typeface="Raleway Light"/>
              <a:buNone/>
            </a:pPr>
            <a:r>
              <a:rPr b="0" i="0" lang="en-US" spc="0" sz="1000" u="none" cap="none" strike="noStrike">
                <a:solidFill>
                  <a:schemeClr val="dk1"/>
                </a:solidFill>
                <a:latin typeface="Raleway Light"/>
                <a:ea typeface="Raleway Light"/>
                <a:cs typeface="Raleway Light"/>
                <a:sym typeface="Raleway Light"/>
              </a:rPr>
              <a:t>Say what you really think.</a:t>
            </a:r>
            <a:endParaRPr b="0" i="0" spc="0" sz="1000" u="none" cap="none" strike="noStrike">
              <a:solidFill>
                <a:schemeClr val="dk1"/>
              </a:solidFill>
              <a:latin typeface="Raleway Light"/>
              <a:ea typeface="Raleway Light"/>
              <a:cs typeface="Raleway Light"/>
              <a:sym typeface="Raleway Light"/>
            </a:endParaRPr>
          </a:p>
        </p:txBody>
      </p:sp>
      <p:pic>
        <p:nvPicPr>
          <p:cNvPr descr="Entre Amis logo" id="124" name="Google Shape;124;p29"/>
          <p:cNvPicPr preferRelativeResize="0"/>
          <p:nvPr/>
        </p:nvPicPr>
        <p:blipFill rotWithShape="1">
          <a:blip r:embed="rId2">
            <a:alphaModFix/>
          </a:blip>
          <a:srcRect b="0" l="0" r="0" t="0"/>
          <a:stretch/>
        </p:blipFill>
        <p:spPr>
          <a:xfrm>
            <a:off x="10637215" y="6144768"/>
            <a:ext cx="1005840" cy="506229"/>
          </a:xfrm>
          <a:prstGeom prst="rect">
            <a:avLst/>
          </a:prstGeom>
          <a:noFill/>
          <a:ln>
            <a:noFill/>
          </a:ln>
        </p:spPr>
      </p:pic>
      <p:sp>
        <p:nvSpPr>
          <p:cNvPr id="125" name="Google Shape;125;p29"/>
          <p:cNvSpPr txBox="1"/>
          <p:nvPr>
            <p:ph type="title"/>
          </p:nvPr>
        </p:nvSpPr>
        <p:spPr>
          <a:xfrm>
            <a:off x="548640" y="411480"/>
            <a:ext cx="8138100" cy="6858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chemeClr val="dk1"/>
              </a:buClr>
              <a:buSzPts val="3600"/>
              <a:buFont typeface="Raleway Light"/>
              <a:buNone/>
              <a:defRPr b="0" i="0" spc="0" sz="3600" u="none" cap="none" strike="noStrike">
                <a:solidFill>
                  <a:schemeClr val="dk1"/>
                </a:solidFill>
                <a:latin typeface="Raleway Light"/>
                <a:ea typeface="Raleway Light"/>
                <a:cs typeface="Raleway Light"/>
                <a:sym typeface="Raleway Light"/>
              </a:defRPr>
            </a:lvl1pPr>
            <a:lvl2pPr lvl="1"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pc="0" sz="1800" u="none" cap="none" strike="noStrike">
                <a:solidFill>
                  <a:srgbClr val="000000"/>
                </a:solidFill>
                <a:latin typeface="Arial"/>
                <a:ea typeface="Arial"/>
                <a:cs typeface="Arial"/>
                <a:sym typeface="Arial"/>
              </a:defRPr>
            </a:lvl9pPr>
          </a:lstStyle>
          <a:p/>
        </p:txBody>
      </p:sp>
      <p:sp>
        <p:nvSpPr>
          <p:cNvPr id="126" name="Google Shape;126;p29"/>
          <p:cNvSpPr txBox="1"/>
          <p:nvPr>
            <p:ph idx="1" type="body"/>
          </p:nvPr>
        </p:nvSpPr>
        <p:spPr>
          <a:xfrm>
            <a:off x="548640" y="1115568"/>
            <a:ext cx="11094300" cy="4116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360"/>
              </a:spcBef>
              <a:spcAft>
                <a:spcPts val="0"/>
              </a:spcAft>
              <a:buClr>
                <a:schemeClr val="dk1"/>
              </a:buClr>
              <a:buSzPts val="1800"/>
              <a:buFont typeface="Arial"/>
              <a:buNone/>
              <a:defRPr b="0" i="0" spc="0" sz="1800" u="none" cap="none" strike="noStrike">
                <a:solidFill>
                  <a:schemeClr val="dk1"/>
                </a:solidFill>
                <a:latin typeface="Raleway Light"/>
                <a:ea typeface="Raleway Light"/>
                <a:cs typeface="Raleway Light"/>
                <a:sym typeface="Raleway Light"/>
              </a:defRPr>
            </a:lvl1pPr>
            <a:lvl2pPr indent="-406400" lvl="1" marL="914400" marR="0" rtl="0" algn="l">
              <a:lnSpc>
                <a:spcPct val="100000"/>
              </a:lnSpc>
              <a:spcBef>
                <a:spcPts val="560"/>
              </a:spcBef>
              <a:spcAft>
                <a:spcPts val="0"/>
              </a:spcAft>
              <a:buClr>
                <a:schemeClr val="dk1"/>
              </a:buClr>
              <a:buSzPts val="2800"/>
              <a:buFont typeface="Arial"/>
              <a:buChar char="–"/>
              <a:defRPr b="0" i="0" spc="0" sz="2800" u="none" cap="none" strike="noStrike">
                <a:solidFill>
                  <a:schemeClr val="dk1"/>
                </a:solidFill>
                <a:latin typeface="Raleway Light"/>
                <a:ea typeface="Raleway Light"/>
                <a:cs typeface="Raleway Light"/>
                <a:sym typeface="Raleway Light"/>
              </a:defRPr>
            </a:lvl2pPr>
            <a:lvl3pPr indent="-381000" lvl="2" marL="1371600" marR="0" rtl="0" algn="l">
              <a:lnSpc>
                <a:spcPct val="100000"/>
              </a:lnSpc>
              <a:spcBef>
                <a:spcPts val="480"/>
              </a:spcBef>
              <a:spcAft>
                <a:spcPts val="0"/>
              </a:spcAft>
              <a:buClr>
                <a:schemeClr val="dk1"/>
              </a:buClr>
              <a:buSzPts val="2400"/>
              <a:buFont typeface="Arial"/>
              <a:buChar char="•"/>
              <a:defRPr b="0" i="0" spc="0" sz="2400" u="none" cap="none" strike="noStrike">
                <a:solidFill>
                  <a:schemeClr val="dk1"/>
                </a:solidFill>
                <a:latin typeface="Raleway Light"/>
                <a:ea typeface="Raleway Light"/>
                <a:cs typeface="Raleway Light"/>
                <a:sym typeface="Raleway Light"/>
              </a:defRPr>
            </a:lvl3pPr>
            <a:lvl4pPr indent="-355600" lvl="3" marL="18288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Raleway Light"/>
                <a:ea typeface="Raleway Light"/>
                <a:cs typeface="Raleway Light"/>
                <a:sym typeface="Raleway Light"/>
              </a:defRPr>
            </a:lvl4pPr>
            <a:lvl5pPr indent="-355600" lvl="4" marL="22860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Raleway Light"/>
                <a:ea typeface="Raleway Light"/>
                <a:cs typeface="Raleway Light"/>
                <a:sym typeface="Raleway Light"/>
              </a:defRPr>
            </a:lvl5pPr>
            <a:lvl6pPr indent="-355600" lvl="5" marL="27432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Raleway Light"/>
                <a:ea typeface="Raleway Light"/>
                <a:cs typeface="Raleway Light"/>
                <a:sym typeface="Raleway Light"/>
              </a:defRPr>
            </a:lvl6pPr>
            <a:lvl7pPr indent="-355600" lvl="6" marL="32004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Raleway Light"/>
                <a:ea typeface="Raleway Light"/>
                <a:cs typeface="Raleway Light"/>
                <a:sym typeface="Raleway Light"/>
              </a:defRPr>
            </a:lvl7pPr>
            <a:lvl8pPr indent="-355600" lvl="7" marL="36576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Raleway Light"/>
                <a:ea typeface="Raleway Light"/>
                <a:cs typeface="Raleway Light"/>
                <a:sym typeface="Raleway Light"/>
              </a:defRPr>
            </a:lvl8pPr>
            <a:lvl9pPr indent="-355600" lvl="8" marL="41148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Raleway Light"/>
                <a:ea typeface="Raleway Light"/>
                <a:cs typeface="Raleway Light"/>
                <a:sym typeface="Raleway Light"/>
              </a:defRPr>
            </a:lvl9pPr>
          </a:lstStyle>
          <a:p/>
        </p:txBody>
      </p:sp>
      <p:sp>
        <p:nvSpPr>
          <p:cNvPr id="127" name="Google Shape;127;p29"/>
          <p:cNvSpPr txBox="1"/>
          <p:nvPr>
            <p:ph idx="12" type="sldNum"/>
          </p:nvPr>
        </p:nvSpPr>
        <p:spPr>
          <a:xfrm>
            <a:off x="10180015" y="6355080"/>
            <a:ext cx="365700" cy="2742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000"/>
              <a:buFont typeface="Arial"/>
              <a:buNone/>
              <a:defRPr b="0" i="0" spc="0" sz="1000" u="none" cap="none" strike="noStrike">
                <a:solidFill>
                  <a:schemeClr val="dk1"/>
                </a:solidFill>
                <a:latin typeface="Raleway Light"/>
                <a:ea typeface="Raleway Light"/>
                <a:cs typeface="Raleway Light"/>
                <a:sym typeface="Raleway Light"/>
              </a:defRPr>
            </a:lvl1pPr>
            <a:lvl2pPr indent="0" lvl="1" marL="0" marR="0" algn="l">
              <a:lnSpc>
                <a:spcPct val="100000"/>
              </a:lnSpc>
              <a:spcBef>
                <a:spcPts val="0"/>
              </a:spcBef>
              <a:spcAft>
                <a:spcPts val="0"/>
              </a:spcAft>
              <a:buClr>
                <a:srgbClr val="000000"/>
              </a:buClr>
              <a:buSzPts val="1000"/>
              <a:buFont typeface="Arial"/>
              <a:buNone/>
              <a:defRPr b="0" i="0" spc="0" sz="1000" u="none" cap="none" strike="noStrike">
                <a:solidFill>
                  <a:schemeClr val="dk1"/>
                </a:solidFill>
                <a:latin typeface="Raleway Light"/>
                <a:ea typeface="Raleway Light"/>
                <a:cs typeface="Raleway Light"/>
                <a:sym typeface="Raleway Light"/>
              </a:defRPr>
            </a:lvl2pPr>
            <a:lvl3pPr indent="0" lvl="2" marL="0" marR="0" algn="l">
              <a:lnSpc>
                <a:spcPct val="100000"/>
              </a:lnSpc>
              <a:spcBef>
                <a:spcPts val="0"/>
              </a:spcBef>
              <a:spcAft>
                <a:spcPts val="0"/>
              </a:spcAft>
              <a:buClr>
                <a:srgbClr val="000000"/>
              </a:buClr>
              <a:buSzPts val="1000"/>
              <a:buFont typeface="Arial"/>
              <a:buNone/>
              <a:defRPr b="0" i="0" spc="0" sz="1000" u="none" cap="none" strike="noStrike">
                <a:solidFill>
                  <a:schemeClr val="dk1"/>
                </a:solidFill>
                <a:latin typeface="Raleway Light"/>
                <a:ea typeface="Raleway Light"/>
                <a:cs typeface="Raleway Light"/>
                <a:sym typeface="Raleway Light"/>
              </a:defRPr>
            </a:lvl3pPr>
            <a:lvl4pPr indent="0" lvl="3" marL="0" marR="0" algn="l">
              <a:lnSpc>
                <a:spcPct val="100000"/>
              </a:lnSpc>
              <a:spcBef>
                <a:spcPts val="0"/>
              </a:spcBef>
              <a:spcAft>
                <a:spcPts val="0"/>
              </a:spcAft>
              <a:buClr>
                <a:srgbClr val="000000"/>
              </a:buClr>
              <a:buSzPts val="1000"/>
              <a:buFont typeface="Arial"/>
              <a:buNone/>
              <a:defRPr b="0" i="0" spc="0" sz="1000" u="none" cap="none" strike="noStrike">
                <a:solidFill>
                  <a:schemeClr val="dk1"/>
                </a:solidFill>
                <a:latin typeface="Raleway Light"/>
                <a:ea typeface="Raleway Light"/>
                <a:cs typeface="Raleway Light"/>
                <a:sym typeface="Raleway Light"/>
              </a:defRPr>
            </a:lvl4pPr>
            <a:lvl5pPr indent="0" lvl="4" marL="0" marR="0" algn="l">
              <a:lnSpc>
                <a:spcPct val="100000"/>
              </a:lnSpc>
              <a:spcBef>
                <a:spcPts val="0"/>
              </a:spcBef>
              <a:spcAft>
                <a:spcPts val="0"/>
              </a:spcAft>
              <a:buClr>
                <a:srgbClr val="000000"/>
              </a:buClr>
              <a:buSzPts val="1000"/>
              <a:buFont typeface="Arial"/>
              <a:buNone/>
              <a:defRPr b="0" i="0" spc="0" sz="1000" u="none" cap="none" strike="noStrike">
                <a:solidFill>
                  <a:schemeClr val="dk1"/>
                </a:solidFill>
                <a:latin typeface="Raleway Light"/>
                <a:ea typeface="Raleway Light"/>
                <a:cs typeface="Raleway Light"/>
                <a:sym typeface="Raleway Light"/>
              </a:defRPr>
            </a:lvl5pPr>
            <a:lvl6pPr indent="0" lvl="5" marL="0" marR="0" algn="l">
              <a:lnSpc>
                <a:spcPct val="100000"/>
              </a:lnSpc>
              <a:spcBef>
                <a:spcPts val="0"/>
              </a:spcBef>
              <a:spcAft>
                <a:spcPts val="0"/>
              </a:spcAft>
              <a:buClr>
                <a:srgbClr val="000000"/>
              </a:buClr>
              <a:buSzPts val="1000"/>
              <a:buFont typeface="Arial"/>
              <a:buNone/>
              <a:defRPr b="0" i="0" spc="0" sz="1000" u="none" cap="none" strike="noStrike">
                <a:solidFill>
                  <a:schemeClr val="dk1"/>
                </a:solidFill>
                <a:latin typeface="Raleway Light"/>
                <a:ea typeface="Raleway Light"/>
                <a:cs typeface="Raleway Light"/>
                <a:sym typeface="Raleway Light"/>
              </a:defRPr>
            </a:lvl6pPr>
            <a:lvl7pPr indent="0" lvl="6" marL="0" marR="0" algn="l">
              <a:lnSpc>
                <a:spcPct val="100000"/>
              </a:lnSpc>
              <a:spcBef>
                <a:spcPts val="0"/>
              </a:spcBef>
              <a:spcAft>
                <a:spcPts val="0"/>
              </a:spcAft>
              <a:buClr>
                <a:srgbClr val="000000"/>
              </a:buClr>
              <a:buSzPts val="1000"/>
              <a:buFont typeface="Arial"/>
              <a:buNone/>
              <a:defRPr b="0" i="0" spc="0" sz="1000" u="none" cap="none" strike="noStrike">
                <a:solidFill>
                  <a:schemeClr val="dk1"/>
                </a:solidFill>
                <a:latin typeface="Raleway Light"/>
                <a:ea typeface="Raleway Light"/>
                <a:cs typeface="Raleway Light"/>
                <a:sym typeface="Raleway Light"/>
              </a:defRPr>
            </a:lvl7pPr>
            <a:lvl8pPr indent="0" lvl="7" marL="0" marR="0" algn="l">
              <a:lnSpc>
                <a:spcPct val="100000"/>
              </a:lnSpc>
              <a:spcBef>
                <a:spcPts val="0"/>
              </a:spcBef>
              <a:spcAft>
                <a:spcPts val="0"/>
              </a:spcAft>
              <a:buClr>
                <a:srgbClr val="000000"/>
              </a:buClr>
              <a:buSzPts val="1000"/>
              <a:buFont typeface="Arial"/>
              <a:buNone/>
              <a:defRPr b="0" i="0" spc="0" sz="1000" u="none" cap="none" strike="noStrike">
                <a:solidFill>
                  <a:schemeClr val="dk1"/>
                </a:solidFill>
                <a:latin typeface="Raleway Light"/>
                <a:ea typeface="Raleway Light"/>
                <a:cs typeface="Raleway Light"/>
                <a:sym typeface="Raleway Light"/>
              </a:defRPr>
            </a:lvl8pPr>
            <a:lvl9pPr indent="0" lvl="8" marL="0" marR="0" algn="l">
              <a:lnSpc>
                <a:spcPct val="100000"/>
              </a:lnSpc>
              <a:spcBef>
                <a:spcPts val="0"/>
              </a:spcBef>
              <a:spcAft>
                <a:spcPts val="0"/>
              </a:spcAft>
              <a:buClr>
                <a:srgbClr val="000000"/>
              </a:buClr>
              <a:buSzPts val="1000"/>
              <a:buFont typeface="Arial"/>
              <a:buNone/>
              <a:defRPr b="0" i="0" spc="0" sz="1000" u="none" cap="none" strike="noStrike">
                <a:solidFill>
                  <a:schemeClr val="dk1"/>
                </a:solidFill>
                <a:latin typeface="Raleway Light"/>
                <a:ea typeface="Raleway Light"/>
                <a:cs typeface="Raleway Light"/>
                <a:sym typeface="Raleway Light"/>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A Cover">
  <p:cSld name="EA Cover">
    <p:bg>
      <p:bgPr>
        <a:solidFill>
          <a:schemeClr val="lt2"/>
        </a:solidFill>
      </p:bgPr>
    </p:bg>
    <p:spTree>
      <p:nvGrpSpPr>
        <p:cNvPr id="128" name="Shape 128"/>
        <p:cNvGrpSpPr/>
        <p:nvPr/>
      </p:nvGrpSpPr>
      <p:grpSpPr>
        <a:xfrm>
          <a:off x="0" y="0"/>
          <a:ext cx="0" cy="0"/>
          <a:chOff x="0" y="0"/>
          <a:chExt cx="0" cy="0"/>
        </a:xfrm>
      </p:grpSpPr>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29" name="Shape 129"/>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7.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slideLayout" Target="../slideLayouts/slideLayout5.xml"/><Relationship Id="rId3" Type="http://schemas.openxmlformats.org/officeDocument/2006/relationships/theme" Target="../theme/theme4.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Layout" Target="../slideLayouts/slideLayout7.xml"/><Relationship Id="rId3" Type="http://schemas.openxmlformats.org/officeDocument/2006/relationships/slideLayout" Target="../slideLayouts/slideLayout8.xml"/><Relationship Id="rId4" Type="http://schemas.openxmlformats.org/officeDocument/2006/relationships/slideLayout" Target="../slideLayouts/slideLayout9.xml"/><Relationship Id="rId11" Type="http://schemas.openxmlformats.org/officeDocument/2006/relationships/slideLayout" Target="../slideLayouts/slideLayout16.xml"/><Relationship Id="rId10" Type="http://schemas.openxmlformats.org/officeDocument/2006/relationships/slideLayout" Target="../slideLayouts/slideLayout15.xml"/><Relationship Id="rId12" Type="http://schemas.openxmlformats.org/officeDocument/2006/relationships/theme" Target="../theme/theme5.xml"/><Relationship Id="rId9" Type="http://schemas.openxmlformats.org/officeDocument/2006/relationships/slideLayout" Target="../slideLayouts/slideLayout14.xml"/><Relationship Id="rId5" Type="http://schemas.openxmlformats.org/officeDocument/2006/relationships/slideLayout" Target="../slideLayouts/slideLayout10.xml"/><Relationship Id="rId6" Type="http://schemas.openxmlformats.org/officeDocument/2006/relationships/slideLayout" Target="../slideLayouts/slideLayout11.xml"/><Relationship Id="rId7" Type="http://schemas.openxmlformats.org/officeDocument/2006/relationships/slideLayout" Target="../slideLayouts/slideLayout12.xml"/><Relationship Id="rId8" Type="http://schemas.openxmlformats.org/officeDocument/2006/relationships/slideLayout" Target="../slideLayouts/slideLayout1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slideLayout" Target="../slideLayouts/slideLayout18.xml"/><Relationship Id="rId3" Type="http://schemas.openxmlformats.org/officeDocument/2006/relationships/slideLayout" Target="../slideLayouts/slideLayout19.xml"/><Relationship Id="rId4" Type="http://schemas.openxmlformats.org/officeDocument/2006/relationships/theme" Target="../theme/theme2.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slideLayout" Target="../slideLayouts/slideLayout21.xml"/><Relationship Id="rId3" Type="http://schemas.openxmlformats.org/officeDocument/2006/relationships/slideLayout" Target="../slideLayouts/slideLayout22.xml"/><Relationship Id="rId4" Type="http://schemas.openxmlformats.org/officeDocument/2006/relationships/theme" Target="../theme/theme3.xml"/></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
        <p:nvSpPr>
          <p:cNvPr id="10" name="Google Shape;10;p1"/>
          <p:cNvSpPr txBox="1"/>
          <p:nvPr>
            <p:ph idx="12" type="sldNum"/>
          </p:nvPr>
        </p:nvSpPr>
        <p:spPr>
          <a:xfrm>
            <a:off x="11094415" y="457200"/>
            <a:ext cx="548640" cy="27432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pc="0" sz="1200" u="none" cap="none" strike="noStrike">
                <a:solidFill>
                  <a:schemeClr val="dk1"/>
                </a:solidFill>
                <a:latin typeface="Raleway Light"/>
                <a:ea typeface="Raleway Light"/>
                <a:cs typeface="Raleway Light"/>
                <a:sym typeface="Raleway Light"/>
              </a:defRPr>
            </a:lvl1pPr>
            <a:lvl2pPr indent="0" lvl="1" marL="0" marR="0" rtl="0" algn="r">
              <a:lnSpc>
                <a:spcPct val="100000"/>
              </a:lnSpc>
              <a:spcBef>
                <a:spcPts val="0"/>
              </a:spcBef>
              <a:spcAft>
                <a:spcPts val="0"/>
              </a:spcAft>
              <a:buClr>
                <a:srgbClr val="000000"/>
              </a:buClr>
              <a:buSzPts val="1200"/>
              <a:buFont typeface="Arial"/>
              <a:buNone/>
              <a:defRPr b="0" i="0" spc="0" sz="1200" u="none" cap="none" strike="noStrike">
                <a:solidFill>
                  <a:schemeClr val="dk1"/>
                </a:solidFill>
                <a:latin typeface="Raleway Light"/>
                <a:ea typeface="Raleway Light"/>
                <a:cs typeface="Raleway Light"/>
                <a:sym typeface="Raleway Light"/>
              </a:defRPr>
            </a:lvl2pPr>
            <a:lvl3pPr indent="0" lvl="2" marL="0" marR="0" rtl="0" algn="r">
              <a:lnSpc>
                <a:spcPct val="100000"/>
              </a:lnSpc>
              <a:spcBef>
                <a:spcPts val="0"/>
              </a:spcBef>
              <a:spcAft>
                <a:spcPts val="0"/>
              </a:spcAft>
              <a:buClr>
                <a:srgbClr val="000000"/>
              </a:buClr>
              <a:buSzPts val="1200"/>
              <a:buFont typeface="Arial"/>
              <a:buNone/>
              <a:defRPr b="0" i="0" spc="0" sz="1200" u="none" cap="none" strike="noStrike">
                <a:solidFill>
                  <a:schemeClr val="dk1"/>
                </a:solidFill>
                <a:latin typeface="Raleway Light"/>
                <a:ea typeface="Raleway Light"/>
                <a:cs typeface="Raleway Light"/>
                <a:sym typeface="Raleway Light"/>
              </a:defRPr>
            </a:lvl3pPr>
            <a:lvl4pPr indent="0" lvl="3" marL="0" marR="0" rtl="0" algn="r">
              <a:lnSpc>
                <a:spcPct val="100000"/>
              </a:lnSpc>
              <a:spcBef>
                <a:spcPts val="0"/>
              </a:spcBef>
              <a:spcAft>
                <a:spcPts val="0"/>
              </a:spcAft>
              <a:buClr>
                <a:srgbClr val="000000"/>
              </a:buClr>
              <a:buSzPts val="1200"/>
              <a:buFont typeface="Arial"/>
              <a:buNone/>
              <a:defRPr b="0" i="0" spc="0" sz="1200" u="none" cap="none" strike="noStrike">
                <a:solidFill>
                  <a:schemeClr val="dk1"/>
                </a:solidFill>
                <a:latin typeface="Raleway Light"/>
                <a:ea typeface="Raleway Light"/>
                <a:cs typeface="Raleway Light"/>
                <a:sym typeface="Raleway Light"/>
              </a:defRPr>
            </a:lvl4pPr>
            <a:lvl5pPr indent="0" lvl="4" marL="0" marR="0" rtl="0" algn="r">
              <a:lnSpc>
                <a:spcPct val="100000"/>
              </a:lnSpc>
              <a:spcBef>
                <a:spcPts val="0"/>
              </a:spcBef>
              <a:spcAft>
                <a:spcPts val="0"/>
              </a:spcAft>
              <a:buClr>
                <a:srgbClr val="000000"/>
              </a:buClr>
              <a:buSzPts val="1200"/>
              <a:buFont typeface="Arial"/>
              <a:buNone/>
              <a:defRPr b="0" i="0" spc="0" sz="1200" u="none" cap="none" strike="noStrike">
                <a:solidFill>
                  <a:schemeClr val="dk1"/>
                </a:solidFill>
                <a:latin typeface="Raleway Light"/>
                <a:ea typeface="Raleway Light"/>
                <a:cs typeface="Raleway Light"/>
                <a:sym typeface="Raleway Light"/>
              </a:defRPr>
            </a:lvl5pPr>
            <a:lvl6pPr indent="0" lvl="5" marL="0" marR="0" rtl="0" algn="r">
              <a:lnSpc>
                <a:spcPct val="100000"/>
              </a:lnSpc>
              <a:spcBef>
                <a:spcPts val="0"/>
              </a:spcBef>
              <a:spcAft>
                <a:spcPts val="0"/>
              </a:spcAft>
              <a:buClr>
                <a:srgbClr val="000000"/>
              </a:buClr>
              <a:buSzPts val="1200"/>
              <a:buFont typeface="Arial"/>
              <a:buNone/>
              <a:defRPr b="0" i="0" spc="0" sz="1200" u="none" cap="none" strike="noStrike">
                <a:solidFill>
                  <a:schemeClr val="dk1"/>
                </a:solidFill>
                <a:latin typeface="Raleway Light"/>
                <a:ea typeface="Raleway Light"/>
                <a:cs typeface="Raleway Light"/>
                <a:sym typeface="Raleway Light"/>
              </a:defRPr>
            </a:lvl6pPr>
            <a:lvl7pPr indent="0" lvl="6" marL="0" marR="0" rtl="0" algn="r">
              <a:lnSpc>
                <a:spcPct val="100000"/>
              </a:lnSpc>
              <a:spcBef>
                <a:spcPts val="0"/>
              </a:spcBef>
              <a:spcAft>
                <a:spcPts val="0"/>
              </a:spcAft>
              <a:buClr>
                <a:srgbClr val="000000"/>
              </a:buClr>
              <a:buSzPts val="1200"/>
              <a:buFont typeface="Arial"/>
              <a:buNone/>
              <a:defRPr b="0" i="0" spc="0" sz="1200" u="none" cap="none" strike="noStrike">
                <a:solidFill>
                  <a:schemeClr val="dk1"/>
                </a:solidFill>
                <a:latin typeface="Raleway Light"/>
                <a:ea typeface="Raleway Light"/>
                <a:cs typeface="Raleway Light"/>
                <a:sym typeface="Raleway Light"/>
              </a:defRPr>
            </a:lvl7pPr>
            <a:lvl8pPr indent="0" lvl="7" marL="0" marR="0" rtl="0" algn="r">
              <a:lnSpc>
                <a:spcPct val="100000"/>
              </a:lnSpc>
              <a:spcBef>
                <a:spcPts val="0"/>
              </a:spcBef>
              <a:spcAft>
                <a:spcPts val="0"/>
              </a:spcAft>
              <a:buClr>
                <a:srgbClr val="000000"/>
              </a:buClr>
              <a:buSzPts val="1200"/>
              <a:buFont typeface="Arial"/>
              <a:buNone/>
              <a:defRPr b="0" i="0" spc="0" sz="1200" u="none" cap="none" strike="noStrike">
                <a:solidFill>
                  <a:schemeClr val="dk1"/>
                </a:solidFill>
                <a:latin typeface="Raleway Light"/>
                <a:ea typeface="Raleway Light"/>
                <a:cs typeface="Raleway Light"/>
                <a:sym typeface="Raleway Light"/>
              </a:defRPr>
            </a:lvl8pPr>
            <a:lvl9pPr indent="0" lvl="8" marL="0" marR="0" rtl="0" algn="r">
              <a:lnSpc>
                <a:spcPct val="100000"/>
              </a:lnSpc>
              <a:spcBef>
                <a:spcPts val="0"/>
              </a:spcBef>
              <a:spcAft>
                <a:spcPts val="0"/>
              </a:spcAft>
              <a:buClr>
                <a:srgbClr val="000000"/>
              </a:buClr>
              <a:buSzPts val="1200"/>
              <a:buFont typeface="Arial"/>
              <a:buNone/>
              <a:defRPr b="0" i="0" spc="0" sz="1200" u="none" cap="none" strike="noStrike">
                <a:solidFill>
                  <a:schemeClr val="dk1"/>
                </a:solidFill>
                <a:latin typeface="Raleway Light"/>
                <a:ea typeface="Raleway Light"/>
                <a:cs typeface="Raleway Light"/>
                <a:sym typeface="Raleway Light"/>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 name="Shape 1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1" r:id="rId1"/>
    <p:sldLayoutId id="2147483652"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 name="Shape 25"/>
        <p:cNvGrpSpPr/>
        <p:nvPr/>
      </p:nvGrpSpPr>
      <p:grpSpPr>
        <a:xfrm>
          <a:off x="0" y="0"/>
          <a:ext cx="0" cy="0"/>
          <a:chOff x="0" y="0"/>
          <a:chExt cx="0" cy="0"/>
        </a:xfrm>
      </p:grpSpPr>
      <p:sp>
        <p:nvSpPr>
          <p:cNvPr id="26" name="Google Shape;26;p8"/>
          <p:cNvSpPr txBox="1"/>
          <p:nvPr>
            <p:ph type="title"/>
          </p:nvPr>
        </p:nvSpPr>
        <p:spPr>
          <a:xfrm>
            <a:off x="406400" y="205978"/>
            <a:ext cx="7315200" cy="857400"/>
          </a:xfrm>
          <a:prstGeom prst="rect">
            <a:avLst/>
          </a:prstGeom>
          <a:noFill/>
          <a:ln>
            <a:noFill/>
          </a:ln>
        </p:spPr>
        <p:txBody>
          <a:bodyPr anchorCtr="0" anchor="ctr" bIns="38500" lIns="77025" spcFirstLastPara="1" rIns="77025" wrap="square" tIns="38500">
            <a:normAutofit/>
          </a:bodyPr>
          <a:lstStyle>
            <a:lvl1pPr lvl="0" marR="0" rtl="0" algn="ctr">
              <a:lnSpc>
                <a:spcPct val="100000"/>
              </a:lnSpc>
              <a:spcBef>
                <a:spcPts val="0"/>
              </a:spcBef>
              <a:spcAft>
                <a:spcPts val="0"/>
              </a:spcAft>
              <a:buClr>
                <a:schemeClr val="dk1"/>
              </a:buClr>
              <a:buSzPts val="3700"/>
              <a:buFont typeface="Calibri"/>
              <a:buNone/>
              <a:defRPr b="0" i="0" spc="0" sz="37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200"/>
              <a:buFont typeface="Arial"/>
              <a:buNone/>
              <a:defRPr b="0" i="0" spc="0" sz="15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200"/>
              <a:buFont typeface="Arial"/>
              <a:buNone/>
              <a:defRPr b="0" i="0" spc="0" sz="15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200"/>
              <a:buFont typeface="Arial"/>
              <a:buNone/>
              <a:defRPr b="0" i="0" spc="0" sz="15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200"/>
              <a:buFont typeface="Arial"/>
              <a:buNone/>
              <a:defRPr b="0" i="0" spc="0" sz="15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200"/>
              <a:buFont typeface="Arial"/>
              <a:buNone/>
              <a:defRPr b="0" i="0" spc="0" sz="15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200"/>
              <a:buFont typeface="Arial"/>
              <a:buNone/>
              <a:defRPr b="0" i="0" spc="0" sz="15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200"/>
              <a:buFont typeface="Arial"/>
              <a:buNone/>
              <a:defRPr b="0" i="0" spc="0" sz="15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200"/>
              <a:buFont typeface="Arial"/>
              <a:buNone/>
              <a:defRPr b="0" i="0" spc="0" sz="1500" u="none" cap="none" strike="noStrike">
                <a:solidFill>
                  <a:srgbClr val="000000"/>
                </a:solidFill>
                <a:latin typeface="Arial"/>
                <a:ea typeface="Arial"/>
                <a:cs typeface="Arial"/>
                <a:sym typeface="Arial"/>
              </a:defRPr>
            </a:lvl9pPr>
          </a:lstStyle>
          <a:p/>
        </p:txBody>
      </p:sp>
      <p:sp>
        <p:nvSpPr>
          <p:cNvPr id="27" name="Google Shape;27;p8"/>
          <p:cNvSpPr txBox="1"/>
          <p:nvPr>
            <p:ph idx="1" type="body"/>
          </p:nvPr>
        </p:nvSpPr>
        <p:spPr>
          <a:xfrm>
            <a:off x="406400" y="1200150"/>
            <a:ext cx="7315200" cy="3394500"/>
          </a:xfrm>
          <a:prstGeom prst="rect">
            <a:avLst/>
          </a:prstGeom>
          <a:noFill/>
          <a:ln>
            <a:noFill/>
          </a:ln>
        </p:spPr>
        <p:txBody>
          <a:bodyPr anchorCtr="0" anchor="t" bIns="38500" lIns="77025" spcFirstLastPara="1" rIns="77025" wrap="square" tIns="38500">
            <a:normAutofit/>
          </a:bodyPr>
          <a:lstStyle>
            <a:lvl1pPr indent="-400050" lvl="0" marL="457200" marR="0" rtl="0" algn="l">
              <a:lnSpc>
                <a:spcPct val="100000"/>
              </a:lnSpc>
              <a:spcBef>
                <a:spcPts val="500"/>
              </a:spcBef>
              <a:spcAft>
                <a:spcPts val="0"/>
              </a:spcAft>
              <a:buClr>
                <a:schemeClr val="dk1"/>
              </a:buClr>
              <a:buSzPts val="2700"/>
              <a:buFont typeface="Arial"/>
              <a:buChar char="•"/>
              <a:defRPr b="0" i="0" spc="0" sz="2700" u="none" cap="none" strike="noStrike">
                <a:solidFill>
                  <a:schemeClr val="dk1"/>
                </a:solidFill>
                <a:latin typeface="Calibri"/>
                <a:ea typeface="Calibri"/>
                <a:cs typeface="Calibri"/>
                <a:sym typeface="Calibri"/>
              </a:defRPr>
            </a:lvl1pPr>
            <a:lvl2pPr indent="-381000" lvl="1" marL="914400" marR="0" rtl="0" algn="l">
              <a:lnSpc>
                <a:spcPct val="100000"/>
              </a:lnSpc>
              <a:spcBef>
                <a:spcPts val="500"/>
              </a:spcBef>
              <a:spcAft>
                <a:spcPts val="0"/>
              </a:spcAft>
              <a:buClr>
                <a:schemeClr val="dk1"/>
              </a:buClr>
              <a:buSzPts val="2400"/>
              <a:buFont typeface="Arial"/>
              <a:buChar char="–"/>
              <a:defRPr b="0" i="0" spc="0" sz="2400" u="none" cap="none" strike="noStrike">
                <a:solidFill>
                  <a:schemeClr val="dk1"/>
                </a:solidFill>
                <a:latin typeface="Calibri"/>
                <a:ea typeface="Calibri"/>
                <a:cs typeface="Calibri"/>
                <a:sym typeface="Calibri"/>
              </a:defRPr>
            </a:lvl2pPr>
            <a:lvl3pPr indent="-355600" lvl="2" marL="1371600" marR="0" rtl="0" algn="l">
              <a:lnSpc>
                <a:spcPct val="100000"/>
              </a:lnSpc>
              <a:spcBef>
                <a:spcPts val="400"/>
              </a:spcBef>
              <a:spcAft>
                <a:spcPts val="0"/>
              </a:spcAft>
              <a:buClr>
                <a:schemeClr val="dk1"/>
              </a:buClr>
              <a:buSzPts val="2000"/>
              <a:buFont typeface="Arial"/>
              <a:buChar char="•"/>
              <a:defRPr b="0" i="0" spc="0" sz="2000" u="none" cap="none" strike="noStrike">
                <a:solidFill>
                  <a:schemeClr val="dk1"/>
                </a:solidFill>
                <a:latin typeface="Calibri"/>
                <a:ea typeface="Calibri"/>
                <a:cs typeface="Calibri"/>
                <a:sym typeface="Calibri"/>
              </a:defRPr>
            </a:lvl3pPr>
            <a:lvl4pPr indent="-336550" lvl="3" marL="1828800" marR="0" rtl="0" algn="l">
              <a:lnSpc>
                <a:spcPct val="100000"/>
              </a:lnSpc>
              <a:spcBef>
                <a:spcPts val="300"/>
              </a:spcBef>
              <a:spcAft>
                <a:spcPts val="0"/>
              </a:spcAft>
              <a:buClr>
                <a:schemeClr val="dk1"/>
              </a:buClr>
              <a:buSzPts val="1700"/>
              <a:buFont typeface="Arial"/>
              <a:buChar char="–"/>
              <a:defRPr b="0" i="0" spc="0" sz="1700" u="none" cap="none" strike="noStrike">
                <a:solidFill>
                  <a:schemeClr val="dk1"/>
                </a:solidFill>
                <a:latin typeface="Calibri"/>
                <a:ea typeface="Calibri"/>
                <a:cs typeface="Calibri"/>
                <a:sym typeface="Calibri"/>
              </a:defRPr>
            </a:lvl4pPr>
            <a:lvl5pPr indent="-336550" lvl="4" marL="2286000" marR="0" rtl="0" algn="l">
              <a:lnSpc>
                <a:spcPct val="100000"/>
              </a:lnSpc>
              <a:spcBef>
                <a:spcPts val="300"/>
              </a:spcBef>
              <a:spcAft>
                <a:spcPts val="0"/>
              </a:spcAft>
              <a:buClr>
                <a:schemeClr val="dk1"/>
              </a:buClr>
              <a:buSzPts val="1700"/>
              <a:buFont typeface="Arial"/>
              <a:buChar char="»"/>
              <a:defRPr b="0" i="0" spc="0" sz="1700" u="none" cap="none" strike="noStrike">
                <a:solidFill>
                  <a:schemeClr val="dk1"/>
                </a:solidFill>
                <a:latin typeface="Calibri"/>
                <a:ea typeface="Calibri"/>
                <a:cs typeface="Calibri"/>
                <a:sym typeface="Calibri"/>
              </a:defRPr>
            </a:lvl5pPr>
            <a:lvl6pPr indent="-336550" lvl="5" marL="2743200" marR="0" rtl="0" algn="l">
              <a:lnSpc>
                <a:spcPct val="100000"/>
              </a:lnSpc>
              <a:spcBef>
                <a:spcPts val="300"/>
              </a:spcBef>
              <a:spcAft>
                <a:spcPts val="0"/>
              </a:spcAft>
              <a:buClr>
                <a:schemeClr val="dk1"/>
              </a:buClr>
              <a:buSzPts val="1700"/>
              <a:buFont typeface="Arial"/>
              <a:buChar char="•"/>
              <a:defRPr b="0" i="0" spc="0" sz="1700" u="none" cap="none" strike="noStrike">
                <a:solidFill>
                  <a:schemeClr val="dk1"/>
                </a:solidFill>
                <a:latin typeface="Calibri"/>
                <a:ea typeface="Calibri"/>
                <a:cs typeface="Calibri"/>
                <a:sym typeface="Calibri"/>
              </a:defRPr>
            </a:lvl6pPr>
            <a:lvl7pPr indent="-336550" lvl="6" marL="3200400" marR="0" rtl="0" algn="l">
              <a:lnSpc>
                <a:spcPct val="100000"/>
              </a:lnSpc>
              <a:spcBef>
                <a:spcPts val="300"/>
              </a:spcBef>
              <a:spcAft>
                <a:spcPts val="0"/>
              </a:spcAft>
              <a:buClr>
                <a:schemeClr val="dk1"/>
              </a:buClr>
              <a:buSzPts val="1700"/>
              <a:buFont typeface="Arial"/>
              <a:buChar char="•"/>
              <a:defRPr b="0" i="0" spc="0" sz="1700" u="none" cap="none" strike="noStrike">
                <a:solidFill>
                  <a:schemeClr val="dk1"/>
                </a:solidFill>
                <a:latin typeface="Calibri"/>
                <a:ea typeface="Calibri"/>
                <a:cs typeface="Calibri"/>
                <a:sym typeface="Calibri"/>
              </a:defRPr>
            </a:lvl7pPr>
            <a:lvl8pPr indent="-336550" lvl="7" marL="3657600" marR="0" rtl="0" algn="l">
              <a:lnSpc>
                <a:spcPct val="100000"/>
              </a:lnSpc>
              <a:spcBef>
                <a:spcPts val="300"/>
              </a:spcBef>
              <a:spcAft>
                <a:spcPts val="0"/>
              </a:spcAft>
              <a:buClr>
                <a:schemeClr val="dk1"/>
              </a:buClr>
              <a:buSzPts val="1700"/>
              <a:buFont typeface="Arial"/>
              <a:buChar char="•"/>
              <a:defRPr b="0" i="0" spc="0" sz="1700" u="none" cap="none" strike="noStrike">
                <a:solidFill>
                  <a:schemeClr val="dk1"/>
                </a:solidFill>
                <a:latin typeface="Calibri"/>
                <a:ea typeface="Calibri"/>
                <a:cs typeface="Calibri"/>
                <a:sym typeface="Calibri"/>
              </a:defRPr>
            </a:lvl8pPr>
            <a:lvl9pPr indent="-336550" lvl="8" marL="4114800" marR="0" rtl="0" algn="l">
              <a:lnSpc>
                <a:spcPct val="100000"/>
              </a:lnSpc>
              <a:spcBef>
                <a:spcPts val="300"/>
              </a:spcBef>
              <a:spcAft>
                <a:spcPts val="0"/>
              </a:spcAft>
              <a:buClr>
                <a:schemeClr val="dk1"/>
              </a:buClr>
              <a:buSzPts val="1700"/>
              <a:buFont typeface="Arial"/>
              <a:buChar char="•"/>
              <a:defRPr b="0" i="0" spc="0" sz="1700" u="none" cap="none" strike="noStrike">
                <a:solidFill>
                  <a:schemeClr val="dk1"/>
                </a:solidFill>
                <a:latin typeface="Calibri"/>
                <a:ea typeface="Calibri"/>
                <a:cs typeface="Calibri"/>
                <a:sym typeface="Calibri"/>
              </a:defRPr>
            </a:lvl9pPr>
          </a:lstStyle>
          <a:p/>
        </p:txBody>
      </p:sp>
      <p:sp>
        <p:nvSpPr>
          <p:cNvPr id="28" name="Google Shape;28;p8"/>
          <p:cNvSpPr txBox="1"/>
          <p:nvPr>
            <p:ph idx="10" type="dt"/>
          </p:nvPr>
        </p:nvSpPr>
        <p:spPr>
          <a:xfrm>
            <a:off x="406400" y="4767263"/>
            <a:ext cx="1896600" cy="273900"/>
          </a:xfrm>
          <a:prstGeom prst="rect">
            <a:avLst/>
          </a:prstGeom>
          <a:noFill/>
          <a:ln>
            <a:noFill/>
          </a:ln>
        </p:spPr>
        <p:txBody>
          <a:bodyPr anchorCtr="0" anchor="ctr" bIns="38500" lIns="77025" spcFirstLastPara="1" rIns="77025" wrap="square" tIns="38500">
            <a:noAutofit/>
          </a:bodyPr>
          <a:lstStyle>
            <a:lvl1pPr lvl="0" marR="0" rtl="0" algn="l">
              <a:lnSpc>
                <a:spcPct val="100000"/>
              </a:lnSpc>
              <a:spcBef>
                <a:spcPts val="0"/>
              </a:spcBef>
              <a:spcAft>
                <a:spcPts val="0"/>
              </a:spcAft>
              <a:buClr>
                <a:srgbClr val="000000"/>
              </a:buClr>
              <a:buSzPts val="1200"/>
              <a:buFont typeface="Arial"/>
              <a:buNone/>
              <a:defRPr b="0" i="0" spc="0" sz="10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200"/>
              <a:buFont typeface="Arial"/>
              <a:buNone/>
              <a:defRPr b="0" i="0" spc="0" sz="15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200"/>
              <a:buFont typeface="Arial"/>
              <a:buNone/>
              <a:defRPr b="0" i="0" spc="0" sz="15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200"/>
              <a:buFont typeface="Arial"/>
              <a:buNone/>
              <a:defRPr b="0" i="0" spc="0" sz="15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200"/>
              <a:buFont typeface="Arial"/>
              <a:buNone/>
              <a:defRPr b="0" i="0" spc="0" sz="15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200"/>
              <a:buFont typeface="Arial"/>
              <a:buNone/>
              <a:defRPr b="0" i="0" spc="0" sz="15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200"/>
              <a:buFont typeface="Arial"/>
              <a:buNone/>
              <a:defRPr b="0" i="0" spc="0" sz="15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200"/>
              <a:buFont typeface="Arial"/>
              <a:buNone/>
              <a:defRPr b="0" i="0" spc="0" sz="15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200"/>
              <a:buFont typeface="Arial"/>
              <a:buNone/>
              <a:defRPr b="0" i="0" spc="0" sz="1500" u="none" cap="none" strike="noStrike">
                <a:solidFill>
                  <a:schemeClr val="dk1"/>
                </a:solidFill>
                <a:latin typeface="Calibri"/>
                <a:ea typeface="Calibri"/>
                <a:cs typeface="Calibri"/>
                <a:sym typeface="Calibri"/>
              </a:defRPr>
            </a:lvl9pPr>
          </a:lstStyle>
          <a:p/>
        </p:txBody>
      </p:sp>
      <p:sp>
        <p:nvSpPr>
          <p:cNvPr id="29" name="Google Shape;29;p8"/>
          <p:cNvSpPr txBox="1"/>
          <p:nvPr>
            <p:ph idx="11" type="ftr"/>
          </p:nvPr>
        </p:nvSpPr>
        <p:spPr>
          <a:xfrm>
            <a:off x="2777067" y="4767263"/>
            <a:ext cx="2574000" cy="273900"/>
          </a:xfrm>
          <a:prstGeom prst="rect">
            <a:avLst/>
          </a:prstGeom>
          <a:noFill/>
          <a:ln>
            <a:noFill/>
          </a:ln>
        </p:spPr>
        <p:txBody>
          <a:bodyPr anchorCtr="0" anchor="ctr" bIns="38500" lIns="77025" spcFirstLastPara="1" rIns="77025" wrap="square" tIns="38500">
            <a:noAutofit/>
          </a:bodyPr>
          <a:lstStyle>
            <a:lvl1pPr lvl="0" marR="0" rtl="0" algn="ctr">
              <a:lnSpc>
                <a:spcPct val="100000"/>
              </a:lnSpc>
              <a:spcBef>
                <a:spcPts val="0"/>
              </a:spcBef>
              <a:spcAft>
                <a:spcPts val="0"/>
              </a:spcAft>
              <a:buClr>
                <a:srgbClr val="000000"/>
              </a:buClr>
              <a:buSzPts val="1200"/>
              <a:buFont typeface="Arial"/>
              <a:buNone/>
              <a:defRPr b="0" i="0" spc="0" sz="10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200"/>
              <a:buFont typeface="Arial"/>
              <a:buNone/>
              <a:defRPr b="0" i="0" spc="0" sz="15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200"/>
              <a:buFont typeface="Arial"/>
              <a:buNone/>
              <a:defRPr b="0" i="0" spc="0" sz="15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200"/>
              <a:buFont typeface="Arial"/>
              <a:buNone/>
              <a:defRPr b="0" i="0" spc="0" sz="15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200"/>
              <a:buFont typeface="Arial"/>
              <a:buNone/>
              <a:defRPr b="0" i="0" spc="0" sz="15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200"/>
              <a:buFont typeface="Arial"/>
              <a:buNone/>
              <a:defRPr b="0" i="0" spc="0" sz="15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200"/>
              <a:buFont typeface="Arial"/>
              <a:buNone/>
              <a:defRPr b="0" i="0" spc="0" sz="15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200"/>
              <a:buFont typeface="Arial"/>
              <a:buNone/>
              <a:defRPr b="0" i="0" spc="0" sz="15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200"/>
              <a:buFont typeface="Arial"/>
              <a:buNone/>
              <a:defRPr b="0" i="0" spc="0" sz="1500" u="none" cap="none" strike="noStrike">
                <a:solidFill>
                  <a:schemeClr val="dk1"/>
                </a:solidFill>
                <a:latin typeface="Calibri"/>
                <a:ea typeface="Calibri"/>
                <a:cs typeface="Calibri"/>
                <a:sym typeface="Calibri"/>
              </a:defRPr>
            </a:lvl9pPr>
          </a:lstStyle>
          <a:p/>
        </p:txBody>
      </p:sp>
      <p:sp>
        <p:nvSpPr>
          <p:cNvPr id="30" name="Google Shape;30;p8"/>
          <p:cNvSpPr txBox="1"/>
          <p:nvPr>
            <p:ph idx="12" type="sldNum"/>
          </p:nvPr>
        </p:nvSpPr>
        <p:spPr>
          <a:xfrm>
            <a:off x="5825067" y="4767263"/>
            <a:ext cx="1896600" cy="273900"/>
          </a:xfrm>
          <a:prstGeom prst="rect">
            <a:avLst/>
          </a:prstGeom>
          <a:noFill/>
          <a:ln>
            <a:noFill/>
          </a:ln>
        </p:spPr>
        <p:txBody>
          <a:bodyPr anchorCtr="0" anchor="ctr" bIns="38500" lIns="77025" spcFirstLastPara="1" rIns="77025" wrap="square" tIns="38500">
            <a:noAutofit/>
          </a:bodyPr>
          <a:lstStyle>
            <a:lvl1pPr indent="0" lvl="0" marL="0" marR="0" rtl="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000"/>
              <a:buFont typeface="Arial"/>
              <a:buNone/>
              <a:defRPr b="0" i="0" spc="0" sz="10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53" r:id="rId1"/>
    <p:sldLayoutId id="2147483654" r:id="rId2"/>
    <p:sldLayoutId id="2147483655" r:id="rId3"/>
    <p:sldLayoutId id="2147483656" r:id="rId4"/>
    <p:sldLayoutId id="2147483657" r:id="rId5"/>
    <p:sldLayoutId id="2147483658" r:id="rId6"/>
    <p:sldLayoutId id="2147483659" r:id="rId7"/>
    <p:sldLayoutId id="2147483660" r:id="rId8"/>
    <p:sldLayoutId id="2147483661" r:id="rId9"/>
    <p:sldLayoutId id="2147483662" r:id="rId10"/>
    <p:sldLayoutId id="2147483663"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0"/>
          <p:cNvSpPr txBox="1"/>
          <p:nvPr>
            <p:ph idx="12" type="sldNum"/>
          </p:nvPr>
        </p:nvSpPr>
        <p:spPr>
          <a:xfrm>
            <a:off x="10180015" y="6355080"/>
            <a:ext cx="365760" cy="27432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000"/>
              <a:buFont typeface="Arial"/>
              <a:buNone/>
              <a:defRPr b="0" i="0" spc="0" sz="1000" u="none" cap="none" strike="noStrike">
                <a:solidFill>
                  <a:schemeClr val="dk1"/>
                </a:solidFill>
                <a:latin typeface="Raleway Light"/>
                <a:ea typeface="Raleway Light"/>
                <a:cs typeface="Raleway Light"/>
                <a:sym typeface="Raleway Light"/>
              </a:defRPr>
            </a:lvl1pPr>
            <a:lvl2pPr indent="0" lvl="1" marL="0" marR="0" rtl="0" algn="l">
              <a:lnSpc>
                <a:spcPct val="100000"/>
              </a:lnSpc>
              <a:spcBef>
                <a:spcPts val="0"/>
              </a:spcBef>
              <a:spcAft>
                <a:spcPts val="0"/>
              </a:spcAft>
              <a:buClr>
                <a:srgbClr val="000000"/>
              </a:buClr>
              <a:buSzPts val="1000"/>
              <a:buFont typeface="Arial"/>
              <a:buNone/>
              <a:defRPr b="0" i="0" spc="0" sz="1000" u="none" cap="none" strike="noStrike">
                <a:solidFill>
                  <a:schemeClr val="dk1"/>
                </a:solidFill>
                <a:latin typeface="Raleway Light"/>
                <a:ea typeface="Raleway Light"/>
                <a:cs typeface="Raleway Light"/>
                <a:sym typeface="Raleway Light"/>
              </a:defRPr>
            </a:lvl2pPr>
            <a:lvl3pPr indent="0" lvl="2" marL="0" marR="0" rtl="0" algn="l">
              <a:lnSpc>
                <a:spcPct val="100000"/>
              </a:lnSpc>
              <a:spcBef>
                <a:spcPts val="0"/>
              </a:spcBef>
              <a:spcAft>
                <a:spcPts val="0"/>
              </a:spcAft>
              <a:buClr>
                <a:srgbClr val="000000"/>
              </a:buClr>
              <a:buSzPts val="1000"/>
              <a:buFont typeface="Arial"/>
              <a:buNone/>
              <a:defRPr b="0" i="0" spc="0" sz="1000" u="none" cap="none" strike="noStrike">
                <a:solidFill>
                  <a:schemeClr val="dk1"/>
                </a:solidFill>
                <a:latin typeface="Raleway Light"/>
                <a:ea typeface="Raleway Light"/>
                <a:cs typeface="Raleway Light"/>
                <a:sym typeface="Raleway Light"/>
              </a:defRPr>
            </a:lvl3pPr>
            <a:lvl4pPr indent="0" lvl="3" marL="0" marR="0" rtl="0" algn="l">
              <a:lnSpc>
                <a:spcPct val="100000"/>
              </a:lnSpc>
              <a:spcBef>
                <a:spcPts val="0"/>
              </a:spcBef>
              <a:spcAft>
                <a:spcPts val="0"/>
              </a:spcAft>
              <a:buClr>
                <a:srgbClr val="000000"/>
              </a:buClr>
              <a:buSzPts val="1000"/>
              <a:buFont typeface="Arial"/>
              <a:buNone/>
              <a:defRPr b="0" i="0" spc="0" sz="1000" u="none" cap="none" strike="noStrike">
                <a:solidFill>
                  <a:schemeClr val="dk1"/>
                </a:solidFill>
                <a:latin typeface="Raleway Light"/>
                <a:ea typeface="Raleway Light"/>
                <a:cs typeface="Raleway Light"/>
                <a:sym typeface="Raleway Light"/>
              </a:defRPr>
            </a:lvl4pPr>
            <a:lvl5pPr indent="0" lvl="4" marL="0" marR="0" rtl="0" algn="l">
              <a:lnSpc>
                <a:spcPct val="100000"/>
              </a:lnSpc>
              <a:spcBef>
                <a:spcPts val="0"/>
              </a:spcBef>
              <a:spcAft>
                <a:spcPts val="0"/>
              </a:spcAft>
              <a:buClr>
                <a:srgbClr val="000000"/>
              </a:buClr>
              <a:buSzPts val="1000"/>
              <a:buFont typeface="Arial"/>
              <a:buNone/>
              <a:defRPr b="0" i="0" spc="0" sz="1000" u="none" cap="none" strike="noStrike">
                <a:solidFill>
                  <a:schemeClr val="dk1"/>
                </a:solidFill>
                <a:latin typeface="Raleway Light"/>
                <a:ea typeface="Raleway Light"/>
                <a:cs typeface="Raleway Light"/>
                <a:sym typeface="Raleway Light"/>
              </a:defRPr>
            </a:lvl5pPr>
            <a:lvl6pPr indent="0" lvl="5" marL="0" marR="0" rtl="0" algn="l">
              <a:lnSpc>
                <a:spcPct val="100000"/>
              </a:lnSpc>
              <a:spcBef>
                <a:spcPts val="0"/>
              </a:spcBef>
              <a:spcAft>
                <a:spcPts val="0"/>
              </a:spcAft>
              <a:buClr>
                <a:srgbClr val="000000"/>
              </a:buClr>
              <a:buSzPts val="1000"/>
              <a:buFont typeface="Arial"/>
              <a:buNone/>
              <a:defRPr b="0" i="0" spc="0" sz="1000" u="none" cap="none" strike="noStrike">
                <a:solidFill>
                  <a:schemeClr val="dk1"/>
                </a:solidFill>
                <a:latin typeface="Raleway Light"/>
                <a:ea typeface="Raleway Light"/>
                <a:cs typeface="Raleway Light"/>
                <a:sym typeface="Raleway Light"/>
              </a:defRPr>
            </a:lvl6pPr>
            <a:lvl7pPr indent="0" lvl="6" marL="0" marR="0" rtl="0" algn="l">
              <a:lnSpc>
                <a:spcPct val="100000"/>
              </a:lnSpc>
              <a:spcBef>
                <a:spcPts val="0"/>
              </a:spcBef>
              <a:spcAft>
                <a:spcPts val="0"/>
              </a:spcAft>
              <a:buClr>
                <a:srgbClr val="000000"/>
              </a:buClr>
              <a:buSzPts val="1000"/>
              <a:buFont typeface="Arial"/>
              <a:buNone/>
              <a:defRPr b="0" i="0" spc="0" sz="1000" u="none" cap="none" strike="noStrike">
                <a:solidFill>
                  <a:schemeClr val="dk1"/>
                </a:solidFill>
                <a:latin typeface="Raleway Light"/>
                <a:ea typeface="Raleway Light"/>
                <a:cs typeface="Raleway Light"/>
                <a:sym typeface="Raleway Light"/>
              </a:defRPr>
            </a:lvl7pPr>
            <a:lvl8pPr indent="0" lvl="7" marL="0" marR="0" rtl="0" algn="l">
              <a:lnSpc>
                <a:spcPct val="100000"/>
              </a:lnSpc>
              <a:spcBef>
                <a:spcPts val="0"/>
              </a:spcBef>
              <a:spcAft>
                <a:spcPts val="0"/>
              </a:spcAft>
              <a:buClr>
                <a:srgbClr val="000000"/>
              </a:buClr>
              <a:buSzPts val="1000"/>
              <a:buFont typeface="Arial"/>
              <a:buNone/>
              <a:defRPr b="0" i="0" spc="0" sz="1000" u="none" cap="none" strike="noStrike">
                <a:solidFill>
                  <a:schemeClr val="dk1"/>
                </a:solidFill>
                <a:latin typeface="Raleway Light"/>
                <a:ea typeface="Raleway Light"/>
                <a:cs typeface="Raleway Light"/>
                <a:sym typeface="Raleway Light"/>
              </a:defRPr>
            </a:lvl8pPr>
            <a:lvl9pPr indent="0" lvl="8" marL="0" marR="0" rtl="0" algn="l">
              <a:lnSpc>
                <a:spcPct val="100000"/>
              </a:lnSpc>
              <a:spcBef>
                <a:spcPts val="0"/>
              </a:spcBef>
              <a:spcAft>
                <a:spcPts val="0"/>
              </a:spcAft>
              <a:buClr>
                <a:srgbClr val="000000"/>
              </a:buClr>
              <a:buSzPts val="1000"/>
              <a:buFont typeface="Arial"/>
              <a:buNone/>
              <a:defRPr b="0" i="0" spc="0" sz="1000" u="none" cap="none" strike="noStrike">
                <a:solidFill>
                  <a:schemeClr val="dk1"/>
                </a:solidFill>
                <a:latin typeface="Raleway Light"/>
                <a:ea typeface="Raleway Light"/>
                <a:cs typeface="Raleway Light"/>
                <a:sym typeface="Raleway Light"/>
              </a:defRPr>
            </a:lvl9pPr>
          </a:lstStyle>
          <a:p>
            <a:pPr indent="0" lvl="0" marL="0" rtl="0" algn="l">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4" r:id="rId1"/>
    <p:sldLayoutId id="2147483665" r:id="rId2"/>
    <p:sldLayoutId id="2147483666"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4"/>
          <p:cNvSpPr txBox="1"/>
          <p:nvPr>
            <p:ph idx="12" type="sldNum"/>
          </p:nvPr>
        </p:nvSpPr>
        <p:spPr>
          <a:xfrm>
            <a:off x="11094415" y="457200"/>
            <a:ext cx="548640" cy="27432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pc="0" sz="1200" u="none" cap="none" strike="noStrike">
                <a:solidFill>
                  <a:schemeClr val="dk1"/>
                </a:solidFill>
                <a:latin typeface="Raleway Light"/>
                <a:ea typeface="Raleway Light"/>
                <a:cs typeface="Raleway Light"/>
                <a:sym typeface="Raleway Light"/>
              </a:defRPr>
            </a:lvl1pPr>
            <a:lvl2pPr indent="0" lvl="1" marL="0" marR="0" rtl="0" algn="r">
              <a:lnSpc>
                <a:spcPct val="100000"/>
              </a:lnSpc>
              <a:spcBef>
                <a:spcPts val="0"/>
              </a:spcBef>
              <a:spcAft>
                <a:spcPts val="0"/>
              </a:spcAft>
              <a:buClr>
                <a:srgbClr val="000000"/>
              </a:buClr>
              <a:buSzPts val="1200"/>
              <a:buFont typeface="Arial"/>
              <a:buNone/>
              <a:defRPr b="0" i="0" spc="0" sz="1200" u="none" cap="none" strike="noStrike">
                <a:solidFill>
                  <a:schemeClr val="dk1"/>
                </a:solidFill>
                <a:latin typeface="Raleway Light"/>
                <a:ea typeface="Raleway Light"/>
                <a:cs typeface="Raleway Light"/>
                <a:sym typeface="Raleway Light"/>
              </a:defRPr>
            </a:lvl2pPr>
            <a:lvl3pPr indent="0" lvl="2" marL="0" marR="0" rtl="0" algn="r">
              <a:lnSpc>
                <a:spcPct val="100000"/>
              </a:lnSpc>
              <a:spcBef>
                <a:spcPts val="0"/>
              </a:spcBef>
              <a:spcAft>
                <a:spcPts val="0"/>
              </a:spcAft>
              <a:buClr>
                <a:srgbClr val="000000"/>
              </a:buClr>
              <a:buSzPts val="1200"/>
              <a:buFont typeface="Arial"/>
              <a:buNone/>
              <a:defRPr b="0" i="0" spc="0" sz="1200" u="none" cap="none" strike="noStrike">
                <a:solidFill>
                  <a:schemeClr val="dk1"/>
                </a:solidFill>
                <a:latin typeface="Raleway Light"/>
                <a:ea typeface="Raleway Light"/>
                <a:cs typeface="Raleway Light"/>
                <a:sym typeface="Raleway Light"/>
              </a:defRPr>
            </a:lvl3pPr>
            <a:lvl4pPr indent="0" lvl="3" marL="0" marR="0" rtl="0" algn="r">
              <a:lnSpc>
                <a:spcPct val="100000"/>
              </a:lnSpc>
              <a:spcBef>
                <a:spcPts val="0"/>
              </a:spcBef>
              <a:spcAft>
                <a:spcPts val="0"/>
              </a:spcAft>
              <a:buClr>
                <a:srgbClr val="000000"/>
              </a:buClr>
              <a:buSzPts val="1200"/>
              <a:buFont typeface="Arial"/>
              <a:buNone/>
              <a:defRPr b="0" i="0" spc="0" sz="1200" u="none" cap="none" strike="noStrike">
                <a:solidFill>
                  <a:schemeClr val="dk1"/>
                </a:solidFill>
                <a:latin typeface="Raleway Light"/>
                <a:ea typeface="Raleway Light"/>
                <a:cs typeface="Raleway Light"/>
                <a:sym typeface="Raleway Light"/>
              </a:defRPr>
            </a:lvl4pPr>
            <a:lvl5pPr indent="0" lvl="4" marL="0" marR="0" rtl="0" algn="r">
              <a:lnSpc>
                <a:spcPct val="100000"/>
              </a:lnSpc>
              <a:spcBef>
                <a:spcPts val="0"/>
              </a:spcBef>
              <a:spcAft>
                <a:spcPts val="0"/>
              </a:spcAft>
              <a:buClr>
                <a:srgbClr val="000000"/>
              </a:buClr>
              <a:buSzPts val="1200"/>
              <a:buFont typeface="Arial"/>
              <a:buNone/>
              <a:defRPr b="0" i="0" spc="0" sz="1200" u="none" cap="none" strike="noStrike">
                <a:solidFill>
                  <a:schemeClr val="dk1"/>
                </a:solidFill>
                <a:latin typeface="Raleway Light"/>
                <a:ea typeface="Raleway Light"/>
                <a:cs typeface="Raleway Light"/>
                <a:sym typeface="Raleway Light"/>
              </a:defRPr>
            </a:lvl5pPr>
            <a:lvl6pPr indent="0" lvl="5" marL="0" marR="0" rtl="0" algn="r">
              <a:lnSpc>
                <a:spcPct val="100000"/>
              </a:lnSpc>
              <a:spcBef>
                <a:spcPts val="0"/>
              </a:spcBef>
              <a:spcAft>
                <a:spcPts val="0"/>
              </a:spcAft>
              <a:buClr>
                <a:srgbClr val="000000"/>
              </a:buClr>
              <a:buSzPts val="1200"/>
              <a:buFont typeface="Arial"/>
              <a:buNone/>
              <a:defRPr b="0" i="0" spc="0" sz="1200" u="none" cap="none" strike="noStrike">
                <a:solidFill>
                  <a:schemeClr val="dk1"/>
                </a:solidFill>
                <a:latin typeface="Raleway Light"/>
                <a:ea typeface="Raleway Light"/>
                <a:cs typeface="Raleway Light"/>
                <a:sym typeface="Raleway Light"/>
              </a:defRPr>
            </a:lvl6pPr>
            <a:lvl7pPr indent="0" lvl="6" marL="0" marR="0" rtl="0" algn="r">
              <a:lnSpc>
                <a:spcPct val="100000"/>
              </a:lnSpc>
              <a:spcBef>
                <a:spcPts val="0"/>
              </a:spcBef>
              <a:spcAft>
                <a:spcPts val="0"/>
              </a:spcAft>
              <a:buClr>
                <a:srgbClr val="000000"/>
              </a:buClr>
              <a:buSzPts val="1200"/>
              <a:buFont typeface="Arial"/>
              <a:buNone/>
              <a:defRPr b="0" i="0" spc="0" sz="1200" u="none" cap="none" strike="noStrike">
                <a:solidFill>
                  <a:schemeClr val="dk1"/>
                </a:solidFill>
                <a:latin typeface="Raleway Light"/>
                <a:ea typeface="Raleway Light"/>
                <a:cs typeface="Raleway Light"/>
                <a:sym typeface="Raleway Light"/>
              </a:defRPr>
            </a:lvl7pPr>
            <a:lvl8pPr indent="0" lvl="7" marL="0" marR="0" rtl="0" algn="r">
              <a:lnSpc>
                <a:spcPct val="100000"/>
              </a:lnSpc>
              <a:spcBef>
                <a:spcPts val="0"/>
              </a:spcBef>
              <a:spcAft>
                <a:spcPts val="0"/>
              </a:spcAft>
              <a:buClr>
                <a:srgbClr val="000000"/>
              </a:buClr>
              <a:buSzPts val="1200"/>
              <a:buFont typeface="Arial"/>
              <a:buNone/>
              <a:defRPr b="0" i="0" spc="0" sz="1200" u="none" cap="none" strike="noStrike">
                <a:solidFill>
                  <a:schemeClr val="dk1"/>
                </a:solidFill>
                <a:latin typeface="Raleway Light"/>
                <a:ea typeface="Raleway Light"/>
                <a:cs typeface="Raleway Light"/>
                <a:sym typeface="Raleway Light"/>
              </a:defRPr>
            </a:lvl8pPr>
            <a:lvl9pPr indent="0" lvl="8" marL="0" marR="0" rtl="0" algn="r">
              <a:lnSpc>
                <a:spcPct val="100000"/>
              </a:lnSpc>
              <a:spcBef>
                <a:spcPts val="0"/>
              </a:spcBef>
              <a:spcAft>
                <a:spcPts val="0"/>
              </a:spcAft>
              <a:buClr>
                <a:srgbClr val="000000"/>
              </a:buClr>
              <a:buSzPts val="1200"/>
              <a:buFont typeface="Arial"/>
              <a:buNone/>
              <a:defRPr b="0" i="0" spc="0" sz="1200" u="none" cap="none" strike="noStrike">
                <a:solidFill>
                  <a:schemeClr val="dk1"/>
                </a:solidFill>
                <a:latin typeface="Raleway Light"/>
                <a:ea typeface="Raleway Light"/>
                <a:cs typeface="Raleway Light"/>
                <a:sym typeface="Raleway Light"/>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7" r:id="rId1"/>
    <p:sldLayoutId id="2147483668" r:id="rId2"/>
    <p:sldLayoutId id="2147483669"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8"/>
          <p:cNvSpPr txBox="1"/>
          <p:nvPr>
            <p:ph idx="12" type="sldNum"/>
          </p:nvPr>
        </p:nvSpPr>
        <p:spPr>
          <a:xfrm>
            <a:off x="10180015" y="6355080"/>
            <a:ext cx="365700" cy="2742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000"/>
              <a:buFont typeface="Arial"/>
              <a:buNone/>
              <a:defRPr b="0" i="0" spc="0" sz="1000" u="none" cap="none" strike="noStrike">
                <a:solidFill>
                  <a:schemeClr val="dk1"/>
                </a:solidFill>
                <a:latin typeface="Raleway Light"/>
                <a:ea typeface="Raleway Light"/>
                <a:cs typeface="Raleway Light"/>
                <a:sym typeface="Raleway Light"/>
              </a:defRPr>
            </a:lvl1pPr>
            <a:lvl2pPr indent="0" lvl="1" marL="0" marR="0" rtl="0" algn="l">
              <a:lnSpc>
                <a:spcPct val="100000"/>
              </a:lnSpc>
              <a:spcBef>
                <a:spcPts val="0"/>
              </a:spcBef>
              <a:spcAft>
                <a:spcPts val="0"/>
              </a:spcAft>
              <a:buClr>
                <a:srgbClr val="000000"/>
              </a:buClr>
              <a:buSzPts val="1000"/>
              <a:buFont typeface="Arial"/>
              <a:buNone/>
              <a:defRPr b="0" i="0" spc="0" sz="1000" u="none" cap="none" strike="noStrike">
                <a:solidFill>
                  <a:schemeClr val="dk1"/>
                </a:solidFill>
                <a:latin typeface="Raleway Light"/>
                <a:ea typeface="Raleway Light"/>
                <a:cs typeface="Raleway Light"/>
                <a:sym typeface="Raleway Light"/>
              </a:defRPr>
            </a:lvl2pPr>
            <a:lvl3pPr indent="0" lvl="2" marL="0" marR="0" rtl="0" algn="l">
              <a:lnSpc>
                <a:spcPct val="100000"/>
              </a:lnSpc>
              <a:spcBef>
                <a:spcPts val="0"/>
              </a:spcBef>
              <a:spcAft>
                <a:spcPts val="0"/>
              </a:spcAft>
              <a:buClr>
                <a:srgbClr val="000000"/>
              </a:buClr>
              <a:buSzPts val="1000"/>
              <a:buFont typeface="Arial"/>
              <a:buNone/>
              <a:defRPr b="0" i="0" spc="0" sz="1000" u="none" cap="none" strike="noStrike">
                <a:solidFill>
                  <a:schemeClr val="dk1"/>
                </a:solidFill>
                <a:latin typeface="Raleway Light"/>
                <a:ea typeface="Raleway Light"/>
                <a:cs typeface="Raleway Light"/>
                <a:sym typeface="Raleway Light"/>
              </a:defRPr>
            </a:lvl3pPr>
            <a:lvl4pPr indent="0" lvl="3" marL="0" marR="0" rtl="0" algn="l">
              <a:lnSpc>
                <a:spcPct val="100000"/>
              </a:lnSpc>
              <a:spcBef>
                <a:spcPts val="0"/>
              </a:spcBef>
              <a:spcAft>
                <a:spcPts val="0"/>
              </a:spcAft>
              <a:buClr>
                <a:srgbClr val="000000"/>
              </a:buClr>
              <a:buSzPts val="1000"/>
              <a:buFont typeface="Arial"/>
              <a:buNone/>
              <a:defRPr b="0" i="0" spc="0" sz="1000" u="none" cap="none" strike="noStrike">
                <a:solidFill>
                  <a:schemeClr val="dk1"/>
                </a:solidFill>
                <a:latin typeface="Raleway Light"/>
                <a:ea typeface="Raleway Light"/>
                <a:cs typeface="Raleway Light"/>
                <a:sym typeface="Raleway Light"/>
              </a:defRPr>
            </a:lvl4pPr>
            <a:lvl5pPr indent="0" lvl="4" marL="0" marR="0" rtl="0" algn="l">
              <a:lnSpc>
                <a:spcPct val="100000"/>
              </a:lnSpc>
              <a:spcBef>
                <a:spcPts val="0"/>
              </a:spcBef>
              <a:spcAft>
                <a:spcPts val="0"/>
              </a:spcAft>
              <a:buClr>
                <a:srgbClr val="000000"/>
              </a:buClr>
              <a:buSzPts val="1000"/>
              <a:buFont typeface="Arial"/>
              <a:buNone/>
              <a:defRPr b="0" i="0" spc="0" sz="1000" u="none" cap="none" strike="noStrike">
                <a:solidFill>
                  <a:schemeClr val="dk1"/>
                </a:solidFill>
                <a:latin typeface="Raleway Light"/>
                <a:ea typeface="Raleway Light"/>
                <a:cs typeface="Raleway Light"/>
                <a:sym typeface="Raleway Light"/>
              </a:defRPr>
            </a:lvl5pPr>
            <a:lvl6pPr indent="0" lvl="5" marL="0" marR="0" rtl="0" algn="l">
              <a:lnSpc>
                <a:spcPct val="100000"/>
              </a:lnSpc>
              <a:spcBef>
                <a:spcPts val="0"/>
              </a:spcBef>
              <a:spcAft>
                <a:spcPts val="0"/>
              </a:spcAft>
              <a:buClr>
                <a:srgbClr val="000000"/>
              </a:buClr>
              <a:buSzPts val="1000"/>
              <a:buFont typeface="Arial"/>
              <a:buNone/>
              <a:defRPr b="0" i="0" spc="0" sz="1000" u="none" cap="none" strike="noStrike">
                <a:solidFill>
                  <a:schemeClr val="dk1"/>
                </a:solidFill>
                <a:latin typeface="Raleway Light"/>
                <a:ea typeface="Raleway Light"/>
                <a:cs typeface="Raleway Light"/>
                <a:sym typeface="Raleway Light"/>
              </a:defRPr>
            </a:lvl6pPr>
            <a:lvl7pPr indent="0" lvl="6" marL="0" marR="0" rtl="0" algn="l">
              <a:lnSpc>
                <a:spcPct val="100000"/>
              </a:lnSpc>
              <a:spcBef>
                <a:spcPts val="0"/>
              </a:spcBef>
              <a:spcAft>
                <a:spcPts val="0"/>
              </a:spcAft>
              <a:buClr>
                <a:srgbClr val="000000"/>
              </a:buClr>
              <a:buSzPts val="1000"/>
              <a:buFont typeface="Arial"/>
              <a:buNone/>
              <a:defRPr b="0" i="0" spc="0" sz="1000" u="none" cap="none" strike="noStrike">
                <a:solidFill>
                  <a:schemeClr val="dk1"/>
                </a:solidFill>
                <a:latin typeface="Raleway Light"/>
                <a:ea typeface="Raleway Light"/>
                <a:cs typeface="Raleway Light"/>
                <a:sym typeface="Raleway Light"/>
              </a:defRPr>
            </a:lvl7pPr>
            <a:lvl8pPr indent="0" lvl="7" marL="0" marR="0" rtl="0" algn="l">
              <a:lnSpc>
                <a:spcPct val="100000"/>
              </a:lnSpc>
              <a:spcBef>
                <a:spcPts val="0"/>
              </a:spcBef>
              <a:spcAft>
                <a:spcPts val="0"/>
              </a:spcAft>
              <a:buClr>
                <a:srgbClr val="000000"/>
              </a:buClr>
              <a:buSzPts val="1000"/>
              <a:buFont typeface="Arial"/>
              <a:buNone/>
              <a:defRPr b="0" i="0" spc="0" sz="1000" u="none" cap="none" strike="noStrike">
                <a:solidFill>
                  <a:schemeClr val="dk1"/>
                </a:solidFill>
                <a:latin typeface="Raleway Light"/>
                <a:ea typeface="Raleway Light"/>
                <a:cs typeface="Raleway Light"/>
                <a:sym typeface="Raleway Light"/>
              </a:defRPr>
            </a:lvl8pPr>
            <a:lvl9pPr indent="0" lvl="8" marL="0" marR="0" rtl="0" algn="l">
              <a:lnSpc>
                <a:spcPct val="100000"/>
              </a:lnSpc>
              <a:spcBef>
                <a:spcPts val="0"/>
              </a:spcBef>
              <a:spcAft>
                <a:spcPts val="0"/>
              </a:spcAft>
              <a:buClr>
                <a:srgbClr val="000000"/>
              </a:buClr>
              <a:buSzPts val="1000"/>
              <a:buFont typeface="Arial"/>
              <a:buNone/>
              <a:defRPr b="0" i="0" spc="0" sz="1000" u="none" cap="none" strike="noStrike">
                <a:solidFill>
                  <a:schemeClr val="dk1"/>
                </a:solidFill>
                <a:latin typeface="Raleway Light"/>
                <a:ea typeface="Raleway Light"/>
                <a:cs typeface="Raleway Light"/>
                <a:sym typeface="Raleway Light"/>
              </a:defRPr>
            </a:lvl9pPr>
          </a:lstStyle>
          <a:p>
            <a:pPr indent="0" lvl="0" marL="0" rtl="0" algn="l">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70" r:id="rId1"/>
    <p:sldLayoutId id="2147483671" r:id="rId2"/>
    <p:sldLayoutId id="2147483672"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15.png"/><Relationship Id="rId4" Type="http://schemas.openxmlformats.org/officeDocument/2006/relationships/image" Target="../media/image5.png"/><Relationship Id="rId9" Type="http://schemas.openxmlformats.org/officeDocument/2006/relationships/image" Target="../media/image16.png"/><Relationship Id="rId5" Type="http://schemas.openxmlformats.org/officeDocument/2006/relationships/image" Target="../media/image9.png"/><Relationship Id="rId6" Type="http://schemas.openxmlformats.org/officeDocument/2006/relationships/image" Target="../media/image20.png"/><Relationship Id="rId7" Type="http://schemas.openxmlformats.org/officeDocument/2006/relationships/image" Target="../media/image4.png"/><Relationship Id="rId8" Type="http://schemas.openxmlformats.org/officeDocument/2006/relationships/image" Target="../media/image2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4.xml"/><Relationship Id="rId3" Type="http://schemas.openxmlformats.org/officeDocument/2006/relationships/image" Target="../media/image25.jpg"/><Relationship Id="rId4" Type="http://schemas.openxmlformats.org/officeDocument/2006/relationships/image" Target="../media/image26.jpg"/><Relationship Id="rId5" Type="http://schemas.openxmlformats.org/officeDocument/2006/relationships/image" Target="../media/image27.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5.xml"/><Relationship Id="rId3" Type="http://schemas.openxmlformats.org/officeDocument/2006/relationships/image" Target="../media/image22.jpg"/><Relationship Id="rId4" Type="http://schemas.openxmlformats.org/officeDocument/2006/relationships/image" Target="../media/image14.jpg"/><Relationship Id="rId9" Type="http://schemas.openxmlformats.org/officeDocument/2006/relationships/image" Target="../media/image17.jpg"/><Relationship Id="rId5" Type="http://schemas.openxmlformats.org/officeDocument/2006/relationships/image" Target="../media/image18.jpg"/><Relationship Id="rId6" Type="http://schemas.openxmlformats.org/officeDocument/2006/relationships/image" Target="../media/image23.jpg"/><Relationship Id="rId7" Type="http://schemas.openxmlformats.org/officeDocument/2006/relationships/image" Target="../media/image11.jpg"/><Relationship Id="rId8" Type="http://schemas.openxmlformats.org/officeDocument/2006/relationships/image" Target="../media/image13.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 Id="rId3" Type="http://schemas.openxmlformats.org/officeDocument/2006/relationships/image" Target="../media/image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 Id="rId3" Type="http://schemas.openxmlformats.org/officeDocument/2006/relationships/image" Target="../media/image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 Id="rId3" Type="http://schemas.openxmlformats.org/officeDocument/2006/relationships/image" Target="../media/image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 Id="rId3" Type="http://schemas.openxmlformats.org/officeDocument/2006/relationships/image" Target="../media/image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 Id="rId3" Type="http://schemas.openxmlformats.org/officeDocument/2006/relationships/image" Target="../media/image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 Id="rId3" Type="http://schemas.openxmlformats.org/officeDocument/2006/relationships/image" Target="../media/image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 Id="rId3" Type="http://schemas.openxmlformats.org/officeDocument/2006/relationships/image" Target="../media/image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6.png"/><Relationship Id="rId4" Type="http://schemas.openxmlformats.org/officeDocument/2006/relationships/image" Target="../media/image2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 Id="rId3" Type="http://schemas.openxmlformats.org/officeDocument/2006/relationships/image" Target="../media/image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 Id="rId3" Type="http://schemas.openxmlformats.org/officeDocument/2006/relationships/image" Target="../media/image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42.xml"/><Relationship Id="rId3"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AE0"/>
        </a:solidFill>
      </p:bgPr>
    </p:bg>
    <p:spTree>
      <p:nvGrpSpPr>
        <p:cNvPr id="134" name="Shape 134"/>
        <p:cNvGrpSpPr/>
        <p:nvPr/>
      </p:nvGrpSpPr>
      <p:grpSpPr>
        <a:xfrm>
          <a:off x="0" y="0"/>
          <a:ext cx="0" cy="0"/>
          <a:chOff x="0" y="0"/>
          <a:chExt cx="0" cy="0"/>
        </a:xfrm>
      </p:grpSpPr>
      <p:sp>
        <p:nvSpPr>
          <p:cNvPr id="135" name="Google Shape;135;p32"/>
          <p:cNvSpPr/>
          <p:nvPr/>
        </p:nvSpPr>
        <p:spPr>
          <a:xfrm>
            <a:off x="0" y="0"/>
            <a:ext cx="12191700" cy="329100"/>
          </a:xfrm>
          <a:prstGeom prst="rect">
            <a:avLst/>
          </a:prstGeom>
          <a:solidFill>
            <a:srgbClr val="565A32"/>
          </a:solidFill>
          <a:ln cap="flat" cmpd="sng" w="12700">
            <a:solidFill>
              <a:srgbClr val="565A3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
        <p:nvSpPr>
          <p:cNvPr id="136" name="Google Shape;136;p32"/>
          <p:cNvSpPr/>
          <p:nvPr/>
        </p:nvSpPr>
        <p:spPr>
          <a:xfrm>
            <a:off x="868680" y="2194339"/>
            <a:ext cx="5989200" cy="2377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65A32"/>
              </a:buClr>
              <a:buSzPts val="8200"/>
              <a:buFont typeface="Raleway Light"/>
              <a:buNone/>
            </a:pPr>
            <a:r>
              <a:t/>
            </a:r>
            <a:endParaRPr b="0" i="0" spc="0" sz="7200" u="none" cap="none" strike="noStrike">
              <a:solidFill>
                <a:schemeClr val="dk1"/>
              </a:solidFill>
              <a:latin typeface="Raleway Light"/>
              <a:ea typeface="Raleway Light"/>
              <a:cs typeface="Raleway Light"/>
              <a:sym typeface="Raleway Light"/>
            </a:endParaRPr>
          </a:p>
        </p:txBody>
      </p:sp>
      <p:pic>
        <p:nvPicPr>
          <p:cNvPr id="137" name="Google Shape;137;p32" title="Copy_of_Untitled-removebg-preview.png"/>
          <p:cNvPicPr preferRelativeResize="0"/>
          <p:nvPr/>
        </p:nvPicPr>
        <p:blipFill rotWithShape="1">
          <a:blip r:embed="rId3">
            <a:alphaModFix/>
          </a:blip>
          <a:srcRect b="0" l="0" r="0" t="0"/>
          <a:stretch/>
        </p:blipFill>
        <p:spPr>
          <a:xfrm>
            <a:off x="3608000" y="1051550"/>
            <a:ext cx="4754900" cy="4754900"/>
          </a:xfrm>
          <a:prstGeom prst="rect">
            <a:avLst/>
          </a:prstGeom>
          <a:noFill/>
          <a:ln>
            <a:noFill/>
          </a:ln>
        </p:spPr>
      </p:pic>
      <p:sp>
        <p:nvSpPr>
          <p:cNvPr id="138" name="Google Shape;138;p32"/>
          <p:cNvSpPr txBox="1"/>
          <p:nvPr/>
        </p:nvSpPr>
        <p:spPr>
          <a:xfrm>
            <a:off x="1527048" y="4892040"/>
            <a:ext cx="9144000" cy="54864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2600"/>
              <a:buFont typeface="Arial"/>
              <a:buNone/>
            </a:pPr>
            <a:r>
              <a:rPr b="0" i="0" lang="en-US" spc="0" sz="2600" u="none" cap="none" strike="noStrike">
                <a:solidFill>
                  <a:srgbClr val="565A32"/>
                </a:solidFill>
                <a:latin typeface="Raleway Light"/>
                <a:ea typeface="Raleway Light"/>
                <a:cs typeface="Raleway Light"/>
                <a:sym typeface="Raleway Light"/>
              </a:rPr>
              <a:t>The setting changes. The spirit never does.</a:t>
            </a:r>
            <a:endParaRPr b="0" i="0" spc="0" sz="1400" u="none" cap="none" strike="noStrike">
              <a:solidFill>
                <a:srgbClr val="000000"/>
              </a:solidFill>
              <a:latin typeface="Arial"/>
              <a:ea typeface="Arial"/>
              <a:cs typeface="Arial"/>
              <a:sym typeface="Arial"/>
            </a:endParaRPr>
          </a:p>
        </p:txBody>
      </p:sp>
      <p:sp>
        <p:nvSpPr>
          <p:cNvPr id="139" name="Google Shape;139;p32"/>
          <p:cNvSpPr txBox="1"/>
          <p:nvPr/>
        </p:nvSpPr>
        <p:spPr>
          <a:xfrm>
            <a:off x="1527048" y="5989320"/>
            <a:ext cx="9144000" cy="32004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100"/>
              <a:buFont typeface="Arial"/>
              <a:buNone/>
            </a:pPr>
            <a:r>
              <a:rPr b="1" i="0" lang="en-US" spc="0" sz="1100" u="none" cap="none" strike="noStrike">
                <a:solidFill>
                  <a:srgbClr val="8B8B5C"/>
                </a:solidFill>
                <a:latin typeface="Raleway SemiBold"/>
                <a:ea typeface="Raleway SemiBold"/>
                <a:cs typeface="Raleway SemiBold"/>
                <a:sym typeface="Raleway SemiBold"/>
              </a:rPr>
              <a:t>INTERNAL WORKING MASTER  ·  NOT FOR SHARING  ·  29 OCTOBER 2026</a:t>
            </a:r>
            <a:endParaRPr b="0" i="0" spc="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33"/>
          <p:cNvSpPr txBox="1"/>
          <p:nvPr>
            <p:ph idx="1" type="body"/>
          </p:nvPr>
        </p:nvSpPr>
        <p:spPr>
          <a:xfrm>
            <a:off x="548690" y="1626293"/>
            <a:ext cx="11094300" cy="4116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360"/>
              </a:spcBef>
              <a:spcAft>
                <a:spcPts val="0"/>
              </a:spcAft>
              <a:buSzPts val="1800"/>
              <a:buNone/>
            </a:pPr>
            <a:r>
              <a:rPr b="1" lang="en-US" sz="2300">
                <a:latin typeface="Raleway"/>
                <a:ea typeface="Raleway"/>
                <a:cs typeface="Raleway"/>
                <a:sym typeface="Raleway"/>
              </a:rPr>
              <a:t>Our purpose</a:t>
            </a:r>
            <a:r>
              <a:rPr lang="en-US" sz="2300"/>
              <a:t>: Where human connection thrives.</a:t>
            </a:r>
            <a:endParaRPr sz="2300"/>
          </a:p>
          <a:p>
            <a:pPr indent="0" lvl="0" marL="0" rtl="0" algn="ctr">
              <a:lnSpc>
                <a:spcPct val="100000"/>
              </a:lnSpc>
              <a:spcBef>
                <a:spcPts val="360"/>
              </a:spcBef>
              <a:spcAft>
                <a:spcPts val="0"/>
              </a:spcAft>
              <a:buSzPts val="1800"/>
              <a:buNone/>
            </a:pPr>
            <a:r>
              <a:t/>
            </a:r>
            <a:endParaRPr sz="2300"/>
          </a:p>
          <a:p>
            <a:pPr indent="0" lvl="0" marL="0" rtl="0" algn="ctr">
              <a:lnSpc>
                <a:spcPct val="100000"/>
              </a:lnSpc>
              <a:spcBef>
                <a:spcPts val="360"/>
              </a:spcBef>
              <a:spcAft>
                <a:spcPts val="0"/>
              </a:spcAft>
              <a:buSzPts val="1800"/>
              <a:buNone/>
            </a:pPr>
            <a:r>
              <a:rPr b="1" lang="en-US" sz="2300">
                <a:latin typeface="Raleway"/>
                <a:ea typeface="Raleway"/>
                <a:cs typeface="Raleway"/>
                <a:sym typeface="Raleway"/>
              </a:rPr>
              <a:t>Our vision</a:t>
            </a:r>
            <a:r>
              <a:rPr lang="en-US" sz="2300"/>
              <a:t>: A world where shared experiences create lasting connections, memories and a sense of belonging.</a:t>
            </a:r>
            <a:endParaRPr sz="2300"/>
          </a:p>
          <a:p>
            <a:pPr indent="0" lvl="0" marL="0" rtl="0" algn="ctr">
              <a:lnSpc>
                <a:spcPct val="100000"/>
              </a:lnSpc>
              <a:spcBef>
                <a:spcPts val="360"/>
              </a:spcBef>
              <a:spcAft>
                <a:spcPts val="0"/>
              </a:spcAft>
              <a:buSzPts val="1800"/>
              <a:buNone/>
            </a:pPr>
            <a:r>
              <a:t/>
            </a:r>
            <a:endParaRPr sz="2300"/>
          </a:p>
          <a:p>
            <a:pPr indent="0" lvl="0" marL="0" rtl="0" algn="ctr">
              <a:lnSpc>
                <a:spcPct val="100000"/>
              </a:lnSpc>
              <a:spcBef>
                <a:spcPts val="360"/>
              </a:spcBef>
              <a:spcAft>
                <a:spcPts val="0"/>
              </a:spcAft>
              <a:buSzPts val="1800"/>
              <a:buNone/>
            </a:pPr>
            <a:r>
              <a:rPr b="1" lang="en-US" sz="2300">
                <a:latin typeface="Raleway"/>
                <a:ea typeface="Raleway"/>
                <a:cs typeface="Raleway"/>
                <a:sym typeface="Raleway"/>
              </a:rPr>
              <a:t>Our approach</a:t>
            </a:r>
            <a:r>
              <a:rPr lang="en-US" sz="2300"/>
              <a:t>: Inspire. Discover. Experience. Belong.</a:t>
            </a:r>
            <a:endParaRPr sz="2300"/>
          </a:p>
          <a:p>
            <a:pPr indent="0" lvl="0" marL="0" rtl="0" algn="ctr">
              <a:lnSpc>
                <a:spcPct val="100000"/>
              </a:lnSpc>
              <a:spcBef>
                <a:spcPts val="360"/>
              </a:spcBef>
              <a:spcAft>
                <a:spcPts val="0"/>
              </a:spcAft>
              <a:buSzPts val="1800"/>
              <a:buNone/>
            </a:pPr>
            <a:r>
              <a:t/>
            </a:r>
            <a:endParaRPr sz="2300"/>
          </a:p>
          <a:p>
            <a:pPr indent="0" lvl="0" marL="0" rtl="0" algn="ctr">
              <a:lnSpc>
                <a:spcPct val="100000"/>
              </a:lnSpc>
              <a:spcBef>
                <a:spcPts val="360"/>
              </a:spcBef>
              <a:spcAft>
                <a:spcPts val="0"/>
              </a:spcAft>
              <a:buSzPts val="1800"/>
              <a:buNone/>
            </a:pPr>
            <a:r>
              <a:t/>
            </a:r>
            <a:endParaRPr sz="2300"/>
          </a:p>
          <a:p>
            <a:pPr indent="0" lvl="0" marL="0" rtl="0" algn="ctr">
              <a:lnSpc>
                <a:spcPct val="100000"/>
              </a:lnSpc>
              <a:spcBef>
                <a:spcPts val="360"/>
              </a:spcBef>
              <a:spcAft>
                <a:spcPts val="0"/>
              </a:spcAft>
              <a:buSzPts val="1800"/>
              <a:buNone/>
            </a:pPr>
            <a:r>
              <a:rPr b="1" lang="en-US" sz="2300">
                <a:latin typeface="Raleway"/>
                <a:ea typeface="Raleway"/>
                <a:cs typeface="Raleway"/>
                <a:sym typeface="Raleway"/>
              </a:rPr>
              <a:t>The setting changes. The spirit never does.</a:t>
            </a:r>
            <a:endParaRPr b="1" sz="2300">
              <a:latin typeface="Raleway"/>
              <a:ea typeface="Raleway"/>
              <a:cs typeface="Raleway"/>
              <a:sym typeface="Raleway"/>
            </a:endParaRPr>
          </a:p>
          <a:p>
            <a:pPr indent="0" lvl="0" marL="0" rtl="0" algn="ctr">
              <a:lnSpc>
                <a:spcPct val="100000"/>
              </a:lnSpc>
              <a:spcBef>
                <a:spcPts val="360"/>
              </a:spcBef>
              <a:spcAft>
                <a:spcPts val="0"/>
              </a:spcAft>
              <a:buSzPts val="1800"/>
              <a:buNone/>
            </a:pPr>
            <a:r>
              <a:t/>
            </a:r>
            <a:endParaRPr b="1" sz="2700">
              <a:latin typeface="Raleway"/>
              <a:ea typeface="Raleway"/>
              <a:cs typeface="Raleway"/>
              <a:sym typeface="Raleway"/>
            </a:endParaRPr>
          </a:p>
        </p:txBody>
      </p:sp>
      <p:sp>
        <p:nvSpPr>
          <p:cNvPr id="146" name="Google Shape;146;p33"/>
          <p:cNvSpPr/>
          <p:nvPr/>
        </p:nvSpPr>
        <p:spPr>
          <a:xfrm>
            <a:off x="0" y="0"/>
            <a:ext cx="12191700" cy="329100"/>
          </a:xfrm>
          <a:prstGeom prst="rect">
            <a:avLst/>
          </a:prstGeom>
          <a:solidFill>
            <a:srgbClr val="565A32"/>
          </a:solidFill>
          <a:ln cap="flat" cmpd="sng" w="12700">
            <a:solidFill>
              <a:srgbClr val="565A3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
        <p:nvSpPr>
          <p:cNvPr id="147" name="Slide number"/>
          <p:cNvSpPr txBox="1"/>
          <p:nvPr>
            <p:ph idx="4294967295" type="sldNum"/>
          </p:nvPr>
        </p:nvSpPr>
        <p:spPr>
          <a:xfrm>
            <a:off x="10180015" y="6355080"/>
            <a:ext cx="365760" cy="2743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000"/>
              <a:buNone/>
            </a:pPr>
            <a:fld id="{00000000-1234-1234-1234-123412341234}" type="slidenum">
              <a:rPr b="0" i="0" lang="en-US" sz="1000" u="none" cap="none" strike="noStrike">
                <a:solidFill>
                  <a:schemeClr val="dk1"/>
                </a:solidFill>
                <a:latin typeface="Raleway Light"/>
                <a:ea typeface="Raleway Light"/>
                <a:cs typeface="Raleway Light"/>
                <a:sym typeface="Raleway Light"/>
              </a:rPr>
              <a:t>‹#›</a:t>
            </a:fld>
            <a:endParaRPr b="0" i="0" sz="1000" u="none" cap="none" strike="noStrike">
              <a:solidFill>
                <a:schemeClr val="dk1"/>
              </a:solidFill>
              <a:latin typeface="Raleway Light"/>
              <a:ea typeface="Raleway Light"/>
              <a:cs typeface="Raleway Light"/>
              <a:sym typeface="Raleway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AE0"/>
        </a:solidFill>
      </p:bgPr>
    </p:bg>
    <p:spTree>
      <p:nvGrpSpPr>
        <p:cNvPr id="151" name="Shape 151"/>
        <p:cNvGrpSpPr/>
        <p:nvPr/>
      </p:nvGrpSpPr>
      <p:grpSpPr>
        <a:xfrm>
          <a:off x="0" y="0"/>
          <a:ext cx="0" cy="0"/>
          <a:chOff x="0" y="0"/>
          <a:chExt cx="0" cy="0"/>
        </a:xfrm>
      </p:grpSpPr>
      <p:sp>
        <p:nvSpPr>
          <p:cNvPr id="152" name="Google Shape;152;p34"/>
          <p:cNvSpPr/>
          <p:nvPr/>
        </p:nvSpPr>
        <p:spPr>
          <a:xfrm>
            <a:off x="0" y="0"/>
            <a:ext cx="12191700" cy="6858000"/>
          </a:xfrm>
          <a:prstGeom prst="rect">
            <a:avLst/>
          </a:prstGeom>
          <a:solidFill>
            <a:srgbClr val="EFEAE0"/>
          </a:solidFill>
          <a:ln cap="flat" cmpd="sng" w="12700">
            <a:solidFill>
              <a:srgbClr val="EFEAE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
        <p:nvSpPr>
          <p:cNvPr id="153" name="Google Shape;153;p34"/>
          <p:cNvSpPr txBox="1"/>
          <p:nvPr/>
        </p:nvSpPr>
        <p:spPr>
          <a:xfrm>
            <a:off x="595975" y="722313"/>
            <a:ext cx="8229600" cy="530400"/>
          </a:xfrm>
          <a:prstGeom prst="rect">
            <a:avLst/>
          </a:prstGeom>
          <a:noFill/>
          <a:ln>
            <a:noFill/>
          </a:ln>
        </p:spPr>
        <p:txBody>
          <a:bodyPr anchorCtr="0" anchor="t" bIns="0" lIns="0" spcFirstLastPara="1" rIns="0" wrap="square" tIns="0">
            <a:normAutofit/>
          </a:bodyPr>
          <a:lstStyle/>
          <a:p>
            <a:pPr indent="0" lvl="0" marL="0" rtl="0" algn="l">
              <a:spcBef>
                <a:spcPts val="0"/>
              </a:spcBef>
              <a:spcAft>
                <a:spcPts val="0"/>
              </a:spcAft>
              <a:buClr>
                <a:schemeClr val="dk1"/>
              </a:buClr>
              <a:buSzPts val="3100"/>
              <a:buFont typeface="Raleway Light"/>
              <a:buNone/>
            </a:pPr>
            <a:r>
              <a:rPr b="1" lang="en-US" sz="2800">
                <a:solidFill>
                  <a:schemeClr val="dk1"/>
                </a:solidFill>
                <a:latin typeface="Raleway"/>
                <a:ea typeface="Raleway"/>
                <a:cs typeface="Raleway"/>
                <a:sym typeface="Raleway"/>
              </a:rPr>
              <a:t>The setting changes. The spirit never does.</a:t>
            </a:r>
            <a:endParaRPr b="1" i="0" spc="0" sz="3800" u="none" cap="none" strike="noStrike">
              <a:solidFill>
                <a:schemeClr val="dk1"/>
              </a:solidFill>
              <a:latin typeface="Raleway"/>
              <a:ea typeface="Raleway"/>
              <a:cs typeface="Raleway"/>
              <a:sym typeface="Raleway"/>
            </a:endParaRPr>
          </a:p>
        </p:txBody>
      </p:sp>
      <p:sp>
        <p:nvSpPr>
          <p:cNvPr id="154" name="Google Shape;154;p34"/>
          <p:cNvSpPr txBox="1"/>
          <p:nvPr/>
        </p:nvSpPr>
        <p:spPr>
          <a:xfrm>
            <a:off x="595975" y="1614466"/>
            <a:ext cx="10332000" cy="11430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565A32"/>
              </a:buClr>
              <a:buSzPts val="2400"/>
              <a:buFont typeface="Raleway Light"/>
              <a:buNone/>
            </a:pPr>
            <a:r>
              <a:rPr lang="en-US" sz="2000">
                <a:solidFill>
                  <a:srgbClr val="565A32"/>
                </a:solidFill>
                <a:latin typeface="Raleway Light"/>
                <a:ea typeface="Raleway Light"/>
                <a:cs typeface="Raleway Light"/>
                <a:sym typeface="Raleway Light"/>
              </a:rPr>
              <a:t>Everything we do </a:t>
            </a:r>
            <a:r>
              <a:rPr b="0" i="0" lang="en-US" spc="0" sz="2000" u="none" cap="none" strike="noStrike">
                <a:solidFill>
                  <a:srgbClr val="565A32"/>
                </a:solidFill>
                <a:latin typeface="Raleway Light"/>
                <a:ea typeface="Raleway Light"/>
                <a:cs typeface="Raleway Light"/>
                <a:sym typeface="Raleway Light"/>
              </a:rPr>
              <a:t>start</a:t>
            </a:r>
            <a:r>
              <a:rPr lang="en-US" sz="2000">
                <a:solidFill>
                  <a:srgbClr val="565A32"/>
                </a:solidFill>
                <a:latin typeface="Raleway Light"/>
                <a:ea typeface="Raleway Light"/>
                <a:cs typeface="Raleway Light"/>
                <a:sym typeface="Raleway Light"/>
              </a:rPr>
              <a:t>s </a:t>
            </a:r>
            <a:r>
              <a:rPr b="0" i="0" lang="en-US" spc="0" sz="2000" u="none" cap="none" strike="noStrike">
                <a:solidFill>
                  <a:srgbClr val="565A32"/>
                </a:solidFill>
                <a:latin typeface="Raleway Light"/>
                <a:ea typeface="Raleway Light"/>
                <a:cs typeface="Raleway Light"/>
                <a:sym typeface="Raleway Light"/>
              </a:rPr>
              <a:t>with a simple belief: conversation flows when nobody is worried about getting it right. C</a:t>
            </a:r>
            <a:r>
              <a:rPr lang="en-US" sz="2000">
                <a:solidFill>
                  <a:srgbClr val="565A32"/>
                </a:solidFill>
                <a:latin typeface="Raleway Light"/>
                <a:ea typeface="Raleway Light"/>
                <a:cs typeface="Raleway Light"/>
                <a:sym typeface="Raleway Light"/>
              </a:rPr>
              <a:t>onversation, not knowledge. </a:t>
            </a:r>
            <a:endParaRPr b="0" i="0" spc="0" sz="2000" u="none" cap="none" strike="noStrike">
              <a:solidFill>
                <a:schemeClr val="dk1"/>
              </a:solidFill>
              <a:latin typeface="Raleway Light"/>
              <a:ea typeface="Raleway Light"/>
              <a:cs typeface="Raleway Light"/>
              <a:sym typeface="Raleway Light"/>
            </a:endParaRPr>
          </a:p>
        </p:txBody>
      </p:sp>
      <p:sp>
        <p:nvSpPr>
          <p:cNvPr id="155" name="Google Shape;155;p34"/>
          <p:cNvSpPr txBox="1"/>
          <p:nvPr/>
        </p:nvSpPr>
        <p:spPr>
          <a:xfrm>
            <a:off x="685800" y="6355080"/>
            <a:ext cx="4114800" cy="2376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565A32"/>
              </a:buClr>
              <a:buSzPts val="1300"/>
              <a:buFont typeface="Raleway Light"/>
              <a:buNone/>
            </a:pPr>
            <a:r>
              <a:rPr b="0" i="0" lang="en-US" spc="0" sz="1300" u="none" cap="none" strike="noStrike">
                <a:solidFill>
                  <a:srgbClr val="565A32"/>
                </a:solidFill>
                <a:latin typeface="Raleway Light"/>
                <a:ea typeface="Raleway Light"/>
                <a:cs typeface="Raleway Light"/>
                <a:sym typeface="Raleway Light"/>
              </a:rPr>
              <a:t>Say what you really think.</a:t>
            </a:r>
            <a:endParaRPr b="0" i="0" spc="0" sz="1300" u="none" cap="none" strike="noStrike">
              <a:solidFill>
                <a:schemeClr val="dk1"/>
              </a:solidFill>
              <a:latin typeface="Raleway Light"/>
              <a:ea typeface="Raleway Light"/>
              <a:cs typeface="Raleway Light"/>
              <a:sym typeface="Raleway Light"/>
            </a:endParaRPr>
          </a:p>
        </p:txBody>
      </p:sp>
      <p:pic>
        <p:nvPicPr>
          <p:cNvPr id="156" name="Google Shape;156;p34" title="Copy_of_Untitled-removebg-preview.png"/>
          <p:cNvPicPr preferRelativeResize="0"/>
          <p:nvPr/>
        </p:nvPicPr>
        <p:blipFill rotWithShape="1">
          <a:blip r:embed="rId3">
            <a:alphaModFix/>
          </a:blip>
          <a:srcRect b="0" l="0" r="0" t="0"/>
          <a:stretch/>
        </p:blipFill>
        <p:spPr>
          <a:xfrm>
            <a:off x="9834990" y="5349262"/>
            <a:ext cx="1508730" cy="1508730"/>
          </a:xfrm>
          <a:prstGeom prst="rect">
            <a:avLst/>
          </a:prstGeom>
          <a:noFill/>
          <a:ln>
            <a:noFill/>
          </a:ln>
        </p:spPr>
      </p:pic>
      <p:sp>
        <p:nvSpPr>
          <p:cNvPr id="157" name="Google Shape;157;p34"/>
          <p:cNvSpPr/>
          <p:nvPr/>
        </p:nvSpPr>
        <p:spPr>
          <a:xfrm>
            <a:off x="708679" y="3443653"/>
            <a:ext cx="3432000" cy="2218800"/>
          </a:xfrm>
          <a:prstGeom prst="roundRect">
            <a:avLst>
              <a:gd fmla="val 16667" name="adj"/>
            </a:avLst>
          </a:prstGeom>
          <a:solidFill>
            <a:srgbClr val="EFEAE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pc="0" sz="1800" u="none" cap="none" strike="noStrike">
              <a:solidFill>
                <a:srgbClr val="565A32"/>
              </a:solidFill>
              <a:latin typeface="Raleway Light"/>
              <a:ea typeface="Raleway Light"/>
              <a:cs typeface="Raleway Light"/>
              <a:sym typeface="Raleway Light"/>
            </a:endParaRPr>
          </a:p>
        </p:txBody>
      </p:sp>
      <p:sp>
        <p:nvSpPr>
          <p:cNvPr id="158" name="Google Shape;158;p34"/>
          <p:cNvSpPr/>
          <p:nvPr/>
        </p:nvSpPr>
        <p:spPr>
          <a:xfrm>
            <a:off x="708679" y="3364286"/>
            <a:ext cx="3432000" cy="73200"/>
          </a:xfrm>
          <a:prstGeom prst="rect">
            <a:avLst/>
          </a:prstGeom>
          <a:solidFill>
            <a:srgbClr val="565A3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pc="0" sz="1800" u="none" cap="none" strike="noStrike">
              <a:solidFill>
                <a:srgbClr val="565A32"/>
              </a:solidFill>
              <a:latin typeface="Raleway Light"/>
              <a:ea typeface="Raleway Light"/>
              <a:cs typeface="Raleway Light"/>
              <a:sym typeface="Raleway Light"/>
            </a:endParaRPr>
          </a:p>
        </p:txBody>
      </p:sp>
      <p:sp>
        <p:nvSpPr>
          <p:cNvPr id="159" name="Google Shape;159;p34"/>
          <p:cNvSpPr txBox="1"/>
          <p:nvPr/>
        </p:nvSpPr>
        <p:spPr>
          <a:xfrm>
            <a:off x="909829" y="4355963"/>
            <a:ext cx="3029700" cy="1015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500"/>
              <a:buFont typeface="Arial"/>
              <a:buNone/>
            </a:pPr>
            <a:r>
              <a:rPr b="0" i="0" lang="en-US" spc="0" sz="1500" u="none" cap="none" strike="noStrike">
                <a:solidFill>
                  <a:srgbClr val="565A32"/>
                </a:solidFill>
                <a:latin typeface="Raleway Light"/>
                <a:ea typeface="Raleway Light"/>
                <a:cs typeface="Raleway Light"/>
                <a:sym typeface="Raleway Light"/>
              </a:rPr>
              <a:t>Entre Amis is French for “between friends”. Everyone is welcome, and everyone has something worth saying.</a:t>
            </a:r>
            <a:endParaRPr b="0" i="0" spc="0" sz="1400" u="none" cap="none" strike="noStrike">
              <a:solidFill>
                <a:srgbClr val="565A32"/>
              </a:solidFill>
              <a:latin typeface="Raleway Light"/>
              <a:ea typeface="Raleway Light"/>
              <a:cs typeface="Raleway Light"/>
              <a:sym typeface="Raleway Light"/>
            </a:endParaRPr>
          </a:p>
        </p:txBody>
      </p:sp>
      <p:sp>
        <p:nvSpPr>
          <p:cNvPr id="160" name="Google Shape;160;p34"/>
          <p:cNvSpPr txBox="1"/>
          <p:nvPr/>
        </p:nvSpPr>
        <p:spPr>
          <a:xfrm>
            <a:off x="909829" y="3654999"/>
            <a:ext cx="3029700" cy="384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900"/>
              <a:buFont typeface="Arial"/>
              <a:buNone/>
            </a:pPr>
            <a:r>
              <a:rPr b="1" i="0" lang="en-US" spc="0" sz="1900" u="none" cap="none" strike="noStrike">
                <a:solidFill>
                  <a:srgbClr val="565A32"/>
                </a:solidFill>
                <a:latin typeface="Raleway"/>
                <a:ea typeface="Raleway"/>
                <a:cs typeface="Raleway"/>
                <a:sym typeface="Raleway"/>
              </a:rPr>
              <a:t>Among friends</a:t>
            </a:r>
            <a:endParaRPr b="0" i="0" spc="0" sz="1400" u="none" cap="none" strike="noStrike">
              <a:solidFill>
                <a:srgbClr val="565A32"/>
              </a:solidFill>
              <a:latin typeface="Raleway Light"/>
              <a:ea typeface="Raleway Light"/>
              <a:cs typeface="Raleway Light"/>
              <a:sym typeface="Raleway Light"/>
            </a:endParaRPr>
          </a:p>
        </p:txBody>
      </p:sp>
      <p:sp>
        <p:nvSpPr>
          <p:cNvPr id="161" name="Google Shape;161;p34"/>
          <p:cNvSpPr/>
          <p:nvPr/>
        </p:nvSpPr>
        <p:spPr>
          <a:xfrm>
            <a:off x="4402575" y="3443653"/>
            <a:ext cx="3432000" cy="2218800"/>
          </a:xfrm>
          <a:prstGeom prst="roundRect">
            <a:avLst>
              <a:gd fmla="val 16667" name="adj"/>
            </a:avLst>
          </a:prstGeom>
          <a:solidFill>
            <a:srgbClr val="EFEAE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pc="0" sz="1800" u="none" cap="none" strike="noStrike">
              <a:solidFill>
                <a:srgbClr val="565A32"/>
              </a:solidFill>
              <a:latin typeface="Raleway Light"/>
              <a:ea typeface="Raleway Light"/>
              <a:cs typeface="Raleway Light"/>
              <a:sym typeface="Raleway Light"/>
            </a:endParaRPr>
          </a:p>
        </p:txBody>
      </p:sp>
      <p:sp>
        <p:nvSpPr>
          <p:cNvPr id="162" name="Google Shape;162;p34"/>
          <p:cNvSpPr/>
          <p:nvPr/>
        </p:nvSpPr>
        <p:spPr>
          <a:xfrm>
            <a:off x="4402575" y="3364286"/>
            <a:ext cx="3432000" cy="73200"/>
          </a:xfrm>
          <a:prstGeom prst="rect">
            <a:avLst/>
          </a:prstGeom>
          <a:solidFill>
            <a:srgbClr val="E3AC9A"/>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pc="0" sz="1800" u="none" cap="none" strike="noStrike">
              <a:solidFill>
                <a:srgbClr val="565A32"/>
              </a:solidFill>
              <a:latin typeface="Raleway Light"/>
              <a:ea typeface="Raleway Light"/>
              <a:cs typeface="Raleway Light"/>
              <a:sym typeface="Raleway Light"/>
            </a:endParaRPr>
          </a:p>
        </p:txBody>
      </p:sp>
      <p:sp>
        <p:nvSpPr>
          <p:cNvPr id="163" name="Google Shape;163;p34"/>
          <p:cNvSpPr txBox="1"/>
          <p:nvPr/>
        </p:nvSpPr>
        <p:spPr>
          <a:xfrm>
            <a:off x="4603725" y="3654999"/>
            <a:ext cx="3029700" cy="384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900"/>
              <a:buFont typeface="Arial"/>
              <a:buNone/>
            </a:pPr>
            <a:r>
              <a:rPr b="1" i="0" lang="en-US" spc="0" sz="1900" u="none" cap="none" strike="noStrike">
                <a:solidFill>
                  <a:srgbClr val="565A32"/>
                </a:solidFill>
                <a:latin typeface="Raleway"/>
                <a:ea typeface="Raleway"/>
                <a:cs typeface="Raleway"/>
                <a:sym typeface="Raleway"/>
              </a:rPr>
              <a:t>What people take away</a:t>
            </a:r>
            <a:endParaRPr b="0" i="0" spc="0" sz="1400" u="none" cap="none" strike="noStrike">
              <a:solidFill>
                <a:srgbClr val="565A32"/>
              </a:solidFill>
              <a:latin typeface="Raleway Light"/>
              <a:ea typeface="Raleway Light"/>
              <a:cs typeface="Raleway Light"/>
              <a:sym typeface="Raleway Light"/>
            </a:endParaRPr>
          </a:p>
        </p:txBody>
      </p:sp>
      <p:sp>
        <p:nvSpPr>
          <p:cNvPr id="164" name="Google Shape;164;p34"/>
          <p:cNvSpPr txBox="1"/>
          <p:nvPr/>
        </p:nvSpPr>
        <p:spPr>
          <a:xfrm>
            <a:off x="4603725" y="4355963"/>
            <a:ext cx="3029700" cy="785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500"/>
              <a:buFont typeface="Arial"/>
              <a:buNone/>
            </a:pPr>
            <a:r>
              <a:rPr b="0" i="0" lang="en-US" spc="0" sz="1500" u="none" cap="none" strike="noStrike">
                <a:solidFill>
                  <a:srgbClr val="565A32"/>
                </a:solidFill>
                <a:latin typeface="Raleway Light"/>
                <a:ea typeface="Raleway Light"/>
                <a:cs typeface="Raleway Light"/>
                <a:sym typeface="Raleway Light"/>
              </a:rPr>
              <a:t>Not a score or a lesson. Stories, discoveries, people and moments worth returning to.</a:t>
            </a:r>
            <a:endParaRPr b="0" i="0" spc="0" sz="1400" u="none" cap="none" strike="noStrike">
              <a:solidFill>
                <a:srgbClr val="565A32"/>
              </a:solidFill>
              <a:latin typeface="Raleway Light"/>
              <a:ea typeface="Raleway Light"/>
              <a:cs typeface="Raleway Light"/>
              <a:sym typeface="Raleway Light"/>
            </a:endParaRPr>
          </a:p>
        </p:txBody>
      </p:sp>
      <p:sp>
        <p:nvSpPr>
          <p:cNvPr id="165" name="Google Shape;165;p34"/>
          <p:cNvSpPr/>
          <p:nvPr/>
        </p:nvSpPr>
        <p:spPr>
          <a:xfrm>
            <a:off x="8016245" y="3425325"/>
            <a:ext cx="3432000" cy="2218800"/>
          </a:xfrm>
          <a:prstGeom prst="roundRect">
            <a:avLst>
              <a:gd fmla="val 16667" name="adj"/>
            </a:avLst>
          </a:prstGeom>
          <a:solidFill>
            <a:srgbClr val="EFEAE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pc="0" sz="1800" u="none" cap="none" strike="noStrike">
              <a:solidFill>
                <a:srgbClr val="565A32"/>
              </a:solidFill>
              <a:latin typeface="Raleway Light"/>
              <a:ea typeface="Raleway Light"/>
              <a:cs typeface="Raleway Light"/>
              <a:sym typeface="Raleway Light"/>
            </a:endParaRPr>
          </a:p>
        </p:txBody>
      </p:sp>
      <p:sp>
        <p:nvSpPr>
          <p:cNvPr id="166" name="Google Shape;166;p34"/>
          <p:cNvSpPr/>
          <p:nvPr/>
        </p:nvSpPr>
        <p:spPr>
          <a:xfrm>
            <a:off x="8016245" y="3364286"/>
            <a:ext cx="3432000" cy="73200"/>
          </a:xfrm>
          <a:prstGeom prst="rect">
            <a:avLst/>
          </a:prstGeom>
          <a:solidFill>
            <a:srgbClr val="B9BC9A"/>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pc="0" sz="1800" u="none" cap="none" strike="noStrike">
              <a:solidFill>
                <a:srgbClr val="565A32"/>
              </a:solidFill>
              <a:latin typeface="Raleway Light"/>
              <a:ea typeface="Raleway Light"/>
              <a:cs typeface="Raleway Light"/>
              <a:sym typeface="Raleway Light"/>
            </a:endParaRPr>
          </a:p>
        </p:txBody>
      </p:sp>
      <p:sp>
        <p:nvSpPr>
          <p:cNvPr id="167" name="Google Shape;167;p34"/>
          <p:cNvSpPr txBox="1"/>
          <p:nvPr/>
        </p:nvSpPr>
        <p:spPr>
          <a:xfrm>
            <a:off x="8217395" y="3654999"/>
            <a:ext cx="3029700" cy="677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900"/>
              <a:buFont typeface="Arial"/>
              <a:buNone/>
            </a:pPr>
            <a:r>
              <a:rPr b="1" i="0" lang="en-US" spc="0" sz="1900" u="none" cap="none" strike="noStrike">
                <a:solidFill>
                  <a:srgbClr val="565A32"/>
                </a:solidFill>
                <a:latin typeface="Raleway"/>
                <a:ea typeface="Raleway"/>
                <a:cs typeface="Raleway"/>
                <a:sym typeface="Raleway"/>
              </a:rPr>
              <a:t>Wine is our first invitation</a:t>
            </a:r>
            <a:endParaRPr b="0" i="0" spc="0" sz="1400" u="none" cap="none" strike="noStrike">
              <a:solidFill>
                <a:srgbClr val="565A32"/>
              </a:solidFill>
              <a:latin typeface="Raleway Light"/>
              <a:ea typeface="Raleway Light"/>
              <a:cs typeface="Raleway Light"/>
              <a:sym typeface="Raleway Light"/>
            </a:endParaRPr>
          </a:p>
        </p:txBody>
      </p:sp>
      <p:sp>
        <p:nvSpPr>
          <p:cNvPr id="168" name="Google Shape;168;p34"/>
          <p:cNvSpPr txBox="1"/>
          <p:nvPr/>
        </p:nvSpPr>
        <p:spPr>
          <a:xfrm>
            <a:off x="8217395" y="4355963"/>
            <a:ext cx="3029700" cy="1015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500"/>
              <a:buFont typeface="Arial"/>
              <a:buNone/>
            </a:pPr>
            <a:r>
              <a:rPr b="0" i="0" lang="en-US" spc="0" sz="1500" u="none" cap="none" strike="noStrike">
                <a:solidFill>
                  <a:srgbClr val="565A32"/>
                </a:solidFill>
                <a:latin typeface="Raleway Light"/>
                <a:ea typeface="Raleway Light"/>
                <a:cs typeface="Raleway Light"/>
                <a:sym typeface="Raleway Light"/>
              </a:rPr>
              <a:t>A glass on the table is a natural place to start a conversation. Wine is where we begin, not where we stop.</a:t>
            </a:r>
            <a:endParaRPr b="0" i="0" spc="0" sz="1400" u="none" cap="none" strike="noStrike">
              <a:solidFill>
                <a:srgbClr val="565A32"/>
              </a:solidFill>
              <a:latin typeface="Raleway Light"/>
              <a:ea typeface="Raleway Light"/>
              <a:cs typeface="Raleway Light"/>
              <a:sym typeface="Raleway Light"/>
            </a:endParaRPr>
          </a:p>
        </p:txBody>
      </p:sp>
      <p:sp>
        <p:nvSpPr>
          <p:cNvPr id="169" name="Google Shape;169;p34"/>
          <p:cNvSpPr/>
          <p:nvPr/>
        </p:nvSpPr>
        <p:spPr>
          <a:xfrm>
            <a:off x="0" y="0"/>
            <a:ext cx="12191700" cy="329100"/>
          </a:xfrm>
          <a:prstGeom prst="rect">
            <a:avLst/>
          </a:prstGeom>
          <a:solidFill>
            <a:srgbClr val="565A32"/>
          </a:solidFill>
          <a:ln cap="flat" cmpd="sng" w="12700">
            <a:solidFill>
              <a:srgbClr val="565A3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
        <p:nvSpPr>
          <p:cNvPr id="170" name="Slide number"/>
          <p:cNvSpPr txBox="1"/>
          <p:nvPr>
            <p:ph idx="4294967295" type="sldNum"/>
          </p:nvPr>
        </p:nvSpPr>
        <p:spPr>
          <a:xfrm>
            <a:off x="9372600" y="5971032"/>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chemeClr val="dk1"/>
                </a:solidFill>
                <a:latin typeface="Raleway Light"/>
                <a:ea typeface="Raleway Light"/>
                <a:cs typeface="Raleway Light"/>
                <a:sym typeface="Raleway Light"/>
              </a:rPr>
              <a:t>‹#›</a:t>
            </a:fld>
            <a:endParaRPr b="0" i="0" sz="1000" u="none" cap="none" strike="noStrike">
              <a:solidFill>
                <a:schemeClr val="dk1"/>
              </a:solidFill>
              <a:latin typeface="Raleway Light"/>
              <a:ea typeface="Raleway Light"/>
              <a:cs typeface="Raleway Light"/>
              <a:sym typeface="Raleway Ligh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AE0"/>
        </a:solidFill>
      </p:bgPr>
    </p:bg>
    <p:spTree>
      <p:nvGrpSpPr>
        <p:cNvPr id="174" name="Shape 174"/>
        <p:cNvGrpSpPr/>
        <p:nvPr/>
      </p:nvGrpSpPr>
      <p:grpSpPr>
        <a:xfrm>
          <a:off x="0" y="0"/>
          <a:ext cx="0" cy="0"/>
          <a:chOff x="0" y="0"/>
          <a:chExt cx="0" cy="0"/>
        </a:xfrm>
      </p:grpSpPr>
      <p:sp>
        <p:nvSpPr>
          <p:cNvPr id="175" name="Google Shape;175;p35"/>
          <p:cNvSpPr/>
          <p:nvPr/>
        </p:nvSpPr>
        <p:spPr>
          <a:xfrm>
            <a:off x="0" y="0"/>
            <a:ext cx="12191700" cy="6858000"/>
          </a:xfrm>
          <a:prstGeom prst="rect">
            <a:avLst/>
          </a:prstGeom>
          <a:solidFill>
            <a:srgbClr val="EFEAE0"/>
          </a:solidFill>
          <a:ln cap="flat" cmpd="sng" w="12700">
            <a:solidFill>
              <a:srgbClr val="EFEAE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
        <p:nvSpPr>
          <p:cNvPr id="176" name="Google Shape;176;p35"/>
          <p:cNvSpPr txBox="1"/>
          <p:nvPr/>
        </p:nvSpPr>
        <p:spPr>
          <a:xfrm>
            <a:off x="685800" y="598897"/>
            <a:ext cx="8229600" cy="5304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565A32"/>
              </a:buClr>
              <a:buSzPts val="3800"/>
              <a:buFont typeface="Raleway Light"/>
              <a:buNone/>
            </a:pPr>
            <a:r>
              <a:rPr b="1" i="0" lang="en-US" spc="0" sz="2800" u="none" cap="none" strike="noStrike">
                <a:solidFill>
                  <a:srgbClr val="565A32"/>
                </a:solidFill>
                <a:latin typeface="Raleway"/>
                <a:ea typeface="Raleway"/>
                <a:cs typeface="Raleway"/>
                <a:sym typeface="Raleway"/>
              </a:rPr>
              <a:t>The friend you want at the table</a:t>
            </a:r>
            <a:endParaRPr b="1" i="0" spc="0" sz="2800" u="none" cap="none" strike="noStrike">
              <a:solidFill>
                <a:schemeClr val="dk1"/>
              </a:solidFill>
              <a:latin typeface="Raleway"/>
              <a:ea typeface="Raleway"/>
              <a:cs typeface="Raleway"/>
              <a:sym typeface="Raleway"/>
            </a:endParaRPr>
          </a:p>
        </p:txBody>
      </p:sp>
      <p:sp>
        <p:nvSpPr>
          <p:cNvPr id="177" name="Google Shape;177;p35"/>
          <p:cNvSpPr txBox="1"/>
          <p:nvPr/>
        </p:nvSpPr>
        <p:spPr>
          <a:xfrm>
            <a:off x="685800" y="1236350"/>
            <a:ext cx="10657800" cy="344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700"/>
              <a:buFont typeface="Arial"/>
              <a:buNone/>
            </a:pPr>
            <a:r>
              <a:rPr b="0" i="0" lang="en-US" spc="0" sz="2100" u="none" cap="none" strike="noStrike">
                <a:solidFill>
                  <a:srgbClr val="565A32"/>
                </a:solidFill>
                <a:latin typeface="Raleway Light"/>
                <a:ea typeface="Raleway Light"/>
                <a:cs typeface="Raleway Light"/>
                <a:sym typeface="Raleway Light"/>
              </a:rPr>
              <a:t>Knows enough to make things interesting. Never makes anyone feel left out.</a:t>
            </a:r>
            <a:endParaRPr b="0" i="0" spc="0" sz="2100" u="none" cap="none" strike="noStrike">
              <a:solidFill>
                <a:schemeClr val="dk1"/>
              </a:solidFill>
              <a:latin typeface="Raleway Light"/>
              <a:ea typeface="Raleway Light"/>
              <a:cs typeface="Raleway Light"/>
              <a:sym typeface="Raleway Light"/>
            </a:endParaRPr>
          </a:p>
        </p:txBody>
      </p:sp>
      <p:sp>
        <p:nvSpPr>
          <p:cNvPr id="178" name="Google Shape;178;p35"/>
          <p:cNvSpPr txBox="1"/>
          <p:nvPr/>
        </p:nvSpPr>
        <p:spPr>
          <a:xfrm>
            <a:off x="630925" y="5189275"/>
            <a:ext cx="11042400" cy="1165800"/>
          </a:xfrm>
          <a:prstGeom prst="rect">
            <a:avLst/>
          </a:prstGeom>
          <a:noFill/>
          <a:ln>
            <a:noFill/>
          </a:ln>
        </p:spPr>
        <p:txBody>
          <a:bodyPr anchorCtr="0" anchor="t" bIns="0" lIns="0" spcFirstLastPara="1" rIns="0" wrap="square" tIns="0">
            <a:normAutofit/>
          </a:bodyPr>
          <a:lstStyle/>
          <a:p>
            <a:pPr indent="0" lvl="0" marL="0" marR="0" rtl="0" algn="ctr">
              <a:lnSpc>
                <a:spcPct val="100000"/>
              </a:lnSpc>
              <a:spcBef>
                <a:spcPts val="0"/>
              </a:spcBef>
              <a:spcAft>
                <a:spcPts val="0"/>
              </a:spcAft>
              <a:buClr>
                <a:srgbClr val="565A32"/>
              </a:buClr>
              <a:buSzPts val="3100"/>
              <a:buFont typeface="Raleway Light"/>
              <a:buNone/>
            </a:pPr>
            <a:r>
              <a:rPr b="0" i="1" lang="en-US" spc="0" sz="2300" u="none" cap="none" strike="noStrike">
                <a:solidFill>
                  <a:srgbClr val="565A32"/>
                </a:solidFill>
                <a:latin typeface="Raleway Light"/>
                <a:ea typeface="Raleway Light"/>
                <a:cs typeface="Raleway Light"/>
                <a:sym typeface="Raleway Light"/>
              </a:rPr>
              <a:t>When you’re at an Entre Amis table, nobody has </a:t>
            </a:r>
            <a:endParaRPr b="0" i="1" spc="0" sz="2300" u="none" cap="none" strike="noStrike">
              <a:solidFill>
                <a:srgbClr val="565A32"/>
              </a:solidFill>
              <a:latin typeface="Raleway Light"/>
              <a:ea typeface="Raleway Light"/>
              <a:cs typeface="Raleway Light"/>
              <a:sym typeface="Raleway Light"/>
            </a:endParaRPr>
          </a:p>
          <a:p>
            <a:pPr indent="0" lvl="0" marL="0" marR="0" rtl="0" algn="ctr">
              <a:lnSpc>
                <a:spcPct val="100000"/>
              </a:lnSpc>
              <a:spcBef>
                <a:spcPts val="0"/>
              </a:spcBef>
              <a:spcAft>
                <a:spcPts val="0"/>
              </a:spcAft>
              <a:buClr>
                <a:srgbClr val="565A32"/>
              </a:buClr>
              <a:buSzPts val="3100"/>
              <a:buFont typeface="Raleway Light"/>
              <a:buNone/>
            </a:pPr>
            <a:r>
              <a:rPr b="0" i="1" lang="en-US" spc="0" sz="2300" u="none" cap="none" strike="noStrike">
                <a:solidFill>
                  <a:srgbClr val="565A32"/>
                </a:solidFill>
                <a:latin typeface="Raleway Light"/>
                <a:ea typeface="Raleway Light"/>
                <a:cs typeface="Raleway Light"/>
                <a:sym typeface="Raleway Light"/>
              </a:rPr>
              <a:t>to prove they belong there.</a:t>
            </a:r>
            <a:endParaRPr b="0" i="1" spc="0" sz="2300" u="none" cap="none" strike="noStrike">
              <a:solidFill>
                <a:schemeClr val="dk1"/>
              </a:solidFill>
              <a:latin typeface="Raleway Light"/>
              <a:ea typeface="Raleway Light"/>
              <a:cs typeface="Raleway Light"/>
              <a:sym typeface="Raleway Light"/>
            </a:endParaRPr>
          </a:p>
        </p:txBody>
      </p:sp>
      <p:sp>
        <p:nvSpPr>
          <p:cNvPr id="179" name="Google Shape;179;p35"/>
          <p:cNvSpPr txBox="1"/>
          <p:nvPr/>
        </p:nvSpPr>
        <p:spPr>
          <a:xfrm>
            <a:off x="685800" y="6355080"/>
            <a:ext cx="4114800" cy="237744"/>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565A32"/>
              </a:buClr>
              <a:buSzPts val="1300"/>
              <a:buFont typeface="Raleway Light"/>
              <a:buNone/>
            </a:pPr>
            <a:r>
              <a:rPr b="0" i="0" lang="en-US" spc="0" sz="1300" u="none" cap="none" strike="noStrike">
                <a:solidFill>
                  <a:srgbClr val="565A32"/>
                </a:solidFill>
                <a:latin typeface="Raleway Light"/>
                <a:ea typeface="Raleway Light"/>
                <a:cs typeface="Raleway Light"/>
                <a:sym typeface="Raleway Light"/>
              </a:rPr>
              <a:t>Say what you really think.</a:t>
            </a:r>
            <a:endParaRPr b="0" i="0" spc="0" sz="1300" u="none" cap="none" strike="noStrike">
              <a:solidFill>
                <a:schemeClr val="dk1"/>
              </a:solidFill>
              <a:latin typeface="Raleway Light"/>
              <a:ea typeface="Raleway Light"/>
              <a:cs typeface="Raleway Light"/>
              <a:sym typeface="Raleway Light"/>
            </a:endParaRPr>
          </a:p>
        </p:txBody>
      </p:sp>
      <p:pic>
        <p:nvPicPr>
          <p:cNvPr id="180" name="Google Shape;180;p35" title="Copy_of_Untitled-removebg-preview.png"/>
          <p:cNvPicPr preferRelativeResize="0"/>
          <p:nvPr/>
        </p:nvPicPr>
        <p:blipFill rotWithShape="1">
          <a:blip r:embed="rId3">
            <a:alphaModFix/>
          </a:blip>
          <a:srcRect b="0" l="0" r="0" t="0"/>
          <a:stretch/>
        </p:blipFill>
        <p:spPr>
          <a:xfrm>
            <a:off x="9834990" y="5349262"/>
            <a:ext cx="1508730" cy="1508730"/>
          </a:xfrm>
          <a:prstGeom prst="rect">
            <a:avLst/>
          </a:prstGeom>
          <a:noFill/>
          <a:ln>
            <a:noFill/>
          </a:ln>
        </p:spPr>
      </p:pic>
      <p:sp>
        <p:nvSpPr>
          <p:cNvPr id="181" name="Google Shape;181;p35"/>
          <p:cNvSpPr/>
          <p:nvPr/>
        </p:nvSpPr>
        <p:spPr>
          <a:xfrm>
            <a:off x="6117336" y="2423160"/>
            <a:ext cx="2606040" cy="2331720"/>
          </a:xfrm>
          <a:prstGeom prst="roundRect">
            <a:avLst>
              <a:gd fmla="val 16667" name="adj"/>
            </a:avLst>
          </a:prstGeom>
          <a:solidFill>
            <a:srgbClr val="EFEAE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pc="0" sz="1800" u="none" cap="none" strike="noStrike">
              <a:solidFill>
                <a:srgbClr val="565A32"/>
              </a:solidFill>
              <a:latin typeface="Raleway Light"/>
              <a:ea typeface="Raleway Light"/>
              <a:cs typeface="Raleway Light"/>
              <a:sym typeface="Raleway Light"/>
            </a:endParaRPr>
          </a:p>
        </p:txBody>
      </p:sp>
      <p:sp>
        <p:nvSpPr>
          <p:cNvPr id="182" name="Google Shape;182;p35"/>
          <p:cNvSpPr/>
          <p:nvPr/>
        </p:nvSpPr>
        <p:spPr>
          <a:xfrm>
            <a:off x="6117336" y="2350008"/>
            <a:ext cx="2606040" cy="73200"/>
          </a:xfrm>
          <a:prstGeom prst="rect">
            <a:avLst/>
          </a:prstGeom>
          <a:solidFill>
            <a:srgbClr val="B9BC9A"/>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pc="0" sz="1800" u="none" cap="none" strike="noStrike">
              <a:solidFill>
                <a:srgbClr val="565A32"/>
              </a:solidFill>
              <a:latin typeface="Raleway Light"/>
              <a:ea typeface="Raleway Light"/>
              <a:cs typeface="Raleway Light"/>
              <a:sym typeface="Raleway Light"/>
            </a:endParaRPr>
          </a:p>
        </p:txBody>
      </p:sp>
      <p:sp>
        <p:nvSpPr>
          <p:cNvPr id="183" name="Google Shape;183;p35"/>
          <p:cNvSpPr txBox="1"/>
          <p:nvPr/>
        </p:nvSpPr>
        <p:spPr>
          <a:xfrm>
            <a:off x="6300216" y="3310128"/>
            <a:ext cx="2240280" cy="137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500"/>
              <a:buFont typeface="Arial"/>
              <a:buNone/>
            </a:pPr>
            <a:r>
              <a:rPr b="0" i="0" lang="en-US" spc="0" sz="1400" u="none" cap="none" strike="noStrike">
                <a:solidFill>
                  <a:srgbClr val="565A32"/>
                </a:solidFill>
                <a:latin typeface="Raleway Light"/>
                <a:ea typeface="Raleway Light"/>
                <a:cs typeface="Raleway Light"/>
                <a:sym typeface="Raleway Light"/>
              </a:rPr>
              <a:t>Considered design and materials. Relaxed enough to use. Beautiful enough to belong on the table.</a:t>
            </a:r>
            <a:endParaRPr b="0" i="0" spc="0" sz="1400" u="none" cap="none" strike="noStrike">
              <a:solidFill>
                <a:srgbClr val="565A32"/>
              </a:solidFill>
              <a:latin typeface="Raleway Light"/>
              <a:ea typeface="Raleway Light"/>
              <a:cs typeface="Raleway Light"/>
              <a:sym typeface="Raleway Light"/>
            </a:endParaRPr>
          </a:p>
        </p:txBody>
      </p:sp>
      <p:sp>
        <p:nvSpPr>
          <p:cNvPr id="184" name="Google Shape;184;p35"/>
          <p:cNvSpPr txBox="1"/>
          <p:nvPr/>
        </p:nvSpPr>
        <p:spPr>
          <a:xfrm>
            <a:off x="6300216" y="2606040"/>
            <a:ext cx="2240280" cy="67665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900"/>
              <a:buFont typeface="Arial"/>
              <a:buNone/>
            </a:pPr>
            <a:r>
              <a:rPr b="1" i="0" lang="en-US" spc="0" sz="1900" u="none" cap="none" strike="noStrike">
                <a:solidFill>
                  <a:srgbClr val="565A32"/>
                </a:solidFill>
                <a:latin typeface="Raleway"/>
                <a:ea typeface="Raleway"/>
                <a:cs typeface="Raleway"/>
                <a:sym typeface="Raleway"/>
              </a:rPr>
              <a:t>Premium, never precious</a:t>
            </a:r>
            <a:endParaRPr b="1" i="0" spc="0" sz="1900" u="none" cap="none" strike="noStrike">
              <a:solidFill>
                <a:srgbClr val="565A32"/>
              </a:solidFill>
              <a:latin typeface="Raleway"/>
              <a:ea typeface="Raleway"/>
              <a:cs typeface="Raleway"/>
              <a:sym typeface="Raleway"/>
            </a:endParaRPr>
          </a:p>
        </p:txBody>
      </p:sp>
      <p:sp>
        <p:nvSpPr>
          <p:cNvPr id="185" name="Google Shape;185;p35"/>
          <p:cNvSpPr/>
          <p:nvPr/>
        </p:nvSpPr>
        <p:spPr>
          <a:xfrm>
            <a:off x="8860536" y="2423160"/>
            <a:ext cx="2606040" cy="2331720"/>
          </a:xfrm>
          <a:prstGeom prst="roundRect">
            <a:avLst>
              <a:gd fmla="val 16667" name="adj"/>
            </a:avLst>
          </a:prstGeom>
          <a:solidFill>
            <a:srgbClr val="EFEAE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pc="0" sz="1800" u="none" cap="none" strike="noStrike">
              <a:solidFill>
                <a:srgbClr val="565A32"/>
              </a:solidFill>
              <a:latin typeface="Raleway Light"/>
              <a:ea typeface="Raleway Light"/>
              <a:cs typeface="Raleway Light"/>
              <a:sym typeface="Raleway Light"/>
            </a:endParaRPr>
          </a:p>
        </p:txBody>
      </p:sp>
      <p:sp>
        <p:nvSpPr>
          <p:cNvPr id="186" name="Google Shape;186;p35"/>
          <p:cNvSpPr/>
          <p:nvPr/>
        </p:nvSpPr>
        <p:spPr>
          <a:xfrm>
            <a:off x="8860536" y="2350008"/>
            <a:ext cx="2606040" cy="73200"/>
          </a:xfrm>
          <a:prstGeom prst="rect">
            <a:avLst/>
          </a:prstGeom>
          <a:solidFill>
            <a:srgbClr val="8B8B5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pc="0" sz="1800" u="none" cap="none" strike="noStrike">
              <a:solidFill>
                <a:srgbClr val="565A32"/>
              </a:solidFill>
              <a:latin typeface="Raleway Light"/>
              <a:ea typeface="Raleway Light"/>
              <a:cs typeface="Raleway Light"/>
              <a:sym typeface="Raleway Light"/>
            </a:endParaRPr>
          </a:p>
        </p:txBody>
      </p:sp>
      <p:sp>
        <p:nvSpPr>
          <p:cNvPr id="187" name="Google Shape;187;p35"/>
          <p:cNvSpPr txBox="1"/>
          <p:nvPr/>
        </p:nvSpPr>
        <p:spPr>
          <a:xfrm>
            <a:off x="9043415" y="2606040"/>
            <a:ext cx="2240280" cy="67665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900"/>
              <a:buFont typeface="Arial"/>
              <a:buNone/>
            </a:pPr>
            <a:r>
              <a:rPr b="1" i="0" lang="en-US" spc="0" sz="1900" u="none" cap="none" strike="noStrike">
                <a:solidFill>
                  <a:srgbClr val="565A32"/>
                </a:solidFill>
                <a:latin typeface="Raleway"/>
                <a:ea typeface="Raleway"/>
                <a:cs typeface="Raleway"/>
                <a:sym typeface="Raleway"/>
              </a:rPr>
              <a:t>Playful, never silly</a:t>
            </a:r>
            <a:endParaRPr b="1" i="0" spc="0" sz="1400" u="none" cap="none" strike="noStrike">
              <a:solidFill>
                <a:srgbClr val="565A32"/>
              </a:solidFill>
              <a:latin typeface="Raleway"/>
              <a:ea typeface="Raleway"/>
              <a:cs typeface="Raleway"/>
              <a:sym typeface="Raleway"/>
            </a:endParaRPr>
          </a:p>
        </p:txBody>
      </p:sp>
      <p:sp>
        <p:nvSpPr>
          <p:cNvPr id="188" name="Google Shape;188;p35"/>
          <p:cNvSpPr txBox="1"/>
          <p:nvPr/>
        </p:nvSpPr>
        <p:spPr>
          <a:xfrm>
            <a:off x="9043415" y="3310128"/>
            <a:ext cx="2240280" cy="137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500"/>
              <a:buFont typeface="Arial"/>
              <a:buNone/>
            </a:pPr>
            <a:r>
              <a:rPr b="0" i="0" lang="en-US" spc="0" sz="1400" u="none" cap="none" strike="noStrike">
                <a:solidFill>
                  <a:srgbClr val="565A32"/>
                </a:solidFill>
                <a:latin typeface="Raleway Light"/>
                <a:ea typeface="Raleway Light"/>
                <a:cs typeface="Raleway Light"/>
                <a:sym typeface="Raleway Light"/>
              </a:rPr>
              <a:t>Wit, conversation and a little mischief, but always grown-up and inclusive.</a:t>
            </a:r>
            <a:endParaRPr b="0" i="0" spc="0" sz="1400" u="none" cap="none" strike="noStrike">
              <a:solidFill>
                <a:srgbClr val="565A32"/>
              </a:solidFill>
              <a:latin typeface="Raleway Light"/>
              <a:ea typeface="Raleway Light"/>
              <a:cs typeface="Raleway Light"/>
              <a:sym typeface="Raleway Light"/>
            </a:endParaRPr>
          </a:p>
        </p:txBody>
      </p:sp>
      <p:sp>
        <p:nvSpPr>
          <p:cNvPr id="189" name="Google Shape;189;p35"/>
          <p:cNvSpPr/>
          <p:nvPr/>
        </p:nvSpPr>
        <p:spPr>
          <a:xfrm>
            <a:off x="3374136" y="2423160"/>
            <a:ext cx="2606040" cy="2331720"/>
          </a:xfrm>
          <a:prstGeom prst="roundRect">
            <a:avLst>
              <a:gd fmla="val 16667" name="adj"/>
            </a:avLst>
          </a:prstGeom>
          <a:solidFill>
            <a:srgbClr val="EFEAE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pc="0" sz="1800" u="none" cap="none" strike="noStrike">
              <a:solidFill>
                <a:srgbClr val="565A32"/>
              </a:solidFill>
              <a:latin typeface="Raleway Light"/>
              <a:ea typeface="Raleway Light"/>
              <a:cs typeface="Raleway Light"/>
              <a:sym typeface="Raleway Light"/>
            </a:endParaRPr>
          </a:p>
        </p:txBody>
      </p:sp>
      <p:sp>
        <p:nvSpPr>
          <p:cNvPr id="190" name="Google Shape;190;p35"/>
          <p:cNvSpPr/>
          <p:nvPr/>
        </p:nvSpPr>
        <p:spPr>
          <a:xfrm>
            <a:off x="3374136" y="2350008"/>
            <a:ext cx="2606040" cy="73200"/>
          </a:xfrm>
          <a:prstGeom prst="rect">
            <a:avLst/>
          </a:prstGeom>
          <a:solidFill>
            <a:srgbClr val="E3AC9A"/>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pc="0" sz="1800" u="none" cap="none" strike="noStrike">
              <a:solidFill>
                <a:srgbClr val="565A32"/>
              </a:solidFill>
              <a:latin typeface="Raleway Light"/>
              <a:ea typeface="Raleway Light"/>
              <a:cs typeface="Raleway Light"/>
              <a:sym typeface="Raleway Light"/>
            </a:endParaRPr>
          </a:p>
        </p:txBody>
      </p:sp>
      <p:sp>
        <p:nvSpPr>
          <p:cNvPr id="191" name="Google Shape;191;p35"/>
          <p:cNvSpPr txBox="1"/>
          <p:nvPr/>
        </p:nvSpPr>
        <p:spPr>
          <a:xfrm>
            <a:off x="3557016" y="2606040"/>
            <a:ext cx="2240280" cy="67665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900"/>
              <a:buFont typeface="Arial"/>
              <a:buNone/>
            </a:pPr>
            <a:r>
              <a:rPr b="1" i="0" lang="en-US" spc="0" sz="1900" u="none" cap="none" strike="noStrike">
                <a:solidFill>
                  <a:srgbClr val="565A32"/>
                </a:solidFill>
                <a:latin typeface="Raleway"/>
                <a:ea typeface="Raleway"/>
                <a:cs typeface="Raleway"/>
                <a:sym typeface="Raleway"/>
              </a:rPr>
              <a:t>Curious, never corrective</a:t>
            </a:r>
            <a:endParaRPr b="1" i="0" spc="0" sz="1400" u="none" cap="none" strike="noStrike">
              <a:solidFill>
                <a:srgbClr val="565A32"/>
              </a:solidFill>
              <a:latin typeface="Raleway"/>
              <a:ea typeface="Raleway"/>
              <a:cs typeface="Raleway"/>
              <a:sym typeface="Raleway"/>
            </a:endParaRPr>
          </a:p>
        </p:txBody>
      </p:sp>
      <p:sp>
        <p:nvSpPr>
          <p:cNvPr id="192" name="Google Shape;192;p35"/>
          <p:cNvSpPr txBox="1"/>
          <p:nvPr/>
        </p:nvSpPr>
        <p:spPr>
          <a:xfrm>
            <a:off x="3557016" y="3310128"/>
            <a:ext cx="2240280" cy="137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500"/>
              <a:buFont typeface="Arial"/>
              <a:buNone/>
            </a:pPr>
            <a:r>
              <a:rPr b="0" i="0" lang="en-US" spc="0" sz="1400" u="none" cap="none" strike="noStrike">
                <a:solidFill>
                  <a:srgbClr val="565A32"/>
                </a:solidFill>
                <a:latin typeface="Raleway Light"/>
                <a:ea typeface="Raleway Light"/>
                <a:cs typeface="Raleway Light"/>
                <a:sym typeface="Raleway Light"/>
              </a:rPr>
              <a:t>Any wine belongs. Every opinion counts. We help people discover; we never correct.</a:t>
            </a:r>
            <a:endParaRPr b="0" i="0" spc="0" sz="1400" u="none" cap="none" strike="noStrike">
              <a:solidFill>
                <a:srgbClr val="565A32"/>
              </a:solidFill>
              <a:latin typeface="Raleway Light"/>
              <a:ea typeface="Raleway Light"/>
              <a:cs typeface="Raleway Light"/>
              <a:sym typeface="Raleway Light"/>
            </a:endParaRPr>
          </a:p>
        </p:txBody>
      </p:sp>
      <p:sp>
        <p:nvSpPr>
          <p:cNvPr id="193" name="Google Shape;193;p35"/>
          <p:cNvSpPr/>
          <p:nvPr/>
        </p:nvSpPr>
        <p:spPr>
          <a:xfrm>
            <a:off x="630936" y="2423160"/>
            <a:ext cx="2606040" cy="2331720"/>
          </a:xfrm>
          <a:prstGeom prst="roundRect">
            <a:avLst>
              <a:gd fmla="val 16667" name="adj"/>
            </a:avLst>
          </a:prstGeom>
          <a:solidFill>
            <a:srgbClr val="EFEAE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pc="0" sz="1800" u="none" cap="none" strike="noStrike">
              <a:solidFill>
                <a:srgbClr val="565A32"/>
              </a:solidFill>
              <a:latin typeface="Raleway Light"/>
              <a:ea typeface="Raleway Light"/>
              <a:cs typeface="Raleway Light"/>
              <a:sym typeface="Raleway Light"/>
            </a:endParaRPr>
          </a:p>
        </p:txBody>
      </p:sp>
      <p:sp>
        <p:nvSpPr>
          <p:cNvPr id="194" name="Google Shape;194;p35"/>
          <p:cNvSpPr/>
          <p:nvPr/>
        </p:nvSpPr>
        <p:spPr>
          <a:xfrm>
            <a:off x="630936" y="2350008"/>
            <a:ext cx="2606040" cy="73200"/>
          </a:xfrm>
          <a:prstGeom prst="rect">
            <a:avLst/>
          </a:prstGeom>
          <a:solidFill>
            <a:srgbClr val="565A3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pc="0" sz="1800" u="none" cap="none" strike="noStrike">
              <a:solidFill>
                <a:srgbClr val="565A32"/>
              </a:solidFill>
              <a:latin typeface="Raleway Light"/>
              <a:ea typeface="Raleway Light"/>
              <a:cs typeface="Raleway Light"/>
              <a:sym typeface="Raleway Light"/>
            </a:endParaRPr>
          </a:p>
        </p:txBody>
      </p:sp>
      <p:sp>
        <p:nvSpPr>
          <p:cNvPr id="195" name="Google Shape;195;p35"/>
          <p:cNvSpPr txBox="1"/>
          <p:nvPr/>
        </p:nvSpPr>
        <p:spPr>
          <a:xfrm>
            <a:off x="813815" y="3310128"/>
            <a:ext cx="2240280" cy="1371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500"/>
              <a:buFont typeface="Arial"/>
              <a:buNone/>
            </a:pPr>
            <a:r>
              <a:rPr b="0" i="0" lang="en-US" spc="0" sz="1400" u="none" cap="none" strike="noStrike">
                <a:solidFill>
                  <a:srgbClr val="565A32"/>
                </a:solidFill>
                <a:latin typeface="Raleway Light"/>
                <a:ea typeface="Raleway Light"/>
                <a:cs typeface="Raleway Light"/>
                <a:sym typeface="Raleway Light"/>
              </a:rPr>
              <a:t>Knowledge is shared generously, never used as status.</a:t>
            </a:r>
            <a:endParaRPr b="0" i="0" spc="0" sz="1400" u="none" cap="none" strike="noStrike">
              <a:solidFill>
                <a:srgbClr val="565A32"/>
              </a:solidFill>
              <a:latin typeface="Raleway Light"/>
              <a:ea typeface="Raleway Light"/>
              <a:cs typeface="Raleway Light"/>
              <a:sym typeface="Raleway Light"/>
            </a:endParaRPr>
          </a:p>
        </p:txBody>
      </p:sp>
      <p:sp>
        <p:nvSpPr>
          <p:cNvPr id="196" name="Google Shape;196;p35"/>
          <p:cNvSpPr txBox="1"/>
          <p:nvPr/>
        </p:nvSpPr>
        <p:spPr>
          <a:xfrm>
            <a:off x="813815" y="2606040"/>
            <a:ext cx="2240280" cy="67665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900"/>
              <a:buFont typeface="Arial"/>
              <a:buNone/>
            </a:pPr>
            <a:r>
              <a:rPr b="1" i="0" lang="en-US" spc="0" sz="1900" u="none" cap="none" strike="noStrike">
                <a:solidFill>
                  <a:srgbClr val="565A32"/>
                </a:solidFill>
                <a:latin typeface="Raleway"/>
                <a:ea typeface="Raleway"/>
                <a:cs typeface="Raleway"/>
                <a:sym typeface="Raleway"/>
              </a:rPr>
              <a:t>Warm, never worthy</a:t>
            </a:r>
            <a:endParaRPr b="1" i="0" spc="0" sz="1900" u="none" cap="none" strike="noStrike">
              <a:solidFill>
                <a:srgbClr val="565A32"/>
              </a:solidFill>
              <a:latin typeface="Raleway"/>
              <a:ea typeface="Raleway"/>
              <a:cs typeface="Raleway"/>
              <a:sym typeface="Raleway"/>
            </a:endParaRPr>
          </a:p>
        </p:txBody>
      </p:sp>
      <p:sp>
        <p:nvSpPr>
          <p:cNvPr id="197" name="Google Shape;197;p35"/>
          <p:cNvSpPr/>
          <p:nvPr/>
        </p:nvSpPr>
        <p:spPr>
          <a:xfrm>
            <a:off x="0" y="0"/>
            <a:ext cx="12191700" cy="329100"/>
          </a:xfrm>
          <a:prstGeom prst="rect">
            <a:avLst/>
          </a:prstGeom>
          <a:solidFill>
            <a:srgbClr val="565A32"/>
          </a:solidFill>
          <a:ln cap="flat" cmpd="sng" w="12700">
            <a:solidFill>
              <a:srgbClr val="565A3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
        <p:nvSpPr>
          <p:cNvPr id="198" name="Slide number"/>
          <p:cNvSpPr txBox="1"/>
          <p:nvPr>
            <p:ph idx="4294967295" type="sldNum"/>
          </p:nvPr>
        </p:nvSpPr>
        <p:spPr>
          <a:xfrm>
            <a:off x="9372600" y="5971032"/>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chemeClr val="dk1"/>
                </a:solidFill>
                <a:latin typeface="Raleway Light"/>
                <a:ea typeface="Raleway Light"/>
                <a:cs typeface="Raleway Light"/>
                <a:sym typeface="Raleway Light"/>
              </a:rPr>
              <a:t>‹#›</a:t>
            </a:fld>
            <a:endParaRPr b="0" i="0" sz="1000" u="none" cap="none" strike="noStrike">
              <a:solidFill>
                <a:schemeClr val="dk1"/>
              </a:solidFill>
              <a:latin typeface="Raleway Light"/>
              <a:ea typeface="Raleway Light"/>
              <a:cs typeface="Raleway Light"/>
              <a:sym typeface="Raleway Ligh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AE0"/>
        </a:solidFill>
      </p:bgPr>
    </p:bg>
    <p:spTree>
      <p:nvGrpSpPr>
        <p:cNvPr id="202" name="Shape 202"/>
        <p:cNvGrpSpPr/>
        <p:nvPr/>
      </p:nvGrpSpPr>
      <p:grpSpPr>
        <a:xfrm>
          <a:off x="0" y="0"/>
          <a:ext cx="0" cy="0"/>
          <a:chOff x="0" y="0"/>
          <a:chExt cx="0" cy="0"/>
        </a:xfrm>
      </p:grpSpPr>
      <p:sp>
        <p:nvSpPr>
          <p:cNvPr id="203" name="Google Shape;203;p36"/>
          <p:cNvSpPr txBox="1"/>
          <p:nvPr/>
        </p:nvSpPr>
        <p:spPr>
          <a:xfrm>
            <a:off x="685800" y="475501"/>
            <a:ext cx="8229600" cy="618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65A32"/>
              </a:buClr>
              <a:buSzPts val="3800"/>
              <a:buFont typeface="Raleway Light"/>
              <a:buNone/>
            </a:pPr>
            <a:r>
              <a:rPr b="0" i="0" lang="en-US" spc="0" sz="3800" u="none" cap="none" strike="noStrike">
                <a:solidFill>
                  <a:srgbClr val="565A32"/>
                </a:solidFill>
                <a:latin typeface="Raleway Light"/>
                <a:ea typeface="Raleway Light"/>
                <a:cs typeface="Raleway Light"/>
                <a:sym typeface="Raleway Light"/>
              </a:rPr>
              <a:t>The Entre Amis journey</a:t>
            </a:r>
            <a:endParaRPr b="1" i="0" spc="0" sz="2700" u="none" cap="none" strike="noStrike">
              <a:solidFill>
                <a:srgbClr val="565A32"/>
              </a:solidFill>
              <a:latin typeface="Raleway SemiBold"/>
              <a:ea typeface="Raleway SemiBold"/>
              <a:cs typeface="Raleway SemiBold"/>
              <a:sym typeface="Raleway SemiBold"/>
            </a:endParaRPr>
          </a:p>
        </p:txBody>
      </p:sp>
      <p:sp>
        <p:nvSpPr>
          <p:cNvPr id="204" name="Google Shape;204;p36"/>
          <p:cNvSpPr txBox="1"/>
          <p:nvPr/>
        </p:nvSpPr>
        <p:spPr>
          <a:xfrm>
            <a:off x="882163" y="1965960"/>
            <a:ext cx="9985800" cy="658368"/>
          </a:xfrm>
          <a:prstGeom prst="rect">
            <a:avLst/>
          </a:prstGeom>
          <a:solidFill>
            <a:srgbClr val="565A32">
              <a:alpha val="94902"/>
            </a:srgbClr>
          </a:solidFill>
          <a:ln>
            <a:noFill/>
          </a:ln>
        </p:spPr>
        <p:txBody>
          <a:bodyPr anchorCtr="0" anchor="ctr" bIns="0" lIns="0" spcFirstLastPara="1" rIns="0" wrap="square" tIns="0">
            <a:normAutofit lnSpcReduction="10000"/>
          </a:bodyPr>
          <a:lstStyle/>
          <a:p>
            <a:pPr indent="0" lvl="0" marL="0" marR="0" rtl="0" algn="ctr">
              <a:lnSpc>
                <a:spcPct val="100000"/>
              </a:lnSpc>
              <a:spcBef>
                <a:spcPts val="0"/>
              </a:spcBef>
              <a:spcAft>
                <a:spcPts val="0"/>
              </a:spcAft>
              <a:buClr>
                <a:srgbClr val="565A32"/>
              </a:buClr>
              <a:buSzPts val="3000"/>
              <a:buFont typeface="Raleway Light"/>
              <a:buNone/>
            </a:pPr>
            <a:r>
              <a:rPr b="0" i="0" lang="en-US" spc="0" sz="3000" u="none" cap="none" strike="noStrike">
                <a:solidFill>
                  <a:srgbClr val="EFEAE0"/>
                </a:solidFill>
                <a:latin typeface="Raleway Light"/>
                <a:ea typeface="Raleway Light"/>
                <a:cs typeface="Raleway Light"/>
                <a:sym typeface="Raleway Light"/>
              </a:rPr>
              <a:t>Inspire  →  Discover  →  Experience  →  Belong</a:t>
            </a:r>
            <a:endParaRPr b="0" i="0" spc="0" sz="3000" u="none" cap="none" strike="noStrike">
              <a:solidFill>
                <a:schemeClr val="dk1"/>
              </a:solidFill>
              <a:latin typeface="Raleway Light"/>
              <a:ea typeface="Raleway Light"/>
              <a:cs typeface="Raleway Light"/>
              <a:sym typeface="Raleway Light"/>
            </a:endParaRPr>
          </a:p>
        </p:txBody>
      </p:sp>
      <p:sp>
        <p:nvSpPr>
          <p:cNvPr id="205" name="Google Shape;205;p36"/>
          <p:cNvSpPr txBox="1"/>
          <p:nvPr/>
        </p:nvSpPr>
        <p:spPr>
          <a:xfrm>
            <a:off x="685800" y="6355080"/>
            <a:ext cx="4114800" cy="2376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565A32"/>
              </a:buClr>
              <a:buSzPts val="1300"/>
              <a:buFont typeface="Raleway Light"/>
              <a:buNone/>
            </a:pPr>
            <a:r>
              <a:rPr b="0" i="0" lang="en-US" spc="0" sz="1300" u="none" cap="none" strike="noStrike">
                <a:solidFill>
                  <a:srgbClr val="565A32"/>
                </a:solidFill>
                <a:latin typeface="Raleway Light"/>
                <a:ea typeface="Raleway Light"/>
                <a:cs typeface="Raleway Light"/>
                <a:sym typeface="Raleway Light"/>
              </a:rPr>
              <a:t>Say what you really think.</a:t>
            </a:r>
            <a:endParaRPr b="0" i="0" spc="0" sz="1300" u="none" cap="none" strike="noStrike">
              <a:solidFill>
                <a:schemeClr val="dk1"/>
              </a:solidFill>
              <a:latin typeface="Raleway Light"/>
              <a:ea typeface="Raleway Light"/>
              <a:cs typeface="Raleway Light"/>
              <a:sym typeface="Raleway Light"/>
            </a:endParaRPr>
          </a:p>
        </p:txBody>
      </p:sp>
      <p:pic>
        <p:nvPicPr>
          <p:cNvPr id="206" name="Google Shape;206;p36" title="Copy_of_Untitled-removebg-preview.png"/>
          <p:cNvPicPr preferRelativeResize="0"/>
          <p:nvPr/>
        </p:nvPicPr>
        <p:blipFill rotWithShape="1">
          <a:blip r:embed="rId3">
            <a:alphaModFix/>
          </a:blip>
          <a:srcRect b="0" l="0" r="0" t="0"/>
          <a:stretch/>
        </p:blipFill>
        <p:spPr>
          <a:xfrm>
            <a:off x="9834990" y="5349262"/>
            <a:ext cx="1508730" cy="1508730"/>
          </a:xfrm>
          <a:prstGeom prst="rect">
            <a:avLst/>
          </a:prstGeom>
          <a:noFill/>
          <a:ln>
            <a:noFill/>
          </a:ln>
        </p:spPr>
      </p:pic>
      <p:sp>
        <p:nvSpPr>
          <p:cNvPr id="207" name="Google Shape;207;p36"/>
          <p:cNvSpPr txBox="1"/>
          <p:nvPr/>
        </p:nvSpPr>
        <p:spPr>
          <a:xfrm>
            <a:off x="11785400" y="3848725"/>
            <a:ext cx="914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
        <p:nvSpPr>
          <p:cNvPr id="208" name="Google Shape;208;p36"/>
          <p:cNvSpPr txBox="1"/>
          <p:nvPr/>
        </p:nvSpPr>
        <p:spPr>
          <a:xfrm>
            <a:off x="685800" y="1097280"/>
            <a:ext cx="10058400" cy="411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700"/>
              <a:buFont typeface="Arial"/>
              <a:buNone/>
            </a:pPr>
            <a:r>
              <a:rPr b="0" i="0" lang="en-US" spc="0" sz="1900" u="none" cap="none" strike="noStrike">
                <a:solidFill>
                  <a:srgbClr val="565A32"/>
                </a:solidFill>
                <a:latin typeface="Raleway Light"/>
                <a:ea typeface="Raleway Light"/>
                <a:cs typeface="Raleway Light"/>
                <a:sym typeface="Raleway Light"/>
              </a:rPr>
              <a:t>Connection, discovery, shared experiences and memories. Wine is the first place we bring them to life.</a:t>
            </a:r>
            <a:endParaRPr b="0" i="0" spc="0" sz="1900" u="none" cap="none" strike="noStrike">
              <a:solidFill>
                <a:schemeClr val="dk1"/>
              </a:solidFill>
              <a:latin typeface="Raleway Light"/>
              <a:ea typeface="Raleway Light"/>
              <a:cs typeface="Raleway Light"/>
              <a:sym typeface="Raleway Light"/>
            </a:endParaRPr>
          </a:p>
        </p:txBody>
      </p:sp>
      <p:sp>
        <p:nvSpPr>
          <p:cNvPr id="209" name="Google Shape;209;p36"/>
          <p:cNvSpPr txBox="1"/>
          <p:nvPr/>
        </p:nvSpPr>
        <p:spPr>
          <a:xfrm>
            <a:off x="882175" y="2887125"/>
            <a:ext cx="9985800" cy="2230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US" spc="0" sz="1800" u="none" cap="none" strike="noStrike">
                <a:solidFill>
                  <a:srgbClr val="565A32"/>
                </a:solidFill>
                <a:latin typeface="Raleway"/>
                <a:ea typeface="Raleway"/>
                <a:cs typeface="Raleway"/>
                <a:sym typeface="Raleway"/>
              </a:rPr>
              <a:t>Inspire</a:t>
            </a:r>
            <a:r>
              <a:rPr b="0" i="0" lang="en-US" spc="0" sz="1800" u="none" cap="none" strike="noStrike">
                <a:solidFill>
                  <a:srgbClr val="565A32"/>
                </a:solidFill>
                <a:latin typeface="Raleway Light"/>
                <a:ea typeface="Raleway Light"/>
                <a:cs typeface="Raleway Light"/>
                <a:sym typeface="Raleway Light"/>
              </a:rPr>
              <a:t>: Open the door to ideas, places, people and occasions</a:t>
            </a:r>
            <a:endParaRPr b="0" i="0" spc="0" sz="1800" u="none" cap="none" strike="noStrike">
              <a:solidFill>
                <a:srgbClr val="565A32"/>
              </a:solidFill>
              <a:latin typeface="Raleway Light"/>
              <a:ea typeface="Raleway Light"/>
              <a:cs typeface="Raleway Light"/>
              <a:sym typeface="Raleway Light"/>
            </a:endParaRPr>
          </a:p>
          <a:p>
            <a:pPr indent="0" lvl="0" marL="0" marR="0" rtl="0" algn="l">
              <a:lnSpc>
                <a:spcPct val="100000"/>
              </a:lnSpc>
              <a:spcBef>
                <a:spcPts val="0"/>
              </a:spcBef>
              <a:spcAft>
                <a:spcPts val="0"/>
              </a:spcAft>
              <a:buClr>
                <a:srgbClr val="000000"/>
              </a:buClr>
              <a:buSzPts val="1800"/>
              <a:buFont typeface="Arial"/>
              <a:buNone/>
            </a:pPr>
            <a:r>
              <a:t/>
            </a:r>
            <a:endParaRPr b="0" i="0" spc="0" sz="1800" u="none" cap="none" strike="noStrike">
              <a:solidFill>
                <a:srgbClr val="565A32"/>
              </a:solidFill>
              <a:latin typeface="Raleway Light"/>
              <a:ea typeface="Raleway Light"/>
              <a:cs typeface="Raleway Light"/>
              <a:sym typeface="Raleway Light"/>
            </a:endParaRPr>
          </a:p>
          <a:p>
            <a:pPr indent="0" lvl="0" marL="0" marR="0" rtl="0" algn="l">
              <a:lnSpc>
                <a:spcPct val="100000"/>
              </a:lnSpc>
              <a:spcBef>
                <a:spcPts val="0"/>
              </a:spcBef>
              <a:spcAft>
                <a:spcPts val="0"/>
              </a:spcAft>
              <a:buClr>
                <a:srgbClr val="000000"/>
              </a:buClr>
              <a:buSzPts val="1800"/>
              <a:buFont typeface="Arial"/>
              <a:buNone/>
            </a:pPr>
            <a:r>
              <a:rPr b="1" i="0" lang="en-US" spc="0" sz="1800" u="none" cap="none" strike="noStrike">
                <a:solidFill>
                  <a:srgbClr val="565A32"/>
                </a:solidFill>
                <a:latin typeface="Raleway"/>
                <a:ea typeface="Raleway"/>
                <a:cs typeface="Raleway"/>
                <a:sym typeface="Raleway"/>
              </a:rPr>
              <a:t>Discover</a:t>
            </a:r>
            <a:r>
              <a:rPr b="0" i="0" lang="en-US" spc="0" sz="1800" u="none" cap="none" strike="noStrike">
                <a:solidFill>
                  <a:srgbClr val="565A32"/>
                </a:solidFill>
                <a:latin typeface="Raleway Light"/>
                <a:ea typeface="Raleway Light"/>
                <a:cs typeface="Raleway Light"/>
                <a:sym typeface="Raleway Light"/>
              </a:rPr>
              <a:t>: Explore, learn and enjoy</a:t>
            </a:r>
            <a:endParaRPr b="0" i="0" spc="0" sz="1800" u="none" cap="none" strike="noStrike">
              <a:solidFill>
                <a:srgbClr val="565A32"/>
              </a:solidFill>
              <a:latin typeface="Raleway Light"/>
              <a:ea typeface="Raleway Light"/>
              <a:cs typeface="Raleway Light"/>
              <a:sym typeface="Raleway Light"/>
            </a:endParaRPr>
          </a:p>
          <a:p>
            <a:pPr indent="0" lvl="0" marL="0" marR="0" rtl="0" algn="l">
              <a:lnSpc>
                <a:spcPct val="100000"/>
              </a:lnSpc>
              <a:spcBef>
                <a:spcPts val="0"/>
              </a:spcBef>
              <a:spcAft>
                <a:spcPts val="0"/>
              </a:spcAft>
              <a:buClr>
                <a:srgbClr val="000000"/>
              </a:buClr>
              <a:buSzPts val="1800"/>
              <a:buFont typeface="Arial"/>
              <a:buNone/>
            </a:pPr>
            <a:r>
              <a:t/>
            </a:r>
            <a:endParaRPr b="0" i="0" spc="0" sz="1800" u="none" cap="none" strike="noStrike">
              <a:solidFill>
                <a:srgbClr val="565A32"/>
              </a:solidFill>
              <a:latin typeface="Raleway Light"/>
              <a:ea typeface="Raleway Light"/>
              <a:cs typeface="Raleway Light"/>
              <a:sym typeface="Raleway Light"/>
            </a:endParaRPr>
          </a:p>
          <a:p>
            <a:pPr indent="0" lvl="0" marL="0" marR="0" rtl="0" algn="l">
              <a:lnSpc>
                <a:spcPct val="100000"/>
              </a:lnSpc>
              <a:spcBef>
                <a:spcPts val="0"/>
              </a:spcBef>
              <a:spcAft>
                <a:spcPts val="0"/>
              </a:spcAft>
              <a:buClr>
                <a:srgbClr val="000000"/>
              </a:buClr>
              <a:buSzPts val="1800"/>
              <a:buFont typeface="Arial"/>
              <a:buNone/>
            </a:pPr>
            <a:r>
              <a:rPr b="1" i="0" lang="en-US" spc="0" sz="1800" u="none" cap="none" strike="noStrike">
                <a:solidFill>
                  <a:srgbClr val="565A32"/>
                </a:solidFill>
                <a:latin typeface="Raleway"/>
                <a:ea typeface="Raleway"/>
                <a:cs typeface="Raleway"/>
                <a:sym typeface="Raleway"/>
              </a:rPr>
              <a:t>Experience: </a:t>
            </a:r>
            <a:r>
              <a:rPr b="0" i="0" lang="en-US" spc="0" sz="1800" u="none" cap="none" strike="noStrike">
                <a:solidFill>
                  <a:srgbClr val="565A32"/>
                </a:solidFill>
                <a:latin typeface="Raleway Light"/>
                <a:ea typeface="Raleway Light"/>
                <a:cs typeface="Raleway Light"/>
                <a:sym typeface="Raleway Light"/>
              </a:rPr>
              <a:t>Take part, play, connect and share</a:t>
            </a:r>
            <a:endParaRPr b="0" i="0" spc="0" sz="1800" u="none" cap="none" strike="noStrike">
              <a:solidFill>
                <a:srgbClr val="565A32"/>
              </a:solidFill>
              <a:latin typeface="Raleway Light"/>
              <a:ea typeface="Raleway Light"/>
              <a:cs typeface="Raleway Light"/>
              <a:sym typeface="Raleway Light"/>
            </a:endParaRPr>
          </a:p>
          <a:p>
            <a:pPr indent="0" lvl="0" marL="0" marR="0" rtl="0" algn="l">
              <a:lnSpc>
                <a:spcPct val="100000"/>
              </a:lnSpc>
              <a:spcBef>
                <a:spcPts val="0"/>
              </a:spcBef>
              <a:spcAft>
                <a:spcPts val="0"/>
              </a:spcAft>
              <a:buClr>
                <a:srgbClr val="000000"/>
              </a:buClr>
              <a:buSzPts val="1800"/>
              <a:buFont typeface="Arial"/>
              <a:buNone/>
            </a:pPr>
            <a:r>
              <a:t/>
            </a:r>
            <a:endParaRPr b="0" i="0" spc="0" sz="1800" u="none" cap="none" strike="noStrike">
              <a:solidFill>
                <a:srgbClr val="565A32"/>
              </a:solidFill>
              <a:latin typeface="Raleway Light"/>
              <a:ea typeface="Raleway Light"/>
              <a:cs typeface="Raleway Light"/>
              <a:sym typeface="Raleway Light"/>
            </a:endParaRPr>
          </a:p>
          <a:p>
            <a:pPr indent="0" lvl="0" marL="0" marR="0" rtl="0" algn="l">
              <a:lnSpc>
                <a:spcPct val="100000"/>
              </a:lnSpc>
              <a:spcBef>
                <a:spcPts val="0"/>
              </a:spcBef>
              <a:spcAft>
                <a:spcPts val="0"/>
              </a:spcAft>
              <a:buClr>
                <a:srgbClr val="000000"/>
              </a:buClr>
              <a:buSzPts val="1800"/>
              <a:buFont typeface="Arial"/>
              <a:buNone/>
            </a:pPr>
            <a:r>
              <a:rPr b="1" i="0" lang="en-US" spc="0" sz="1800" u="none" cap="none" strike="noStrike">
                <a:solidFill>
                  <a:srgbClr val="565A32"/>
                </a:solidFill>
                <a:latin typeface="Raleway"/>
                <a:ea typeface="Raleway"/>
                <a:cs typeface="Raleway"/>
                <a:sym typeface="Raleway"/>
              </a:rPr>
              <a:t>Belong: </a:t>
            </a:r>
            <a:r>
              <a:rPr b="0" i="0" lang="en-US" spc="0" sz="1800" u="none" cap="none" strike="noStrike">
                <a:solidFill>
                  <a:srgbClr val="565A32"/>
                </a:solidFill>
                <a:latin typeface="Raleway Light"/>
                <a:ea typeface="Raleway Light"/>
                <a:cs typeface="Raleway Light"/>
                <a:sym typeface="Raleway Light"/>
              </a:rPr>
              <a:t>Keep memories, deepen relationships and have reasons to return</a:t>
            </a:r>
            <a:endParaRPr b="0" i="0" spc="0" sz="1800" u="none" cap="none" strike="noStrike">
              <a:solidFill>
                <a:srgbClr val="565A32"/>
              </a:solidFill>
              <a:latin typeface="Raleway Light"/>
              <a:ea typeface="Raleway Light"/>
              <a:cs typeface="Raleway Light"/>
              <a:sym typeface="Raleway Light"/>
            </a:endParaRPr>
          </a:p>
        </p:txBody>
      </p:sp>
      <p:sp>
        <p:nvSpPr>
          <p:cNvPr id="210" name="Google Shape;210;p36"/>
          <p:cNvSpPr txBox="1"/>
          <p:nvPr/>
        </p:nvSpPr>
        <p:spPr>
          <a:xfrm>
            <a:off x="882175" y="5467575"/>
            <a:ext cx="8952900" cy="554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500"/>
              <a:buFont typeface="Arial"/>
              <a:buNone/>
            </a:pPr>
            <a:r>
              <a:rPr b="0" i="0" lang="en-US" spc="0" sz="1500" u="none" cap="none" strike="noStrike">
                <a:solidFill>
                  <a:srgbClr val="565A32"/>
                </a:solidFill>
                <a:latin typeface="Raleway Light"/>
                <a:ea typeface="Raleway Light"/>
                <a:cs typeface="Raleway Light"/>
                <a:sym typeface="Raleway Light"/>
              </a:rPr>
              <a:t>Personalisation connects the journey: one account, so each experience can build on the last.</a:t>
            </a:r>
            <a:endParaRPr b="0" i="0" spc="0" sz="1500" u="none" cap="none" strike="noStrike">
              <a:solidFill>
                <a:srgbClr val="565A32"/>
              </a:solidFill>
              <a:latin typeface="Raleway Light"/>
              <a:ea typeface="Raleway Light"/>
              <a:cs typeface="Raleway Light"/>
              <a:sym typeface="Raleway Light"/>
            </a:endParaRPr>
          </a:p>
          <a:p>
            <a:pPr indent="0" lvl="0" marL="0" marR="0" rtl="0" algn="l">
              <a:lnSpc>
                <a:spcPct val="100000"/>
              </a:lnSpc>
              <a:spcBef>
                <a:spcPts val="0"/>
              </a:spcBef>
              <a:spcAft>
                <a:spcPts val="0"/>
              </a:spcAft>
              <a:buClr>
                <a:srgbClr val="000000"/>
              </a:buClr>
              <a:buSzPts val="1500"/>
              <a:buFont typeface="Arial"/>
              <a:buNone/>
            </a:pPr>
            <a:r>
              <a:rPr b="0" i="0" lang="en-US" spc="0" sz="1500" u="none" cap="none" strike="noStrike">
                <a:solidFill>
                  <a:srgbClr val="565A32"/>
                </a:solidFill>
                <a:latin typeface="Raleway Light"/>
                <a:ea typeface="Raleway Light"/>
                <a:cs typeface="Raleway Light"/>
                <a:sym typeface="Raleway Light"/>
              </a:rPr>
              <a:t>Play can happen at any stage. It isn’t always the first step.</a:t>
            </a:r>
            <a:endParaRPr b="0" i="0" spc="0" sz="1600" u="none" cap="none" strike="noStrike">
              <a:solidFill>
                <a:srgbClr val="565A32"/>
              </a:solidFill>
              <a:latin typeface="Raleway Light"/>
              <a:ea typeface="Raleway Light"/>
              <a:cs typeface="Raleway Light"/>
              <a:sym typeface="Raleway Light"/>
            </a:endParaRPr>
          </a:p>
        </p:txBody>
      </p:sp>
      <p:sp>
        <p:nvSpPr>
          <p:cNvPr id="211" name="Google Shape;211;p36"/>
          <p:cNvSpPr/>
          <p:nvPr/>
        </p:nvSpPr>
        <p:spPr>
          <a:xfrm>
            <a:off x="0" y="0"/>
            <a:ext cx="12191700" cy="329100"/>
          </a:xfrm>
          <a:prstGeom prst="rect">
            <a:avLst/>
          </a:prstGeom>
          <a:solidFill>
            <a:srgbClr val="565A32"/>
          </a:solidFill>
          <a:ln cap="flat" cmpd="sng" w="12700">
            <a:solidFill>
              <a:srgbClr val="565A3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
        <p:nvSpPr>
          <p:cNvPr id="212" name="Slide number"/>
          <p:cNvSpPr txBox="1"/>
          <p:nvPr>
            <p:ph idx="4294967295" type="sldNum"/>
          </p:nvPr>
        </p:nvSpPr>
        <p:spPr>
          <a:xfrm>
            <a:off x="9372600" y="5971032"/>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chemeClr val="dk1"/>
                </a:solidFill>
                <a:latin typeface="Raleway Light"/>
                <a:ea typeface="Raleway Light"/>
                <a:cs typeface="Raleway Light"/>
                <a:sym typeface="Raleway Light"/>
              </a:rPr>
              <a:t>‹#›</a:t>
            </a:fld>
            <a:endParaRPr b="0" i="0" sz="1000" u="none" cap="none" strike="noStrike">
              <a:solidFill>
                <a:schemeClr val="dk1"/>
              </a:solidFill>
              <a:latin typeface="Raleway Light"/>
              <a:ea typeface="Raleway Light"/>
              <a:cs typeface="Raleway Light"/>
              <a:sym typeface="Raleway Ligh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AE0"/>
        </a:solidFill>
      </p:bgPr>
    </p:bg>
    <p:spTree>
      <p:nvGrpSpPr>
        <p:cNvPr id="216" name="Shape 216"/>
        <p:cNvGrpSpPr/>
        <p:nvPr/>
      </p:nvGrpSpPr>
      <p:grpSpPr>
        <a:xfrm>
          <a:off x="0" y="0"/>
          <a:ext cx="0" cy="0"/>
          <a:chOff x="0" y="0"/>
          <a:chExt cx="0" cy="0"/>
        </a:xfrm>
      </p:grpSpPr>
      <p:sp>
        <p:nvSpPr>
          <p:cNvPr id="217" name="Google Shape;217;p37"/>
          <p:cNvSpPr txBox="1"/>
          <p:nvPr/>
        </p:nvSpPr>
        <p:spPr>
          <a:xfrm>
            <a:off x="685800" y="411480"/>
            <a:ext cx="9985800" cy="640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65A32"/>
              </a:buClr>
              <a:buSzPts val="3800"/>
              <a:buFont typeface="Raleway Light"/>
              <a:buNone/>
            </a:pPr>
            <a:r>
              <a:rPr b="0" i="0" lang="en-US" spc="0" sz="3800" u="none" cap="none" strike="noStrike">
                <a:solidFill>
                  <a:srgbClr val="565A32"/>
                </a:solidFill>
                <a:latin typeface="Raleway Light"/>
                <a:ea typeface="Raleway Light"/>
                <a:cs typeface="Raleway Light"/>
                <a:sym typeface="Raleway Light"/>
              </a:rPr>
              <a:t>Two audiences, one connected brand</a:t>
            </a:r>
            <a:endParaRPr b="1" i="0" spc="0" sz="2700" u="none" cap="none" strike="noStrike">
              <a:solidFill>
                <a:srgbClr val="565A32"/>
              </a:solidFill>
              <a:latin typeface="Raleway SemiBold"/>
              <a:ea typeface="Raleway SemiBold"/>
              <a:cs typeface="Raleway SemiBold"/>
              <a:sym typeface="Raleway SemiBold"/>
            </a:endParaRPr>
          </a:p>
        </p:txBody>
      </p:sp>
      <p:sp>
        <p:nvSpPr>
          <p:cNvPr id="218" name="Google Shape;218;p37"/>
          <p:cNvSpPr txBox="1"/>
          <p:nvPr/>
        </p:nvSpPr>
        <p:spPr>
          <a:xfrm>
            <a:off x="685800" y="6355080"/>
            <a:ext cx="4114800" cy="2376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565A32"/>
              </a:buClr>
              <a:buSzPts val="1300"/>
              <a:buFont typeface="Raleway Light"/>
              <a:buNone/>
            </a:pPr>
            <a:r>
              <a:rPr b="0" i="0" lang="en-US" spc="0" sz="1300" u="none" cap="none" strike="noStrike">
                <a:solidFill>
                  <a:srgbClr val="565A32"/>
                </a:solidFill>
                <a:latin typeface="Raleway Light"/>
                <a:ea typeface="Raleway Light"/>
                <a:cs typeface="Raleway Light"/>
                <a:sym typeface="Raleway Light"/>
              </a:rPr>
              <a:t>Say what you really think.</a:t>
            </a:r>
            <a:endParaRPr b="0" i="0" spc="0" sz="1300" u="none" cap="none" strike="noStrike">
              <a:solidFill>
                <a:schemeClr val="dk1"/>
              </a:solidFill>
              <a:latin typeface="Raleway Light"/>
              <a:ea typeface="Raleway Light"/>
              <a:cs typeface="Raleway Light"/>
              <a:sym typeface="Raleway Light"/>
            </a:endParaRPr>
          </a:p>
        </p:txBody>
      </p:sp>
      <p:pic>
        <p:nvPicPr>
          <p:cNvPr id="219" name="Google Shape;219;p37" title="Copy_of_Untitled-removebg-preview.png"/>
          <p:cNvPicPr preferRelativeResize="0"/>
          <p:nvPr/>
        </p:nvPicPr>
        <p:blipFill rotWithShape="1">
          <a:blip r:embed="rId3">
            <a:alphaModFix/>
          </a:blip>
          <a:srcRect b="0" l="0" r="0" t="0"/>
          <a:stretch/>
        </p:blipFill>
        <p:spPr>
          <a:xfrm>
            <a:off x="9834990" y="5349262"/>
            <a:ext cx="1508730" cy="1508730"/>
          </a:xfrm>
          <a:prstGeom prst="rect">
            <a:avLst/>
          </a:prstGeom>
          <a:noFill/>
          <a:ln>
            <a:noFill/>
          </a:ln>
        </p:spPr>
      </p:pic>
      <p:sp>
        <p:nvSpPr>
          <p:cNvPr id="220" name="Google Shape;220;p37"/>
          <p:cNvSpPr txBox="1"/>
          <p:nvPr/>
        </p:nvSpPr>
        <p:spPr>
          <a:xfrm>
            <a:off x="685800" y="1097280"/>
            <a:ext cx="10058400" cy="3840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chemeClr val="dk1"/>
              </a:buClr>
              <a:buSzPts val="1700"/>
              <a:buFont typeface="Arial"/>
              <a:buNone/>
            </a:pPr>
            <a:r>
              <a:rPr b="0" i="0" lang="en-US" spc="0" sz="1900" u="none" cap="none" strike="noStrike">
                <a:solidFill>
                  <a:srgbClr val="565A32"/>
                </a:solidFill>
                <a:latin typeface="Raleway Light"/>
                <a:ea typeface="Raleway Light"/>
                <a:cs typeface="Raleway Light"/>
                <a:sym typeface="Raleway Light"/>
              </a:rPr>
              <a:t>One brand. Different ways to connect, discover and experience.</a:t>
            </a:r>
            <a:endParaRPr b="0" i="0" spc="0" sz="1900" u="none" cap="none" strike="noStrike">
              <a:solidFill>
                <a:schemeClr val="dk1"/>
              </a:solidFill>
              <a:latin typeface="Raleway Light"/>
              <a:ea typeface="Raleway Light"/>
              <a:cs typeface="Raleway Light"/>
              <a:sym typeface="Raleway Light"/>
            </a:endParaRPr>
          </a:p>
        </p:txBody>
      </p:sp>
      <p:sp>
        <p:nvSpPr>
          <p:cNvPr id="221" name="Google Shape;221;p37"/>
          <p:cNvSpPr/>
          <p:nvPr/>
        </p:nvSpPr>
        <p:spPr>
          <a:xfrm>
            <a:off x="548640" y="1645920"/>
            <a:ext cx="6400800" cy="384048"/>
          </a:xfrm>
          <a:prstGeom prst="leftRightArrow">
            <a:avLst>
              <a:gd fmla="val 50000" name="adj1"/>
              <a:gd fmla="val 50000" name="adj2"/>
            </a:avLst>
          </a:prstGeom>
          <a:solidFill>
            <a:srgbClr val="565A32"/>
          </a:solidFill>
          <a:ln>
            <a:noFill/>
          </a:ln>
        </p:spPr>
        <p:txBody>
          <a:bodyPr anchorCtr="0" anchor="ctr" bIns="18275" lIns="0" spcFirstLastPara="1" rIns="0" wrap="square" tIns="18275">
            <a:noAutofit/>
          </a:bodyPr>
          <a:lstStyle/>
          <a:p>
            <a:pPr indent="0" lvl="0" marL="0" marR="0" rtl="0" algn="ctr">
              <a:lnSpc>
                <a:spcPct val="100000"/>
              </a:lnSpc>
              <a:spcBef>
                <a:spcPts val="0"/>
              </a:spcBef>
              <a:spcAft>
                <a:spcPts val="0"/>
              </a:spcAft>
              <a:buNone/>
            </a:pPr>
            <a:r>
              <a:rPr b="1" i="0" lang="en-US" spc="0" sz="1200" u="none" cap="none" strike="noStrike">
                <a:solidFill>
                  <a:srgbClr val="EFEAE0"/>
                </a:solidFill>
                <a:latin typeface="Raleway SemiBold"/>
                <a:ea typeface="Raleway SemiBold"/>
                <a:cs typeface="Raleway SemiBold"/>
                <a:sym typeface="Raleway SemiBold"/>
              </a:rPr>
              <a:t>DIRECT TO CONSUMERS</a:t>
            </a:r>
            <a:endParaRPr/>
          </a:p>
        </p:txBody>
      </p:sp>
      <p:sp>
        <p:nvSpPr>
          <p:cNvPr id="222" name="Google Shape;222;p37"/>
          <p:cNvSpPr/>
          <p:nvPr/>
        </p:nvSpPr>
        <p:spPr>
          <a:xfrm>
            <a:off x="7434072" y="1645920"/>
            <a:ext cx="4206240" cy="384048"/>
          </a:xfrm>
          <a:prstGeom prst="leftRightArrow">
            <a:avLst>
              <a:gd fmla="val 50000" name="adj1"/>
              <a:gd fmla="val 50000" name="adj2"/>
            </a:avLst>
          </a:prstGeom>
          <a:solidFill>
            <a:srgbClr val="E3AC9A"/>
          </a:solidFill>
          <a:ln>
            <a:noFill/>
          </a:ln>
        </p:spPr>
        <p:txBody>
          <a:bodyPr anchorCtr="0" anchor="ctr" bIns="18275" lIns="0" spcFirstLastPara="1" rIns="0" wrap="square" tIns="18275">
            <a:noAutofit/>
          </a:bodyPr>
          <a:lstStyle/>
          <a:p>
            <a:pPr indent="0" lvl="0" marL="0" marR="0" rtl="0" algn="ctr">
              <a:lnSpc>
                <a:spcPct val="100000"/>
              </a:lnSpc>
              <a:spcBef>
                <a:spcPts val="0"/>
              </a:spcBef>
              <a:spcAft>
                <a:spcPts val="0"/>
              </a:spcAft>
              <a:buNone/>
            </a:pPr>
            <a:r>
              <a:rPr b="1" i="0" lang="en-US" spc="0" sz="1200" u="none" cap="none" strike="noStrike">
                <a:solidFill>
                  <a:srgbClr val="565A32"/>
                </a:solidFill>
                <a:latin typeface="Raleway SemiBold"/>
                <a:ea typeface="Raleway SemiBold"/>
                <a:cs typeface="Raleway SemiBold"/>
                <a:sym typeface="Raleway SemiBold"/>
              </a:rPr>
              <a:t>COMMERCIAL PARTNERS</a:t>
            </a:r>
            <a:endParaRPr/>
          </a:p>
        </p:txBody>
      </p:sp>
      <p:sp>
        <p:nvSpPr>
          <p:cNvPr id="223" name="Google Shape;223;p37"/>
          <p:cNvSpPr/>
          <p:nvPr/>
        </p:nvSpPr>
        <p:spPr>
          <a:xfrm>
            <a:off x="548640" y="2212848"/>
            <a:ext cx="2011680" cy="402336"/>
          </a:xfrm>
          <a:prstGeom prst="roundRect">
            <a:avLst>
              <a:gd fmla="val 50000" name="adj"/>
            </a:avLst>
          </a:prstGeom>
          <a:solidFill>
            <a:srgbClr val="565A32"/>
          </a:solidFill>
          <a:ln>
            <a:noFill/>
          </a:ln>
        </p:spPr>
        <p:txBody>
          <a:bodyPr anchorCtr="0" anchor="ctr" bIns="18275" lIns="0" spcFirstLastPara="1" rIns="0" wrap="square" tIns="18275">
            <a:noAutofit/>
          </a:bodyPr>
          <a:lstStyle/>
          <a:p>
            <a:pPr indent="0" lvl="0" marL="0" marR="0" rtl="0" algn="ctr">
              <a:lnSpc>
                <a:spcPct val="100000"/>
              </a:lnSpc>
              <a:spcBef>
                <a:spcPts val="0"/>
              </a:spcBef>
              <a:spcAft>
                <a:spcPts val="0"/>
              </a:spcAft>
              <a:buNone/>
            </a:pPr>
            <a:r>
              <a:rPr b="1" i="0" lang="en-US" spc="0" sz="1400" u="none" cap="none" strike="noStrike">
                <a:solidFill>
                  <a:srgbClr val="EFEAE0"/>
                </a:solidFill>
                <a:latin typeface="Raleway SemiBold"/>
                <a:ea typeface="Raleway SemiBold"/>
                <a:cs typeface="Raleway SemiBold"/>
                <a:sym typeface="Raleway SemiBold"/>
              </a:rPr>
              <a:t>The game</a:t>
            </a:r>
            <a:endParaRPr/>
          </a:p>
        </p:txBody>
      </p:sp>
      <p:sp>
        <p:nvSpPr>
          <p:cNvPr id="224" name="Google Shape;224;p37"/>
          <p:cNvSpPr/>
          <p:nvPr/>
        </p:nvSpPr>
        <p:spPr>
          <a:xfrm>
            <a:off x="548640" y="2743200"/>
            <a:ext cx="2011680" cy="1783080"/>
          </a:xfrm>
          <a:prstGeom prst="roundRect">
            <a:avLst>
              <a:gd fmla="val 5217" name="adj"/>
            </a:avLst>
          </a:prstGeom>
          <a:solidFill>
            <a:srgbClr val="FFFFFF"/>
          </a:solidFill>
          <a:ln cap="flat" cmpd="sng" w="12700">
            <a:solidFill>
              <a:srgbClr val="FFFFFF"/>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25" name="Google Shape;225;p37"/>
          <p:cNvSpPr txBox="1"/>
          <p:nvPr/>
        </p:nvSpPr>
        <p:spPr>
          <a:xfrm>
            <a:off x="713232" y="2907792"/>
            <a:ext cx="1682496" cy="1508760"/>
          </a:xfrm>
          <a:prstGeom prst="rect">
            <a:avLst/>
          </a:prstGeom>
          <a:noFill/>
          <a:ln>
            <a:noFill/>
          </a:ln>
        </p:spPr>
        <p:txBody>
          <a:bodyPr anchorCtr="0" anchor="t" bIns="18275" lIns="0" spcFirstLastPara="1" rIns="0" wrap="square" tIns="18275">
            <a:spAutoFit/>
          </a:bodyPr>
          <a:lstStyle/>
          <a:p>
            <a:pPr indent="0" lvl="0" marL="0" marR="0" rtl="0" algn="ctr">
              <a:lnSpc>
                <a:spcPct val="100000"/>
              </a:lnSpc>
              <a:spcBef>
                <a:spcPts val="0"/>
              </a:spcBef>
              <a:spcAft>
                <a:spcPts val="0"/>
              </a:spcAft>
              <a:buNone/>
            </a:pPr>
            <a:r>
              <a:rPr b="0" i="0" lang="en-US" spc="0" sz="1400" u="none" cap="none" strike="noStrike">
                <a:solidFill>
                  <a:srgbClr val="565A32"/>
                </a:solidFill>
                <a:latin typeface="Raleway Light"/>
                <a:ea typeface="Raleway Light"/>
                <a:cs typeface="Raleway Light"/>
                <a:sym typeface="Raleway Light"/>
              </a:rPr>
              <a:t>Premium, giftable and designed for real tables.</a:t>
            </a:r>
            <a:endParaRPr/>
          </a:p>
        </p:txBody>
      </p:sp>
      <p:sp>
        <p:nvSpPr>
          <p:cNvPr id="226" name="Google Shape;226;p37"/>
          <p:cNvSpPr/>
          <p:nvPr/>
        </p:nvSpPr>
        <p:spPr>
          <a:xfrm>
            <a:off x="2743200" y="2212848"/>
            <a:ext cx="2011680" cy="402336"/>
          </a:xfrm>
          <a:prstGeom prst="roundRect">
            <a:avLst>
              <a:gd fmla="val 50000" name="adj"/>
            </a:avLst>
          </a:prstGeom>
          <a:solidFill>
            <a:srgbClr val="8B8B5C"/>
          </a:solidFill>
          <a:ln>
            <a:noFill/>
          </a:ln>
        </p:spPr>
        <p:txBody>
          <a:bodyPr anchorCtr="0" anchor="ctr" bIns="18275" lIns="0" spcFirstLastPara="1" rIns="0" wrap="square" tIns="18275">
            <a:noAutofit/>
          </a:bodyPr>
          <a:lstStyle/>
          <a:p>
            <a:pPr indent="0" lvl="0" marL="0" marR="0" rtl="0" algn="ctr">
              <a:lnSpc>
                <a:spcPct val="100000"/>
              </a:lnSpc>
              <a:spcBef>
                <a:spcPts val="0"/>
              </a:spcBef>
              <a:spcAft>
                <a:spcPts val="0"/>
              </a:spcAft>
              <a:buNone/>
            </a:pPr>
            <a:r>
              <a:rPr b="1" i="0" lang="en-US" spc="0" sz="1400" u="none" cap="none" strike="noStrike">
                <a:solidFill>
                  <a:srgbClr val="FFFFFF"/>
                </a:solidFill>
                <a:latin typeface="Raleway SemiBold"/>
                <a:ea typeface="Raleway SemiBold"/>
                <a:cs typeface="Raleway SemiBold"/>
                <a:sym typeface="Raleway SemiBold"/>
              </a:rPr>
              <a:t>The app</a:t>
            </a:r>
            <a:endParaRPr/>
          </a:p>
        </p:txBody>
      </p:sp>
      <p:sp>
        <p:nvSpPr>
          <p:cNvPr id="227" name="Google Shape;227;p37"/>
          <p:cNvSpPr/>
          <p:nvPr/>
        </p:nvSpPr>
        <p:spPr>
          <a:xfrm>
            <a:off x="2743200" y="2743200"/>
            <a:ext cx="2011680" cy="1783080"/>
          </a:xfrm>
          <a:prstGeom prst="roundRect">
            <a:avLst>
              <a:gd fmla="val 5217" name="adj"/>
            </a:avLst>
          </a:prstGeom>
          <a:solidFill>
            <a:srgbClr val="FFFFFF"/>
          </a:solidFill>
          <a:ln cap="flat" cmpd="sng" w="12700">
            <a:solidFill>
              <a:srgbClr val="FFFFFF"/>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28" name="Google Shape;228;p37"/>
          <p:cNvSpPr txBox="1"/>
          <p:nvPr/>
        </p:nvSpPr>
        <p:spPr>
          <a:xfrm>
            <a:off x="2907792" y="2907792"/>
            <a:ext cx="1682496" cy="1508760"/>
          </a:xfrm>
          <a:prstGeom prst="rect">
            <a:avLst/>
          </a:prstGeom>
          <a:noFill/>
          <a:ln>
            <a:noFill/>
          </a:ln>
        </p:spPr>
        <p:txBody>
          <a:bodyPr anchorCtr="0" anchor="t" bIns="18275" lIns="0" spcFirstLastPara="1" rIns="0" wrap="square" tIns="18275">
            <a:spAutoFit/>
          </a:bodyPr>
          <a:lstStyle/>
          <a:p>
            <a:pPr indent="0" lvl="0" marL="0" marR="0" rtl="0" algn="ctr">
              <a:lnSpc>
                <a:spcPct val="100000"/>
              </a:lnSpc>
              <a:spcBef>
                <a:spcPts val="0"/>
              </a:spcBef>
              <a:spcAft>
                <a:spcPts val="0"/>
              </a:spcAft>
              <a:buNone/>
            </a:pPr>
            <a:r>
              <a:rPr b="0" i="0" lang="en-US" spc="0" sz="1400" u="none" cap="none" strike="noStrike">
                <a:solidFill>
                  <a:srgbClr val="565A32"/>
                </a:solidFill>
                <a:latin typeface="Raleway Light"/>
                <a:ea typeface="Raleway Light"/>
                <a:cs typeface="Raleway Light"/>
                <a:sym typeface="Raleway Light"/>
              </a:rPr>
              <a:t>Supports play and discovery, and keeps the moments people want to return to.</a:t>
            </a:r>
            <a:endParaRPr/>
          </a:p>
        </p:txBody>
      </p:sp>
      <p:sp>
        <p:nvSpPr>
          <p:cNvPr id="229" name="Google Shape;229;p37"/>
          <p:cNvSpPr/>
          <p:nvPr/>
        </p:nvSpPr>
        <p:spPr>
          <a:xfrm>
            <a:off x="4937760" y="2212848"/>
            <a:ext cx="2011680" cy="402336"/>
          </a:xfrm>
          <a:prstGeom prst="roundRect">
            <a:avLst>
              <a:gd fmla="val 50000" name="adj"/>
            </a:avLst>
          </a:prstGeom>
          <a:solidFill>
            <a:srgbClr val="B9BC9A"/>
          </a:solidFill>
          <a:ln>
            <a:noFill/>
          </a:ln>
        </p:spPr>
        <p:txBody>
          <a:bodyPr anchorCtr="0" anchor="ctr" bIns="18275" lIns="0" spcFirstLastPara="1" rIns="0" wrap="square" tIns="18275">
            <a:noAutofit/>
          </a:bodyPr>
          <a:lstStyle/>
          <a:p>
            <a:pPr indent="0" lvl="0" marL="0" marR="0" rtl="0" algn="ctr">
              <a:lnSpc>
                <a:spcPct val="100000"/>
              </a:lnSpc>
              <a:spcBef>
                <a:spcPts val="0"/>
              </a:spcBef>
              <a:spcAft>
                <a:spcPts val="0"/>
              </a:spcAft>
              <a:buNone/>
            </a:pPr>
            <a:r>
              <a:rPr b="1" i="0" lang="en-US" spc="0" sz="1400" u="none" cap="none" strike="noStrike">
                <a:solidFill>
                  <a:srgbClr val="565A32"/>
                </a:solidFill>
                <a:latin typeface="Raleway SemiBold"/>
                <a:ea typeface="Raleway SemiBold"/>
                <a:cs typeface="Raleway SemiBold"/>
                <a:sym typeface="Raleway SemiBold"/>
              </a:rPr>
              <a:t>Entre Amis stays</a:t>
            </a:r>
            <a:endParaRPr/>
          </a:p>
        </p:txBody>
      </p:sp>
      <p:sp>
        <p:nvSpPr>
          <p:cNvPr id="230" name="Google Shape;230;p37"/>
          <p:cNvSpPr/>
          <p:nvPr/>
        </p:nvSpPr>
        <p:spPr>
          <a:xfrm>
            <a:off x="4937760" y="2743200"/>
            <a:ext cx="2011680" cy="1783080"/>
          </a:xfrm>
          <a:prstGeom prst="roundRect">
            <a:avLst>
              <a:gd fmla="val 5217" name="adj"/>
            </a:avLst>
          </a:prstGeom>
          <a:solidFill>
            <a:srgbClr val="FFFFFF"/>
          </a:solidFill>
          <a:ln cap="flat" cmpd="sng" w="12700">
            <a:solidFill>
              <a:srgbClr val="FFFFFF"/>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31" name="Google Shape;231;p37"/>
          <p:cNvSpPr txBox="1"/>
          <p:nvPr/>
        </p:nvSpPr>
        <p:spPr>
          <a:xfrm>
            <a:off x="5102352" y="2907792"/>
            <a:ext cx="1682496" cy="1508760"/>
          </a:xfrm>
          <a:prstGeom prst="rect">
            <a:avLst/>
          </a:prstGeom>
          <a:noFill/>
          <a:ln>
            <a:noFill/>
          </a:ln>
        </p:spPr>
        <p:txBody>
          <a:bodyPr anchorCtr="0" anchor="t" bIns="18275" lIns="0" spcFirstLastPara="1" rIns="0" wrap="square" tIns="18275">
            <a:spAutoFit/>
          </a:bodyPr>
          <a:lstStyle/>
          <a:p>
            <a:pPr indent="0" lvl="0" marL="0" marR="0" rtl="0" algn="ctr">
              <a:lnSpc>
                <a:spcPct val="100000"/>
              </a:lnSpc>
              <a:spcBef>
                <a:spcPts val="0"/>
              </a:spcBef>
              <a:spcAft>
                <a:spcPts val="0"/>
              </a:spcAft>
              <a:buNone/>
            </a:pPr>
            <a:r>
              <a:rPr b="0" i="0" lang="en-US" spc="0" sz="1400" u="none" cap="none" strike="noStrike">
                <a:solidFill>
                  <a:srgbClr val="565A32"/>
                </a:solidFill>
                <a:latin typeface="Raleway Light"/>
                <a:ea typeface="Raleway Light"/>
                <a:cs typeface="Raleway Light"/>
                <a:sym typeface="Raleway Light"/>
              </a:rPr>
              <a:t>The vision: Entre Amis, lived for a few days.</a:t>
            </a:r>
            <a:endParaRPr/>
          </a:p>
        </p:txBody>
      </p:sp>
      <p:sp>
        <p:nvSpPr>
          <p:cNvPr id="232" name="Google Shape;232;p37"/>
          <p:cNvSpPr/>
          <p:nvPr/>
        </p:nvSpPr>
        <p:spPr>
          <a:xfrm>
            <a:off x="7434072" y="2212848"/>
            <a:ext cx="2011680" cy="402336"/>
          </a:xfrm>
          <a:prstGeom prst="roundRect">
            <a:avLst>
              <a:gd fmla="val 50000" name="adj"/>
            </a:avLst>
          </a:prstGeom>
          <a:solidFill>
            <a:srgbClr val="E3AC9A"/>
          </a:solidFill>
          <a:ln>
            <a:noFill/>
          </a:ln>
        </p:spPr>
        <p:txBody>
          <a:bodyPr anchorCtr="0" anchor="ctr" bIns="18275" lIns="0" spcFirstLastPara="1" rIns="0" wrap="square" tIns="18275">
            <a:noAutofit/>
          </a:bodyPr>
          <a:lstStyle/>
          <a:p>
            <a:pPr indent="0" lvl="0" marL="0" marR="0" rtl="0" algn="ctr">
              <a:lnSpc>
                <a:spcPct val="100000"/>
              </a:lnSpc>
              <a:spcBef>
                <a:spcPts val="0"/>
              </a:spcBef>
              <a:spcAft>
                <a:spcPts val="0"/>
              </a:spcAft>
              <a:buNone/>
            </a:pPr>
            <a:r>
              <a:rPr b="1" i="0" lang="en-US" spc="0" sz="1400" u="none" cap="none" strike="noStrike">
                <a:solidFill>
                  <a:srgbClr val="565A32"/>
                </a:solidFill>
                <a:latin typeface="Raleway SemiBold"/>
                <a:ea typeface="Raleway SemiBold"/>
                <a:cs typeface="Raleway SemiBold"/>
                <a:sym typeface="Raleway SemiBold"/>
              </a:rPr>
              <a:t>Partner Mode</a:t>
            </a:r>
            <a:endParaRPr/>
          </a:p>
        </p:txBody>
      </p:sp>
      <p:sp>
        <p:nvSpPr>
          <p:cNvPr id="233" name="Google Shape;233;p37"/>
          <p:cNvSpPr/>
          <p:nvPr/>
        </p:nvSpPr>
        <p:spPr>
          <a:xfrm>
            <a:off x="7434072" y="2743200"/>
            <a:ext cx="2011680" cy="1783080"/>
          </a:xfrm>
          <a:prstGeom prst="roundRect">
            <a:avLst>
              <a:gd fmla="val 5217" name="adj"/>
            </a:avLst>
          </a:prstGeom>
          <a:solidFill>
            <a:srgbClr val="FFFFFF"/>
          </a:solidFill>
          <a:ln cap="flat" cmpd="sng" w="12700">
            <a:solidFill>
              <a:srgbClr val="FFFFFF"/>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34" name="Google Shape;234;p37"/>
          <p:cNvSpPr txBox="1"/>
          <p:nvPr/>
        </p:nvSpPr>
        <p:spPr>
          <a:xfrm>
            <a:off x="7598664" y="2907792"/>
            <a:ext cx="1682496" cy="1508760"/>
          </a:xfrm>
          <a:prstGeom prst="rect">
            <a:avLst/>
          </a:prstGeom>
          <a:noFill/>
          <a:ln>
            <a:noFill/>
          </a:ln>
        </p:spPr>
        <p:txBody>
          <a:bodyPr anchorCtr="0" anchor="t" bIns="18275" lIns="0" spcFirstLastPara="1" rIns="0" wrap="square" tIns="18275">
            <a:spAutoFit/>
          </a:bodyPr>
          <a:lstStyle/>
          <a:p>
            <a:pPr indent="0" lvl="0" marL="0" marR="0" rtl="0" algn="ctr">
              <a:lnSpc>
                <a:spcPct val="100000"/>
              </a:lnSpc>
              <a:spcBef>
                <a:spcPts val="0"/>
              </a:spcBef>
              <a:spcAft>
                <a:spcPts val="0"/>
              </a:spcAft>
              <a:buNone/>
            </a:pPr>
            <a:r>
              <a:rPr b="0" i="0" lang="en-US" spc="0" sz="1400" u="none" cap="none" strike="noStrike">
                <a:solidFill>
                  <a:srgbClr val="565A32"/>
                </a:solidFill>
                <a:latin typeface="Raleway Light"/>
                <a:ea typeface="Raleway Light"/>
                <a:cs typeface="Raleway Light"/>
                <a:sym typeface="Raleway Light"/>
              </a:rPr>
              <a:t>Hosted tastings for one venue or producer: engagement, relationships and insight.</a:t>
            </a:r>
            <a:endParaRPr/>
          </a:p>
        </p:txBody>
      </p:sp>
      <p:sp>
        <p:nvSpPr>
          <p:cNvPr id="235" name="Google Shape;235;p37"/>
          <p:cNvSpPr/>
          <p:nvPr/>
        </p:nvSpPr>
        <p:spPr>
          <a:xfrm>
            <a:off x="9628632" y="2212848"/>
            <a:ext cx="2011680" cy="402336"/>
          </a:xfrm>
          <a:prstGeom prst="roundRect">
            <a:avLst>
              <a:gd fmla="val 50000" name="adj"/>
            </a:avLst>
          </a:prstGeom>
          <a:solidFill>
            <a:srgbClr val="E3AC9A"/>
          </a:solidFill>
          <a:ln>
            <a:noFill/>
          </a:ln>
        </p:spPr>
        <p:txBody>
          <a:bodyPr anchorCtr="0" anchor="ctr" bIns="18275" lIns="0" spcFirstLastPara="1" rIns="0" wrap="square" tIns="18275">
            <a:noAutofit/>
          </a:bodyPr>
          <a:lstStyle/>
          <a:p>
            <a:pPr indent="0" lvl="0" marL="0" marR="0" rtl="0" algn="ctr">
              <a:lnSpc>
                <a:spcPct val="100000"/>
              </a:lnSpc>
              <a:spcBef>
                <a:spcPts val="0"/>
              </a:spcBef>
              <a:spcAft>
                <a:spcPts val="0"/>
              </a:spcAft>
              <a:buNone/>
            </a:pPr>
            <a:r>
              <a:rPr b="1" i="0" lang="en-US" spc="0" sz="1400" u="none" cap="none" strike="noStrike">
                <a:solidFill>
                  <a:srgbClr val="565A32"/>
                </a:solidFill>
                <a:latin typeface="Raleway SemiBold"/>
                <a:ea typeface="Raleway SemiBold"/>
                <a:cs typeface="Raleway SemiBold"/>
                <a:sym typeface="Raleway SemiBold"/>
              </a:rPr>
              <a:t>Event Mode</a:t>
            </a:r>
            <a:endParaRPr/>
          </a:p>
        </p:txBody>
      </p:sp>
      <p:sp>
        <p:nvSpPr>
          <p:cNvPr id="236" name="Google Shape;236;p37"/>
          <p:cNvSpPr/>
          <p:nvPr/>
        </p:nvSpPr>
        <p:spPr>
          <a:xfrm>
            <a:off x="9628632" y="2743200"/>
            <a:ext cx="2011680" cy="1783080"/>
          </a:xfrm>
          <a:prstGeom prst="roundRect">
            <a:avLst>
              <a:gd fmla="val 5217" name="adj"/>
            </a:avLst>
          </a:prstGeom>
          <a:solidFill>
            <a:srgbClr val="FFFFFF"/>
          </a:solidFill>
          <a:ln cap="flat" cmpd="sng" w="12700">
            <a:solidFill>
              <a:srgbClr val="FFFFFF"/>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37" name="Google Shape;237;p37"/>
          <p:cNvSpPr txBox="1"/>
          <p:nvPr/>
        </p:nvSpPr>
        <p:spPr>
          <a:xfrm>
            <a:off x="9793224" y="2907792"/>
            <a:ext cx="1682496" cy="1508760"/>
          </a:xfrm>
          <a:prstGeom prst="rect">
            <a:avLst/>
          </a:prstGeom>
          <a:noFill/>
          <a:ln>
            <a:noFill/>
          </a:ln>
        </p:spPr>
        <p:txBody>
          <a:bodyPr anchorCtr="0" anchor="t" bIns="18275" lIns="0" spcFirstLastPara="1" rIns="0" wrap="square" tIns="18275">
            <a:spAutoFit/>
          </a:bodyPr>
          <a:lstStyle/>
          <a:p>
            <a:pPr indent="0" lvl="0" marL="0" marR="0" rtl="0" algn="ctr">
              <a:lnSpc>
                <a:spcPct val="100000"/>
              </a:lnSpc>
              <a:spcBef>
                <a:spcPts val="0"/>
              </a:spcBef>
              <a:spcAft>
                <a:spcPts val="0"/>
              </a:spcAft>
              <a:buNone/>
            </a:pPr>
            <a:r>
              <a:rPr b="0" i="0" lang="en-US" spc="0" sz="1400" u="none" cap="none" strike="noStrike">
                <a:solidFill>
                  <a:srgbClr val="565A32"/>
                </a:solidFill>
                <a:latin typeface="Raleway Light"/>
                <a:ea typeface="Raleway Light"/>
                <a:cs typeface="Raleway Light"/>
                <a:sym typeface="Raleway Light"/>
              </a:rPr>
              <a:t>Entre Amis across a combined event, for visitors, producers and organisers.</a:t>
            </a:r>
            <a:endParaRPr/>
          </a:p>
        </p:txBody>
      </p:sp>
      <p:sp>
        <p:nvSpPr>
          <p:cNvPr id="238" name="Google Shape;238;p37"/>
          <p:cNvSpPr/>
          <p:nvPr/>
        </p:nvSpPr>
        <p:spPr>
          <a:xfrm>
            <a:off x="548640" y="4736592"/>
            <a:ext cx="11091672" cy="868680"/>
          </a:xfrm>
          <a:prstGeom prst="leftRightArrow">
            <a:avLst>
              <a:gd fmla="val 62000" name="adj1"/>
              <a:gd fmla="val 32000" name="adj2"/>
            </a:avLst>
          </a:prstGeom>
          <a:solidFill>
            <a:srgbClr val="565A32"/>
          </a:solidFill>
          <a:ln>
            <a:noFill/>
          </a:ln>
        </p:spPr>
        <p:txBody>
          <a:bodyPr anchorCtr="0" anchor="ctr" bIns="18275" lIns="822950" spcFirstLastPara="1" rIns="822950" wrap="square" tIns="18275">
            <a:noAutofit/>
          </a:bodyPr>
          <a:lstStyle/>
          <a:p>
            <a:pPr indent="0" lvl="0" marL="0" marR="0" rtl="0" algn="ctr">
              <a:lnSpc>
                <a:spcPct val="100000"/>
              </a:lnSpc>
              <a:spcBef>
                <a:spcPts val="0"/>
              </a:spcBef>
              <a:spcAft>
                <a:spcPts val="0"/>
              </a:spcAft>
              <a:buNone/>
            </a:pPr>
            <a:r>
              <a:rPr b="1" i="0" lang="en-US" spc="0" sz="1200" u="none" cap="none" strike="noStrike">
                <a:solidFill>
                  <a:srgbClr val="EFEAE0"/>
                </a:solidFill>
                <a:latin typeface="Raleway SemiBold"/>
                <a:ea typeface="Raleway SemiBold"/>
                <a:cs typeface="Raleway SemiBold"/>
                <a:sym typeface="Raleway SemiBold"/>
              </a:rPr>
              <a:t>CONNECTED PLATFORM, DATA AND INSIGHT</a:t>
            </a:r>
            <a:endParaRPr/>
          </a:p>
          <a:p>
            <a:pPr indent="0" lvl="0" marL="0" marR="0" rtl="0" algn="ctr">
              <a:lnSpc>
                <a:spcPct val="100000"/>
              </a:lnSpc>
              <a:spcBef>
                <a:spcPts val="0"/>
              </a:spcBef>
              <a:spcAft>
                <a:spcPts val="0"/>
              </a:spcAft>
              <a:buNone/>
            </a:pPr>
            <a:r>
              <a:rPr b="0" i="0" lang="en-US" spc="0" sz="1200" u="none" cap="none" strike="noStrike">
                <a:solidFill>
                  <a:srgbClr val="EFEAE0"/>
                </a:solidFill>
                <a:latin typeface="Raleway Light"/>
                <a:ea typeface="Raleway Light"/>
                <a:cs typeface="Raleway Light"/>
                <a:sym typeface="Raleway Light"/>
              </a:rPr>
              <a:t>One connected experience across Entre Amis, built with consent: personalisation, useful insight and reasons to return.</a:t>
            </a:r>
            <a:endParaRPr/>
          </a:p>
        </p:txBody>
      </p:sp>
      <p:sp>
        <p:nvSpPr>
          <p:cNvPr id="239" name="Google Shape;239;p37"/>
          <p:cNvSpPr/>
          <p:nvPr/>
        </p:nvSpPr>
        <p:spPr>
          <a:xfrm>
            <a:off x="0" y="0"/>
            <a:ext cx="12191700" cy="329100"/>
          </a:xfrm>
          <a:prstGeom prst="rect">
            <a:avLst/>
          </a:prstGeom>
          <a:solidFill>
            <a:srgbClr val="565A32"/>
          </a:solidFill>
          <a:ln cap="flat" cmpd="sng" w="12700">
            <a:solidFill>
              <a:srgbClr val="565A3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
        <p:nvSpPr>
          <p:cNvPr id="240" name="Slide number"/>
          <p:cNvSpPr txBox="1"/>
          <p:nvPr>
            <p:ph idx="4294967295" type="sldNum"/>
          </p:nvPr>
        </p:nvSpPr>
        <p:spPr>
          <a:xfrm>
            <a:off x="9372600" y="5971032"/>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chemeClr val="dk1"/>
                </a:solidFill>
                <a:latin typeface="Raleway Light"/>
                <a:ea typeface="Raleway Light"/>
                <a:cs typeface="Raleway Light"/>
                <a:sym typeface="Raleway Light"/>
              </a:rPr>
              <a:t>‹#›</a:t>
            </a:fld>
            <a:endParaRPr b="0" i="0" sz="1000" u="none" cap="none" strike="noStrike">
              <a:solidFill>
                <a:schemeClr val="dk1"/>
              </a:solidFill>
              <a:latin typeface="Raleway Light"/>
              <a:ea typeface="Raleway Light"/>
              <a:cs typeface="Raleway Light"/>
              <a:sym typeface="Raleway Ligh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AE0"/>
        </a:solidFill>
      </p:bgPr>
    </p:bg>
    <p:spTree>
      <p:nvGrpSpPr>
        <p:cNvPr id="271" name="Shape 271"/>
        <p:cNvGrpSpPr/>
        <p:nvPr/>
      </p:nvGrpSpPr>
      <p:grpSpPr>
        <a:xfrm>
          <a:off x="0" y="0"/>
          <a:ext cx="0" cy="0"/>
          <a:chOff x="0" y="0"/>
          <a:chExt cx="0" cy="0"/>
        </a:xfrm>
      </p:grpSpPr>
      <p:cxnSp>
        <p:nvCxnSpPr>
          <p:cNvPr id="272" name="Google Shape;272;p39"/>
          <p:cNvCxnSpPr>
            <a:endCxn id="273" idx="1"/>
          </p:cNvCxnSpPr>
          <p:nvPr/>
        </p:nvCxnSpPr>
        <p:spPr>
          <a:xfrm>
            <a:off x="4544628" y="2020680"/>
            <a:ext cx="594300" cy="219600"/>
          </a:xfrm>
          <a:prstGeom prst="curvedConnector3">
            <a:avLst>
              <a:gd fmla="val 50000" name="adj1"/>
            </a:avLst>
          </a:prstGeom>
          <a:noFill/>
          <a:ln cap="flat" cmpd="sng" w="28575">
            <a:solidFill>
              <a:srgbClr val="B9BC9A"/>
            </a:solidFill>
            <a:prstDash val="solid"/>
            <a:round/>
            <a:headEnd len="sm" w="sm" type="none"/>
            <a:tailEnd len="sm" w="sm" type="none"/>
          </a:ln>
          <a:effectLst>
            <a:outerShdw blurRad="40000" rotWithShape="0" dir="5400000" dist="20000">
              <a:srgbClr val="000000">
                <a:alpha val="38040"/>
              </a:srgbClr>
            </a:outerShdw>
          </a:effectLst>
        </p:spPr>
      </p:cxnSp>
      <p:cxnSp>
        <p:nvCxnSpPr>
          <p:cNvPr id="274" name="Google Shape;274;p39"/>
          <p:cNvCxnSpPr/>
          <p:nvPr/>
        </p:nvCxnSpPr>
        <p:spPr>
          <a:xfrm flipH="1" rot="10800000">
            <a:off x="4544568" y="2926056"/>
            <a:ext cx="411600" cy="265200"/>
          </a:xfrm>
          <a:prstGeom prst="curvedConnector3">
            <a:avLst>
              <a:gd fmla="val 50000" name="adj1"/>
            </a:avLst>
          </a:prstGeom>
          <a:noFill/>
          <a:ln cap="flat" cmpd="sng" w="28575">
            <a:solidFill>
              <a:srgbClr val="B9BC9A"/>
            </a:solidFill>
            <a:prstDash val="solid"/>
            <a:round/>
            <a:headEnd len="sm" w="sm" type="none"/>
            <a:tailEnd len="sm" w="sm" type="none"/>
          </a:ln>
          <a:effectLst>
            <a:outerShdw blurRad="40000" rotWithShape="0" dir="5400000" dist="20000">
              <a:srgbClr val="000000">
                <a:alpha val="38039"/>
              </a:srgbClr>
            </a:outerShdw>
          </a:effectLst>
        </p:spPr>
      </p:cxnSp>
      <p:cxnSp>
        <p:nvCxnSpPr>
          <p:cNvPr id="275" name="Google Shape;275;p39"/>
          <p:cNvCxnSpPr/>
          <p:nvPr/>
        </p:nvCxnSpPr>
        <p:spPr>
          <a:xfrm rot="-5400000">
            <a:off x="4489818" y="3895338"/>
            <a:ext cx="521100" cy="411600"/>
          </a:xfrm>
          <a:prstGeom prst="curvedConnector3">
            <a:avLst>
              <a:gd fmla="val 50000" name="adj1"/>
            </a:avLst>
          </a:prstGeom>
          <a:noFill/>
          <a:ln cap="flat" cmpd="sng" w="28575">
            <a:solidFill>
              <a:srgbClr val="B9BC9A"/>
            </a:solidFill>
            <a:prstDash val="solid"/>
            <a:round/>
            <a:headEnd len="sm" w="sm" type="none"/>
            <a:tailEnd len="sm" w="sm" type="none"/>
          </a:ln>
          <a:effectLst>
            <a:outerShdw blurRad="40000" rotWithShape="0" dir="5400000" dist="20000">
              <a:srgbClr val="000000">
                <a:alpha val="38039"/>
              </a:srgbClr>
            </a:outerShdw>
          </a:effectLst>
        </p:spPr>
      </p:cxnSp>
      <p:cxnSp>
        <p:nvCxnSpPr>
          <p:cNvPr id="276" name="Google Shape;276;p39"/>
          <p:cNvCxnSpPr/>
          <p:nvPr/>
        </p:nvCxnSpPr>
        <p:spPr>
          <a:xfrm rot="-5400000">
            <a:off x="4361718" y="4937670"/>
            <a:ext cx="777300" cy="411600"/>
          </a:xfrm>
          <a:prstGeom prst="curvedConnector3">
            <a:avLst>
              <a:gd fmla="val 50000" name="adj1"/>
            </a:avLst>
          </a:prstGeom>
          <a:noFill/>
          <a:ln cap="flat" cmpd="sng" w="28575">
            <a:solidFill>
              <a:srgbClr val="B9BC9A"/>
            </a:solidFill>
            <a:prstDash val="solid"/>
            <a:round/>
            <a:headEnd len="sm" w="sm" type="none"/>
            <a:tailEnd len="sm" w="sm" type="none"/>
          </a:ln>
          <a:effectLst>
            <a:outerShdw blurRad="40000" rotWithShape="0" dir="5400000" dist="20000">
              <a:srgbClr val="000000">
                <a:alpha val="38039"/>
              </a:srgbClr>
            </a:outerShdw>
          </a:effectLst>
        </p:spPr>
      </p:cxnSp>
      <p:cxnSp>
        <p:nvCxnSpPr>
          <p:cNvPr id="277" name="Google Shape;277;p39"/>
          <p:cNvCxnSpPr>
            <a:endCxn id="278" idx="3"/>
          </p:cNvCxnSpPr>
          <p:nvPr/>
        </p:nvCxnSpPr>
        <p:spPr>
          <a:xfrm rot="10800000">
            <a:off x="6967728" y="1984248"/>
            <a:ext cx="576000" cy="301500"/>
          </a:xfrm>
          <a:prstGeom prst="curvedConnector3">
            <a:avLst>
              <a:gd fmla="val 50000" name="adj1"/>
            </a:avLst>
          </a:prstGeom>
          <a:noFill/>
          <a:ln cap="flat" cmpd="sng" w="28575">
            <a:solidFill>
              <a:srgbClr val="B9BC9A"/>
            </a:solidFill>
            <a:prstDash val="solid"/>
            <a:round/>
            <a:headEnd len="sm" w="sm" type="none"/>
            <a:tailEnd len="sm" w="sm" type="none"/>
          </a:ln>
          <a:effectLst>
            <a:outerShdw blurRad="40000" rotWithShape="0" dir="5400000" dist="20000">
              <a:srgbClr val="000000">
                <a:alpha val="38040"/>
              </a:srgbClr>
            </a:outerShdw>
          </a:effectLst>
        </p:spPr>
      </p:cxnSp>
      <p:cxnSp>
        <p:nvCxnSpPr>
          <p:cNvPr id="279" name="Google Shape;279;p39"/>
          <p:cNvCxnSpPr/>
          <p:nvPr/>
        </p:nvCxnSpPr>
        <p:spPr>
          <a:xfrm rot="10800000">
            <a:off x="7168800" y="3566268"/>
            <a:ext cx="375000" cy="292500"/>
          </a:xfrm>
          <a:prstGeom prst="curvedConnector3">
            <a:avLst>
              <a:gd fmla="val 50000" name="adj1"/>
            </a:avLst>
          </a:prstGeom>
          <a:noFill/>
          <a:ln cap="flat" cmpd="sng" w="28575">
            <a:solidFill>
              <a:srgbClr val="B9BC9A"/>
            </a:solidFill>
            <a:prstDash val="solid"/>
            <a:round/>
            <a:headEnd len="sm" w="sm" type="none"/>
            <a:tailEnd len="sm" w="sm" type="none"/>
          </a:ln>
          <a:effectLst>
            <a:outerShdw blurRad="40000" rotWithShape="0" dir="5400000" dist="20000">
              <a:srgbClr val="000000">
                <a:alpha val="38039"/>
              </a:srgbClr>
            </a:outerShdw>
          </a:effectLst>
        </p:spPr>
      </p:cxnSp>
      <p:cxnSp>
        <p:nvCxnSpPr>
          <p:cNvPr id="280" name="Google Shape;280;p39"/>
          <p:cNvCxnSpPr/>
          <p:nvPr/>
        </p:nvCxnSpPr>
        <p:spPr>
          <a:xfrm flipH="1" rot="5400000">
            <a:off x="7063650" y="4951386"/>
            <a:ext cx="585300" cy="375000"/>
          </a:xfrm>
          <a:prstGeom prst="curvedConnector3">
            <a:avLst>
              <a:gd fmla="val 50000" name="adj1"/>
            </a:avLst>
          </a:prstGeom>
          <a:noFill/>
          <a:ln cap="flat" cmpd="sng" w="28575">
            <a:solidFill>
              <a:srgbClr val="B9BC9A"/>
            </a:solidFill>
            <a:prstDash val="solid"/>
            <a:round/>
            <a:headEnd len="sm" w="sm" type="none"/>
            <a:tailEnd len="sm" w="sm" type="none"/>
          </a:ln>
          <a:effectLst>
            <a:outerShdw blurRad="40000" rotWithShape="0" dir="5400000" dist="20000">
              <a:srgbClr val="000000">
                <a:alpha val="38039"/>
              </a:srgbClr>
            </a:outerShdw>
          </a:effectLst>
        </p:spPr>
      </p:cxnSp>
      <p:sp>
        <p:nvSpPr>
          <p:cNvPr id="281" name="Google Shape;281;p39"/>
          <p:cNvSpPr txBox="1"/>
          <p:nvPr/>
        </p:nvSpPr>
        <p:spPr>
          <a:xfrm>
            <a:off x="548640" y="384048"/>
            <a:ext cx="8229600" cy="6400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800"/>
              <a:buFont typeface="Arial"/>
              <a:buNone/>
            </a:pPr>
            <a:r>
              <a:rPr b="0" i="0" lang="en-US" spc="0" sz="3800" u="none" cap="none" strike="noStrike">
                <a:solidFill>
                  <a:srgbClr val="565A32"/>
                </a:solidFill>
                <a:latin typeface="Raleway Light"/>
                <a:ea typeface="Raleway Light"/>
                <a:cs typeface="Raleway Light"/>
                <a:sym typeface="Raleway Light"/>
              </a:rPr>
              <a:t>Sophie's Entre Amis life</a:t>
            </a:r>
            <a:endParaRPr b="0" i="0" spc="0" sz="1400" u="none" cap="none" strike="noStrike">
              <a:solidFill>
                <a:srgbClr val="000000"/>
              </a:solidFill>
              <a:latin typeface="Arial"/>
              <a:ea typeface="Arial"/>
              <a:cs typeface="Arial"/>
              <a:sym typeface="Arial"/>
            </a:endParaRPr>
          </a:p>
        </p:txBody>
      </p:sp>
      <p:sp>
        <p:nvSpPr>
          <p:cNvPr id="282" name="Google Shape;282;p39"/>
          <p:cNvSpPr txBox="1"/>
          <p:nvPr/>
        </p:nvSpPr>
        <p:spPr>
          <a:xfrm>
            <a:off x="548640" y="1024128"/>
            <a:ext cx="8229600"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900"/>
              <a:buFont typeface="Arial"/>
              <a:buNone/>
            </a:pPr>
            <a:r>
              <a:rPr b="0" i="0" lang="en-US" spc="0" sz="1900" u="none" cap="none" strike="noStrike">
                <a:solidFill>
                  <a:srgbClr val="565A32"/>
                </a:solidFill>
                <a:latin typeface="Raleway Light"/>
                <a:ea typeface="Raleway Light"/>
                <a:cs typeface="Raleway Light"/>
                <a:sym typeface="Raleway Light"/>
              </a:rPr>
              <a:t>Different experiences. One account. A richer relationship over time.</a:t>
            </a:r>
            <a:endParaRPr b="0" i="0" spc="0" sz="1400" u="none" cap="none" strike="noStrike">
              <a:solidFill>
                <a:srgbClr val="000000"/>
              </a:solidFill>
              <a:latin typeface="Arial"/>
              <a:ea typeface="Arial"/>
              <a:cs typeface="Arial"/>
              <a:sym typeface="Arial"/>
            </a:endParaRPr>
          </a:p>
        </p:txBody>
      </p:sp>
      <p:sp>
        <p:nvSpPr>
          <p:cNvPr id="283" name="Google Shape;283;p39"/>
          <p:cNvSpPr/>
          <p:nvPr/>
        </p:nvSpPr>
        <p:spPr>
          <a:xfrm>
            <a:off x="9262872" y="457200"/>
            <a:ext cx="2377440" cy="384048"/>
          </a:xfrm>
          <a:prstGeom prst="roundRect">
            <a:avLst>
              <a:gd fmla="val 50000" name="adj"/>
            </a:avLst>
          </a:prstGeom>
          <a:solidFill>
            <a:srgbClr val="EFEAE0"/>
          </a:solidFill>
          <a:ln cap="flat" cmpd="sng" w="12700">
            <a:solidFill>
              <a:srgbClr val="565A32"/>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1" i="0" lang="en-US" spc="0" sz="1400" u="none" cap="none" strike="noStrike">
                <a:solidFill>
                  <a:srgbClr val="565A32"/>
                </a:solidFill>
                <a:latin typeface="Raleway SemiBold"/>
                <a:ea typeface="Raleway SemiBold"/>
                <a:cs typeface="Raleway SemiBold"/>
                <a:sym typeface="Raleway SemiBold"/>
              </a:rPr>
              <a:t>ILLUSTRATIVE</a:t>
            </a:r>
            <a:endParaRPr b="0" i="0" spc="0" sz="1400" u="none" cap="none" strike="noStrike">
              <a:solidFill>
                <a:srgbClr val="000000"/>
              </a:solidFill>
              <a:latin typeface="Arial"/>
              <a:ea typeface="Arial"/>
              <a:cs typeface="Arial"/>
              <a:sym typeface="Arial"/>
            </a:endParaRPr>
          </a:p>
        </p:txBody>
      </p:sp>
      <p:pic>
        <p:nvPicPr>
          <p:cNvPr descr="sophie_1.png" id="284" name="Google Shape;284;p39"/>
          <p:cNvPicPr preferRelativeResize="0"/>
          <p:nvPr/>
        </p:nvPicPr>
        <p:blipFill rotWithShape="1">
          <a:blip r:embed="rId3">
            <a:alphaModFix/>
          </a:blip>
          <a:srcRect b="0" l="0" r="0" t="0"/>
          <a:stretch/>
        </p:blipFill>
        <p:spPr>
          <a:xfrm>
            <a:off x="3520440" y="1508760"/>
            <a:ext cx="1024128" cy="1024128"/>
          </a:xfrm>
          <a:prstGeom prst="rect">
            <a:avLst/>
          </a:prstGeom>
          <a:noFill/>
          <a:ln>
            <a:noFill/>
          </a:ln>
        </p:spPr>
      </p:pic>
      <p:sp>
        <p:nvSpPr>
          <p:cNvPr id="285" name="Google Shape;285;p39"/>
          <p:cNvSpPr/>
          <p:nvPr/>
        </p:nvSpPr>
        <p:spPr>
          <a:xfrm>
            <a:off x="3520440" y="1508760"/>
            <a:ext cx="1024128" cy="1024128"/>
          </a:xfrm>
          <a:prstGeom prst="ellipse">
            <a:avLst/>
          </a:prstGeom>
          <a:noFill/>
          <a:ln cap="flat" cmpd="sng" w="381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86" name="Google Shape;286;p39"/>
          <p:cNvSpPr txBox="1"/>
          <p:nvPr/>
        </p:nvSpPr>
        <p:spPr>
          <a:xfrm>
            <a:off x="548640" y="1490472"/>
            <a:ext cx="27889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pc="0" sz="1400" u="none" cap="none" strike="noStrike">
                <a:solidFill>
                  <a:srgbClr val="565A32"/>
                </a:solidFill>
                <a:latin typeface="Raleway SemiBold"/>
                <a:ea typeface="Raleway SemiBold"/>
                <a:cs typeface="Raleway SemiBold"/>
                <a:sym typeface="Raleway SemiBold"/>
              </a:rPr>
              <a:t>Hosting at home</a:t>
            </a:r>
            <a:endParaRPr b="0" i="0" spc="0" sz="1400" u="none" cap="none" strike="noStrike">
              <a:solidFill>
                <a:srgbClr val="000000"/>
              </a:solidFill>
              <a:latin typeface="Arial"/>
              <a:ea typeface="Arial"/>
              <a:cs typeface="Arial"/>
              <a:sym typeface="Arial"/>
            </a:endParaRPr>
          </a:p>
        </p:txBody>
      </p:sp>
      <p:sp>
        <p:nvSpPr>
          <p:cNvPr id="287" name="Google Shape;287;p39"/>
          <p:cNvSpPr txBox="1"/>
          <p:nvPr/>
        </p:nvSpPr>
        <p:spPr>
          <a:xfrm>
            <a:off x="548640" y="1764792"/>
            <a:ext cx="2788920" cy="56692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0" i="0" lang="en-US" spc="0" sz="1050" u="none" cap="none" strike="noStrike">
                <a:solidFill>
                  <a:srgbClr val="565A32"/>
                </a:solidFill>
                <a:latin typeface="Raleway Light"/>
                <a:ea typeface="Raleway Light"/>
                <a:cs typeface="Raleway Light"/>
                <a:sym typeface="Raleway Light"/>
              </a:rPr>
              <a:t>Sophie hosts her first Entre Amis game. Everyone joins in, and new favourites go into her collection.</a:t>
            </a:r>
            <a:endParaRPr b="0" i="0" spc="0" sz="1400" u="none" cap="none" strike="noStrike">
              <a:solidFill>
                <a:srgbClr val="000000"/>
              </a:solidFill>
              <a:latin typeface="Arial"/>
              <a:ea typeface="Arial"/>
              <a:cs typeface="Arial"/>
              <a:sym typeface="Arial"/>
            </a:endParaRPr>
          </a:p>
        </p:txBody>
      </p:sp>
      <p:sp>
        <p:nvSpPr>
          <p:cNvPr id="288" name="Google Shape;288;p39"/>
          <p:cNvSpPr/>
          <p:nvPr/>
        </p:nvSpPr>
        <p:spPr>
          <a:xfrm>
            <a:off x="548640" y="2313432"/>
            <a:ext cx="1600200" cy="237744"/>
          </a:xfrm>
          <a:prstGeom prst="roundRect">
            <a:avLst>
              <a:gd fmla="val 50000" name="adj"/>
            </a:avLst>
          </a:prstGeom>
          <a:solidFill>
            <a:srgbClr val="565A3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50"/>
              <a:buFont typeface="Arial"/>
              <a:buNone/>
            </a:pPr>
            <a:r>
              <a:rPr b="1" i="0" lang="en-US" spc="0" sz="950" u="none" cap="none" strike="noStrike">
                <a:solidFill>
                  <a:srgbClr val="EFEAE0"/>
                </a:solidFill>
                <a:latin typeface="Raleway SemiBold"/>
                <a:ea typeface="Raleway SemiBold"/>
                <a:cs typeface="Raleway SemiBold"/>
                <a:sym typeface="Raleway SemiBold"/>
              </a:rPr>
              <a:t>The game + app</a:t>
            </a:r>
            <a:endParaRPr b="0" i="0" spc="0" sz="1400" u="none" cap="none" strike="noStrike">
              <a:solidFill>
                <a:srgbClr val="000000"/>
              </a:solidFill>
              <a:latin typeface="Arial"/>
              <a:ea typeface="Arial"/>
              <a:cs typeface="Arial"/>
              <a:sym typeface="Arial"/>
            </a:endParaRPr>
          </a:p>
        </p:txBody>
      </p:sp>
      <p:pic>
        <p:nvPicPr>
          <p:cNvPr descr="sophie_2.png" id="289" name="Google Shape;289;p39"/>
          <p:cNvPicPr preferRelativeResize="0"/>
          <p:nvPr/>
        </p:nvPicPr>
        <p:blipFill rotWithShape="1">
          <a:blip r:embed="rId4">
            <a:alphaModFix/>
          </a:blip>
          <a:srcRect b="0" l="0" r="0" t="0"/>
          <a:stretch/>
        </p:blipFill>
        <p:spPr>
          <a:xfrm>
            <a:off x="3520440" y="2679191"/>
            <a:ext cx="1024128" cy="1024128"/>
          </a:xfrm>
          <a:prstGeom prst="rect">
            <a:avLst/>
          </a:prstGeom>
          <a:noFill/>
          <a:ln>
            <a:noFill/>
          </a:ln>
        </p:spPr>
      </p:pic>
      <p:sp>
        <p:nvSpPr>
          <p:cNvPr id="290" name="Google Shape;290;p39"/>
          <p:cNvSpPr/>
          <p:nvPr/>
        </p:nvSpPr>
        <p:spPr>
          <a:xfrm>
            <a:off x="3520440" y="2679191"/>
            <a:ext cx="1024128" cy="1024128"/>
          </a:xfrm>
          <a:prstGeom prst="ellipse">
            <a:avLst/>
          </a:prstGeom>
          <a:noFill/>
          <a:ln cap="flat" cmpd="sng" w="381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91" name="Google Shape;291;p39"/>
          <p:cNvSpPr txBox="1"/>
          <p:nvPr/>
        </p:nvSpPr>
        <p:spPr>
          <a:xfrm>
            <a:off x="548640" y="2660903"/>
            <a:ext cx="27889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pc="0" sz="1400" u="none" cap="none" strike="noStrike">
                <a:solidFill>
                  <a:srgbClr val="565A32"/>
                </a:solidFill>
                <a:latin typeface="Raleway SemiBold"/>
                <a:ea typeface="Raleway SemiBold"/>
                <a:cs typeface="Raleway SemiBold"/>
                <a:sym typeface="Raleway SemiBold"/>
              </a:rPr>
              <a:t>At a friend’s table</a:t>
            </a:r>
            <a:endParaRPr b="0" i="0" spc="0" sz="1400" u="none" cap="none" strike="noStrike">
              <a:solidFill>
                <a:srgbClr val="000000"/>
              </a:solidFill>
              <a:latin typeface="Arial"/>
              <a:ea typeface="Arial"/>
              <a:cs typeface="Arial"/>
              <a:sym typeface="Arial"/>
            </a:endParaRPr>
          </a:p>
        </p:txBody>
      </p:sp>
      <p:sp>
        <p:nvSpPr>
          <p:cNvPr id="292" name="Google Shape;292;p39"/>
          <p:cNvSpPr txBox="1"/>
          <p:nvPr/>
        </p:nvSpPr>
        <p:spPr>
          <a:xfrm>
            <a:off x="548640" y="2935223"/>
            <a:ext cx="2788920" cy="56692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0" i="0" lang="en-US" spc="0" sz="1050" u="none" cap="none" strike="noStrike">
                <a:solidFill>
                  <a:srgbClr val="565A32"/>
                </a:solidFill>
                <a:latin typeface="Raleway Light"/>
                <a:ea typeface="Raleway Light"/>
                <a:cs typeface="Raleway Light"/>
                <a:sym typeface="Raleway Light"/>
              </a:rPr>
              <a:t>Sophie joins a game at a friend’s house: good conversation, new wines and an occasion to remember.</a:t>
            </a:r>
            <a:endParaRPr b="0" i="0" spc="0" sz="1400" u="none" cap="none" strike="noStrike">
              <a:solidFill>
                <a:srgbClr val="000000"/>
              </a:solidFill>
              <a:latin typeface="Arial"/>
              <a:ea typeface="Arial"/>
              <a:cs typeface="Arial"/>
              <a:sym typeface="Arial"/>
            </a:endParaRPr>
          </a:p>
        </p:txBody>
      </p:sp>
      <p:sp>
        <p:nvSpPr>
          <p:cNvPr id="293" name="Google Shape;293;p39"/>
          <p:cNvSpPr/>
          <p:nvPr/>
        </p:nvSpPr>
        <p:spPr>
          <a:xfrm>
            <a:off x="548640" y="3483863"/>
            <a:ext cx="1600200" cy="237744"/>
          </a:xfrm>
          <a:prstGeom prst="roundRect">
            <a:avLst>
              <a:gd fmla="val 50000" name="adj"/>
            </a:avLst>
          </a:prstGeom>
          <a:solidFill>
            <a:srgbClr val="565A3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50"/>
              <a:buFont typeface="Arial"/>
              <a:buNone/>
            </a:pPr>
            <a:r>
              <a:rPr b="1" i="0" lang="en-US" spc="0" sz="950" u="none" cap="none" strike="noStrike">
                <a:solidFill>
                  <a:srgbClr val="EFEAE0"/>
                </a:solidFill>
                <a:latin typeface="Raleway SemiBold"/>
                <a:ea typeface="Raleway SemiBold"/>
                <a:cs typeface="Raleway SemiBold"/>
                <a:sym typeface="Raleway SemiBold"/>
              </a:rPr>
              <a:t>The game + app</a:t>
            </a:r>
            <a:endParaRPr b="0" i="0" spc="0" sz="1400" u="none" cap="none" strike="noStrike">
              <a:solidFill>
                <a:srgbClr val="000000"/>
              </a:solidFill>
              <a:latin typeface="Arial"/>
              <a:ea typeface="Arial"/>
              <a:cs typeface="Arial"/>
              <a:sym typeface="Arial"/>
            </a:endParaRPr>
          </a:p>
        </p:txBody>
      </p:sp>
      <p:pic>
        <p:nvPicPr>
          <p:cNvPr descr="sophie_3.png" id="294" name="Google Shape;294;p39"/>
          <p:cNvPicPr preferRelativeResize="0"/>
          <p:nvPr/>
        </p:nvPicPr>
        <p:blipFill rotWithShape="1">
          <a:blip r:embed="rId5">
            <a:alphaModFix/>
          </a:blip>
          <a:srcRect b="0" l="0" r="0" t="0"/>
          <a:stretch/>
        </p:blipFill>
        <p:spPr>
          <a:xfrm>
            <a:off x="3520440" y="3849624"/>
            <a:ext cx="1024128" cy="1024128"/>
          </a:xfrm>
          <a:prstGeom prst="rect">
            <a:avLst/>
          </a:prstGeom>
          <a:noFill/>
          <a:ln>
            <a:noFill/>
          </a:ln>
        </p:spPr>
      </p:pic>
      <p:sp>
        <p:nvSpPr>
          <p:cNvPr id="295" name="Google Shape;295;p39"/>
          <p:cNvSpPr/>
          <p:nvPr/>
        </p:nvSpPr>
        <p:spPr>
          <a:xfrm>
            <a:off x="3520440" y="3849624"/>
            <a:ext cx="1024128" cy="1024128"/>
          </a:xfrm>
          <a:prstGeom prst="ellipse">
            <a:avLst/>
          </a:prstGeom>
          <a:noFill/>
          <a:ln cap="flat" cmpd="sng" w="381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96" name="Google Shape;296;p39"/>
          <p:cNvSpPr txBox="1"/>
          <p:nvPr/>
        </p:nvSpPr>
        <p:spPr>
          <a:xfrm>
            <a:off x="548640" y="3831336"/>
            <a:ext cx="27889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pc="0" sz="1400" u="none" cap="none" strike="noStrike">
                <a:solidFill>
                  <a:srgbClr val="565A32"/>
                </a:solidFill>
                <a:latin typeface="Raleway SemiBold"/>
                <a:ea typeface="Raleway SemiBold"/>
                <a:cs typeface="Raleway SemiBold"/>
                <a:sym typeface="Raleway SemiBold"/>
              </a:rPr>
              <a:t>A vineyard visit</a:t>
            </a:r>
            <a:endParaRPr b="0" i="0" spc="0" sz="1400" u="none" cap="none" strike="noStrike">
              <a:solidFill>
                <a:srgbClr val="000000"/>
              </a:solidFill>
              <a:latin typeface="Arial"/>
              <a:ea typeface="Arial"/>
              <a:cs typeface="Arial"/>
              <a:sym typeface="Arial"/>
            </a:endParaRPr>
          </a:p>
        </p:txBody>
      </p:sp>
      <p:sp>
        <p:nvSpPr>
          <p:cNvPr id="297" name="Google Shape;297;p39"/>
          <p:cNvSpPr txBox="1"/>
          <p:nvPr/>
        </p:nvSpPr>
        <p:spPr>
          <a:xfrm>
            <a:off x="548640" y="4105656"/>
            <a:ext cx="2788920" cy="56692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0" i="0" lang="en-US" spc="0" sz="1050" u="none" cap="none" strike="noStrike">
                <a:solidFill>
                  <a:srgbClr val="565A32"/>
                </a:solidFill>
                <a:latin typeface="Raleway Light"/>
                <a:ea typeface="Raleway Light"/>
                <a:cs typeface="Raleway Light"/>
                <a:sym typeface="Raleway Light"/>
              </a:rPr>
              <a:t>Sophie joins a hosted tasting at a vineyard. She discovers new wines and a connection to the place and its story.</a:t>
            </a:r>
            <a:endParaRPr b="0" i="0" spc="0" sz="1400" u="none" cap="none" strike="noStrike">
              <a:solidFill>
                <a:srgbClr val="000000"/>
              </a:solidFill>
              <a:latin typeface="Arial"/>
              <a:ea typeface="Arial"/>
              <a:cs typeface="Arial"/>
              <a:sym typeface="Arial"/>
            </a:endParaRPr>
          </a:p>
        </p:txBody>
      </p:sp>
      <p:sp>
        <p:nvSpPr>
          <p:cNvPr id="298" name="Google Shape;298;p39"/>
          <p:cNvSpPr/>
          <p:nvPr/>
        </p:nvSpPr>
        <p:spPr>
          <a:xfrm>
            <a:off x="548640" y="4654296"/>
            <a:ext cx="1600200" cy="237744"/>
          </a:xfrm>
          <a:prstGeom prst="roundRect">
            <a:avLst>
              <a:gd fmla="val 50000" name="adj"/>
            </a:avLst>
          </a:prstGeom>
          <a:solidFill>
            <a:srgbClr val="E3AC9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50"/>
              <a:buFont typeface="Arial"/>
              <a:buNone/>
            </a:pPr>
            <a:r>
              <a:rPr b="1" i="0" lang="en-US" spc="0" sz="950" u="none" cap="none" strike="noStrike">
                <a:solidFill>
                  <a:srgbClr val="565A32"/>
                </a:solidFill>
                <a:latin typeface="Raleway SemiBold"/>
                <a:ea typeface="Raleway SemiBold"/>
                <a:cs typeface="Raleway SemiBold"/>
                <a:sym typeface="Raleway SemiBold"/>
              </a:rPr>
              <a:t>Partner Mode</a:t>
            </a:r>
            <a:endParaRPr b="0" i="0" spc="0" sz="1400" u="none" cap="none" strike="noStrike">
              <a:solidFill>
                <a:srgbClr val="000000"/>
              </a:solidFill>
              <a:latin typeface="Arial"/>
              <a:ea typeface="Arial"/>
              <a:cs typeface="Arial"/>
              <a:sym typeface="Arial"/>
            </a:endParaRPr>
          </a:p>
        </p:txBody>
      </p:sp>
      <p:pic>
        <p:nvPicPr>
          <p:cNvPr descr="sophie_4.png" id="299" name="Google Shape;299;p39"/>
          <p:cNvPicPr preferRelativeResize="0"/>
          <p:nvPr/>
        </p:nvPicPr>
        <p:blipFill rotWithShape="1">
          <a:blip r:embed="rId6">
            <a:alphaModFix/>
          </a:blip>
          <a:srcRect b="0" l="0" r="0" t="0"/>
          <a:stretch/>
        </p:blipFill>
        <p:spPr>
          <a:xfrm>
            <a:off x="3520440" y="5020056"/>
            <a:ext cx="1024128" cy="1024128"/>
          </a:xfrm>
          <a:prstGeom prst="rect">
            <a:avLst/>
          </a:prstGeom>
          <a:noFill/>
          <a:ln>
            <a:noFill/>
          </a:ln>
        </p:spPr>
      </p:pic>
      <p:sp>
        <p:nvSpPr>
          <p:cNvPr id="300" name="Google Shape;300;p39"/>
          <p:cNvSpPr/>
          <p:nvPr/>
        </p:nvSpPr>
        <p:spPr>
          <a:xfrm>
            <a:off x="3520440" y="5020056"/>
            <a:ext cx="1024128" cy="1024128"/>
          </a:xfrm>
          <a:prstGeom prst="ellipse">
            <a:avLst/>
          </a:prstGeom>
          <a:noFill/>
          <a:ln cap="flat" cmpd="sng" w="381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01" name="Google Shape;301;p39"/>
          <p:cNvSpPr txBox="1"/>
          <p:nvPr/>
        </p:nvSpPr>
        <p:spPr>
          <a:xfrm>
            <a:off x="548640" y="5001768"/>
            <a:ext cx="27889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pc="0" sz="1400" u="none" cap="none" strike="noStrike">
                <a:solidFill>
                  <a:srgbClr val="565A32"/>
                </a:solidFill>
                <a:latin typeface="Raleway SemiBold"/>
                <a:ea typeface="Raleway SemiBold"/>
                <a:cs typeface="Raleway SemiBold"/>
                <a:sym typeface="Raleway SemiBold"/>
              </a:rPr>
              <a:t>Her own discoveries</a:t>
            </a:r>
            <a:endParaRPr b="0" i="0" spc="0" sz="1400" u="none" cap="none" strike="noStrike">
              <a:solidFill>
                <a:srgbClr val="000000"/>
              </a:solidFill>
              <a:latin typeface="Arial"/>
              <a:ea typeface="Arial"/>
              <a:cs typeface="Arial"/>
              <a:sym typeface="Arial"/>
            </a:endParaRPr>
          </a:p>
        </p:txBody>
      </p:sp>
      <p:sp>
        <p:nvSpPr>
          <p:cNvPr id="302" name="Google Shape;302;p39"/>
          <p:cNvSpPr txBox="1"/>
          <p:nvPr/>
        </p:nvSpPr>
        <p:spPr>
          <a:xfrm>
            <a:off x="548640" y="5276088"/>
            <a:ext cx="2788920" cy="56692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0" i="0" lang="en-US" spc="0" sz="1050" u="none" cap="none" strike="noStrike">
                <a:solidFill>
                  <a:srgbClr val="565A32"/>
                </a:solidFill>
                <a:latin typeface="Raleway Light"/>
                <a:ea typeface="Raleway Light"/>
                <a:cs typeface="Raleway Light"/>
                <a:sym typeface="Raleway Light"/>
              </a:rPr>
              <a:t>With Just tasting, Sophie explores wines on her own, saves favourites and builds her collection over time.</a:t>
            </a:r>
            <a:endParaRPr b="0" i="0" spc="0" sz="1400" u="none" cap="none" strike="noStrike">
              <a:solidFill>
                <a:srgbClr val="000000"/>
              </a:solidFill>
              <a:latin typeface="Arial"/>
              <a:ea typeface="Arial"/>
              <a:cs typeface="Arial"/>
              <a:sym typeface="Arial"/>
            </a:endParaRPr>
          </a:p>
        </p:txBody>
      </p:sp>
      <p:sp>
        <p:nvSpPr>
          <p:cNvPr id="303" name="Google Shape;303;p39"/>
          <p:cNvSpPr/>
          <p:nvPr/>
        </p:nvSpPr>
        <p:spPr>
          <a:xfrm>
            <a:off x="548640" y="5824728"/>
            <a:ext cx="1600200" cy="237744"/>
          </a:xfrm>
          <a:prstGeom prst="roundRect">
            <a:avLst>
              <a:gd fmla="val 50000" name="adj"/>
            </a:avLst>
          </a:prstGeom>
          <a:solidFill>
            <a:srgbClr val="8B8B5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50"/>
              <a:buFont typeface="Arial"/>
              <a:buNone/>
            </a:pPr>
            <a:r>
              <a:rPr b="1" i="0" lang="en-US" spc="0" sz="950" u="none" cap="none" strike="noStrike">
                <a:solidFill>
                  <a:srgbClr val="FFFFFF"/>
                </a:solidFill>
                <a:latin typeface="Raleway SemiBold"/>
                <a:ea typeface="Raleway SemiBold"/>
                <a:cs typeface="Raleway SemiBold"/>
                <a:sym typeface="Raleway SemiBold"/>
              </a:rPr>
              <a:t>The app</a:t>
            </a:r>
            <a:endParaRPr b="0" i="0" spc="0" sz="1400" u="none" cap="none" strike="noStrike">
              <a:solidFill>
                <a:srgbClr val="000000"/>
              </a:solidFill>
              <a:latin typeface="Arial"/>
              <a:ea typeface="Arial"/>
              <a:cs typeface="Arial"/>
              <a:sym typeface="Arial"/>
            </a:endParaRPr>
          </a:p>
        </p:txBody>
      </p:sp>
      <p:pic>
        <p:nvPicPr>
          <p:cNvPr descr="sophie_7.png" id="304" name="Google Shape;304;p39"/>
          <p:cNvPicPr preferRelativeResize="0"/>
          <p:nvPr/>
        </p:nvPicPr>
        <p:blipFill rotWithShape="1">
          <a:blip r:embed="rId7">
            <a:alphaModFix/>
          </a:blip>
          <a:srcRect b="0" l="0" r="0" t="0"/>
          <a:stretch/>
        </p:blipFill>
        <p:spPr>
          <a:xfrm>
            <a:off x="7543800" y="4837176"/>
            <a:ext cx="1188720" cy="1188720"/>
          </a:xfrm>
          <a:prstGeom prst="rect">
            <a:avLst/>
          </a:prstGeom>
          <a:noFill/>
          <a:ln>
            <a:noFill/>
          </a:ln>
        </p:spPr>
      </p:pic>
      <p:sp>
        <p:nvSpPr>
          <p:cNvPr id="305" name="Google Shape;305;p39"/>
          <p:cNvSpPr/>
          <p:nvPr/>
        </p:nvSpPr>
        <p:spPr>
          <a:xfrm>
            <a:off x="7543800" y="4837176"/>
            <a:ext cx="1188720" cy="1188720"/>
          </a:xfrm>
          <a:prstGeom prst="ellipse">
            <a:avLst/>
          </a:prstGeom>
          <a:noFill/>
          <a:ln cap="flat" cmpd="sng" w="381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06" name="Google Shape;306;p39"/>
          <p:cNvSpPr txBox="1"/>
          <p:nvPr/>
        </p:nvSpPr>
        <p:spPr>
          <a:xfrm>
            <a:off x="8915400" y="4882896"/>
            <a:ext cx="274320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pc="0" sz="1400" u="none" cap="none" strike="noStrike">
                <a:solidFill>
                  <a:srgbClr val="565A32"/>
                </a:solidFill>
                <a:latin typeface="Raleway SemiBold"/>
                <a:ea typeface="Raleway SemiBold"/>
                <a:cs typeface="Raleway SemiBold"/>
                <a:sym typeface="Raleway SemiBold"/>
              </a:rPr>
              <a:t>Taking it further</a:t>
            </a:r>
            <a:endParaRPr b="0" i="0" spc="0" sz="1400" u="none" cap="none" strike="noStrike">
              <a:solidFill>
                <a:srgbClr val="000000"/>
              </a:solidFill>
              <a:latin typeface="Arial"/>
              <a:ea typeface="Arial"/>
              <a:cs typeface="Arial"/>
              <a:sym typeface="Arial"/>
            </a:endParaRPr>
          </a:p>
        </p:txBody>
      </p:sp>
      <p:sp>
        <p:nvSpPr>
          <p:cNvPr id="307" name="Google Shape;307;p39"/>
          <p:cNvSpPr txBox="1"/>
          <p:nvPr/>
        </p:nvSpPr>
        <p:spPr>
          <a:xfrm>
            <a:off x="8915400" y="5157216"/>
            <a:ext cx="2743200" cy="56692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0" i="0" lang="en-US" spc="0" sz="1050" u="none" cap="none" strike="noStrike">
                <a:solidFill>
                  <a:srgbClr val="565A32"/>
                </a:solidFill>
                <a:latin typeface="Raleway Light"/>
                <a:ea typeface="Raleway Light"/>
                <a:cs typeface="Raleway Light"/>
                <a:sym typeface="Raleway Light"/>
              </a:rPr>
              <a:t>Sophie brings Entre Amis on her travels, and one day joins an Entre Amis stay: new places, new people.</a:t>
            </a:r>
            <a:endParaRPr b="0" i="0" spc="0" sz="1400" u="none" cap="none" strike="noStrike">
              <a:solidFill>
                <a:srgbClr val="000000"/>
              </a:solidFill>
              <a:latin typeface="Arial"/>
              <a:ea typeface="Arial"/>
              <a:cs typeface="Arial"/>
              <a:sym typeface="Arial"/>
            </a:endParaRPr>
          </a:p>
        </p:txBody>
      </p:sp>
      <p:sp>
        <p:nvSpPr>
          <p:cNvPr id="308" name="Google Shape;308;p39"/>
          <p:cNvSpPr/>
          <p:nvPr/>
        </p:nvSpPr>
        <p:spPr>
          <a:xfrm>
            <a:off x="8915400" y="5705856"/>
            <a:ext cx="1600200" cy="237744"/>
          </a:xfrm>
          <a:prstGeom prst="roundRect">
            <a:avLst>
              <a:gd fmla="val 50000" name="adj"/>
            </a:avLst>
          </a:prstGeom>
          <a:solidFill>
            <a:srgbClr val="B9BC9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50"/>
              <a:buFont typeface="Arial"/>
              <a:buNone/>
            </a:pPr>
            <a:r>
              <a:rPr b="1" i="0" lang="en-US" spc="0" sz="950" u="none" cap="none" strike="noStrike">
                <a:solidFill>
                  <a:srgbClr val="565A32"/>
                </a:solidFill>
                <a:latin typeface="Raleway SemiBold"/>
                <a:ea typeface="Raleway SemiBold"/>
                <a:cs typeface="Raleway SemiBold"/>
                <a:sym typeface="Raleway SemiBold"/>
              </a:rPr>
              <a:t>Stays · the vision</a:t>
            </a:r>
            <a:endParaRPr b="0" i="0" spc="0" sz="1400" u="none" cap="none" strike="noStrike">
              <a:solidFill>
                <a:srgbClr val="000000"/>
              </a:solidFill>
              <a:latin typeface="Arial"/>
              <a:ea typeface="Arial"/>
              <a:cs typeface="Arial"/>
              <a:sym typeface="Arial"/>
            </a:endParaRPr>
          </a:p>
        </p:txBody>
      </p:sp>
      <p:pic>
        <p:nvPicPr>
          <p:cNvPr descr="sophie_6.png" id="309" name="Google Shape;309;p39"/>
          <p:cNvPicPr preferRelativeResize="0"/>
          <p:nvPr/>
        </p:nvPicPr>
        <p:blipFill rotWithShape="1">
          <a:blip r:embed="rId8">
            <a:alphaModFix/>
          </a:blip>
          <a:srcRect b="0" l="0" r="0" t="0"/>
          <a:stretch/>
        </p:blipFill>
        <p:spPr>
          <a:xfrm>
            <a:off x="7543800" y="3264408"/>
            <a:ext cx="1188720" cy="1188720"/>
          </a:xfrm>
          <a:prstGeom prst="rect">
            <a:avLst/>
          </a:prstGeom>
          <a:noFill/>
          <a:ln>
            <a:noFill/>
          </a:ln>
        </p:spPr>
      </p:pic>
      <p:sp>
        <p:nvSpPr>
          <p:cNvPr id="310" name="Google Shape;310;p39"/>
          <p:cNvSpPr/>
          <p:nvPr/>
        </p:nvSpPr>
        <p:spPr>
          <a:xfrm>
            <a:off x="7543800" y="3264408"/>
            <a:ext cx="1188720" cy="1188720"/>
          </a:xfrm>
          <a:prstGeom prst="ellipse">
            <a:avLst/>
          </a:prstGeom>
          <a:noFill/>
          <a:ln cap="flat" cmpd="sng" w="381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11" name="Google Shape;311;p39"/>
          <p:cNvSpPr txBox="1"/>
          <p:nvPr/>
        </p:nvSpPr>
        <p:spPr>
          <a:xfrm>
            <a:off x="8915400" y="3310128"/>
            <a:ext cx="274320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pc="0" sz="1400" u="none" cap="none" strike="noStrike">
                <a:solidFill>
                  <a:srgbClr val="565A32"/>
                </a:solidFill>
                <a:latin typeface="Raleway SemiBold"/>
                <a:ea typeface="Raleway SemiBold"/>
                <a:cs typeface="Raleway SemiBold"/>
                <a:sym typeface="Raleway SemiBold"/>
              </a:rPr>
              <a:t>Gifting and sharing</a:t>
            </a:r>
            <a:endParaRPr b="0" i="0" spc="0" sz="1400" u="none" cap="none" strike="noStrike">
              <a:solidFill>
                <a:srgbClr val="000000"/>
              </a:solidFill>
              <a:latin typeface="Arial"/>
              <a:ea typeface="Arial"/>
              <a:cs typeface="Arial"/>
              <a:sym typeface="Arial"/>
            </a:endParaRPr>
          </a:p>
        </p:txBody>
      </p:sp>
      <p:sp>
        <p:nvSpPr>
          <p:cNvPr id="312" name="Google Shape;312;p39"/>
          <p:cNvSpPr txBox="1"/>
          <p:nvPr/>
        </p:nvSpPr>
        <p:spPr>
          <a:xfrm>
            <a:off x="8915400" y="3584448"/>
            <a:ext cx="2743200" cy="56692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0" i="0" lang="en-US" spc="0" sz="1050" u="none" cap="none" strike="noStrike">
                <a:solidFill>
                  <a:srgbClr val="565A32"/>
                </a:solidFill>
                <a:latin typeface="Raleway Light"/>
                <a:ea typeface="Raleway Light"/>
                <a:cs typeface="Raleway Light"/>
                <a:sym typeface="Raleway Light"/>
              </a:rPr>
              <a:t>Sophie gives Entre Amis as a gift and shares the experience with friends and family.</a:t>
            </a:r>
            <a:endParaRPr b="0" i="0" spc="0" sz="1400" u="none" cap="none" strike="noStrike">
              <a:solidFill>
                <a:srgbClr val="000000"/>
              </a:solidFill>
              <a:latin typeface="Arial"/>
              <a:ea typeface="Arial"/>
              <a:cs typeface="Arial"/>
              <a:sym typeface="Arial"/>
            </a:endParaRPr>
          </a:p>
        </p:txBody>
      </p:sp>
      <p:sp>
        <p:nvSpPr>
          <p:cNvPr id="313" name="Google Shape;313;p39"/>
          <p:cNvSpPr/>
          <p:nvPr/>
        </p:nvSpPr>
        <p:spPr>
          <a:xfrm>
            <a:off x="8915400" y="4133088"/>
            <a:ext cx="1600200" cy="237744"/>
          </a:xfrm>
          <a:prstGeom prst="roundRect">
            <a:avLst>
              <a:gd fmla="val 50000" name="adj"/>
            </a:avLst>
          </a:prstGeom>
          <a:solidFill>
            <a:srgbClr val="565A3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50"/>
              <a:buFont typeface="Arial"/>
              <a:buNone/>
            </a:pPr>
            <a:r>
              <a:rPr b="1" i="0" lang="en-US" spc="0" sz="950" u="none" cap="none" strike="noStrike">
                <a:solidFill>
                  <a:srgbClr val="EFEAE0"/>
                </a:solidFill>
                <a:latin typeface="Raleway SemiBold"/>
                <a:ea typeface="Raleway SemiBold"/>
                <a:cs typeface="Raleway SemiBold"/>
                <a:sym typeface="Raleway SemiBold"/>
              </a:rPr>
              <a:t>The game</a:t>
            </a:r>
            <a:endParaRPr b="0" i="0" spc="0" sz="1400" u="none" cap="none" strike="noStrike">
              <a:solidFill>
                <a:srgbClr val="000000"/>
              </a:solidFill>
              <a:latin typeface="Arial"/>
              <a:ea typeface="Arial"/>
              <a:cs typeface="Arial"/>
              <a:sym typeface="Arial"/>
            </a:endParaRPr>
          </a:p>
        </p:txBody>
      </p:sp>
      <p:pic>
        <p:nvPicPr>
          <p:cNvPr descr="sophie_5.png" id="314" name="Google Shape;314;p39"/>
          <p:cNvPicPr preferRelativeResize="0"/>
          <p:nvPr/>
        </p:nvPicPr>
        <p:blipFill rotWithShape="1">
          <a:blip r:embed="rId9">
            <a:alphaModFix/>
          </a:blip>
          <a:srcRect b="0" l="0" r="0" t="0"/>
          <a:stretch/>
        </p:blipFill>
        <p:spPr>
          <a:xfrm>
            <a:off x="7543800" y="1691640"/>
            <a:ext cx="1188720" cy="1188720"/>
          </a:xfrm>
          <a:prstGeom prst="rect">
            <a:avLst/>
          </a:prstGeom>
          <a:noFill/>
          <a:ln>
            <a:noFill/>
          </a:ln>
        </p:spPr>
      </p:pic>
      <p:sp>
        <p:nvSpPr>
          <p:cNvPr id="315" name="Google Shape;315;p39"/>
          <p:cNvSpPr/>
          <p:nvPr/>
        </p:nvSpPr>
        <p:spPr>
          <a:xfrm>
            <a:off x="7543800" y="1691640"/>
            <a:ext cx="1188720" cy="1188720"/>
          </a:xfrm>
          <a:prstGeom prst="ellipse">
            <a:avLst/>
          </a:prstGeom>
          <a:noFill/>
          <a:ln cap="flat" cmpd="sng" w="381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316" name="Google Shape;316;p39"/>
          <p:cNvSpPr txBox="1"/>
          <p:nvPr/>
        </p:nvSpPr>
        <p:spPr>
          <a:xfrm>
            <a:off x="8915400" y="1737360"/>
            <a:ext cx="274320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pc="0" sz="1400" u="none" cap="none" strike="noStrike">
                <a:solidFill>
                  <a:srgbClr val="565A32"/>
                </a:solidFill>
                <a:latin typeface="Raleway SemiBold"/>
                <a:ea typeface="Raleway SemiBold"/>
                <a:cs typeface="Raleway SemiBold"/>
                <a:sym typeface="Raleway SemiBold"/>
              </a:rPr>
              <a:t>A special event</a:t>
            </a:r>
            <a:endParaRPr b="0" i="0" spc="0" sz="1400" u="none" cap="none" strike="noStrike">
              <a:solidFill>
                <a:srgbClr val="000000"/>
              </a:solidFill>
              <a:latin typeface="Arial"/>
              <a:ea typeface="Arial"/>
              <a:cs typeface="Arial"/>
              <a:sym typeface="Arial"/>
            </a:endParaRPr>
          </a:p>
        </p:txBody>
      </p:sp>
      <p:sp>
        <p:nvSpPr>
          <p:cNvPr id="317" name="Google Shape;317;p39"/>
          <p:cNvSpPr txBox="1"/>
          <p:nvPr/>
        </p:nvSpPr>
        <p:spPr>
          <a:xfrm>
            <a:off x="8915400" y="2011680"/>
            <a:ext cx="2743200" cy="56692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b="0" i="0" lang="en-US" spc="0" sz="1050" u="none" cap="none" strike="noStrike">
                <a:solidFill>
                  <a:srgbClr val="565A32"/>
                </a:solidFill>
                <a:latin typeface="Raleway Light"/>
                <a:ea typeface="Raleway Light"/>
                <a:cs typeface="Raleway Light"/>
                <a:sym typeface="Raleway Light"/>
              </a:rPr>
              <a:t>Sophie goes to a wine event. It’s welcoming and fun, with new people, new wines and lasting memories.</a:t>
            </a:r>
            <a:endParaRPr b="0" i="0" spc="0" sz="1400" u="none" cap="none" strike="noStrike">
              <a:solidFill>
                <a:srgbClr val="000000"/>
              </a:solidFill>
              <a:latin typeface="Arial"/>
              <a:ea typeface="Arial"/>
              <a:cs typeface="Arial"/>
              <a:sym typeface="Arial"/>
            </a:endParaRPr>
          </a:p>
        </p:txBody>
      </p:sp>
      <p:sp>
        <p:nvSpPr>
          <p:cNvPr id="318" name="Google Shape;318;p39"/>
          <p:cNvSpPr/>
          <p:nvPr/>
        </p:nvSpPr>
        <p:spPr>
          <a:xfrm>
            <a:off x="8915400" y="2560320"/>
            <a:ext cx="1600200" cy="237744"/>
          </a:xfrm>
          <a:prstGeom prst="roundRect">
            <a:avLst>
              <a:gd fmla="val 50000" name="adj"/>
            </a:avLst>
          </a:prstGeom>
          <a:solidFill>
            <a:srgbClr val="E3AC9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50"/>
              <a:buFont typeface="Arial"/>
              <a:buNone/>
            </a:pPr>
            <a:r>
              <a:rPr b="1" i="0" lang="en-US" spc="0" sz="950" u="none" cap="none" strike="noStrike">
                <a:solidFill>
                  <a:srgbClr val="565A32"/>
                </a:solidFill>
                <a:latin typeface="Raleway SemiBold"/>
                <a:ea typeface="Raleway SemiBold"/>
                <a:cs typeface="Raleway SemiBold"/>
                <a:sym typeface="Raleway SemiBold"/>
              </a:rPr>
              <a:t>Event Mode</a:t>
            </a:r>
            <a:endParaRPr b="0" i="0" spc="0" sz="1400" u="none" cap="none" strike="noStrike">
              <a:solidFill>
                <a:srgbClr val="000000"/>
              </a:solidFill>
              <a:latin typeface="Arial"/>
              <a:ea typeface="Arial"/>
              <a:cs typeface="Arial"/>
              <a:sym typeface="Arial"/>
            </a:endParaRPr>
          </a:p>
        </p:txBody>
      </p:sp>
      <p:sp>
        <p:nvSpPr>
          <p:cNvPr id="319" name="Google Shape;319;p39"/>
          <p:cNvSpPr/>
          <p:nvPr/>
        </p:nvSpPr>
        <p:spPr>
          <a:xfrm>
            <a:off x="4956048" y="1627632"/>
            <a:ext cx="2212848" cy="3913632"/>
          </a:xfrm>
          <a:prstGeom prst="roundRect">
            <a:avLst>
              <a:gd fmla="val 12000" name="adj"/>
            </a:avLst>
          </a:prstGeom>
          <a:solidFill>
            <a:srgbClr val="FFFFFF"/>
          </a:solidFill>
          <a:ln cap="flat" cmpd="sng" w="31750">
            <a:solidFill>
              <a:srgbClr val="565A3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78" name="Google Shape;278;p39"/>
          <p:cNvSpPr txBox="1"/>
          <p:nvPr/>
        </p:nvSpPr>
        <p:spPr>
          <a:xfrm>
            <a:off x="5138928" y="1847088"/>
            <a:ext cx="182880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1" i="0" lang="en-US" spc="0" sz="1300" u="none" cap="none" strike="noStrike">
                <a:solidFill>
                  <a:srgbClr val="565A32"/>
                </a:solidFill>
                <a:latin typeface="Raleway SemiBold"/>
                <a:ea typeface="Raleway SemiBold"/>
                <a:cs typeface="Raleway SemiBold"/>
                <a:sym typeface="Raleway SemiBold"/>
              </a:rPr>
              <a:t>My wines</a:t>
            </a:r>
            <a:endParaRPr b="0" i="0" spc="0" sz="1400" u="none" cap="none" strike="noStrike">
              <a:solidFill>
                <a:srgbClr val="000000"/>
              </a:solidFill>
              <a:latin typeface="Arial"/>
              <a:ea typeface="Arial"/>
              <a:cs typeface="Arial"/>
              <a:sym typeface="Arial"/>
            </a:endParaRPr>
          </a:p>
        </p:txBody>
      </p:sp>
      <p:sp>
        <p:nvSpPr>
          <p:cNvPr id="273" name="Google Shape;273;p39"/>
          <p:cNvSpPr txBox="1"/>
          <p:nvPr/>
        </p:nvSpPr>
        <p:spPr>
          <a:xfrm>
            <a:off x="5138928" y="2139696"/>
            <a:ext cx="1828800" cy="20116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00"/>
              <a:buFont typeface="Arial"/>
              <a:buNone/>
            </a:pPr>
            <a:r>
              <a:rPr b="0" i="0" lang="en-US" spc="0" sz="800" u="none" cap="none" strike="noStrike">
                <a:solidFill>
                  <a:srgbClr val="8B8B5C"/>
                </a:solidFill>
                <a:latin typeface="Raleway Light"/>
                <a:ea typeface="Raleway Light"/>
                <a:cs typeface="Raleway Light"/>
                <a:sym typeface="Raleway Light"/>
              </a:rPr>
              <a:t>My wines     Wine 101</a:t>
            </a:r>
            <a:endParaRPr b="0" i="0" spc="0" sz="1400" u="none" cap="none" strike="noStrike">
              <a:solidFill>
                <a:srgbClr val="000000"/>
              </a:solidFill>
              <a:latin typeface="Arial"/>
              <a:ea typeface="Arial"/>
              <a:cs typeface="Arial"/>
              <a:sym typeface="Arial"/>
            </a:endParaRPr>
          </a:p>
        </p:txBody>
      </p:sp>
      <p:sp>
        <p:nvSpPr>
          <p:cNvPr id="320" name="Google Shape;320;p39"/>
          <p:cNvSpPr txBox="1"/>
          <p:nvPr/>
        </p:nvSpPr>
        <p:spPr>
          <a:xfrm>
            <a:off x="4572000" y="5687568"/>
            <a:ext cx="3017520" cy="54864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300"/>
              <a:buFont typeface="Arial"/>
              <a:buNone/>
            </a:pPr>
            <a:r>
              <a:rPr b="0" i="0" lang="en-US" spc="0" sz="1300" u="none" cap="none" strike="noStrike">
                <a:solidFill>
                  <a:srgbClr val="565A32"/>
                </a:solidFill>
                <a:latin typeface="Raleway Light"/>
                <a:ea typeface="Raleway Light"/>
                <a:cs typeface="Raleway Light"/>
                <a:sym typeface="Raleway Light"/>
              </a:rPr>
              <a:t>One account for every favourite, memory and connection.</a:t>
            </a:r>
            <a:endParaRPr b="0" i="0" spc="0" sz="1400" u="none" cap="none" strike="noStrike">
              <a:solidFill>
                <a:srgbClr val="000000"/>
              </a:solidFill>
              <a:latin typeface="Arial"/>
              <a:ea typeface="Arial"/>
              <a:cs typeface="Arial"/>
              <a:sym typeface="Arial"/>
            </a:endParaRPr>
          </a:p>
        </p:txBody>
      </p:sp>
      <p:sp>
        <p:nvSpPr>
          <p:cNvPr id="321" name="Google Shape;321;p39"/>
          <p:cNvSpPr txBox="1"/>
          <p:nvPr/>
        </p:nvSpPr>
        <p:spPr>
          <a:xfrm>
            <a:off x="548640" y="6355080"/>
            <a:ext cx="4114800"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00"/>
              <a:buFont typeface="Arial"/>
              <a:buNone/>
            </a:pPr>
            <a:r>
              <a:rPr b="0" i="0" lang="en-US" spc="0" sz="900" u="none" cap="none" strike="noStrike">
                <a:solidFill>
                  <a:srgbClr val="565A32"/>
                </a:solidFill>
                <a:latin typeface="Raleway Light"/>
                <a:ea typeface="Raleway Light"/>
                <a:cs typeface="Raleway Light"/>
                <a:sym typeface="Raleway Light"/>
              </a:rPr>
              <a:t>Say what you really think.</a:t>
            </a:r>
            <a:endParaRPr b="0" i="0" spc="0" sz="1400" u="none" cap="none" strike="noStrike">
              <a:solidFill>
                <a:srgbClr val="000000"/>
              </a:solidFill>
              <a:latin typeface="Arial"/>
              <a:ea typeface="Arial"/>
              <a:cs typeface="Arial"/>
              <a:sym typeface="Arial"/>
            </a:endParaRPr>
          </a:p>
        </p:txBody>
      </p:sp>
      <p:sp>
        <p:nvSpPr>
          <p:cNvPr id="322" name="Google Shape;322;p39"/>
          <p:cNvSpPr txBox="1"/>
          <p:nvPr/>
        </p:nvSpPr>
        <p:spPr>
          <a:xfrm>
            <a:off x="5138928" y="2487168"/>
            <a:ext cx="1463040" cy="457200"/>
          </a:xfrm>
          <a:prstGeom prst="rect">
            <a:avLst/>
          </a:prstGeom>
          <a:noFill/>
          <a:ln>
            <a:noFill/>
          </a:ln>
        </p:spPr>
        <p:txBody>
          <a:bodyPr anchorCtr="0" anchor="t" bIns="18275" lIns="0" spcFirstLastPara="1" rIns="0" wrap="square" tIns="18275">
            <a:spAutoFit/>
          </a:bodyPr>
          <a:lstStyle/>
          <a:p>
            <a:pPr indent="0" lvl="0" marL="0" marR="0" rtl="0" algn="l">
              <a:lnSpc>
                <a:spcPct val="100000"/>
              </a:lnSpc>
              <a:spcBef>
                <a:spcPts val="0"/>
              </a:spcBef>
              <a:spcAft>
                <a:spcPts val="0"/>
              </a:spcAft>
              <a:buNone/>
            </a:pPr>
            <a:r>
              <a:rPr b="1" i="0" lang="en-US" spc="0" sz="1000" u="none" cap="none" strike="noStrike">
                <a:solidFill>
                  <a:srgbClr val="565A32"/>
                </a:solidFill>
                <a:latin typeface="Raleway SemiBold"/>
                <a:ea typeface="Raleway SemiBold"/>
                <a:cs typeface="Raleway SemiBold"/>
                <a:sym typeface="Raleway SemiBold"/>
              </a:rPr>
              <a:t>Rosé</a:t>
            </a:r>
            <a:endParaRPr/>
          </a:p>
          <a:p>
            <a:pPr indent="0" lvl="0" marL="0" marR="0" rtl="0" algn="l">
              <a:lnSpc>
                <a:spcPct val="100000"/>
              </a:lnSpc>
              <a:spcBef>
                <a:spcPts val="0"/>
              </a:spcBef>
              <a:spcAft>
                <a:spcPts val="0"/>
              </a:spcAft>
              <a:buNone/>
            </a:pPr>
            <a:r>
              <a:rPr b="0" i="0" lang="en-US" spc="0" sz="900" u="none" cap="none" strike="noStrike">
                <a:solidFill>
                  <a:srgbClr val="8B8B5C"/>
                </a:solidFill>
                <a:latin typeface="Raleway Light"/>
                <a:ea typeface="Raleway Light"/>
                <a:cs typeface="Raleway Light"/>
                <a:sym typeface="Raleway Light"/>
              </a:rPr>
              <a:t>Provence · 2024</a:t>
            </a:r>
            <a:endParaRPr/>
          </a:p>
        </p:txBody>
      </p:sp>
      <p:sp>
        <p:nvSpPr>
          <p:cNvPr id="323" name="Google Shape;323;p39"/>
          <p:cNvSpPr/>
          <p:nvPr/>
        </p:nvSpPr>
        <p:spPr>
          <a:xfrm>
            <a:off x="6793992" y="2578608"/>
            <a:ext cx="155448" cy="137160"/>
          </a:xfrm>
          <a:prstGeom prst="heart">
            <a:avLst/>
          </a:prstGeom>
          <a:solidFill>
            <a:srgbClr val="C0392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cxnSp>
        <p:nvCxnSpPr>
          <p:cNvPr id="324" name="Google Shape;324;p39"/>
          <p:cNvCxnSpPr/>
          <p:nvPr/>
        </p:nvCxnSpPr>
        <p:spPr>
          <a:xfrm>
            <a:off x="5138928" y="2971800"/>
            <a:ext cx="1847088" cy="0"/>
          </a:xfrm>
          <a:prstGeom prst="straightConnector1">
            <a:avLst/>
          </a:prstGeom>
          <a:noFill/>
          <a:ln cap="flat" cmpd="sng" w="9525">
            <a:solidFill>
              <a:srgbClr val="B9BC9A"/>
            </a:solidFill>
            <a:prstDash val="solid"/>
            <a:round/>
            <a:headEnd len="sm" w="sm" type="none"/>
            <a:tailEnd len="sm" w="sm" type="none"/>
          </a:ln>
          <a:effectLst>
            <a:outerShdw blurRad="40000" rotWithShape="0" dir="5400000" dist="20000">
              <a:srgbClr val="000000">
                <a:alpha val="38039"/>
              </a:srgbClr>
            </a:outerShdw>
          </a:effectLst>
        </p:spPr>
      </p:cxnSp>
      <p:sp>
        <p:nvSpPr>
          <p:cNvPr id="325" name="Google Shape;325;p39"/>
          <p:cNvSpPr txBox="1"/>
          <p:nvPr/>
        </p:nvSpPr>
        <p:spPr>
          <a:xfrm>
            <a:off x="5138928" y="3035808"/>
            <a:ext cx="1463040" cy="457200"/>
          </a:xfrm>
          <a:prstGeom prst="rect">
            <a:avLst/>
          </a:prstGeom>
          <a:noFill/>
          <a:ln>
            <a:noFill/>
          </a:ln>
        </p:spPr>
        <p:txBody>
          <a:bodyPr anchorCtr="0" anchor="t" bIns="18275" lIns="0" spcFirstLastPara="1" rIns="0" wrap="square" tIns="18275">
            <a:spAutoFit/>
          </a:bodyPr>
          <a:lstStyle/>
          <a:p>
            <a:pPr indent="0" lvl="0" marL="0" marR="0" rtl="0" algn="l">
              <a:lnSpc>
                <a:spcPct val="100000"/>
              </a:lnSpc>
              <a:spcBef>
                <a:spcPts val="0"/>
              </a:spcBef>
              <a:spcAft>
                <a:spcPts val="0"/>
              </a:spcAft>
              <a:buNone/>
            </a:pPr>
            <a:r>
              <a:rPr b="1" i="0" lang="en-US" spc="0" sz="1000" u="none" cap="none" strike="noStrike">
                <a:solidFill>
                  <a:srgbClr val="565A32"/>
                </a:solidFill>
                <a:latin typeface="Raleway SemiBold"/>
                <a:ea typeface="Raleway SemiBold"/>
                <a:cs typeface="Raleway SemiBold"/>
                <a:sym typeface="Raleway SemiBold"/>
              </a:rPr>
              <a:t>Sparkling</a:t>
            </a:r>
            <a:endParaRPr/>
          </a:p>
          <a:p>
            <a:pPr indent="0" lvl="0" marL="0" marR="0" rtl="0" algn="l">
              <a:lnSpc>
                <a:spcPct val="100000"/>
              </a:lnSpc>
              <a:spcBef>
                <a:spcPts val="0"/>
              </a:spcBef>
              <a:spcAft>
                <a:spcPts val="0"/>
              </a:spcAft>
              <a:buNone/>
            </a:pPr>
            <a:r>
              <a:rPr b="0" i="0" lang="en-US" spc="0" sz="900" u="none" cap="none" strike="noStrike">
                <a:solidFill>
                  <a:srgbClr val="8B8B5C"/>
                </a:solidFill>
                <a:latin typeface="Raleway Light"/>
                <a:ea typeface="Raleway Light"/>
                <a:cs typeface="Raleway Light"/>
                <a:sym typeface="Raleway Light"/>
              </a:rPr>
              <a:t>England · 2021</a:t>
            </a:r>
            <a:endParaRPr/>
          </a:p>
        </p:txBody>
      </p:sp>
      <p:sp>
        <p:nvSpPr>
          <p:cNvPr id="326" name="Google Shape;326;p39"/>
          <p:cNvSpPr/>
          <p:nvPr/>
        </p:nvSpPr>
        <p:spPr>
          <a:xfrm>
            <a:off x="6793992" y="3127248"/>
            <a:ext cx="155448" cy="137160"/>
          </a:xfrm>
          <a:prstGeom prst="heart">
            <a:avLst/>
          </a:prstGeom>
          <a:solidFill>
            <a:srgbClr val="C0392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cxnSp>
        <p:nvCxnSpPr>
          <p:cNvPr id="327" name="Google Shape;327;p39"/>
          <p:cNvCxnSpPr/>
          <p:nvPr/>
        </p:nvCxnSpPr>
        <p:spPr>
          <a:xfrm>
            <a:off x="5138928" y="3520440"/>
            <a:ext cx="1847088" cy="0"/>
          </a:xfrm>
          <a:prstGeom prst="straightConnector1">
            <a:avLst/>
          </a:prstGeom>
          <a:noFill/>
          <a:ln cap="flat" cmpd="sng" w="9525">
            <a:solidFill>
              <a:srgbClr val="B9BC9A"/>
            </a:solidFill>
            <a:prstDash val="solid"/>
            <a:round/>
            <a:headEnd len="sm" w="sm" type="none"/>
            <a:tailEnd len="sm" w="sm" type="none"/>
          </a:ln>
          <a:effectLst>
            <a:outerShdw blurRad="40000" rotWithShape="0" dir="5400000" dist="20000">
              <a:srgbClr val="000000">
                <a:alpha val="38039"/>
              </a:srgbClr>
            </a:outerShdw>
          </a:effectLst>
        </p:spPr>
      </p:cxnSp>
      <p:sp>
        <p:nvSpPr>
          <p:cNvPr id="328" name="Google Shape;328;p39"/>
          <p:cNvSpPr txBox="1"/>
          <p:nvPr/>
        </p:nvSpPr>
        <p:spPr>
          <a:xfrm>
            <a:off x="5138928" y="3584448"/>
            <a:ext cx="1463040" cy="457200"/>
          </a:xfrm>
          <a:prstGeom prst="rect">
            <a:avLst/>
          </a:prstGeom>
          <a:noFill/>
          <a:ln>
            <a:noFill/>
          </a:ln>
        </p:spPr>
        <p:txBody>
          <a:bodyPr anchorCtr="0" anchor="t" bIns="18275" lIns="0" spcFirstLastPara="1" rIns="0" wrap="square" tIns="18275">
            <a:spAutoFit/>
          </a:bodyPr>
          <a:lstStyle/>
          <a:p>
            <a:pPr indent="0" lvl="0" marL="0" marR="0" rtl="0" algn="l">
              <a:lnSpc>
                <a:spcPct val="100000"/>
              </a:lnSpc>
              <a:spcBef>
                <a:spcPts val="0"/>
              </a:spcBef>
              <a:spcAft>
                <a:spcPts val="0"/>
              </a:spcAft>
              <a:buNone/>
            </a:pPr>
            <a:r>
              <a:rPr b="1" i="0" lang="en-US" spc="0" sz="1000" u="none" cap="none" strike="noStrike">
                <a:solidFill>
                  <a:srgbClr val="565A32"/>
                </a:solidFill>
                <a:latin typeface="Raleway SemiBold"/>
                <a:ea typeface="Raleway SemiBold"/>
                <a:cs typeface="Raleway SemiBold"/>
                <a:sym typeface="Raleway SemiBold"/>
              </a:rPr>
              <a:t>Red</a:t>
            </a:r>
            <a:endParaRPr/>
          </a:p>
          <a:p>
            <a:pPr indent="0" lvl="0" marL="0" marR="0" rtl="0" algn="l">
              <a:lnSpc>
                <a:spcPct val="100000"/>
              </a:lnSpc>
              <a:spcBef>
                <a:spcPts val="0"/>
              </a:spcBef>
              <a:spcAft>
                <a:spcPts val="0"/>
              </a:spcAft>
              <a:buNone/>
            </a:pPr>
            <a:r>
              <a:rPr b="0" i="0" lang="en-US" spc="0" sz="900" u="none" cap="none" strike="noStrike">
                <a:solidFill>
                  <a:srgbClr val="8B8B5C"/>
                </a:solidFill>
                <a:latin typeface="Raleway Light"/>
                <a:ea typeface="Raleway Light"/>
                <a:cs typeface="Raleway Light"/>
                <a:sym typeface="Raleway Light"/>
              </a:rPr>
              <a:t>Rioja · 2020</a:t>
            </a:r>
            <a:endParaRPr/>
          </a:p>
        </p:txBody>
      </p:sp>
      <p:sp>
        <p:nvSpPr>
          <p:cNvPr id="329" name="Google Shape;329;p39"/>
          <p:cNvSpPr/>
          <p:nvPr/>
        </p:nvSpPr>
        <p:spPr>
          <a:xfrm>
            <a:off x="6793992" y="3675887"/>
            <a:ext cx="155448" cy="137160"/>
          </a:xfrm>
          <a:prstGeom prst="heart">
            <a:avLst/>
          </a:prstGeom>
          <a:solidFill>
            <a:srgbClr val="C0392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cxnSp>
        <p:nvCxnSpPr>
          <p:cNvPr id="330" name="Google Shape;330;p39"/>
          <p:cNvCxnSpPr/>
          <p:nvPr/>
        </p:nvCxnSpPr>
        <p:spPr>
          <a:xfrm>
            <a:off x="5138928" y="4069080"/>
            <a:ext cx="1847088" cy="0"/>
          </a:xfrm>
          <a:prstGeom prst="straightConnector1">
            <a:avLst/>
          </a:prstGeom>
          <a:noFill/>
          <a:ln cap="flat" cmpd="sng" w="9525">
            <a:solidFill>
              <a:srgbClr val="B9BC9A"/>
            </a:solidFill>
            <a:prstDash val="solid"/>
            <a:round/>
            <a:headEnd len="sm" w="sm" type="none"/>
            <a:tailEnd len="sm" w="sm" type="none"/>
          </a:ln>
          <a:effectLst>
            <a:outerShdw blurRad="40000" rotWithShape="0" dir="5400000" dist="20000">
              <a:srgbClr val="000000">
                <a:alpha val="38039"/>
              </a:srgbClr>
            </a:outerShdw>
          </a:effectLst>
        </p:spPr>
      </p:cxnSp>
      <p:sp>
        <p:nvSpPr>
          <p:cNvPr id="331" name="Google Shape;331;p39"/>
          <p:cNvSpPr txBox="1"/>
          <p:nvPr/>
        </p:nvSpPr>
        <p:spPr>
          <a:xfrm>
            <a:off x="5138928" y="4133087"/>
            <a:ext cx="1463040" cy="457200"/>
          </a:xfrm>
          <a:prstGeom prst="rect">
            <a:avLst/>
          </a:prstGeom>
          <a:noFill/>
          <a:ln>
            <a:noFill/>
          </a:ln>
        </p:spPr>
        <p:txBody>
          <a:bodyPr anchorCtr="0" anchor="t" bIns="18275" lIns="0" spcFirstLastPara="1" rIns="0" wrap="square" tIns="18275">
            <a:spAutoFit/>
          </a:bodyPr>
          <a:lstStyle/>
          <a:p>
            <a:pPr indent="0" lvl="0" marL="0" marR="0" rtl="0" algn="l">
              <a:lnSpc>
                <a:spcPct val="100000"/>
              </a:lnSpc>
              <a:spcBef>
                <a:spcPts val="0"/>
              </a:spcBef>
              <a:spcAft>
                <a:spcPts val="0"/>
              </a:spcAft>
              <a:buNone/>
            </a:pPr>
            <a:r>
              <a:rPr b="1" i="0" lang="en-US" spc="0" sz="1000" u="none" cap="none" strike="noStrike">
                <a:solidFill>
                  <a:srgbClr val="565A32"/>
                </a:solidFill>
                <a:latin typeface="Raleway SemiBold"/>
                <a:ea typeface="Raleway SemiBold"/>
                <a:cs typeface="Raleway SemiBold"/>
                <a:sym typeface="Raleway SemiBold"/>
              </a:rPr>
              <a:t>White</a:t>
            </a:r>
            <a:endParaRPr/>
          </a:p>
          <a:p>
            <a:pPr indent="0" lvl="0" marL="0" marR="0" rtl="0" algn="l">
              <a:lnSpc>
                <a:spcPct val="100000"/>
              </a:lnSpc>
              <a:spcBef>
                <a:spcPts val="0"/>
              </a:spcBef>
              <a:spcAft>
                <a:spcPts val="0"/>
              </a:spcAft>
              <a:buNone/>
            </a:pPr>
            <a:r>
              <a:rPr b="0" i="0" lang="en-US" spc="0" sz="900" u="none" cap="none" strike="noStrike">
                <a:solidFill>
                  <a:srgbClr val="8B8B5C"/>
                </a:solidFill>
                <a:latin typeface="Raleway Light"/>
                <a:ea typeface="Raleway Light"/>
                <a:cs typeface="Raleway Light"/>
                <a:sym typeface="Raleway Light"/>
              </a:rPr>
              <a:t>Loire · 2023</a:t>
            </a:r>
            <a:endParaRPr/>
          </a:p>
        </p:txBody>
      </p:sp>
      <p:sp>
        <p:nvSpPr>
          <p:cNvPr id="332" name="Google Shape;332;p39"/>
          <p:cNvSpPr/>
          <p:nvPr/>
        </p:nvSpPr>
        <p:spPr>
          <a:xfrm>
            <a:off x="6793992" y="4224527"/>
            <a:ext cx="155448" cy="137160"/>
          </a:xfrm>
          <a:prstGeom prst="heart">
            <a:avLst/>
          </a:prstGeom>
          <a:solidFill>
            <a:srgbClr val="C0392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cxnSp>
        <p:nvCxnSpPr>
          <p:cNvPr id="333" name="Google Shape;333;p39"/>
          <p:cNvCxnSpPr/>
          <p:nvPr/>
        </p:nvCxnSpPr>
        <p:spPr>
          <a:xfrm>
            <a:off x="5138928" y="4617720"/>
            <a:ext cx="1847088" cy="0"/>
          </a:xfrm>
          <a:prstGeom prst="straightConnector1">
            <a:avLst/>
          </a:prstGeom>
          <a:noFill/>
          <a:ln cap="flat" cmpd="sng" w="9525">
            <a:solidFill>
              <a:srgbClr val="B9BC9A"/>
            </a:solidFill>
            <a:prstDash val="solid"/>
            <a:round/>
            <a:headEnd len="sm" w="sm" type="none"/>
            <a:tailEnd len="sm" w="sm" type="none"/>
          </a:ln>
          <a:effectLst>
            <a:outerShdw blurRad="40000" rotWithShape="0" dir="5400000" dist="20000">
              <a:srgbClr val="000000">
                <a:alpha val="38039"/>
              </a:srgbClr>
            </a:outerShdw>
          </a:effectLst>
        </p:spPr>
      </p:cxnSp>
      <p:sp>
        <p:nvSpPr>
          <p:cNvPr id="334" name="Google Shape;334;p39"/>
          <p:cNvSpPr txBox="1"/>
          <p:nvPr/>
        </p:nvSpPr>
        <p:spPr>
          <a:xfrm>
            <a:off x="5138928" y="4681728"/>
            <a:ext cx="1463040" cy="457200"/>
          </a:xfrm>
          <a:prstGeom prst="rect">
            <a:avLst/>
          </a:prstGeom>
          <a:noFill/>
          <a:ln>
            <a:noFill/>
          </a:ln>
        </p:spPr>
        <p:txBody>
          <a:bodyPr anchorCtr="0" anchor="t" bIns="18275" lIns="0" spcFirstLastPara="1" rIns="0" wrap="square" tIns="18275">
            <a:spAutoFit/>
          </a:bodyPr>
          <a:lstStyle/>
          <a:p>
            <a:pPr indent="0" lvl="0" marL="0" marR="0" rtl="0" algn="l">
              <a:lnSpc>
                <a:spcPct val="100000"/>
              </a:lnSpc>
              <a:spcBef>
                <a:spcPts val="0"/>
              </a:spcBef>
              <a:spcAft>
                <a:spcPts val="0"/>
              </a:spcAft>
              <a:buNone/>
            </a:pPr>
            <a:r>
              <a:rPr b="1" i="0" lang="en-US" spc="0" sz="1000" u="none" cap="none" strike="noStrike">
                <a:solidFill>
                  <a:srgbClr val="565A32"/>
                </a:solidFill>
                <a:latin typeface="Raleway SemiBold"/>
                <a:ea typeface="Raleway SemiBold"/>
                <a:cs typeface="Raleway SemiBold"/>
                <a:sym typeface="Raleway SemiBold"/>
              </a:rPr>
              <a:t>Orange</a:t>
            </a:r>
            <a:endParaRPr/>
          </a:p>
          <a:p>
            <a:pPr indent="0" lvl="0" marL="0" marR="0" rtl="0" algn="l">
              <a:lnSpc>
                <a:spcPct val="100000"/>
              </a:lnSpc>
              <a:spcBef>
                <a:spcPts val="0"/>
              </a:spcBef>
              <a:spcAft>
                <a:spcPts val="0"/>
              </a:spcAft>
              <a:buNone/>
            </a:pPr>
            <a:r>
              <a:rPr b="0" i="0" lang="en-US" spc="0" sz="900" u="none" cap="none" strike="noStrike">
                <a:solidFill>
                  <a:srgbClr val="8B8B5C"/>
                </a:solidFill>
                <a:latin typeface="Raleway Light"/>
                <a:ea typeface="Raleway Light"/>
                <a:cs typeface="Raleway Light"/>
                <a:sym typeface="Raleway Light"/>
              </a:rPr>
              <a:t>Georgia · 2022</a:t>
            </a:r>
            <a:endParaRPr/>
          </a:p>
        </p:txBody>
      </p:sp>
      <p:sp>
        <p:nvSpPr>
          <p:cNvPr id="335" name="Google Shape;335;p39"/>
          <p:cNvSpPr/>
          <p:nvPr/>
        </p:nvSpPr>
        <p:spPr>
          <a:xfrm>
            <a:off x="6793992" y="4773168"/>
            <a:ext cx="155448" cy="137160"/>
          </a:xfrm>
          <a:prstGeom prst="heart">
            <a:avLst/>
          </a:prstGeom>
          <a:solidFill>
            <a:srgbClr val="C0392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336" name="Google Shape;336;p39"/>
          <p:cNvSpPr/>
          <p:nvPr/>
        </p:nvSpPr>
        <p:spPr>
          <a:xfrm>
            <a:off x="0" y="0"/>
            <a:ext cx="12191700" cy="329100"/>
          </a:xfrm>
          <a:prstGeom prst="rect">
            <a:avLst/>
          </a:prstGeom>
          <a:solidFill>
            <a:srgbClr val="565A32"/>
          </a:solidFill>
          <a:ln cap="flat" cmpd="sng" w="12700">
            <a:solidFill>
              <a:srgbClr val="565A3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
        <p:nvSpPr>
          <p:cNvPr id="337" name="Slide number"/>
          <p:cNvSpPr txBox="1"/>
          <p:nvPr>
            <p:ph idx="4294967295" type="sldNum"/>
          </p:nvPr>
        </p:nvSpPr>
        <p:spPr>
          <a:xfrm>
            <a:off x="10180015" y="6355080"/>
            <a:ext cx="365760" cy="2743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000"/>
              <a:buNone/>
            </a:pPr>
            <a:fld id="{00000000-1234-1234-1234-123412341234}" type="slidenum">
              <a:rPr b="0" i="0" lang="en-US" sz="1000" u="none" cap="none" strike="noStrike">
                <a:solidFill>
                  <a:schemeClr val="dk1"/>
                </a:solidFill>
                <a:latin typeface="Raleway Light"/>
                <a:ea typeface="Raleway Light"/>
                <a:cs typeface="Raleway Light"/>
                <a:sym typeface="Raleway Light"/>
              </a:rPr>
              <a:t>‹#›</a:t>
            </a:fld>
            <a:endParaRPr b="0" i="0" sz="1000" u="none" cap="none" strike="noStrike">
              <a:solidFill>
                <a:schemeClr val="dk1"/>
              </a:solidFill>
              <a:latin typeface="Raleway Light"/>
              <a:ea typeface="Raleway Light"/>
              <a:cs typeface="Raleway Light"/>
              <a:sym typeface="Raleway Ligh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AE0"/>
        </a:solidFill>
      </p:bgPr>
    </p:bg>
    <p:spTree>
      <p:nvGrpSpPr>
        <p:cNvPr id="341" name="Shape 341"/>
        <p:cNvGrpSpPr/>
        <p:nvPr/>
      </p:nvGrpSpPr>
      <p:grpSpPr>
        <a:xfrm>
          <a:off x="0" y="0"/>
          <a:ext cx="0" cy="0"/>
          <a:chOff x="0" y="0"/>
          <a:chExt cx="0" cy="0"/>
        </a:xfrm>
      </p:grpSpPr>
      <p:sp>
        <p:nvSpPr>
          <p:cNvPr id="342" name="Google Shape;342;p40"/>
          <p:cNvSpPr/>
          <p:nvPr/>
        </p:nvSpPr>
        <p:spPr>
          <a:xfrm>
            <a:off x="0" y="0"/>
            <a:ext cx="12191700" cy="6858000"/>
          </a:xfrm>
          <a:prstGeom prst="rect">
            <a:avLst/>
          </a:prstGeom>
          <a:solidFill>
            <a:srgbClr val="EFEAE0"/>
          </a:solidFill>
          <a:ln cap="flat" cmpd="sng" w="12700">
            <a:solidFill>
              <a:srgbClr val="EFEAE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
        <p:nvSpPr>
          <p:cNvPr id="343" name="Google Shape;343;p40"/>
          <p:cNvSpPr/>
          <p:nvPr/>
        </p:nvSpPr>
        <p:spPr>
          <a:xfrm>
            <a:off x="6642600" y="1710100"/>
            <a:ext cx="4575600" cy="3991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
        <p:nvSpPr>
          <p:cNvPr id="344" name="Google Shape;344;p40"/>
          <p:cNvSpPr txBox="1"/>
          <p:nvPr/>
        </p:nvSpPr>
        <p:spPr>
          <a:xfrm>
            <a:off x="685800" y="475499"/>
            <a:ext cx="7269300" cy="518100"/>
          </a:xfrm>
          <a:prstGeom prst="rect">
            <a:avLst/>
          </a:prstGeom>
          <a:noFill/>
          <a:ln>
            <a:noFill/>
          </a:ln>
        </p:spPr>
        <p:txBody>
          <a:bodyPr anchorCtr="0" anchor="t" bIns="0" lIns="0" spcFirstLastPara="1" rIns="0" wrap="square" tIns="0">
            <a:normAutofit lnSpcReduction="20000"/>
          </a:bodyPr>
          <a:lstStyle/>
          <a:p>
            <a:pPr indent="0" lvl="0" marL="0" marR="0" rtl="0" algn="l">
              <a:lnSpc>
                <a:spcPct val="100000"/>
              </a:lnSpc>
              <a:spcBef>
                <a:spcPts val="0"/>
              </a:spcBef>
              <a:spcAft>
                <a:spcPts val="0"/>
              </a:spcAft>
              <a:buClr>
                <a:srgbClr val="565A32"/>
              </a:buClr>
              <a:buSzPts val="3800"/>
              <a:buFont typeface="Raleway Light"/>
              <a:buNone/>
            </a:pPr>
            <a:r>
              <a:rPr b="0" i="0" lang="en-US" spc="0" sz="3800" u="none" cap="none" strike="noStrike">
                <a:solidFill>
                  <a:srgbClr val="565A32"/>
                </a:solidFill>
                <a:latin typeface="Raleway Light"/>
                <a:ea typeface="Raleway Light"/>
                <a:cs typeface="Raleway Light"/>
                <a:sym typeface="Raleway Light"/>
              </a:rPr>
              <a:t>The physical game</a:t>
            </a:r>
            <a:endParaRPr b="0" i="0" spc="0" sz="3800" u="none" cap="none" strike="noStrike">
              <a:solidFill>
                <a:schemeClr val="dk1"/>
              </a:solidFill>
              <a:latin typeface="Raleway Light"/>
              <a:ea typeface="Raleway Light"/>
              <a:cs typeface="Raleway Light"/>
              <a:sym typeface="Raleway Light"/>
            </a:endParaRPr>
          </a:p>
        </p:txBody>
      </p:sp>
      <p:sp>
        <p:nvSpPr>
          <p:cNvPr id="345" name="Google Shape;345;p40"/>
          <p:cNvSpPr txBox="1"/>
          <p:nvPr/>
        </p:nvSpPr>
        <p:spPr>
          <a:xfrm>
            <a:off x="685800" y="1042415"/>
            <a:ext cx="9919200" cy="381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65A32"/>
              </a:buClr>
              <a:buSzPts val="1900"/>
              <a:buFont typeface="Raleway Light"/>
              <a:buNone/>
            </a:pPr>
            <a:r>
              <a:rPr b="0" i="0" lang="en-US" spc="0" sz="1900" u="none" cap="none" strike="noStrike">
                <a:solidFill>
                  <a:srgbClr val="565A32"/>
                </a:solidFill>
                <a:latin typeface="Raleway Light"/>
                <a:ea typeface="Raleway Light"/>
                <a:cs typeface="Raleway Light"/>
                <a:sym typeface="Raleway Light"/>
              </a:rPr>
              <a:t>A wine game for people who would rather have an opinion than know the answer.</a:t>
            </a:r>
            <a:endParaRPr b="0" i="0" spc="0" sz="2500" u="none" cap="none" strike="noStrike">
              <a:solidFill>
                <a:schemeClr val="dk1"/>
              </a:solidFill>
              <a:latin typeface="Raleway Light"/>
              <a:ea typeface="Raleway Light"/>
              <a:cs typeface="Raleway Light"/>
              <a:sym typeface="Raleway Light"/>
            </a:endParaRPr>
          </a:p>
        </p:txBody>
      </p:sp>
      <p:sp>
        <p:nvSpPr>
          <p:cNvPr id="346" name="Google Shape;346;p40"/>
          <p:cNvSpPr txBox="1"/>
          <p:nvPr/>
        </p:nvSpPr>
        <p:spPr>
          <a:xfrm>
            <a:off x="716038" y="2249396"/>
            <a:ext cx="5393400" cy="257130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Clr>
                <a:srgbClr val="565A32"/>
              </a:buClr>
              <a:buSzPts val="2418"/>
              <a:buFont typeface="Raleway Light"/>
              <a:buNone/>
            </a:pPr>
            <a:r>
              <a:rPr b="0" i="0" lang="en-US" spc="0" sz="1800" u="none" cap="none" strike="noStrike">
                <a:solidFill>
                  <a:srgbClr val="565A32"/>
                </a:solidFill>
                <a:latin typeface="Raleway Light"/>
                <a:ea typeface="Raleway Light"/>
                <a:cs typeface="Raleway Light"/>
                <a:sym typeface="Raleway Light"/>
              </a:rPr>
              <a:t>A beautifully made game, designed to sit at the centre of the table without taking it over.</a:t>
            </a:r>
            <a:endParaRPr b="0" i="0" spc="0" sz="2108" u="none" cap="none" strike="noStrike">
              <a:solidFill>
                <a:srgbClr val="565A32"/>
              </a:solidFill>
              <a:latin typeface="Raleway Light"/>
              <a:ea typeface="Raleway Light"/>
              <a:cs typeface="Raleway Light"/>
              <a:sym typeface="Raleway Light"/>
            </a:endParaRPr>
          </a:p>
          <a:p>
            <a:pPr indent="-385101" lvl="0" marL="502484" marR="0" rtl="0" algn="l">
              <a:lnSpc>
                <a:spcPct val="95000"/>
              </a:lnSpc>
              <a:spcBef>
                <a:spcPts val="1319"/>
              </a:spcBef>
              <a:spcAft>
                <a:spcPts val="0"/>
              </a:spcAft>
              <a:buClr>
                <a:srgbClr val="565A32"/>
              </a:buClr>
              <a:buSzPts val="2108"/>
              <a:buFont typeface="Raleway Light"/>
              <a:buChar char="➔"/>
            </a:pPr>
            <a:r>
              <a:rPr b="0" i="0" lang="en-US" spc="0" sz="1800" u="none" cap="none" strike="noStrike">
                <a:solidFill>
                  <a:srgbClr val="565A32"/>
                </a:solidFill>
                <a:latin typeface="Raleway Light"/>
                <a:ea typeface="Raleway Light"/>
                <a:cs typeface="Raleway Light"/>
                <a:sym typeface="Raleway Light"/>
              </a:rPr>
              <a:t>Savour the wine.</a:t>
            </a:r>
            <a:endParaRPr b="0" i="0" spc="0" sz="2108" u="none" cap="none" strike="noStrike">
              <a:solidFill>
                <a:srgbClr val="565A32"/>
              </a:solidFill>
              <a:latin typeface="Raleway Light"/>
              <a:ea typeface="Raleway Light"/>
              <a:cs typeface="Raleway Light"/>
              <a:sym typeface="Raleway Light"/>
            </a:endParaRPr>
          </a:p>
          <a:p>
            <a:pPr indent="-385101" lvl="0" marL="502484" marR="0" rtl="0" algn="l">
              <a:lnSpc>
                <a:spcPct val="95000"/>
              </a:lnSpc>
              <a:spcBef>
                <a:spcPts val="0"/>
              </a:spcBef>
              <a:spcAft>
                <a:spcPts val="0"/>
              </a:spcAft>
              <a:buClr>
                <a:srgbClr val="565A32"/>
              </a:buClr>
              <a:buSzPts val="2108"/>
              <a:buFont typeface="Raleway Light"/>
              <a:buChar char="➔"/>
            </a:pPr>
            <a:r>
              <a:rPr b="0" i="0" lang="en-US" spc="0" sz="1800" u="none" cap="none" strike="noStrike">
                <a:solidFill>
                  <a:srgbClr val="565A32"/>
                </a:solidFill>
                <a:latin typeface="Raleway Light"/>
                <a:ea typeface="Raleway Light"/>
                <a:cs typeface="Raleway Light"/>
                <a:sym typeface="Raleway Light"/>
              </a:rPr>
              <a:t>Talk to the people at the table.</a:t>
            </a:r>
            <a:endParaRPr b="0" i="0" spc="0" sz="2108" u="none" cap="none" strike="noStrike">
              <a:solidFill>
                <a:srgbClr val="565A32"/>
              </a:solidFill>
              <a:latin typeface="Raleway Light"/>
              <a:ea typeface="Raleway Light"/>
              <a:cs typeface="Raleway Light"/>
              <a:sym typeface="Raleway Light"/>
            </a:endParaRPr>
          </a:p>
          <a:p>
            <a:pPr indent="-385101" lvl="0" marL="502484" marR="0" rtl="0" algn="l">
              <a:lnSpc>
                <a:spcPct val="95000"/>
              </a:lnSpc>
              <a:spcBef>
                <a:spcPts val="0"/>
              </a:spcBef>
              <a:spcAft>
                <a:spcPts val="0"/>
              </a:spcAft>
              <a:buClr>
                <a:srgbClr val="565A32"/>
              </a:buClr>
              <a:buSzPts val="2108"/>
              <a:buFont typeface="Raleway Light"/>
              <a:buChar char="➔"/>
            </a:pPr>
            <a:r>
              <a:rPr b="0" i="0" lang="en-US" spc="0" sz="1800" u="none" cap="none" strike="noStrike">
                <a:solidFill>
                  <a:srgbClr val="565A32"/>
                </a:solidFill>
                <a:latin typeface="Raleway Light"/>
                <a:ea typeface="Raleway Light"/>
                <a:cs typeface="Raleway Light"/>
                <a:sym typeface="Raleway Light"/>
              </a:rPr>
              <a:t>Picture where and when a wine belongs.</a:t>
            </a:r>
            <a:endParaRPr b="0" i="0" spc="0" sz="2108" u="none" cap="none" strike="noStrike">
              <a:solidFill>
                <a:srgbClr val="565A32"/>
              </a:solidFill>
              <a:latin typeface="Raleway Light"/>
              <a:ea typeface="Raleway Light"/>
              <a:cs typeface="Raleway Light"/>
              <a:sym typeface="Raleway Light"/>
            </a:endParaRPr>
          </a:p>
          <a:p>
            <a:pPr indent="-385101" lvl="0" marL="502484" marR="0" rtl="0" algn="l">
              <a:lnSpc>
                <a:spcPct val="95000"/>
              </a:lnSpc>
              <a:spcBef>
                <a:spcPts val="0"/>
              </a:spcBef>
              <a:spcAft>
                <a:spcPts val="0"/>
              </a:spcAft>
              <a:buClr>
                <a:srgbClr val="565A32"/>
              </a:buClr>
              <a:buSzPts val="2108"/>
              <a:buFont typeface="Raleway Light"/>
              <a:buChar char="➔"/>
            </a:pPr>
            <a:r>
              <a:rPr b="0" i="0" lang="en-US" spc="0" sz="1800" u="none" cap="none" strike="noStrike">
                <a:solidFill>
                  <a:srgbClr val="565A32"/>
                </a:solidFill>
                <a:latin typeface="Raleway Light"/>
                <a:ea typeface="Raleway Light"/>
                <a:cs typeface="Raleway Light"/>
                <a:sym typeface="Raleway Light"/>
              </a:rPr>
              <a:t>Take on Secret Missions.</a:t>
            </a:r>
            <a:endParaRPr b="0" i="0" spc="0" sz="2108" u="none" cap="none" strike="noStrike">
              <a:solidFill>
                <a:srgbClr val="565A32"/>
              </a:solidFill>
              <a:latin typeface="Raleway Light"/>
              <a:ea typeface="Raleway Light"/>
              <a:cs typeface="Raleway Light"/>
              <a:sym typeface="Raleway Light"/>
            </a:endParaRPr>
          </a:p>
          <a:p>
            <a:pPr indent="-385101" lvl="0" marL="502484" marR="0" rtl="0" algn="l">
              <a:lnSpc>
                <a:spcPct val="95000"/>
              </a:lnSpc>
              <a:spcBef>
                <a:spcPts val="0"/>
              </a:spcBef>
              <a:spcAft>
                <a:spcPts val="0"/>
              </a:spcAft>
              <a:buClr>
                <a:srgbClr val="565A32"/>
              </a:buClr>
              <a:buSzPts val="2108"/>
              <a:buFont typeface="Raleway Light"/>
              <a:buChar char="➔"/>
            </a:pPr>
            <a:r>
              <a:rPr b="0" i="0" lang="en-US" spc="0" sz="1800" u="none" cap="none" strike="noStrike">
                <a:solidFill>
                  <a:srgbClr val="565A32"/>
                </a:solidFill>
                <a:latin typeface="Raleway Light"/>
                <a:ea typeface="Raleway Light"/>
                <a:cs typeface="Raleway Light"/>
                <a:sym typeface="Raleway Light"/>
              </a:rPr>
              <a:t>Add a little mischief.</a:t>
            </a:r>
            <a:endParaRPr b="0" i="0" spc="0" sz="2108" u="none" cap="none" strike="noStrike">
              <a:solidFill>
                <a:srgbClr val="565A32"/>
              </a:solidFill>
              <a:latin typeface="Raleway Light"/>
              <a:ea typeface="Raleway Light"/>
              <a:cs typeface="Raleway Light"/>
              <a:sym typeface="Raleway Light"/>
            </a:endParaRPr>
          </a:p>
          <a:p>
            <a:pPr indent="0" lvl="0" marL="0" marR="0" rtl="0" algn="l">
              <a:lnSpc>
                <a:spcPct val="80000"/>
              </a:lnSpc>
              <a:spcBef>
                <a:spcPts val="1319"/>
              </a:spcBef>
              <a:spcAft>
                <a:spcPts val="0"/>
              </a:spcAft>
              <a:buClr>
                <a:srgbClr val="565A32"/>
              </a:buClr>
              <a:buSzPts val="2418"/>
              <a:buFont typeface="Raleway Light"/>
              <a:buNone/>
            </a:pPr>
            <a:r>
              <a:t/>
            </a:r>
            <a:endParaRPr b="0" i="0" spc="0" sz="2108" u="none" cap="none" strike="noStrike">
              <a:solidFill>
                <a:srgbClr val="565A32"/>
              </a:solidFill>
              <a:latin typeface="Raleway Light"/>
              <a:ea typeface="Raleway Light"/>
              <a:cs typeface="Raleway Light"/>
              <a:sym typeface="Raleway Light"/>
            </a:endParaRPr>
          </a:p>
        </p:txBody>
      </p:sp>
      <p:sp>
        <p:nvSpPr>
          <p:cNvPr id="347" name="Google Shape;347;p40"/>
          <p:cNvSpPr txBox="1"/>
          <p:nvPr/>
        </p:nvSpPr>
        <p:spPr>
          <a:xfrm>
            <a:off x="6985150" y="1939974"/>
            <a:ext cx="3948000" cy="2592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65A32"/>
              </a:buClr>
              <a:buSzPts val="1587"/>
              <a:buFont typeface="Raleway Light"/>
              <a:buNone/>
            </a:pPr>
            <a:r>
              <a:rPr b="0" i="0" lang="en-US" spc="0" sz="2000" u="none" cap="none" strike="noStrike">
                <a:solidFill>
                  <a:srgbClr val="565A32"/>
                </a:solidFill>
                <a:latin typeface="Raleway Light"/>
                <a:ea typeface="Raleway Light"/>
                <a:cs typeface="Raleway Light"/>
                <a:sym typeface="Raleway Light"/>
              </a:rPr>
              <a:t>POUR, SPIN, PLAY, TALK</a:t>
            </a:r>
            <a:endParaRPr b="0" i="0" spc="0" sz="2000" u="none" cap="none" strike="noStrike">
              <a:solidFill>
                <a:schemeClr val="dk1"/>
              </a:solidFill>
              <a:latin typeface="Raleway Light"/>
              <a:ea typeface="Raleway Light"/>
              <a:cs typeface="Raleway Light"/>
              <a:sym typeface="Raleway Light"/>
            </a:endParaRPr>
          </a:p>
        </p:txBody>
      </p:sp>
      <p:sp>
        <p:nvSpPr>
          <p:cNvPr id="348" name="Google Shape;348;p40"/>
          <p:cNvSpPr txBox="1"/>
          <p:nvPr/>
        </p:nvSpPr>
        <p:spPr>
          <a:xfrm>
            <a:off x="6985150" y="2302674"/>
            <a:ext cx="3948000" cy="518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65A32"/>
              </a:buClr>
              <a:buSzPts val="2267"/>
              <a:buFont typeface="Raleway Light"/>
              <a:buNone/>
            </a:pPr>
            <a:r>
              <a:rPr b="0" i="0" lang="en-US" spc="0" sz="1500" u="none" cap="none" strike="noStrike">
                <a:solidFill>
                  <a:srgbClr val="565A32"/>
                </a:solidFill>
                <a:latin typeface="Raleway Light"/>
                <a:ea typeface="Raleway Light"/>
                <a:cs typeface="Raleway Light"/>
                <a:sym typeface="Raleway Light"/>
              </a:rPr>
              <a:t>Savour, Pour, Wild and Mischief cards, Secret Missions, and a crown for the table’s favourite wine.</a:t>
            </a:r>
            <a:endParaRPr b="0" i="0" spc="0" sz="1900" u="none" cap="none" strike="noStrike">
              <a:solidFill>
                <a:schemeClr val="dk1"/>
              </a:solidFill>
              <a:latin typeface="Raleway Light"/>
              <a:ea typeface="Raleway Light"/>
              <a:cs typeface="Raleway Light"/>
              <a:sym typeface="Raleway Light"/>
            </a:endParaRPr>
          </a:p>
        </p:txBody>
      </p:sp>
      <p:sp>
        <p:nvSpPr>
          <p:cNvPr id="349" name="Google Shape;349;p40"/>
          <p:cNvSpPr txBox="1"/>
          <p:nvPr/>
        </p:nvSpPr>
        <p:spPr>
          <a:xfrm>
            <a:off x="6985150" y="3170639"/>
            <a:ext cx="3831600" cy="2379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65A32"/>
              </a:buClr>
              <a:buSzPts val="1587"/>
              <a:buFont typeface="Raleway Light"/>
              <a:buNone/>
            </a:pPr>
            <a:r>
              <a:rPr b="0" i="0" lang="en-US" spc="0" sz="2000" u="none" cap="none" strike="noStrike">
                <a:solidFill>
                  <a:srgbClr val="565A32"/>
                </a:solidFill>
                <a:latin typeface="Raleway Light"/>
                <a:ea typeface="Raleway Light"/>
                <a:cs typeface="Raleway Light"/>
                <a:sym typeface="Raleway Light"/>
              </a:rPr>
              <a:t>DESIGNED TO BE SHARED</a:t>
            </a:r>
            <a:endParaRPr b="0" i="0" spc="0" sz="2000" u="none" cap="none" strike="noStrike">
              <a:solidFill>
                <a:schemeClr val="dk1"/>
              </a:solidFill>
              <a:latin typeface="Raleway Light"/>
              <a:ea typeface="Raleway Light"/>
              <a:cs typeface="Raleway Light"/>
              <a:sym typeface="Raleway Light"/>
            </a:endParaRPr>
          </a:p>
        </p:txBody>
      </p:sp>
      <p:sp>
        <p:nvSpPr>
          <p:cNvPr id="350" name="Google Shape;350;p40"/>
          <p:cNvSpPr txBox="1"/>
          <p:nvPr/>
        </p:nvSpPr>
        <p:spPr>
          <a:xfrm>
            <a:off x="6873000" y="3562050"/>
            <a:ext cx="4114800" cy="518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500"/>
              <a:buFont typeface="Arial"/>
              <a:buNone/>
            </a:pPr>
            <a:r>
              <a:rPr b="0" i="0" lang="en-US" spc="0" sz="1500" u="none" cap="none" strike="noStrike">
                <a:solidFill>
                  <a:srgbClr val="565A32"/>
                </a:solidFill>
                <a:latin typeface="Raleway Light"/>
                <a:ea typeface="Raleway Light"/>
                <a:cs typeface="Raleway Light"/>
                <a:sym typeface="Raleway Light"/>
              </a:rPr>
              <a:t>Premium packaging, tactile quality and an object people are pleased to receive and use.</a:t>
            </a:r>
            <a:endParaRPr b="0" i="0" spc="0" sz="1900" u="none" cap="none" strike="noStrike">
              <a:solidFill>
                <a:schemeClr val="dk1"/>
              </a:solidFill>
              <a:latin typeface="Raleway Light"/>
              <a:ea typeface="Raleway Light"/>
              <a:cs typeface="Raleway Light"/>
              <a:sym typeface="Raleway Light"/>
            </a:endParaRPr>
          </a:p>
        </p:txBody>
      </p:sp>
      <p:sp>
        <p:nvSpPr>
          <p:cNvPr id="351" name="Google Shape;351;p40"/>
          <p:cNvSpPr txBox="1"/>
          <p:nvPr/>
        </p:nvSpPr>
        <p:spPr>
          <a:xfrm>
            <a:off x="6960781" y="4351050"/>
            <a:ext cx="3948000" cy="2379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65A32"/>
              </a:buClr>
              <a:buSzPts val="1587"/>
              <a:buFont typeface="Raleway Light"/>
              <a:buNone/>
            </a:pPr>
            <a:r>
              <a:rPr b="0" i="0" lang="en-US" spc="0" sz="2000" u="none" cap="none" strike="noStrike">
                <a:solidFill>
                  <a:srgbClr val="565A32"/>
                </a:solidFill>
                <a:latin typeface="Raleway Light"/>
                <a:ea typeface="Raleway Light"/>
                <a:cs typeface="Raleway Light"/>
                <a:sym typeface="Raleway Light"/>
              </a:rPr>
              <a:t>CONNECTED, NOT DEPENDENT</a:t>
            </a:r>
            <a:endParaRPr b="0" i="0" spc="0" sz="2000" u="none" cap="none" strike="noStrike">
              <a:solidFill>
                <a:schemeClr val="dk1"/>
              </a:solidFill>
              <a:latin typeface="Raleway Light"/>
              <a:ea typeface="Raleway Light"/>
              <a:cs typeface="Raleway Light"/>
              <a:sym typeface="Raleway Light"/>
            </a:endParaRPr>
          </a:p>
        </p:txBody>
      </p:sp>
      <p:sp>
        <p:nvSpPr>
          <p:cNvPr id="352" name="Google Shape;352;p40"/>
          <p:cNvSpPr txBox="1"/>
          <p:nvPr/>
        </p:nvSpPr>
        <p:spPr>
          <a:xfrm>
            <a:off x="6960781" y="4713749"/>
            <a:ext cx="3948000" cy="5181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500"/>
              <a:buFont typeface="Arial"/>
              <a:buNone/>
            </a:pPr>
            <a:r>
              <a:rPr b="0" i="0" lang="en-US" spc="0" sz="1500" u="none" cap="none" strike="noStrike">
                <a:solidFill>
                  <a:srgbClr val="565A32"/>
                </a:solidFill>
                <a:latin typeface="Raleway Light"/>
                <a:ea typeface="Raleway Light"/>
                <a:cs typeface="Raleway Light"/>
                <a:sym typeface="Raleway Light"/>
              </a:rPr>
              <a:t>Complete without the app. The app adds more, and supports the table without becoming it.</a:t>
            </a:r>
            <a:endParaRPr b="0" i="0" spc="0" sz="1900" u="none" cap="none" strike="noStrike">
              <a:solidFill>
                <a:schemeClr val="dk1"/>
              </a:solidFill>
              <a:latin typeface="Raleway Light"/>
              <a:ea typeface="Raleway Light"/>
              <a:cs typeface="Raleway Light"/>
              <a:sym typeface="Raleway Light"/>
            </a:endParaRPr>
          </a:p>
        </p:txBody>
      </p:sp>
      <p:sp>
        <p:nvSpPr>
          <p:cNvPr id="353" name="Google Shape;353;p40"/>
          <p:cNvSpPr txBox="1"/>
          <p:nvPr/>
        </p:nvSpPr>
        <p:spPr>
          <a:xfrm>
            <a:off x="685800" y="6355080"/>
            <a:ext cx="4114800" cy="2376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565A32"/>
              </a:buClr>
              <a:buSzPts val="1300"/>
              <a:buFont typeface="Raleway Light"/>
              <a:buNone/>
            </a:pPr>
            <a:r>
              <a:rPr b="0" i="0" lang="en-US" spc="0" sz="1300" u="none" cap="none" strike="noStrike">
                <a:solidFill>
                  <a:srgbClr val="565A32"/>
                </a:solidFill>
                <a:latin typeface="Raleway Light"/>
                <a:ea typeface="Raleway Light"/>
                <a:cs typeface="Raleway Light"/>
                <a:sym typeface="Raleway Light"/>
              </a:rPr>
              <a:t>Say what you really think.</a:t>
            </a:r>
            <a:endParaRPr b="0" i="0" spc="0" sz="1300" u="none" cap="none" strike="noStrike">
              <a:solidFill>
                <a:schemeClr val="dk1"/>
              </a:solidFill>
              <a:latin typeface="Raleway Light"/>
              <a:ea typeface="Raleway Light"/>
              <a:cs typeface="Raleway Light"/>
              <a:sym typeface="Raleway Light"/>
            </a:endParaRPr>
          </a:p>
        </p:txBody>
      </p:sp>
      <p:cxnSp>
        <p:nvCxnSpPr>
          <p:cNvPr id="354" name="Google Shape;354;p40"/>
          <p:cNvCxnSpPr/>
          <p:nvPr/>
        </p:nvCxnSpPr>
        <p:spPr>
          <a:xfrm>
            <a:off x="7408113" y="3077307"/>
            <a:ext cx="3108900" cy="0"/>
          </a:xfrm>
          <a:prstGeom prst="straightConnector1">
            <a:avLst/>
          </a:prstGeom>
          <a:noFill/>
          <a:ln cap="flat" cmpd="sng" w="15225">
            <a:solidFill>
              <a:srgbClr val="E3AC9A"/>
            </a:solidFill>
            <a:prstDash val="solid"/>
            <a:round/>
            <a:headEnd len="sm" w="sm" type="none"/>
            <a:tailEnd len="sm" w="sm" type="none"/>
          </a:ln>
        </p:spPr>
      </p:cxnSp>
      <p:cxnSp>
        <p:nvCxnSpPr>
          <p:cNvPr id="355" name="Google Shape;355;p40"/>
          <p:cNvCxnSpPr/>
          <p:nvPr/>
        </p:nvCxnSpPr>
        <p:spPr>
          <a:xfrm>
            <a:off x="7375938" y="4233657"/>
            <a:ext cx="3108900" cy="0"/>
          </a:xfrm>
          <a:prstGeom prst="straightConnector1">
            <a:avLst/>
          </a:prstGeom>
          <a:noFill/>
          <a:ln cap="flat" cmpd="sng" w="15225">
            <a:solidFill>
              <a:srgbClr val="E3AC9A"/>
            </a:solidFill>
            <a:prstDash val="solid"/>
            <a:round/>
            <a:headEnd len="sm" w="sm" type="none"/>
            <a:tailEnd len="sm" w="sm" type="none"/>
          </a:ln>
        </p:spPr>
      </p:cxnSp>
      <p:pic>
        <p:nvPicPr>
          <p:cNvPr id="356" name="Google Shape;356;p40" title="Copy_of_Untitled-removebg-preview.png"/>
          <p:cNvPicPr preferRelativeResize="0"/>
          <p:nvPr/>
        </p:nvPicPr>
        <p:blipFill rotWithShape="1">
          <a:blip r:embed="rId3">
            <a:alphaModFix/>
          </a:blip>
          <a:srcRect b="0" l="0" r="0" t="0"/>
          <a:stretch/>
        </p:blipFill>
        <p:spPr>
          <a:xfrm>
            <a:off x="9834990" y="5349262"/>
            <a:ext cx="1508730" cy="1508730"/>
          </a:xfrm>
          <a:prstGeom prst="rect">
            <a:avLst/>
          </a:prstGeom>
          <a:noFill/>
          <a:ln>
            <a:noFill/>
          </a:ln>
        </p:spPr>
      </p:pic>
      <p:sp>
        <p:nvSpPr>
          <p:cNvPr id="357" name="Google Shape;357;p40"/>
          <p:cNvSpPr txBox="1"/>
          <p:nvPr/>
        </p:nvSpPr>
        <p:spPr>
          <a:xfrm>
            <a:off x="713232" y="5074920"/>
            <a:ext cx="5669400" cy="169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1" i="0" lang="en-US" spc="0" sz="1100" u="none" cap="none" strike="noStrike">
                <a:solidFill>
                  <a:srgbClr val="565A32"/>
                </a:solidFill>
                <a:latin typeface="Raleway SemiBold"/>
                <a:ea typeface="Raleway SemiBold"/>
                <a:cs typeface="Raleway SemiBold"/>
                <a:sym typeface="Raleway SemiBold"/>
              </a:rPr>
              <a:t>2–8 PLAYERS  ·  ANY WINE  ·  A SINGLE GLASS IS ENOUGH  ·  18+</a:t>
            </a:r>
            <a:endParaRPr b="0" i="0" spc="0" sz="1400" u="none" cap="none" strike="noStrike">
              <a:solidFill>
                <a:srgbClr val="000000"/>
              </a:solidFill>
              <a:latin typeface="Arial"/>
              <a:ea typeface="Arial"/>
              <a:cs typeface="Arial"/>
              <a:sym typeface="Arial"/>
            </a:endParaRPr>
          </a:p>
        </p:txBody>
      </p:sp>
      <p:sp>
        <p:nvSpPr>
          <p:cNvPr id="358" name="Google Shape;358;p40"/>
          <p:cNvSpPr txBox="1"/>
          <p:nvPr/>
        </p:nvSpPr>
        <p:spPr>
          <a:xfrm>
            <a:off x="713232" y="5376672"/>
            <a:ext cx="566928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300"/>
              <a:buFont typeface="Arial"/>
              <a:buNone/>
            </a:pPr>
            <a:r>
              <a:rPr b="0" i="0" lang="en-US" spc="0" sz="1300" u="none" cap="none" strike="noStrike">
                <a:solidFill>
                  <a:srgbClr val="565A32"/>
                </a:solidFill>
                <a:latin typeface="Raleway Light"/>
                <a:ea typeface="Raleway Light"/>
                <a:cs typeface="Raleway Light"/>
                <a:sym typeface="Raleway Light"/>
              </a:rPr>
              <a:t>Corks are won for conversation, never for how much anyone drinks.</a:t>
            </a:r>
            <a:endParaRPr b="0" i="0" spc="0" sz="1400" u="none" cap="none" strike="noStrike">
              <a:solidFill>
                <a:srgbClr val="000000"/>
              </a:solidFill>
              <a:latin typeface="Arial"/>
              <a:ea typeface="Arial"/>
              <a:cs typeface="Arial"/>
              <a:sym typeface="Arial"/>
            </a:endParaRPr>
          </a:p>
        </p:txBody>
      </p:sp>
      <p:sp>
        <p:nvSpPr>
          <p:cNvPr id="359" name="Google Shape;359;p40"/>
          <p:cNvSpPr/>
          <p:nvPr/>
        </p:nvSpPr>
        <p:spPr>
          <a:xfrm>
            <a:off x="9262872" y="457200"/>
            <a:ext cx="2377440" cy="384048"/>
          </a:xfrm>
          <a:prstGeom prst="roundRect">
            <a:avLst>
              <a:gd fmla="val 50000" name="adj"/>
            </a:avLst>
          </a:prstGeom>
          <a:solidFill>
            <a:srgbClr val="565A3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1" i="0" lang="en-US" spc="0" sz="1400" u="none" cap="none" strike="noStrike">
                <a:solidFill>
                  <a:srgbClr val="EFEAE0"/>
                </a:solidFill>
                <a:latin typeface="Raleway SemiBold"/>
                <a:ea typeface="Raleway SemiBold"/>
                <a:cs typeface="Raleway SemiBold"/>
                <a:sym typeface="Raleway SemiBold"/>
              </a:rPr>
              <a:t>THE GAME</a:t>
            </a:r>
            <a:endParaRPr b="0" i="0" spc="0" sz="1400" u="none" cap="none" strike="noStrike">
              <a:solidFill>
                <a:srgbClr val="000000"/>
              </a:solidFill>
              <a:latin typeface="Arial"/>
              <a:ea typeface="Arial"/>
              <a:cs typeface="Arial"/>
              <a:sym typeface="Arial"/>
            </a:endParaRPr>
          </a:p>
        </p:txBody>
      </p:sp>
      <p:sp>
        <p:nvSpPr>
          <p:cNvPr id="360" name="Google Shape;360;p40"/>
          <p:cNvSpPr/>
          <p:nvPr/>
        </p:nvSpPr>
        <p:spPr>
          <a:xfrm>
            <a:off x="713232" y="1700784"/>
            <a:ext cx="850392" cy="310896"/>
          </a:xfrm>
          <a:prstGeom prst="roundRect">
            <a:avLst>
              <a:gd fmla="val 50000" name="adj"/>
            </a:avLst>
          </a:prstGeom>
          <a:solidFill>
            <a:srgbClr val="FFFFFF"/>
          </a:solidFill>
          <a:ln cap="flat" cmpd="sng" w="22225">
            <a:solidFill>
              <a:srgbClr val="8D84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361" name="Google Shape;361;p40"/>
          <p:cNvSpPr/>
          <p:nvPr/>
        </p:nvSpPr>
        <p:spPr>
          <a:xfrm>
            <a:off x="804672" y="1792224"/>
            <a:ext cx="128016" cy="128016"/>
          </a:xfrm>
          <a:prstGeom prst="ellipse">
            <a:avLst/>
          </a:prstGeom>
          <a:solidFill>
            <a:srgbClr val="8D84A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362" name="Google Shape;362;p40"/>
          <p:cNvSpPr txBox="1"/>
          <p:nvPr/>
        </p:nvSpPr>
        <p:spPr>
          <a:xfrm>
            <a:off x="987552" y="1700784"/>
            <a:ext cx="557783" cy="310896"/>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pc="0" sz="1100" u="none" cap="none" strike="noStrike">
                <a:solidFill>
                  <a:srgbClr val="5E5677"/>
                </a:solidFill>
                <a:latin typeface="Raleway SemiBold"/>
                <a:ea typeface="Raleway SemiBold"/>
                <a:cs typeface="Raleway SemiBold"/>
                <a:sym typeface="Raleway SemiBold"/>
              </a:rPr>
              <a:t>Savour</a:t>
            </a:r>
            <a:endParaRPr/>
          </a:p>
        </p:txBody>
      </p:sp>
      <p:sp>
        <p:nvSpPr>
          <p:cNvPr id="363" name="Google Shape;363;p40"/>
          <p:cNvSpPr/>
          <p:nvPr/>
        </p:nvSpPr>
        <p:spPr>
          <a:xfrm>
            <a:off x="1673351" y="1700784"/>
            <a:ext cx="694944" cy="310896"/>
          </a:xfrm>
          <a:prstGeom prst="roundRect">
            <a:avLst>
              <a:gd fmla="val 50000" name="adj"/>
            </a:avLst>
          </a:prstGeom>
          <a:solidFill>
            <a:srgbClr val="FFFFFF"/>
          </a:solidFill>
          <a:ln cap="flat" cmpd="sng" w="22225">
            <a:solidFill>
              <a:srgbClr val="C89B3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364" name="Google Shape;364;p40"/>
          <p:cNvSpPr/>
          <p:nvPr/>
        </p:nvSpPr>
        <p:spPr>
          <a:xfrm>
            <a:off x="1764792" y="1792224"/>
            <a:ext cx="128016" cy="128016"/>
          </a:xfrm>
          <a:prstGeom prst="ellipse">
            <a:avLst/>
          </a:prstGeom>
          <a:solidFill>
            <a:srgbClr val="C89B3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365" name="Google Shape;365;p40"/>
          <p:cNvSpPr txBox="1"/>
          <p:nvPr/>
        </p:nvSpPr>
        <p:spPr>
          <a:xfrm>
            <a:off x="1947672" y="1700784"/>
            <a:ext cx="402336" cy="310896"/>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pc="0" sz="1100" u="none" cap="none" strike="noStrike">
                <a:solidFill>
                  <a:srgbClr val="7A5A17"/>
                </a:solidFill>
                <a:latin typeface="Raleway SemiBold"/>
                <a:ea typeface="Raleway SemiBold"/>
                <a:cs typeface="Raleway SemiBold"/>
                <a:sym typeface="Raleway SemiBold"/>
              </a:rPr>
              <a:t>Pour</a:t>
            </a:r>
            <a:endParaRPr/>
          </a:p>
        </p:txBody>
      </p:sp>
      <p:sp>
        <p:nvSpPr>
          <p:cNvPr id="366" name="Google Shape;366;p40"/>
          <p:cNvSpPr/>
          <p:nvPr/>
        </p:nvSpPr>
        <p:spPr>
          <a:xfrm>
            <a:off x="2478024" y="1700784"/>
            <a:ext cx="694944" cy="310896"/>
          </a:xfrm>
          <a:prstGeom prst="roundRect">
            <a:avLst>
              <a:gd fmla="val 50000" name="adj"/>
            </a:avLst>
          </a:prstGeom>
          <a:solidFill>
            <a:srgbClr val="FFFFFF"/>
          </a:solidFill>
          <a:ln cap="flat" cmpd="sng" w="22225">
            <a:solidFill>
              <a:srgbClr val="A8503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367" name="Google Shape;367;p40"/>
          <p:cNvSpPr/>
          <p:nvPr/>
        </p:nvSpPr>
        <p:spPr>
          <a:xfrm>
            <a:off x="2569464" y="1792224"/>
            <a:ext cx="128016" cy="128016"/>
          </a:xfrm>
          <a:prstGeom prst="ellipse">
            <a:avLst/>
          </a:prstGeom>
          <a:solidFill>
            <a:srgbClr val="A850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368" name="Google Shape;368;p40"/>
          <p:cNvSpPr txBox="1"/>
          <p:nvPr/>
        </p:nvSpPr>
        <p:spPr>
          <a:xfrm>
            <a:off x="2752344" y="1700784"/>
            <a:ext cx="402336" cy="310896"/>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pc="0" sz="1100" u="none" cap="none" strike="noStrike">
                <a:solidFill>
                  <a:srgbClr val="813528"/>
                </a:solidFill>
                <a:latin typeface="Raleway SemiBold"/>
                <a:ea typeface="Raleway SemiBold"/>
                <a:cs typeface="Raleway SemiBold"/>
                <a:sym typeface="Raleway SemiBold"/>
              </a:rPr>
              <a:t>Wild</a:t>
            </a:r>
            <a:endParaRPr/>
          </a:p>
        </p:txBody>
      </p:sp>
      <p:sp>
        <p:nvSpPr>
          <p:cNvPr id="369" name="Google Shape;369;p40"/>
          <p:cNvSpPr/>
          <p:nvPr/>
        </p:nvSpPr>
        <p:spPr>
          <a:xfrm>
            <a:off x="3282696" y="1700784"/>
            <a:ext cx="1005840" cy="310896"/>
          </a:xfrm>
          <a:prstGeom prst="roundRect">
            <a:avLst>
              <a:gd fmla="val 50000" name="adj"/>
            </a:avLst>
          </a:prstGeom>
          <a:solidFill>
            <a:srgbClr val="FFFFFF"/>
          </a:solidFill>
          <a:ln cap="flat" cmpd="sng" w="22225">
            <a:solidFill>
              <a:srgbClr val="BC6B4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370" name="Google Shape;370;p40"/>
          <p:cNvSpPr/>
          <p:nvPr/>
        </p:nvSpPr>
        <p:spPr>
          <a:xfrm>
            <a:off x="3374136" y="1792224"/>
            <a:ext cx="128016" cy="128016"/>
          </a:xfrm>
          <a:prstGeom prst="ellipse">
            <a:avLst/>
          </a:prstGeom>
          <a:solidFill>
            <a:srgbClr val="BC6B4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371" name="Google Shape;371;p40"/>
          <p:cNvSpPr txBox="1"/>
          <p:nvPr/>
        </p:nvSpPr>
        <p:spPr>
          <a:xfrm>
            <a:off x="3557015" y="1700784"/>
            <a:ext cx="713232" cy="310896"/>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pc="0" sz="1100" u="none" cap="none" strike="noStrike">
                <a:solidFill>
                  <a:srgbClr val="9A5234"/>
                </a:solidFill>
                <a:latin typeface="Raleway SemiBold"/>
                <a:ea typeface="Raleway SemiBold"/>
                <a:cs typeface="Raleway SemiBold"/>
                <a:sym typeface="Raleway SemiBold"/>
              </a:rPr>
              <a:t>Mischief</a:t>
            </a:r>
            <a:endParaRPr/>
          </a:p>
        </p:txBody>
      </p:sp>
      <p:sp>
        <p:nvSpPr>
          <p:cNvPr id="372" name="Google Shape;372;p40"/>
          <p:cNvSpPr/>
          <p:nvPr/>
        </p:nvSpPr>
        <p:spPr>
          <a:xfrm>
            <a:off x="4398264" y="1700784"/>
            <a:ext cx="1549908" cy="310896"/>
          </a:xfrm>
          <a:prstGeom prst="roundRect">
            <a:avLst>
              <a:gd fmla="val 50000" name="adj"/>
            </a:avLst>
          </a:prstGeom>
          <a:solidFill>
            <a:srgbClr val="FFFFFF"/>
          </a:solidFill>
          <a:ln cap="flat" cmpd="sng" w="22225">
            <a:solidFill>
              <a:srgbClr val="6E8B9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373" name="Google Shape;373;p40"/>
          <p:cNvSpPr/>
          <p:nvPr/>
        </p:nvSpPr>
        <p:spPr>
          <a:xfrm>
            <a:off x="4489704" y="1792224"/>
            <a:ext cx="128016" cy="128016"/>
          </a:xfrm>
          <a:prstGeom prst="ellipse">
            <a:avLst/>
          </a:prstGeom>
          <a:solidFill>
            <a:srgbClr val="6E8B9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374" name="Google Shape;374;p40"/>
          <p:cNvSpPr txBox="1"/>
          <p:nvPr/>
        </p:nvSpPr>
        <p:spPr>
          <a:xfrm>
            <a:off x="4672584" y="1700784"/>
            <a:ext cx="1257300" cy="310896"/>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pc="0" sz="1100" u="none" cap="none" strike="noStrike">
                <a:solidFill>
                  <a:srgbClr val="4B6166"/>
                </a:solidFill>
                <a:latin typeface="Raleway SemiBold"/>
                <a:ea typeface="Raleway SemiBold"/>
                <a:cs typeface="Raleway SemiBold"/>
                <a:sym typeface="Raleway SemiBold"/>
              </a:rPr>
              <a:t>Secret Missions</a:t>
            </a:r>
            <a:endParaRPr/>
          </a:p>
        </p:txBody>
      </p:sp>
      <p:sp>
        <p:nvSpPr>
          <p:cNvPr id="375" name="Google Shape;375;p40"/>
          <p:cNvSpPr/>
          <p:nvPr/>
        </p:nvSpPr>
        <p:spPr>
          <a:xfrm>
            <a:off x="713232" y="5687568"/>
            <a:ext cx="5669280" cy="457200"/>
          </a:xfrm>
          <a:prstGeom prst="roundRect">
            <a:avLst>
              <a:gd fmla="val 30000" name="adj"/>
            </a:avLst>
          </a:prstGeom>
          <a:solidFill>
            <a:srgbClr val="565A32"/>
          </a:solidFill>
          <a:ln>
            <a:noFill/>
          </a:ln>
        </p:spPr>
        <p:txBody>
          <a:bodyPr anchorCtr="0" anchor="ctr" bIns="18275" lIns="182875" spcFirstLastPara="1" rIns="182875" wrap="square" tIns="18275">
            <a:noAutofit/>
          </a:bodyPr>
          <a:lstStyle/>
          <a:p>
            <a:pPr indent="0" lvl="0" marL="0" marR="0" rtl="0" algn="ctr">
              <a:lnSpc>
                <a:spcPct val="100000"/>
              </a:lnSpc>
              <a:spcBef>
                <a:spcPts val="0"/>
              </a:spcBef>
              <a:spcAft>
                <a:spcPts val="0"/>
              </a:spcAft>
              <a:buNone/>
            </a:pPr>
            <a:r>
              <a:rPr b="1" i="0" lang="en-US" spc="0" sz="1800" u="none" cap="none" strike="noStrike">
                <a:solidFill>
                  <a:srgbClr val="EFEAE0"/>
                </a:solidFill>
                <a:latin typeface="Raleway SemiBold"/>
                <a:ea typeface="Raleway SemiBold"/>
                <a:cs typeface="Raleway SemiBold"/>
                <a:sym typeface="Raleway SemiBold"/>
              </a:rPr>
              <a:t>Talk. Laugh. Remember.</a:t>
            </a:r>
            <a:endParaRPr/>
          </a:p>
        </p:txBody>
      </p:sp>
      <p:sp>
        <p:nvSpPr>
          <p:cNvPr id="376" name="Google Shape;376;p40"/>
          <p:cNvSpPr/>
          <p:nvPr/>
        </p:nvSpPr>
        <p:spPr>
          <a:xfrm>
            <a:off x="0" y="0"/>
            <a:ext cx="12191700" cy="329100"/>
          </a:xfrm>
          <a:prstGeom prst="rect">
            <a:avLst/>
          </a:prstGeom>
          <a:solidFill>
            <a:srgbClr val="565A32"/>
          </a:solidFill>
          <a:ln cap="flat" cmpd="sng" w="12700">
            <a:solidFill>
              <a:srgbClr val="565A3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
        <p:nvSpPr>
          <p:cNvPr id="377" name="Slide number"/>
          <p:cNvSpPr txBox="1"/>
          <p:nvPr>
            <p:ph idx="4294967295" type="sldNum"/>
          </p:nvPr>
        </p:nvSpPr>
        <p:spPr>
          <a:xfrm>
            <a:off x="9372600" y="5971032"/>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chemeClr val="dk1"/>
                </a:solidFill>
                <a:latin typeface="Raleway Light"/>
                <a:ea typeface="Raleway Light"/>
                <a:cs typeface="Raleway Light"/>
                <a:sym typeface="Raleway Light"/>
              </a:rPr>
              <a:t>‹#›</a:t>
            </a:fld>
            <a:endParaRPr b="0" i="0" sz="1000" u="none" cap="none" strike="noStrike">
              <a:solidFill>
                <a:schemeClr val="dk1"/>
              </a:solidFill>
              <a:latin typeface="Raleway Light"/>
              <a:ea typeface="Raleway Light"/>
              <a:cs typeface="Raleway Light"/>
              <a:sym typeface="Raleway 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AE0"/>
        </a:solidFill>
      </p:bgPr>
    </p:bg>
    <p:spTree>
      <p:nvGrpSpPr>
        <p:cNvPr id="381" name="Shape 381"/>
        <p:cNvGrpSpPr/>
        <p:nvPr/>
      </p:nvGrpSpPr>
      <p:grpSpPr>
        <a:xfrm>
          <a:off x="0" y="0"/>
          <a:ext cx="0" cy="0"/>
          <a:chOff x="0" y="0"/>
          <a:chExt cx="0" cy="0"/>
        </a:xfrm>
      </p:grpSpPr>
      <p:sp>
        <p:nvSpPr>
          <p:cNvPr id="382" name="Google Shape;382;p41"/>
          <p:cNvSpPr txBox="1"/>
          <p:nvPr/>
        </p:nvSpPr>
        <p:spPr>
          <a:xfrm>
            <a:off x="685800" y="475500"/>
            <a:ext cx="7198500" cy="457200"/>
          </a:xfrm>
          <a:prstGeom prst="rect">
            <a:avLst/>
          </a:prstGeom>
          <a:noFill/>
          <a:ln>
            <a:noFill/>
          </a:ln>
        </p:spPr>
        <p:txBody>
          <a:bodyPr anchorCtr="0" anchor="t" bIns="0" lIns="0" spcFirstLastPara="1" rIns="0" wrap="square" tIns="0">
            <a:normAutofit fontScale="92500" lnSpcReduction="20000"/>
          </a:bodyPr>
          <a:lstStyle/>
          <a:p>
            <a:pPr indent="0" lvl="0" marL="0" marR="0" rtl="0" algn="l">
              <a:lnSpc>
                <a:spcPct val="100000"/>
              </a:lnSpc>
              <a:spcBef>
                <a:spcPts val="0"/>
              </a:spcBef>
              <a:spcAft>
                <a:spcPts val="0"/>
              </a:spcAft>
              <a:buClr>
                <a:srgbClr val="565A32"/>
              </a:buClr>
              <a:buSzPct val="100000"/>
              <a:buFont typeface="Raleway Light"/>
              <a:buNone/>
            </a:pPr>
            <a:r>
              <a:rPr b="0" i="0" lang="en-US" spc="0" sz="3800" u="none" cap="none" strike="noStrike">
                <a:solidFill>
                  <a:srgbClr val="565A32"/>
                </a:solidFill>
                <a:latin typeface="Raleway Light"/>
                <a:ea typeface="Raleway Light"/>
                <a:cs typeface="Raleway Light"/>
                <a:sym typeface="Raleway Light"/>
              </a:rPr>
              <a:t>The connected experience</a:t>
            </a:r>
            <a:endParaRPr b="0" i="0" spc="0" sz="3800" u="none" cap="none" strike="noStrike">
              <a:solidFill>
                <a:schemeClr val="dk1"/>
              </a:solidFill>
              <a:latin typeface="Raleway Light"/>
              <a:ea typeface="Raleway Light"/>
              <a:cs typeface="Raleway Light"/>
              <a:sym typeface="Raleway Light"/>
            </a:endParaRPr>
          </a:p>
        </p:txBody>
      </p:sp>
      <p:sp>
        <p:nvSpPr>
          <p:cNvPr id="383" name="Google Shape;383;p41"/>
          <p:cNvSpPr txBox="1"/>
          <p:nvPr/>
        </p:nvSpPr>
        <p:spPr>
          <a:xfrm>
            <a:off x="685800" y="1042416"/>
            <a:ext cx="8503920" cy="384048"/>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565A32"/>
              </a:buClr>
              <a:buSzPts val="1900"/>
              <a:buFont typeface="Raleway Light"/>
              <a:buNone/>
            </a:pPr>
            <a:r>
              <a:rPr b="0" i="0" lang="en-US" spc="0" sz="1900" u="none" cap="none" strike="noStrike">
                <a:solidFill>
                  <a:srgbClr val="565A32"/>
                </a:solidFill>
                <a:latin typeface="Raleway Light"/>
                <a:ea typeface="Raleway Light"/>
                <a:cs typeface="Raleway Light"/>
                <a:sym typeface="Raleway Light"/>
              </a:rPr>
              <a:t>Technology that brings more to the table without becoming the table.</a:t>
            </a:r>
            <a:endParaRPr b="0" i="0" spc="0" sz="2600" u="none" cap="none" strike="noStrike">
              <a:solidFill>
                <a:schemeClr val="dk1"/>
              </a:solidFill>
              <a:latin typeface="Raleway Light"/>
              <a:ea typeface="Raleway Light"/>
              <a:cs typeface="Raleway Light"/>
              <a:sym typeface="Raleway Light"/>
            </a:endParaRPr>
          </a:p>
        </p:txBody>
      </p:sp>
      <p:sp>
        <p:nvSpPr>
          <p:cNvPr id="384" name="Google Shape;384;p41"/>
          <p:cNvSpPr txBox="1"/>
          <p:nvPr/>
        </p:nvSpPr>
        <p:spPr>
          <a:xfrm>
            <a:off x="685800" y="1828800"/>
            <a:ext cx="6766560" cy="7772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65A32"/>
              </a:buClr>
              <a:buSzPts val="2400"/>
              <a:buFont typeface="Raleway Light"/>
              <a:buNone/>
            </a:pPr>
            <a:r>
              <a:rPr b="0" i="0" lang="en-US" spc="0" sz="2100" u="none" cap="none" strike="noStrike">
                <a:solidFill>
                  <a:schemeClr val="dk1"/>
                </a:solidFill>
                <a:latin typeface="Raleway Light"/>
                <a:ea typeface="Raleway Light"/>
                <a:cs typeface="Raleway Light"/>
                <a:sym typeface="Raleway Light"/>
              </a:rPr>
              <a:t>The app connects play, wine discovery and memories around one simple experience.</a:t>
            </a:r>
            <a:endParaRPr b="0" i="0" spc="0" sz="3400" u="none" cap="none" strike="noStrike">
              <a:solidFill>
                <a:schemeClr val="dk1"/>
              </a:solidFill>
              <a:latin typeface="Raleway Light"/>
              <a:ea typeface="Raleway Light"/>
              <a:cs typeface="Raleway Light"/>
              <a:sym typeface="Raleway Light"/>
            </a:endParaRPr>
          </a:p>
        </p:txBody>
      </p:sp>
      <p:sp>
        <p:nvSpPr>
          <p:cNvPr id="385" name="Google Shape;385;p41"/>
          <p:cNvSpPr txBox="1"/>
          <p:nvPr/>
        </p:nvSpPr>
        <p:spPr>
          <a:xfrm>
            <a:off x="812688" y="2843800"/>
            <a:ext cx="1876200" cy="255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65A32"/>
              </a:buClr>
              <a:buSzPts val="1400"/>
              <a:buFont typeface="Raleway Light"/>
              <a:buNone/>
            </a:pPr>
            <a:r>
              <a:rPr b="0" i="0" lang="en-US" spc="0" sz="1800" u="none" cap="none" strike="noStrike">
                <a:solidFill>
                  <a:srgbClr val="565A32"/>
                </a:solidFill>
                <a:latin typeface="Raleway Light"/>
                <a:ea typeface="Raleway Light"/>
                <a:cs typeface="Raleway Light"/>
                <a:sym typeface="Raleway Light"/>
              </a:rPr>
              <a:t>PLAY</a:t>
            </a:r>
            <a:endParaRPr b="0" i="0" spc="0" sz="1800" u="none" cap="none" strike="noStrike">
              <a:solidFill>
                <a:schemeClr val="dk1"/>
              </a:solidFill>
              <a:latin typeface="Raleway Light"/>
              <a:ea typeface="Raleway Light"/>
              <a:cs typeface="Raleway Light"/>
              <a:sym typeface="Raleway Light"/>
            </a:endParaRPr>
          </a:p>
        </p:txBody>
      </p:sp>
      <p:sp>
        <p:nvSpPr>
          <p:cNvPr id="386" name="Google Shape;386;p41"/>
          <p:cNvSpPr txBox="1"/>
          <p:nvPr/>
        </p:nvSpPr>
        <p:spPr>
          <a:xfrm>
            <a:off x="2688910" y="2807234"/>
            <a:ext cx="5159400" cy="45720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Clr>
                <a:srgbClr val="565A32"/>
              </a:buClr>
              <a:buSzPts val="1700"/>
              <a:buFont typeface="Raleway Light"/>
              <a:buNone/>
            </a:pPr>
            <a:r>
              <a:rPr b="0" i="0" lang="en-US" spc="0" sz="1700" u="none" cap="none" strike="noStrike">
                <a:solidFill>
                  <a:schemeClr val="dk1"/>
                </a:solidFill>
                <a:latin typeface="Raleway Light"/>
                <a:ea typeface="Raleway Light"/>
                <a:cs typeface="Raleway Light"/>
                <a:sym typeface="Raleway Light"/>
              </a:rPr>
              <a:t>Host a game or join one. The app guides play, keeps things moving and lets everyone take part.</a:t>
            </a:r>
            <a:endParaRPr b="0" i="0" spc="0" sz="2300" u="none" cap="none" strike="noStrike">
              <a:solidFill>
                <a:schemeClr val="dk1"/>
              </a:solidFill>
              <a:latin typeface="Raleway Light"/>
              <a:ea typeface="Raleway Light"/>
              <a:cs typeface="Raleway Light"/>
              <a:sym typeface="Raleway Light"/>
            </a:endParaRPr>
          </a:p>
        </p:txBody>
      </p:sp>
      <p:sp>
        <p:nvSpPr>
          <p:cNvPr id="387" name="Google Shape;387;p41"/>
          <p:cNvSpPr txBox="1"/>
          <p:nvPr/>
        </p:nvSpPr>
        <p:spPr>
          <a:xfrm>
            <a:off x="812688" y="3712475"/>
            <a:ext cx="1876200" cy="255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65A32"/>
              </a:buClr>
              <a:buSzPts val="1400"/>
              <a:buFont typeface="Raleway Light"/>
              <a:buNone/>
            </a:pPr>
            <a:r>
              <a:rPr b="0" i="0" lang="en-US" spc="0" sz="1800" u="none" cap="none" strike="noStrike">
                <a:solidFill>
                  <a:srgbClr val="565A32"/>
                </a:solidFill>
                <a:latin typeface="Raleway Light"/>
                <a:ea typeface="Raleway Light"/>
                <a:cs typeface="Raleway Light"/>
                <a:sym typeface="Raleway Light"/>
              </a:rPr>
              <a:t>DISCOVER</a:t>
            </a:r>
            <a:endParaRPr b="0" i="0" spc="0" sz="1800" u="none" cap="none" strike="noStrike">
              <a:solidFill>
                <a:schemeClr val="dk1"/>
              </a:solidFill>
              <a:latin typeface="Raleway Light"/>
              <a:ea typeface="Raleway Light"/>
              <a:cs typeface="Raleway Light"/>
              <a:sym typeface="Raleway Light"/>
            </a:endParaRPr>
          </a:p>
        </p:txBody>
      </p:sp>
      <p:sp>
        <p:nvSpPr>
          <p:cNvPr id="388" name="Google Shape;388;p41"/>
          <p:cNvSpPr txBox="1"/>
          <p:nvPr/>
        </p:nvSpPr>
        <p:spPr>
          <a:xfrm>
            <a:off x="2688910" y="3675910"/>
            <a:ext cx="5159400" cy="45720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Clr>
                <a:srgbClr val="565A32"/>
              </a:buClr>
              <a:buSzPts val="1850"/>
              <a:buFont typeface="Raleway Light"/>
              <a:buNone/>
            </a:pPr>
            <a:r>
              <a:rPr b="0" i="0" lang="en-US" spc="0" sz="1700" u="none" cap="none" strike="noStrike">
                <a:solidFill>
                  <a:schemeClr val="dk1"/>
                </a:solidFill>
                <a:latin typeface="Raleway Light"/>
                <a:ea typeface="Raleway Light"/>
                <a:cs typeface="Raleway Light"/>
                <a:sym typeface="Raleway Light"/>
              </a:rPr>
              <a:t>Photograph a label to add a wine. Plain-English information and Wine 101 are there when curiosity appears.</a:t>
            </a:r>
            <a:endParaRPr b="0" i="0" spc="0" sz="2450" u="none" cap="none" strike="noStrike">
              <a:solidFill>
                <a:schemeClr val="dk1"/>
              </a:solidFill>
              <a:latin typeface="Raleway Light"/>
              <a:ea typeface="Raleway Light"/>
              <a:cs typeface="Raleway Light"/>
              <a:sym typeface="Raleway Light"/>
            </a:endParaRPr>
          </a:p>
        </p:txBody>
      </p:sp>
      <p:sp>
        <p:nvSpPr>
          <p:cNvPr id="389" name="Google Shape;389;p41"/>
          <p:cNvSpPr txBox="1"/>
          <p:nvPr/>
        </p:nvSpPr>
        <p:spPr>
          <a:xfrm>
            <a:off x="812688" y="4581151"/>
            <a:ext cx="1876200" cy="255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65A32"/>
              </a:buClr>
              <a:buSzPts val="1400"/>
              <a:buFont typeface="Raleway Light"/>
              <a:buNone/>
            </a:pPr>
            <a:r>
              <a:rPr b="0" i="0" lang="en-US" spc="0" sz="1800" u="none" cap="none" strike="noStrike">
                <a:solidFill>
                  <a:srgbClr val="565A32"/>
                </a:solidFill>
                <a:latin typeface="Raleway Light"/>
                <a:ea typeface="Raleway Light"/>
                <a:cs typeface="Raleway Light"/>
                <a:sym typeface="Raleway Light"/>
              </a:rPr>
              <a:t>REMEMBER</a:t>
            </a:r>
            <a:endParaRPr b="0" i="0" spc="0" sz="1800" u="none" cap="none" strike="noStrike">
              <a:solidFill>
                <a:schemeClr val="dk1"/>
              </a:solidFill>
              <a:latin typeface="Raleway Light"/>
              <a:ea typeface="Raleway Light"/>
              <a:cs typeface="Raleway Light"/>
              <a:sym typeface="Raleway Light"/>
            </a:endParaRPr>
          </a:p>
        </p:txBody>
      </p:sp>
      <p:sp>
        <p:nvSpPr>
          <p:cNvPr id="390" name="Google Shape;390;p41"/>
          <p:cNvSpPr txBox="1"/>
          <p:nvPr/>
        </p:nvSpPr>
        <p:spPr>
          <a:xfrm>
            <a:off x="2688910" y="4544586"/>
            <a:ext cx="51594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65A32"/>
              </a:buClr>
              <a:buSzPts val="2000"/>
              <a:buFont typeface="Raleway Light"/>
              <a:buNone/>
            </a:pPr>
            <a:r>
              <a:rPr b="0" i="0" lang="en-US" spc="0" sz="1700" u="none" cap="none" strike="noStrike">
                <a:solidFill>
                  <a:schemeClr val="dk1"/>
                </a:solidFill>
                <a:latin typeface="Raleway Light"/>
                <a:ea typeface="Raleway Light"/>
                <a:cs typeface="Raleway Light"/>
                <a:sym typeface="Raleway Light"/>
              </a:rPr>
              <a:t>Keep the wines, reactions and moments you want to return to in My wines, on any device.</a:t>
            </a:r>
            <a:endParaRPr b="0" i="0" spc="0" sz="2618" u="none" cap="none" strike="noStrike">
              <a:solidFill>
                <a:schemeClr val="dk1"/>
              </a:solidFill>
              <a:latin typeface="Raleway Light"/>
              <a:ea typeface="Raleway Light"/>
              <a:cs typeface="Raleway Light"/>
              <a:sym typeface="Raleway Light"/>
            </a:endParaRPr>
          </a:p>
        </p:txBody>
      </p:sp>
      <p:sp>
        <p:nvSpPr>
          <p:cNvPr id="391" name="Google Shape;391;p41"/>
          <p:cNvSpPr txBox="1"/>
          <p:nvPr/>
        </p:nvSpPr>
        <p:spPr>
          <a:xfrm>
            <a:off x="8478125" y="1828800"/>
            <a:ext cx="2586000" cy="12537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565A32"/>
              </a:buClr>
              <a:buSzPts val="1705"/>
              <a:buFont typeface="Raleway Light"/>
              <a:buNone/>
            </a:pPr>
            <a:r>
              <a:rPr b="0" i="0" lang="en-US" spc="0" sz="2800" u="none" cap="none" strike="noStrike">
                <a:solidFill>
                  <a:srgbClr val="565A32"/>
                </a:solidFill>
                <a:latin typeface="Raleway Light"/>
                <a:ea typeface="Raleway Light"/>
                <a:cs typeface="Raleway Light"/>
                <a:sym typeface="Raleway Light"/>
              </a:rPr>
              <a:t>“The app is there to support the table. It never becomes the table.”</a:t>
            </a:r>
            <a:endParaRPr b="0" i="0" spc="0" sz="2800" u="none" cap="none" strike="noStrike">
              <a:solidFill>
                <a:schemeClr val="dk1"/>
              </a:solidFill>
              <a:latin typeface="Raleway Light"/>
              <a:ea typeface="Raleway Light"/>
              <a:cs typeface="Raleway Light"/>
              <a:sym typeface="Raleway Light"/>
            </a:endParaRPr>
          </a:p>
          <a:p>
            <a:pPr indent="0" lvl="0" marL="0" marR="0" rtl="0" algn="ctr">
              <a:lnSpc>
                <a:spcPct val="100000"/>
              </a:lnSpc>
              <a:spcBef>
                <a:spcPts val="0"/>
              </a:spcBef>
              <a:spcAft>
                <a:spcPts val="0"/>
              </a:spcAft>
              <a:buClr>
                <a:srgbClr val="565A32"/>
              </a:buClr>
              <a:buSzPts val="1705"/>
              <a:buFont typeface="Raleway Light"/>
              <a:buNone/>
            </a:pPr>
            <a:r>
              <a:t/>
            </a:r>
            <a:endParaRPr b="0" i="0" spc="0" sz="2800" u="none" cap="none" strike="noStrike">
              <a:solidFill>
                <a:srgbClr val="565A32"/>
              </a:solidFill>
              <a:latin typeface="Raleway Light"/>
              <a:ea typeface="Raleway Light"/>
              <a:cs typeface="Raleway Light"/>
              <a:sym typeface="Raleway Light"/>
            </a:endParaRPr>
          </a:p>
          <a:p>
            <a:pPr indent="0" lvl="0" marL="0" marR="0" rtl="0" algn="ctr">
              <a:lnSpc>
                <a:spcPct val="100000"/>
              </a:lnSpc>
              <a:spcBef>
                <a:spcPts val="0"/>
              </a:spcBef>
              <a:spcAft>
                <a:spcPts val="0"/>
              </a:spcAft>
              <a:buClr>
                <a:srgbClr val="565A32"/>
              </a:buClr>
              <a:buSzPts val="1705"/>
              <a:buFont typeface="Raleway Light"/>
              <a:buNone/>
            </a:pPr>
            <a:r>
              <a:t/>
            </a:r>
            <a:endParaRPr b="0" i="0" spc="0" sz="2800" u="none" cap="none" strike="noStrike">
              <a:solidFill>
                <a:srgbClr val="565A32"/>
              </a:solidFill>
              <a:latin typeface="Raleway Light"/>
              <a:ea typeface="Raleway Light"/>
              <a:cs typeface="Raleway Light"/>
              <a:sym typeface="Raleway Light"/>
            </a:endParaRPr>
          </a:p>
          <a:p>
            <a:pPr indent="0" lvl="0" marL="0" marR="0" rtl="0" algn="ctr">
              <a:lnSpc>
                <a:spcPct val="100000"/>
              </a:lnSpc>
              <a:spcBef>
                <a:spcPts val="0"/>
              </a:spcBef>
              <a:spcAft>
                <a:spcPts val="0"/>
              </a:spcAft>
              <a:buClr>
                <a:srgbClr val="000000"/>
              </a:buClr>
              <a:buSzPts val="605"/>
              <a:buFont typeface="Arial"/>
              <a:buNone/>
            </a:pPr>
            <a:r>
              <a:t/>
            </a:r>
            <a:endParaRPr b="0" i="0" spc="0" sz="2800" u="none" cap="none" strike="noStrike">
              <a:solidFill>
                <a:schemeClr val="dk1"/>
              </a:solidFill>
              <a:latin typeface="Raleway Light"/>
              <a:ea typeface="Raleway Light"/>
              <a:cs typeface="Raleway Light"/>
              <a:sym typeface="Raleway Light"/>
            </a:endParaRPr>
          </a:p>
        </p:txBody>
      </p:sp>
      <p:sp>
        <p:nvSpPr>
          <p:cNvPr id="392" name="Google Shape;392;p41"/>
          <p:cNvSpPr txBox="1"/>
          <p:nvPr/>
        </p:nvSpPr>
        <p:spPr>
          <a:xfrm>
            <a:off x="685800" y="6355080"/>
            <a:ext cx="4114800" cy="237744"/>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565A32"/>
              </a:buClr>
              <a:buSzPts val="1300"/>
              <a:buFont typeface="Raleway Light"/>
              <a:buNone/>
            </a:pPr>
            <a:r>
              <a:rPr b="0" i="0" lang="en-US" spc="0" sz="1300" u="none" cap="none" strike="noStrike">
                <a:solidFill>
                  <a:srgbClr val="565A32"/>
                </a:solidFill>
                <a:latin typeface="Raleway Light"/>
                <a:ea typeface="Raleway Light"/>
                <a:cs typeface="Raleway Light"/>
                <a:sym typeface="Raleway Light"/>
              </a:rPr>
              <a:t>Say what you really think.</a:t>
            </a:r>
            <a:endParaRPr b="0" i="0" spc="0" sz="1300" u="none" cap="none" strike="noStrike">
              <a:solidFill>
                <a:schemeClr val="dk1"/>
              </a:solidFill>
              <a:latin typeface="Raleway Light"/>
              <a:ea typeface="Raleway Light"/>
              <a:cs typeface="Raleway Light"/>
              <a:sym typeface="Raleway Light"/>
            </a:endParaRPr>
          </a:p>
        </p:txBody>
      </p:sp>
      <p:pic>
        <p:nvPicPr>
          <p:cNvPr id="393" name="Google Shape;393;p41" title="Copy_of_Untitled-removebg-preview.png"/>
          <p:cNvPicPr preferRelativeResize="0"/>
          <p:nvPr/>
        </p:nvPicPr>
        <p:blipFill rotWithShape="1">
          <a:blip r:embed="rId3">
            <a:alphaModFix/>
          </a:blip>
          <a:srcRect b="0" l="0" r="0" t="0"/>
          <a:stretch/>
        </p:blipFill>
        <p:spPr>
          <a:xfrm>
            <a:off x="9834990" y="5349262"/>
            <a:ext cx="1508730" cy="1508730"/>
          </a:xfrm>
          <a:prstGeom prst="rect">
            <a:avLst/>
          </a:prstGeom>
          <a:noFill/>
          <a:ln>
            <a:noFill/>
          </a:ln>
        </p:spPr>
      </p:pic>
      <p:sp>
        <p:nvSpPr>
          <p:cNvPr id="394" name="Google Shape;394;p41"/>
          <p:cNvSpPr txBox="1"/>
          <p:nvPr/>
        </p:nvSpPr>
        <p:spPr>
          <a:xfrm>
            <a:off x="812688" y="5341475"/>
            <a:ext cx="1876200" cy="255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65A32"/>
              </a:buClr>
              <a:buSzPts val="1400"/>
              <a:buFont typeface="Raleway Light"/>
              <a:buNone/>
            </a:pPr>
            <a:r>
              <a:rPr b="0" i="0" lang="en-US" spc="0" sz="1800" u="none" cap="none" strike="noStrike">
                <a:solidFill>
                  <a:srgbClr val="565A32"/>
                </a:solidFill>
                <a:latin typeface="Raleway Light"/>
                <a:ea typeface="Raleway Light"/>
                <a:cs typeface="Raleway Light"/>
                <a:sym typeface="Raleway Light"/>
              </a:rPr>
              <a:t>ON YOUR OWN</a:t>
            </a:r>
            <a:endParaRPr b="0" i="0" spc="0" sz="1800" u="none" cap="none" strike="noStrike">
              <a:solidFill>
                <a:schemeClr val="dk1"/>
              </a:solidFill>
              <a:latin typeface="Raleway Light"/>
              <a:ea typeface="Raleway Light"/>
              <a:cs typeface="Raleway Light"/>
              <a:sym typeface="Raleway Light"/>
            </a:endParaRPr>
          </a:p>
        </p:txBody>
      </p:sp>
      <p:sp>
        <p:nvSpPr>
          <p:cNvPr id="395" name="Google Shape;395;p41"/>
          <p:cNvSpPr txBox="1"/>
          <p:nvPr/>
        </p:nvSpPr>
        <p:spPr>
          <a:xfrm>
            <a:off x="2688910" y="5304911"/>
            <a:ext cx="51594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65A32"/>
              </a:buClr>
              <a:buSzPts val="2000"/>
              <a:buFont typeface="Raleway Light"/>
              <a:buNone/>
            </a:pPr>
            <a:r>
              <a:rPr b="0" i="0" lang="en-US" spc="0" sz="1700" u="none" cap="none" strike="noStrike">
                <a:solidFill>
                  <a:schemeClr val="dk1"/>
                </a:solidFill>
                <a:latin typeface="Raleway Light"/>
                <a:ea typeface="Raleway Light"/>
                <a:cs typeface="Raleway Light"/>
                <a:sym typeface="Raleway Light"/>
              </a:rPr>
              <a:t>Discovery doesn’t stop when the table clears. With Just tasting, you can explore wines on your own.</a:t>
            </a:r>
            <a:endParaRPr b="0" i="0" spc="0" sz="2618" u="none" cap="none" strike="noStrike">
              <a:solidFill>
                <a:schemeClr val="dk1"/>
              </a:solidFill>
              <a:latin typeface="Raleway Light"/>
              <a:ea typeface="Raleway Light"/>
              <a:cs typeface="Raleway Light"/>
              <a:sym typeface="Raleway Light"/>
            </a:endParaRPr>
          </a:p>
        </p:txBody>
      </p:sp>
      <p:sp>
        <p:nvSpPr>
          <p:cNvPr id="396" name="Google Shape;396;p41"/>
          <p:cNvSpPr txBox="1"/>
          <p:nvPr/>
        </p:nvSpPr>
        <p:spPr>
          <a:xfrm>
            <a:off x="8476488" y="4526280"/>
            <a:ext cx="2651700" cy="338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Arial"/>
              <a:buNone/>
            </a:pPr>
            <a:r>
              <a:rPr b="1" i="0" lang="en-US" spc="0" sz="1100" u="none" cap="none" strike="noStrike">
                <a:solidFill>
                  <a:srgbClr val="565A32"/>
                </a:solidFill>
                <a:latin typeface="Raleway SemiBold"/>
                <a:ea typeface="Raleway SemiBold"/>
                <a:cs typeface="Raleway SemiBold"/>
                <a:sym typeface="Raleway SemiBold"/>
              </a:rPr>
              <a:t>18+ AGE GATE ON ENTRY</a:t>
            </a:r>
            <a:endParaRPr b="0" i="0" spc="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en-US" spc="0" sz="1100" u="none" cap="none" strike="noStrike">
                <a:solidFill>
                  <a:srgbClr val="8B8B5C"/>
                </a:solidFill>
                <a:latin typeface="Raleway SemiBold"/>
                <a:ea typeface="Raleway SemiBold"/>
                <a:cs typeface="Raleway SemiBold"/>
                <a:sym typeface="Raleway SemiBold"/>
              </a:rPr>
              <a:t>IN DEVELOPMENT</a:t>
            </a:r>
            <a:endParaRPr b="0" i="0" spc="0" sz="1400" u="none" cap="none" strike="noStrike">
              <a:solidFill>
                <a:srgbClr val="000000"/>
              </a:solidFill>
              <a:latin typeface="Arial"/>
              <a:ea typeface="Arial"/>
              <a:cs typeface="Arial"/>
              <a:sym typeface="Arial"/>
            </a:endParaRPr>
          </a:p>
        </p:txBody>
      </p:sp>
      <p:sp>
        <p:nvSpPr>
          <p:cNvPr id="397" name="Google Shape;397;p41"/>
          <p:cNvSpPr/>
          <p:nvPr/>
        </p:nvSpPr>
        <p:spPr>
          <a:xfrm>
            <a:off x="9262872" y="457200"/>
            <a:ext cx="2377440" cy="384048"/>
          </a:xfrm>
          <a:prstGeom prst="roundRect">
            <a:avLst>
              <a:gd fmla="val 50000" name="adj"/>
            </a:avLst>
          </a:prstGeom>
          <a:solidFill>
            <a:srgbClr val="8B8B5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1" i="0" lang="en-US" spc="0" sz="1400" u="none" cap="none" strike="noStrike">
                <a:solidFill>
                  <a:srgbClr val="FFFFFF"/>
                </a:solidFill>
                <a:latin typeface="Raleway SemiBold"/>
                <a:ea typeface="Raleway SemiBold"/>
                <a:cs typeface="Raleway SemiBold"/>
                <a:sym typeface="Raleway SemiBold"/>
              </a:rPr>
              <a:t>THE APP</a:t>
            </a:r>
            <a:endParaRPr b="0" i="0" spc="0" sz="1400" u="none" cap="none" strike="noStrike">
              <a:solidFill>
                <a:srgbClr val="000000"/>
              </a:solidFill>
              <a:latin typeface="Arial"/>
              <a:ea typeface="Arial"/>
              <a:cs typeface="Arial"/>
              <a:sym typeface="Arial"/>
            </a:endParaRPr>
          </a:p>
        </p:txBody>
      </p:sp>
      <p:sp>
        <p:nvSpPr>
          <p:cNvPr id="398" name="Google Shape;398;p41"/>
          <p:cNvSpPr/>
          <p:nvPr/>
        </p:nvSpPr>
        <p:spPr>
          <a:xfrm>
            <a:off x="0" y="0"/>
            <a:ext cx="12191700" cy="329100"/>
          </a:xfrm>
          <a:prstGeom prst="rect">
            <a:avLst/>
          </a:prstGeom>
          <a:solidFill>
            <a:srgbClr val="565A32"/>
          </a:solidFill>
          <a:ln cap="flat" cmpd="sng" w="12700">
            <a:solidFill>
              <a:srgbClr val="565A3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
        <p:nvSpPr>
          <p:cNvPr id="399" name="Slide number"/>
          <p:cNvSpPr txBox="1"/>
          <p:nvPr>
            <p:ph idx="4294967295" type="sldNum"/>
          </p:nvPr>
        </p:nvSpPr>
        <p:spPr>
          <a:xfrm>
            <a:off x="9372600" y="5971032"/>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chemeClr val="dk1"/>
                </a:solidFill>
                <a:latin typeface="Raleway Light"/>
                <a:ea typeface="Raleway Light"/>
                <a:cs typeface="Raleway Light"/>
                <a:sym typeface="Raleway Light"/>
              </a:rPr>
              <a:t>‹#›</a:t>
            </a:fld>
            <a:endParaRPr b="0" i="0" sz="1000" u="none" cap="none" strike="noStrike">
              <a:solidFill>
                <a:schemeClr val="dk1"/>
              </a:solidFill>
              <a:latin typeface="Raleway Light"/>
              <a:ea typeface="Raleway Light"/>
              <a:cs typeface="Raleway Light"/>
              <a:sym typeface="Raleway Ligh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42"/>
          <p:cNvSpPr txBox="1"/>
          <p:nvPr>
            <p:ph type="title"/>
          </p:nvPr>
        </p:nvSpPr>
        <p:spPr>
          <a:xfrm>
            <a:off x="548640" y="411480"/>
            <a:ext cx="8138160" cy="68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3600"/>
              <a:buFont typeface="Raleway Light"/>
              <a:buNone/>
            </a:pPr>
            <a:r>
              <a:rPr lang="en-US" sz="3600">
                <a:solidFill>
                  <a:schemeClr val="dk1"/>
                </a:solidFill>
                <a:latin typeface="Raleway Light"/>
                <a:ea typeface="Raleway Light"/>
                <a:cs typeface="Raleway Light"/>
                <a:sym typeface="Raleway Light"/>
              </a:rPr>
              <a:t>Two ways to work with us</a:t>
            </a:r>
            <a:endParaRPr sz="3600"/>
          </a:p>
        </p:txBody>
      </p:sp>
      <p:sp>
        <p:nvSpPr>
          <p:cNvPr id="405" name="Google Shape;405;p42"/>
          <p:cNvSpPr txBox="1"/>
          <p:nvPr>
            <p:ph idx="1" type="body"/>
          </p:nvPr>
        </p:nvSpPr>
        <p:spPr>
          <a:xfrm>
            <a:off x="548640" y="1115568"/>
            <a:ext cx="11094415" cy="4114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800"/>
              <a:buNone/>
            </a:pPr>
            <a:r>
              <a:rPr lang="en-US" sz="1800">
                <a:solidFill>
                  <a:schemeClr val="dk1"/>
                </a:solidFill>
                <a:latin typeface="Raleway Light"/>
                <a:ea typeface="Raleway Light"/>
                <a:cs typeface="Raleway Light"/>
                <a:sym typeface="Raleway Light"/>
              </a:rPr>
              <a:t>Partner Mode for your own tastings. Event Mode for combined events.</a:t>
            </a:r>
            <a:endParaRPr sz="1800"/>
          </a:p>
        </p:txBody>
      </p:sp>
      <p:sp>
        <p:nvSpPr>
          <p:cNvPr id="406" name="Google Shape;406;p42"/>
          <p:cNvSpPr/>
          <p:nvPr/>
        </p:nvSpPr>
        <p:spPr>
          <a:xfrm>
            <a:off x="548640" y="1783080"/>
            <a:ext cx="5410048" cy="3383280"/>
          </a:xfrm>
          <a:prstGeom prst="roundRect">
            <a:avLst>
              <a:gd fmla="val 3243" name="adj"/>
            </a:avLst>
          </a:prstGeom>
          <a:solidFill>
            <a:schemeClr val="lt1"/>
          </a:solidFill>
          <a:ln cap="flat" cmpd="sng" w="12700">
            <a:solidFill>
              <a:schemeClr val="lt1"/>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07" name="Google Shape;407;p42"/>
          <p:cNvSpPr/>
          <p:nvPr/>
        </p:nvSpPr>
        <p:spPr>
          <a:xfrm>
            <a:off x="868680" y="2057400"/>
            <a:ext cx="2651760" cy="384048"/>
          </a:xfrm>
          <a:prstGeom prst="roundRect">
            <a:avLst>
              <a:gd fmla="val 50000" name="adj"/>
            </a:avLst>
          </a:prstGeom>
          <a:solidFill>
            <a:schemeClr val="accent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1400"/>
              <a:buFont typeface="Raleway SemiBold"/>
              <a:buNone/>
            </a:pPr>
            <a:r>
              <a:rPr b="1" i="0" lang="en-US" spc="0" sz="1400" u="none" cap="none" strike="noStrike">
                <a:solidFill>
                  <a:schemeClr val="dk1"/>
                </a:solidFill>
                <a:latin typeface="Raleway SemiBold"/>
                <a:ea typeface="Raleway SemiBold"/>
                <a:cs typeface="Raleway SemiBold"/>
                <a:sym typeface="Raleway SemiBold"/>
              </a:rPr>
              <a:t>PARTNER MODE</a:t>
            </a:r>
            <a:endParaRPr b="0" i="0" spc="0" sz="1400" u="none" cap="none" strike="noStrike">
              <a:solidFill>
                <a:schemeClr val="dk1"/>
              </a:solidFill>
              <a:latin typeface="Raleway Light"/>
              <a:ea typeface="Raleway Light"/>
              <a:cs typeface="Raleway Light"/>
              <a:sym typeface="Raleway Light"/>
            </a:endParaRPr>
          </a:p>
        </p:txBody>
      </p:sp>
      <p:sp>
        <p:nvSpPr>
          <p:cNvPr id="408" name="Google Shape;408;p42"/>
          <p:cNvSpPr txBox="1"/>
          <p:nvPr/>
        </p:nvSpPr>
        <p:spPr>
          <a:xfrm>
            <a:off x="868680" y="2651760"/>
            <a:ext cx="4769968" cy="2331720"/>
          </a:xfrm>
          <a:prstGeom prst="rect">
            <a:avLst/>
          </a:prstGeom>
          <a:noFill/>
          <a:ln>
            <a:noFill/>
          </a:ln>
        </p:spPr>
        <p:txBody>
          <a:bodyPr anchorCtr="0" anchor="t" bIns="0" lIns="0" spcFirstLastPara="1" rIns="0" wrap="square" tIns="0">
            <a:noAutofit/>
          </a:bodyPr>
          <a:lstStyle/>
          <a:p>
            <a:pPr indent="-203200" lvl="0" marL="203200" marR="0" rtl="0" algn="l">
              <a:lnSpc>
                <a:spcPct val="100000"/>
              </a:lnSpc>
              <a:spcBef>
                <a:spcPts val="0"/>
              </a:spcBef>
              <a:spcAft>
                <a:spcPts val="0"/>
              </a:spcAft>
              <a:buClr>
                <a:schemeClr val="dk1"/>
              </a:buClr>
              <a:buSzPts val="1600"/>
              <a:buFont typeface="Raleway Light"/>
              <a:buChar char="•"/>
            </a:pPr>
            <a:r>
              <a:rPr b="0" i="0" lang="en-US" spc="0" sz="1600" u="none" cap="none" strike="noStrike">
                <a:solidFill>
                  <a:schemeClr val="dk1"/>
                </a:solidFill>
                <a:latin typeface="Raleway Light"/>
                <a:ea typeface="Raleway Light"/>
                <a:cs typeface="Raleway Light"/>
                <a:sym typeface="Raleway Light"/>
              </a:rPr>
              <a:t>Hosted by you: a vineyard, bar, restaurant, retailer or wine club.</a:t>
            </a:r>
            <a:endParaRPr b="0" i="0" spc="0" sz="1600" u="none" cap="none" strike="noStrike">
              <a:solidFill>
                <a:schemeClr val="dk1"/>
              </a:solidFill>
              <a:latin typeface="Raleway Light"/>
              <a:ea typeface="Raleway Light"/>
              <a:cs typeface="Raleway Light"/>
              <a:sym typeface="Raleway Light"/>
            </a:endParaRPr>
          </a:p>
          <a:p>
            <a:pPr indent="-203200" lvl="0" marL="203200" marR="0" rtl="0" algn="l">
              <a:lnSpc>
                <a:spcPct val="100000"/>
              </a:lnSpc>
              <a:spcBef>
                <a:spcPts val="1000"/>
              </a:spcBef>
              <a:spcAft>
                <a:spcPts val="0"/>
              </a:spcAft>
              <a:buClr>
                <a:schemeClr val="dk1"/>
              </a:buClr>
              <a:buSzPts val="1600"/>
              <a:buFont typeface="Raleway Light"/>
              <a:buChar char="•"/>
            </a:pPr>
            <a:r>
              <a:rPr b="0" i="0" lang="en-US" spc="0" sz="1600" u="none" cap="none" strike="noStrike">
                <a:solidFill>
                  <a:schemeClr val="dk1"/>
                </a:solidFill>
                <a:latin typeface="Raleway Light"/>
                <a:ea typeface="Raleway Light"/>
                <a:cs typeface="Raleway Light"/>
                <a:sym typeface="Raleway Light"/>
              </a:rPr>
              <a:t>Your own tasting, around your wines.</a:t>
            </a:r>
            <a:endParaRPr b="0" i="0" spc="0" sz="1600" u="none" cap="none" strike="noStrike">
              <a:solidFill>
                <a:schemeClr val="dk1"/>
              </a:solidFill>
              <a:latin typeface="Raleway Light"/>
              <a:ea typeface="Raleway Light"/>
              <a:cs typeface="Raleway Light"/>
              <a:sym typeface="Raleway Light"/>
            </a:endParaRPr>
          </a:p>
          <a:p>
            <a:pPr indent="-203200" lvl="0" marL="203200" marR="0" rtl="0" algn="l">
              <a:lnSpc>
                <a:spcPct val="100000"/>
              </a:lnSpc>
              <a:spcBef>
                <a:spcPts val="1000"/>
              </a:spcBef>
              <a:spcAft>
                <a:spcPts val="0"/>
              </a:spcAft>
              <a:buClr>
                <a:schemeClr val="dk1"/>
              </a:buClr>
              <a:buSzPts val="1600"/>
              <a:buFont typeface="Raleway Light"/>
              <a:buChar char="•"/>
            </a:pPr>
            <a:r>
              <a:rPr b="0" i="0" lang="en-US" spc="0" sz="1600" u="none" cap="none" strike="noStrike">
                <a:solidFill>
                  <a:schemeClr val="dk1"/>
                </a:solidFill>
                <a:latin typeface="Raleway Light"/>
                <a:ea typeface="Raleway Light"/>
                <a:cs typeface="Raleway Light"/>
                <a:sym typeface="Raleway Light"/>
              </a:rPr>
              <a:t>Your guests, your questions, your story.</a:t>
            </a:r>
            <a:endParaRPr b="0" i="0" spc="0" sz="1600" u="none" cap="none" strike="noStrike">
              <a:solidFill>
                <a:schemeClr val="dk1"/>
              </a:solidFill>
              <a:latin typeface="Raleway Light"/>
              <a:ea typeface="Raleway Light"/>
              <a:cs typeface="Raleway Light"/>
              <a:sym typeface="Raleway Light"/>
            </a:endParaRPr>
          </a:p>
          <a:p>
            <a:pPr indent="-203200" lvl="0" marL="203200" marR="0" rtl="0" algn="l">
              <a:lnSpc>
                <a:spcPct val="100000"/>
              </a:lnSpc>
              <a:spcBef>
                <a:spcPts val="1000"/>
              </a:spcBef>
              <a:spcAft>
                <a:spcPts val="0"/>
              </a:spcAft>
              <a:buClr>
                <a:schemeClr val="dk1"/>
              </a:buClr>
              <a:buSzPts val="1600"/>
              <a:buFont typeface="Raleway Light"/>
              <a:buChar char="•"/>
            </a:pPr>
            <a:r>
              <a:rPr b="0" i="0" lang="en-US" spc="0" sz="1600" u="none" cap="none" strike="noStrike">
                <a:solidFill>
                  <a:schemeClr val="dk1"/>
                </a:solidFill>
                <a:latin typeface="Raleway Light"/>
                <a:ea typeface="Raleway Light"/>
                <a:cs typeface="Raleway Light"/>
                <a:sym typeface="Raleway Light"/>
              </a:rPr>
              <a:t>Insight on your tasting and your wines.</a:t>
            </a:r>
            <a:endParaRPr b="0" i="0" spc="0" sz="1600" u="none" cap="none" strike="noStrike">
              <a:solidFill>
                <a:schemeClr val="dk1"/>
              </a:solidFill>
              <a:latin typeface="Raleway Light"/>
              <a:ea typeface="Raleway Light"/>
              <a:cs typeface="Raleway Light"/>
              <a:sym typeface="Raleway Light"/>
            </a:endParaRPr>
          </a:p>
        </p:txBody>
      </p:sp>
      <p:sp>
        <p:nvSpPr>
          <p:cNvPr id="409" name="Google Shape;409;p42"/>
          <p:cNvSpPr/>
          <p:nvPr/>
        </p:nvSpPr>
        <p:spPr>
          <a:xfrm>
            <a:off x="6233008" y="1783080"/>
            <a:ext cx="5410048" cy="3383280"/>
          </a:xfrm>
          <a:prstGeom prst="roundRect">
            <a:avLst>
              <a:gd fmla="val 3243" name="adj"/>
            </a:avLst>
          </a:prstGeom>
          <a:solidFill>
            <a:schemeClr val="lt1"/>
          </a:solidFill>
          <a:ln cap="flat" cmpd="sng" w="12700">
            <a:solidFill>
              <a:schemeClr val="lt1"/>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10" name="Google Shape;410;p42"/>
          <p:cNvSpPr/>
          <p:nvPr/>
        </p:nvSpPr>
        <p:spPr>
          <a:xfrm>
            <a:off x="6553048" y="2057400"/>
            <a:ext cx="2651760" cy="384048"/>
          </a:xfrm>
          <a:prstGeom prst="roundRect">
            <a:avLst>
              <a:gd fmla="val 50000" name="adj"/>
            </a:avLst>
          </a:prstGeom>
          <a:solidFill>
            <a:schemeClr val="accent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1400"/>
              <a:buFont typeface="Raleway SemiBold"/>
              <a:buNone/>
            </a:pPr>
            <a:r>
              <a:rPr b="1" i="0" lang="en-US" spc="0" sz="1400" u="none" cap="none" strike="noStrike">
                <a:solidFill>
                  <a:schemeClr val="dk1"/>
                </a:solidFill>
                <a:latin typeface="Raleway SemiBold"/>
                <a:ea typeface="Raleway SemiBold"/>
                <a:cs typeface="Raleway SemiBold"/>
                <a:sym typeface="Raleway SemiBold"/>
              </a:rPr>
              <a:t>EVENT MODE</a:t>
            </a:r>
            <a:endParaRPr b="0" i="0" spc="0" sz="1400" u="none" cap="none" strike="noStrike">
              <a:solidFill>
                <a:schemeClr val="dk1"/>
              </a:solidFill>
              <a:latin typeface="Raleway Light"/>
              <a:ea typeface="Raleway Light"/>
              <a:cs typeface="Raleway Light"/>
              <a:sym typeface="Raleway Light"/>
            </a:endParaRPr>
          </a:p>
        </p:txBody>
      </p:sp>
      <p:sp>
        <p:nvSpPr>
          <p:cNvPr id="411" name="Google Shape;411;p42"/>
          <p:cNvSpPr txBox="1"/>
          <p:nvPr/>
        </p:nvSpPr>
        <p:spPr>
          <a:xfrm>
            <a:off x="6553048" y="2651760"/>
            <a:ext cx="4769968" cy="2331720"/>
          </a:xfrm>
          <a:prstGeom prst="rect">
            <a:avLst/>
          </a:prstGeom>
          <a:noFill/>
          <a:ln>
            <a:noFill/>
          </a:ln>
        </p:spPr>
        <p:txBody>
          <a:bodyPr anchorCtr="0" anchor="t" bIns="0" lIns="0" spcFirstLastPara="1" rIns="0" wrap="square" tIns="0">
            <a:noAutofit/>
          </a:bodyPr>
          <a:lstStyle/>
          <a:p>
            <a:pPr indent="-203200" lvl="0" marL="203200" marR="0" rtl="0" algn="l">
              <a:lnSpc>
                <a:spcPct val="100000"/>
              </a:lnSpc>
              <a:spcBef>
                <a:spcPts val="0"/>
              </a:spcBef>
              <a:spcAft>
                <a:spcPts val="0"/>
              </a:spcAft>
              <a:buClr>
                <a:schemeClr val="dk1"/>
              </a:buClr>
              <a:buSzPts val="1600"/>
              <a:buFont typeface="Raleway Light"/>
              <a:buChar char="•"/>
            </a:pPr>
            <a:r>
              <a:rPr b="0" i="0" lang="en-US" spc="0" sz="1600" u="none" cap="none" strike="noStrike">
                <a:solidFill>
                  <a:schemeClr val="dk1"/>
                </a:solidFill>
                <a:latin typeface="Raleway Light"/>
                <a:ea typeface="Raleway Light"/>
                <a:cs typeface="Raleway Light"/>
                <a:sym typeface="Raleway Light"/>
              </a:rPr>
              <a:t>Run by an organiser: a festival, tasting event or regional wine body.</a:t>
            </a:r>
            <a:endParaRPr b="0" i="0" spc="0" sz="1600" u="none" cap="none" strike="noStrike">
              <a:solidFill>
                <a:schemeClr val="dk1"/>
              </a:solidFill>
              <a:latin typeface="Raleway Light"/>
              <a:ea typeface="Raleway Light"/>
              <a:cs typeface="Raleway Light"/>
              <a:sym typeface="Raleway Light"/>
            </a:endParaRPr>
          </a:p>
          <a:p>
            <a:pPr indent="-203200" lvl="0" marL="203200" marR="0" rtl="0" algn="l">
              <a:lnSpc>
                <a:spcPct val="100000"/>
              </a:lnSpc>
              <a:spcBef>
                <a:spcPts val="1000"/>
              </a:spcBef>
              <a:spcAft>
                <a:spcPts val="0"/>
              </a:spcAft>
              <a:buClr>
                <a:schemeClr val="dk1"/>
              </a:buClr>
              <a:buSzPts val="1600"/>
              <a:buFont typeface="Raleway Light"/>
              <a:buChar char="•"/>
            </a:pPr>
            <a:r>
              <a:rPr b="0" i="0" lang="en-US" spc="0" sz="1600" u="none" cap="none" strike="noStrike">
                <a:solidFill>
                  <a:schemeClr val="dk1"/>
                </a:solidFill>
                <a:latin typeface="Raleway Light"/>
                <a:ea typeface="Raleway Light"/>
                <a:cs typeface="Raleway Light"/>
                <a:sym typeface="Raleway Light"/>
              </a:rPr>
              <a:t>Many producers at one combined event.</a:t>
            </a:r>
            <a:endParaRPr b="0" i="0" spc="0" sz="1600" u="none" cap="none" strike="noStrike">
              <a:solidFill>
                <a:schemeClr val="dk1"/>
              </a:solidFill>
              <a:latin typeface="Raleway Light"/>
              <a:ea typeface="Raleway Light"/>
              <a:cs typeface="Raleway Light"/>
              <a:sym typeface="Raleway Light"/>
            </a:endParaRPr>
          </a:p>
          <a:p>
            <a:pPr indent="-203200" lvl="0" marL="203200" marR="0" rtl="0" algn="l">
              <a:lnSpc>
                <a:spcPct val="100000"/>
              </a:lnSpc>
              <a:spcBef>
                <a:spcPts val="1000"/>
              </a:spcBef>
              <a:spcAft>
                <a:spcPts val="0"/>
              </a:spcAft>
              <a:buClr>
                <a:schemeClr val="dk1"/>
              </a:buClr>
              <a:buSzPts val="1600"/>
              <a:buFont typeface="Raleway Light"/>
              <a:buChar char="•"/>
            </a:pPr>
            <a:r>
              <a:rPr b="0" i="0" lang="en-US" spc="0" sz="1600" u="none" cap="none" strike="noStrike">
                <a:solidFill>
                  <a:schemeClr val="dk1"/>
                </a:solidFill>
                <a:latin typeface="Raleway Light"/>
                <a:ea typeface="Raleway Light"/>
                <a:cs typeface="Raleway Light"/>
                <a:sym typeface="Raleway Light"/>
              </a:rPr>
              <a:t>Visitors move between tastings at their own pace.</a:t>
            </a:r>
            <a:endParaRPr b="0" i="0" spc="0" sz="1600" u="none" cap="none" strike="noStrike">
              <a:solidFill>
                <a:schemeClr val="dk1"/>
              </a:solidFill>
              <a:latin typeface="Raleway Light"/>
              <a:ea typeface="Raleway Light"/>
              <a:cs typeface="Raleway Light"/>
              <a:sym typeface="Raleway Light"/>
            </a:endParaRPr>
          </a:p>
          <a:p>
            <a:pPr indent="-203200" lvl="0" marL="203200" marR="0" rtl="0" algn="l">
              <a:lnSpc>
                <a:spcPct val="100000"/>
              </a:lnSpc>
              <a:spcBef>
                <a:spcPts val="1000"/>
              </a:spcBef>
              <a:spcAft>
                <a:spcPts val="0"/>
              </a:spcAft>
              <a:buClr>
                <a:schemeClr val="dk1"/>
              </a:buClr>
              <a:buSzPts val="1600"/>
              <a:buFont typeface="Raleway Light"/>
              <a:buChar char="•"/>
            </a:pPr>
            <a:r>
              <a:rPr b="0" i="0" lang="en-US" spc="0" sz="1600" u="none" cap="none" strike="noStrike">
                <a:solidFill>
                  <a:schemeClr val="dk1"/>
                </a:solidFill>
                <a:latin typeface="Raleway Light"/>
                <a:ea typeface="Raleway Light"/>
                <a:cs typeface="Raleway Light"/>
                <a:sym typeface="Raleway Light"/>
              </a:rPr>
              <a:t>Insight for the organiser across the event.</a:t>
            </a:r>
            <a:endParaRPr b="0" i="0" spc="0" sz="1600" u="none" cap="none" strike="noStrike">
              <a:solidFill>
                <a:schemeClr val="dk1"/>
              </a:solidFill>
              <a:latin typeface="Raleway Light"/>
              <a:ea typeface="Raleway Light"/>
              <a:cs typeface="Raleway Light"/>
              <a:sym typeface="Raleway Light"/>
            </a:endParaRPr>
          </a:p>
        </p:txBody>
      </p:sp>
      <p:sp>
        <p:nvSpPr>
          <p:cNvPr id="412" name="Google Shape;412;p42"/>
          <p:cNvSpPr txBox="1"/>
          <p:nvPr/>
        </p:nvSpPr>
        <p:spPr>
          <a:xfrm>
            <a:off x="548640" y="5349240"/>
            <a:ext cx="11094415" cy="548640"/>
          </a:xfrm>
          <a:prstGeom prst="rect">
            <a:avLst/>
          </a:prstGeom>
          <a:solidFill>
            <a:schemeClr val="lt1"/>
          </a:solidFill>
          <a:ln cap="flat" cmpd="sng" w="25400">
            <a:solidFill>
              <a:schemeClr val="accent4"/>
            </a:solidFill>
            <a:prstDash val="solid"/>
            <a:round/>
            <a:headEnd len="sm" w="sm" type="none"/>
            <a:tailEnd len="sm" w="sm" type="none"/>
          </a:ln>
        </p:spPr>
        <p:txBody>
          <a:bodyPr anchorCtr="0" anchor="ctr" bIns="38100" lIns="38100" spcFirstLastPara="1" rIns="76200" wrap="square" tIns="76200">
            <a:noAutofit/>
          </a:bodyPr>
          <a:lstStyle/>
          <a:p>
            <a:pPr indent="0" lvl="0" marL="0" marR="0" rtl="0" algn="l">
              <a:lnSpc>
                <a:spcPct val="100000"/>
              </a:lnSpc>
              <a:spcBef>
                <a:spcPts val="0"/>
              </a:spcBef>
              <a:spcAft>
                <a:spcPts val="0"/>
              </a:spcAft>
              <a:buClr>
                <a:schemeClr val="dk1"/>
              </a:buClr>
              <a:buSzPts val="1100"/>
              <a:buFont typeface="Raleway SemiBold"/>
              <a:buNone/>
            </a:pPr>
            <a:r>
              <a:rPr b="1" i="0" lang="en-US" spc="0" sz="1100" u="none" cap="none" strike="noStrike">
                <a:solidFill>
                  <a:schemeClr val="dk1"/>
                </a:solidFill>
                <a:latin typeface="Raleway SemiBold"/>
                <a:ea typeface="Raleway SemiBold"/>
                <a:cs typeface="Raleway SemiBold"/>
                <a:sym typeface="Raleway SemiBold"/>
              </a:rPr>
              <a:t>TO DECIDE  </a:t>
            </a:r>
            <a:r>
              <a:rPr b="0" i="0" lang="en-US" spc="0" sz="1100" u="none" cap="none" strike="noStrike">
                <a:solidFill>
                  <a:schemeClr val="dk1"/>
                </a:solidFill>
                <a:latin typeface="Raleway Light"/>
                <a:ea typeface="Raleway Light"/>
                <a:cs typeface="Raleway Light"/>
                <a:sym typeface="Raleway Light"/>
              </a:rPr>
              <a:t>Detailed feature differences between Partner Mode and Event Mode.</a:t>
            </a:r>
            <a:endParaRPr b="0" i="0" spc="0" sz="1100" u="none" cap="none" strike="noStrike">
              <a:solidFill>
                <a:schemeClr val="dk1"/>
              </a:solidFill>
              <a:latin typeface="Raleway Light"/>
              <a:ea typeface="Raleway Light"/>
              <a:cs typeface="Raleway Light"/>
              <a:sym typeface="Raleway Light"/>
            </a:endParaRPr>
          </a:p>
        </p:txBody>
      </p:sp>
      <p:sp>
        <p:nvSpPr>
          <p:cNvPr id="413" name="Google Shape;413;p42"/>
          <p:cNvSpPr txBox="1"/>
          <p:nvPr>
            <p:ph idx="4294967295" type="sldNum"/>
          </p:nvPr>
        </p:nvSpPr>
        <p:spPr>
          <a:xfrm>
            <a:off x="10180015" y="6355080"/>
            <a:ext cx="365760" cy="2743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000"/>
              <a:buNone/>
            </a:pPr>
            <a:fld id="{00000000-1234-1234-1234-123412341234}" type="slidenum">
              <a:rPr b="0" i="0" lang="en-US" sz="1000" u="none" cap="none" strike="noStrike">
                <a:solidFill>
                  <a:schemeClr val="dk1"/>
                </a:solidFill>
                <a:latin typeface="Raleway Light"/>
                <a:ea typeface="Raleway Light"/>
                <a:cs typeface="Raleway Light"/>
                <a:sym typeface="Raleway Light"/>
              </a:rPr>
              <a:t>‹#›</a:t>
            </a:fld>
            <a:endParaRPr b="0" i="0" sz="1000" u="none" cap="none" strike="noStrike">
              <a:solidFill>
                <a:schemeClr val="dk1"/>
              </a:solidFill>
              <a:latin typeface="Raleway Light"/>
              <a:ea typeface="Raleway Light"/>
              <a:cs typeface="Raleway Light"/>
              <a:sym typeface="Raleway Light"/>
            </a:endParaRPr>
          </a:p>
        </p:txBody>
      </p:sp>
      <p:sp>
        <p:nvSpPr>
          <p:cNvPr id="414" name="Google Shape;414;p42"/>
          <p:cNvSpPr/>
          <p:nvPr/>
        </p:nvSpPr>
        <p:spPr>
          <a:xfrm>
            <a:off x="9262872" y="457200"/>
            <a:ext cx="2377440" cy="384048"/>
          </a:xfrm>
          <a:prstGeom prst="roundRect">
            <a:avLst>
              <a:gd fmla="val 50000" name="adj"/>
            </a:avLst>
          </a:prstGeom>
          <a:solidFill>
            <a:srgbClr val="E3AC9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1" i="0" lang="en-US" spc="0" sz="1400" u="none" cap="none" strike="noStrike">
                <a:solidFill>
                  <a:srgbClr val="565A32"/>
                </a:solidFill>
                <a:latin typeface="Raleway SemiBold"/>
                <a:ea typeface="Raleway SemiBold"/>
                <a:cs typeface="Raleway SemiBold"/>
                <a:sym typeface="Raleway SemiBold"/>
              </a:rPr>
              <a:t>PARTNER + EVENT</a:t>
            </a:r>
            <a:endParaRPr b="0" i="0" spc="0" sz="1400" u="none" cap="none" strike="noStrike">
              <a:solidFill>
                <a:srgbClr val="000000"/>
              </a:solidFill>
              <a:latin typeface="Arial"/>
              <a:ea typeface="Arial"/>
              <a:cs typeface="Arial"/>
              <a:sym typeface="Arial"/>
            </a:endParaRPr>
          </a:p>
        </p:txBody>
      </p:sp>
      <p:sp>
        <p:nvSpPr>
          <p:cNvPr id="415" name="Google Shape;415;p42"/>
          <p:cNvSpPr/>
          <p:nvPr/>
        </p:nvSpPr>
        <p:spPr>
          <a:xfrm>
            <a:off x="0" y="0"/>
            <a:ext cx="12191700" cy="329100"/>
          </a:xfrm>
          <a:prstGeom prst="rect">
            <a:avLst/>
          </a:prstGeom>
          <a:solidFill>
            <a:srgbClr val="565A32"/>
          </a:solidFill>
          <a:ln cap="flat" cmpd="sng" w="12700">
            <a:solidFill>
              <a:srgbClr val="565A3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AE0"/>
        </a:solidFill>
      </p:bgPr>
    </p:bg>
    <p:spTree>
      <p:nvGrpSpPr>
        <p:cNvPr id="420" name="Shape 420"/>
        <p:cNvGrpSpPr/>
        <p:nvPr/>
      </p:nvGrpSpPr>
      <p:grpSpPr>
        <a:xfrm>
          <a:off x="0" y="0"/>
          <a:ext cx="0" cy="0"/>
          <a:chOff x="0" y="0"/>
          <a:chExt cx="0" cy="0"/>
        </a:xfrm>
      </p:grpSpPr>
      <p:sp>
        <p:nvSpPr>
          <p:cNvPr id="421" name="Google Shape;421;p43"/>
          <p:cNvSpPr/>
          <p:nvPr/>
        </p:nvSpPr>
        <p:spPr>
          <a:xfrm>
            <a:off x="0" y="0"/>
            <a:ext cx="12191700" cy="6858000"/>
          </a:xfrm>
          <a:prstGeom prst="rect">
            <a:avLst/>
          </a:prstGeom>
          <a:solidFill>
            <a:srgbClr val="EFEAE0"/>
          </a:solidFill>
          <a:ln cap="flat" cmpd="sng" w="12700">
            <a:solidFill>
              <a:srgbClr val="EFEAE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
        <p:nvSpPr>
          <p:cNvPr id="422" name="Google Shape;422;p43"/>
          <p:cNvSpPr txBox="1"/>
          <p:nvPr/>
        </p:nvSpPr>
        <p:spPr>
          <a:xfrm>
            <a:off x="685800" y="475498"/>
            <a:ext cx="7339800" cy="384000"/>
          </a:xfrm>
          <a:prstGeom prst="rect">
            <a:avLst/>
          </a:prstGeom>
          <a:noFill/>
          <a:ln>
            <a:noFill/>
          </a:ln>
        </p:spPr>
        <p:txBody>
          <a:bodyPr anchorCtr="0" anchor="t" bIns="0" lIns="0" spcFirstLastPara="1" rIns="0" wrap="square" tIns="0">
            <a:normAutofit fontScale="77500" lnSpcReduction="20000"/>
          </a:bodyPr>
          <a:lstStyle/>
          <a:p>
            <a:pPr indent="0" lvl="0" marL="0" marR="0" rtl="0" algn="l">
              <a:lnSpc>
                <a:spcPct val="100000"/>
              </a:lnSpc>
              <a:spcBef>
                <a:spcPts val="0"/>
              </a:spcBef>
              <a:spcAft>
                <a:spcPts val="0"/>
              </a:spcAft>
              <a:buClr>
                <a:srgbClr val="565A32"/>
              </a:buClr>
              <a:buSzPct val="100000"/>
              <a:buFont typeface="Raleway Light"/>
              <a:buNone/>
            </a:pPr>
            <a:r>
              <a:rPr b="0" i="0" lang="en-US" spc="0" sz="3800" u="none" cap="none" strike="noStrike">
                <a:solidFill>
                  <a:srgbClr val="565A32"/>
                </a:solidFill>
                <a:latin typeface="Raleway Light"/>
                <a:ea typeface="Raleway Light"/>
                <a:cs typeface="Raleway Light"/>
                <a:sym typeface="Raleway Light"/>
              </a:rPr>
              <a:t>What Partner Mode adds</a:t>
            </a:r>
            <a:endParaRPr b="0" i="0" spc="0" sz="3800" u="none" cap="none" strike="noStrike">
              <a:solidFill>
                <a:schemeClr val="dk1"/>
              </a:solidFill>
              <a:latin typeface="Raleway Light"/>
              <a:ea typeface="Raleway Light"/>
              <a:cs typeface="Raleway Light"/>
              <a:sym typeface="Raleway Light"/>
            </a:endParaRPr>
          </a:p>
        </p:txBody>
      </p:sp>
      <p:sp>
        <p:nvSpPr>
          <p:cNvPr id="423" name="Google Shape;423;p43"/>
          <p:cNvSpPr txBox="1"/>
          <p:nvPr/>
        </p:nvSpPr>
        <p:spPr>
          <a:xfrm>
            <a:off x="685800" y="1042416"/>
            <a:ext cx="8503800" cy="3840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565A32"/>
              </a:buClr>
              <a:buSzPts val="1900"/>
              <a:buFont typeface="Raleway Light"/>
              <a:buNone/>
            </a:pPr>
            <a:r>
              <a:rPr b="0" i="0" lang="en-US" spc="0" sz="1900" u="none" cap="none" strike="noStrike">
                <a:solidFill>
                  <a:srgbClr val="565A32"/>
                </a:solidFill>
                <a:latin typeface="Raleway Light"/>
                <a:ea typeface="Raleway Light"/>
                <a:cs typeface="Raleway Light"/>
                <a:sym typeface="Raleway Light"/>
              </a:rPr>
              <a:t>What we add isn’t content. It’s connection.</a:t>
            </a:r>
            <a:endParaRPr b="0" i="0" spc="0" sz="1900" u="none" cap="none" strike="noStrike">
              <a:solidFill>
                <a:schemeClr val="dk1"/>
              </a:solidFill>
              <a:latin typeface="Raleway Light"/>
              <a:ea typeface="Raleway Light"/>
              <a:cs typeface="Raleway Light"/>
              <a:sym typeface="Raleway Light"/>
            </a:endParaRPr>
          </a:p>
        </p:txBody>
      </p:sp>
      <p:sp>
        <p:nvSpPr>
          <p:cNvPr id="424" name="Google Shape;424;p43"/>
          <p:cNvSpPr txBox="1"/>
          <p:nvPr/>
        </p:nvSpPr>
        <p:spPr>
          <a:xfrm>
            <a:off x="685800" y="1686349"/>
            <a:ext cx="10657800" cy="822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0"/>
              </a:spcAft>
              <a:buClr>
                <a:schemeClr val="dk1"/>
              </a:buClr>
              <a:buSzPts val="1100"/>
              <a:buFont typeface="Arial"/>
              <a:buNone/>
            </a:pPr>
            <a:r>
              <a:rPr b="0" i="0" lang="en-US" spc="0" sz="2000" u="none" cap="none" strike="noStrike">
                <a:solidFill>
                  <a:srgbClr val="565A32"/>
                </a:solidFill>
                <a:latin typeface="Raleway Light"/>
                <a:ea typeface="Raleway Light"/>
                <a:cs typeface="Raleway Light"/>
                <a:sym typeface="Raleway Light"/>
              </a:rPr>
              <a:t>Wine businesses already have stories, tasting notes, expertise and product knowledge. We add the social layer.</a:t>
            </a:r>
            <a:endParaRPr b="0" i="0" spc="0" sz="2000" u="none" cap="none" strike="noStrike">
              <a:solidFill>
                <a:srgbClr val="565A32"/>
              </a:solidFill>
              <a:latin typeface="Raleway Light"/>
              <a:ea typeface="Raleway Light"/>
              <a:cs typeface="Raleway Light"/>
              <a:sym typeface="Raleway Light"/>
            </a:endParaRPr>
          </a:p>
        </p:txBody>
      </p:sp>
      <p:sp>
        <p:nvSpPr>
          <p:cNvPr id="425" name="Google Shape;425;p43"/>
          <p:cNvSpPr txBox="1"/>
          <p:nvPr/>
        </p:nvSpPr>
        <p:spPr>
          <a:xfrm>
            <a:off x="694020" y="2468224"/>
            <a:ext cx="10362000" cy="25602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0"/>
              </a:spcAft>
              <a:buClr>
                <a:srgbClr val="000000"/>
              </a:buClr>
              <a:buSzPts val="1400"/>
              <a:buFont typeface="Arial"/>
              <a:buNone/>
            </a:pPr>
            <a:r>
              <a:rPr b="1" i="0" lang="en-US" spc="0" sz="1400" u="none" cap="none" strike="noStrike">
                <a:solidFill>
                  <a:srgbClr val="565A32"/>
                </a:solidFill>
                <a:latin typeface="Raleway"/>
                <a:ea typeface="Raleway"/>
                <a:cs typeface="Raleway"/>
                <a:sym typeface="Raleway"/>
              </a:rPr>
              <a:t>BETWEEN PEOPLE</a:t>
            </a:r>
            <a:br>
              <a:rPr b="1" i="0" lang="en-US" spc="0" sz="1400" u="none" cap="none" strike="noStrike">
                <a:solidFill>
                  <a:srgbClr val="565A32"/>
                </a:solidFill>
                <a:latin typeface="Raleway"/>
                <a:ea typeface="Raleway"/>
                <a:cs typeface="Raleway"/>
                <a:sym typeface="Raleway"/>
              </a:rPr>
            </a:br>
            <a:r>
              <a:rPr b="0" i="0" lang="en-US" spc="0" sz="1400" u="none" cap="none" strike="noStrike">
                <a:solidFill>
                  <a:srgbClr val="565A32"/>
                </a:solidFill>
                <a:latin typeface="Raleway Light"/>
                <a:ea typeface="Raleway Light"/>
                <a:cs typeface="Raleway Light"/>
                <a:sym typeface="Raleway Light"/>
              </a:rPr>
              <a:t>Turn tasting into conversation and shared discovery.</a:t>
            </a:r>
            <a:endParaRPr b="0" i="0" spc="0" sz="1400" u="none" cap="none" strike="noStrike">
              <a:solidFill>
                <a:srgbClr val="565A32"/>
              </a:solidFill>
              <a:latin typeface="Raleway Light"/>
              <a:ea typeface="Raleway Light"/>
              <a:cs typeface="Raleway Light"/>
              <a:sym typeface="Raleway Light"/>
            </a:endParaRPr>
          </a:p>
          <a:p>
            <a:pPr indent="0" lvl="0" marL="0" marR="0" rtl="0" algn="l">
              <a:lnSpc>
                <a:spcPct val="115000"/>
              </a:lnSpc>
              <a:spcBef>
                <a:spcPts val="1200"/>
              </a:spcBef>
              <a:spcAft>
                <a:spcPts val="0"/>
              </a:spcAft>
              <a:buClr>
                <a:srgbClr val="000000"/>
              </a:buClr>
              <a:buSzPts val="1400"/>
              <a:buFont typeface="Arial"/>
              <a:buNone/>
            </a:pPr>
            <a:r>
              <a:rPr b="1" i="0" lang="en-US" spc="0" sz="1400" u="none" cap="none" strike="noStrike">
                <a:solidFill>
                  <a:srgbClr val="565A32"/>
                </a:solidFill>
                <a:latin typeface="Raleway"/>
                <a:ea typeface="Raleway"/>
                <a:cs typeface="Raleway"/>
                <a:sym typeface="Raleway"/>
              </a:rPr>
              <a:t>WITH THE WINE</a:t>
            </a:r>
            <a:br>
              <a:rPr b="1" i="0" lang="en-US" spc="0" sz="1400" u="none" cap="none" strike="noStrike">
                <a:solidFill>
                  <a:srgbClr val="565A32"/>
                </a:solidFill>
                <a:latin typeface="Raleway"/>
                <a:ea typeface="Raleway"/>
                <a:cs typeface="Raleway"/>
                <a:sym typeface="Raleway"/>
              </a:rPr>
            </a:br>
            <a:r>
              <a:rPr b="0" i="0" lang="en-US" spc="0" sz="1400" u="none" cap="none" strike="noStrike">
                <a:solidFill>
                  <a:srgbClr val="565A32"/>
                </a:solidFill>
                <a:latin typeface="Raleway Light"/>
                <a:ea typeface="Raleway Light"/>
                <a:cs typeface="Raleway Light"/>
                <a:sym typeface="Raleway Light"/>
              </a:rPr>
              <a:t>People taste, talk and choose, so your wines become part of the occasion.</a:t>
            </a:r>
            <a:endParaRPr b="0" i="0" spc="0" sz="1400" u="none" cap="none" strike="noStrike">
              <a:solidFill>
                <a:srgbClr val="565A32"/>
              </a:solidFill>
              <a:latin typeface="Raleway Light"/>
              <a:ea typeface="Raleway Light"/>
              <a:cs typeface="Raleway Light"/>
              <a:sym typeface="Raleway Light"/>
            </a:endParaRPr>
          </a:p>
          <a:p>
            <a:pPr indent="0" lvl="0" marL="0" marR="0" rtl="0" algn="l">
              <a:lnSpc>
                <a:spcPct val="115000"/>
              </a:lnSpc>
              <a:spcBef>
                <a:spcPts val="1200"/>
              </a:spcBef>
              <a:spcAft>
                <a:spcPts val="0"/>
              </a:spcAft>
              <a:buClr>
                <a:srgbClr val="000000"/>
              </a:buClr>
              <a:buSzPts val="1400"/>
              <a:buFont typeface="Arial"/>
              <a:buNone/>
            </a:pPr>
            <a:r>
              <a:rPr b="1" i="0" lang="en-US" spc="0" sz="1400" u="none" cap="none" strike="noStrike">
                <a:solidFill>
                  <a:srgbClr val="565A32"/>
                </a:solidFill>
                <a:latin typeface="Raleway"/>
                <a:ea typeface="Raleway"/>
                <a:cs typeface="Raleway"/>
                <a:sym typeface="Raleway"/>
              </a:rPr>
              <a:t>BEYOND THE MOMENT</a:t>
            </a:r>
            <a:br>
              <a:rPr b="1" i="0" lang="en-US" spc="0" sz="1400" u="none" cap="none" strike="noStrike">
                <a:solidFill>
                  <a:srgbClr val="565A32"/>
                </a:solidFill>
                <a:latin typeface="Raleway"/>
                <a:ea typeface="Raleway"/>
                <a:cs typeface="Raleway"/>
                <a:sym typeface="Raleway"/>
              </a:rPr>
            </a:br>
            <a:r>
              <a:rPr b="0" i="0" lang="en-US" spc="0" sz="1400" u="none" cap="none" strike="noStrike">
                <a:solidFill>
                  <a:srgbClr val="565A32"/>
                </a:solidFill>
                <a:latin typeface="Raleway Light"/>
                <a:ea typeface="Raleway Light"/>
                <a:cs typeface="Raleway Light"/>
                <a:sym typeface="Raleway Light"/>
              </a:rPr>
              <a:t>Wines and memories saved, so the relationship carries on afterwards.</a:t>
            </a:r>
            <a:endParaRPr b="0" i="0" spc="0" sz="1400" u="none" cap="none" strike="noStrike">
              <a:solidFill>
                <a:srgbClr val="565A32"/>
              </a:solidFill>
              <a:latin typeface="Raleway Light"/>
              <a:ea typeface="Raleway Light"/>
              <a:cs typeface="Raleway Light"/>
              <a:sym typeface="Raleway Light"/>
            </a:endParaRPr>
          </a:p>
          <a:p>
            <a:pPr indent="0" lvl="0" marL="0" marR="0" rtl="0" algn="l">
              <a:lnSpc>
                <a:spcPct val="115000"/>
              </a:lnSpc>
              <a:spcBef>
                <a:spcPts val="1200"/>
              </a:spcBef>
              <a:spcAft>
                <a:spcPts val="0"/>
              </a:spcAft>
              <a:buClr>
                <a:srgbClr val="000000"/>
              </a:buClr>
              <a:buSzPts val="1400"/>
              <a:buFont typeface="Arial"/>
              <a:buNone/>
            </a:pPr>
            <a:r>
              <a:rPr b="1" i="0" lang="en-US" spc="0" sz="1400" u="none" cap="none" strike="noStrike">
                <a:solidFill>
                  <a:srgbClr val="565A32"/>
                </a:solidFill>
                <a:latin typeface="Raleway"/>
                <a:ea typeface="Raleway"/>
                <a:cs typeface="Raleway"/>
                <a:sym typeface="Raleway"/>
              </a:rPr>
              <a:t>USEFUL INSIGHT</a:t>
            </a:r>
            <a:br>
              <a:rPr b="1" i="0" lang="en-US" spc="0" sz="1400" u="none" cap="none" strike="noStrike">
                <a:solidFill>
                  <a:srgbClr val="565A32"/>
                </a:solidFill>
                <a:latin typeface="Raleway"/>
                <a:ea typeface="Raleway"/>
                <a:cs typeface="Raleway"/>
                <a:sym typeface="Raleway"/>
              </a:rPr>
            </a:br>
            <a:r>
              <a:rPr b="0" i="0" lang="en-US" spc="0" sz="1400" u="none" cap="none" strike="noStrike">
                <a:solidFill>
                  <a:srgbClr val="565A32"/>
                </a:solidFill>
                <a:latin typeface="Raleway Light"/>
                <a:ea typeface="Raleway Light"/>
                <a:cs typeface="Raleway Light"/>
                <a:sym typeface="Raleway Light"/>
              </a:rPr>
              <a:t>Understand how people really respond, in the words they naturally use. Anonymised, and only with consent.</a:t>
            </a:r>
            <a:endParaRPr b="0" i="0" spc="0" sz="1600" u="none" cap="none" strike="noStrike">
              <a:solidFill>
                <a:srgbClr val="565A32"/>
              </a:solidFill>
              <a:latin typeface="Raleway Light"/>
              <a:ea typeface="Raleway Light"/>
              <a:cs typeface="Raleway Light"/>
              <a:sym typeface="Raleway Light"/>
            </a:endParaRPr>
          </a:p>
          <a:p>
            <a:pPr indent="0" lvl="0" marL="0" marR="0" rtl="0" algn="l">
              <a:lnSpc>
                <a:spcPct val="100000"/>
              </a:lnSpc>
              <a:spcBef>
                <a:spcPts val="120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
        <p:nvSpPr>
          <p:cNvPr id="426" name="Google Shape;426;p43"/>
          <p:cNvSpPr txBox="1"/>
          <p:nvPr/>
        </p:nvSpPr>
        <p:spPr>
          <a:xfrm>
            <a:off x="685800" y="6355080"/>
            <a:ext cx="4114800" cy="2376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565A32"/>
              </a:buClr>
              <a:buSzPts val="1300"/>
              <a:buFont typeface="Raleway Light"/>
              <a:buNone/>
            </a:pPr>
            <a:r>
              <a:rPr b="0" i="0" lang="en-US" spc="0" sz="1300" u="none" cap="none" strike="noStrike">
                <a:solidFill>
                  <a:srgbClr val="565A32"/>
                </a:solidFill>
                <a:latin typeface="Raleway Light"/>
                <a:ea typeface="Raleway Light"/>
                <a:cs typeface="Raleway Light"/>
                <a:sym typeface="Raleway Light"/>
              </a:rPr>
              <a:t>Say what you really think.</a:t>
            </a:r>
            <a:endParaRPr b="0" i="0" spc="0" sz="1300" u="none" cap="none" strike="noStrike">
              <a:solidFill>
                <a:schemeClr val="dk1"/>
              </a:solidFill>
              <a:latin typeface="Raleway Light"/>
              <a:ea typeface="Raleway Light"/>
              <a:cs typeface="Raleway Light"/>
              <a:sym typeface="Raleway Light"/>
            </a:endParaRPr>
          </a:p>
        </p:txBody>
      </p:sp>
      <p:pic>
        <p:nvPicPr>
          <p:cNvPr id="427" name="Google Shape;427;p43" title="Copy_of_Untitled-removebg-preview.png"/>
          <p:cNvPicPr preferRelativeResize="0"/>
          <p:nvPr/>
        </p:nvPicPr>
        <p:blipFill rotWithShape="1">
          <a:blip r:embed="rId3">
            <a:alphaModFix/>
          </a:blip>
          <a:srcRect b="0" l="0" r="0" t="0"/>
          <a:stretch/>
        </p:blipFill>
        <p:spPr>
          <a:xfrm>
            <a:off x="9834990" y="5349262"/>
            <a:ext cx="1508730" cy="1508730"/>
          </a:xfrm>
          <a:prstGeom prst="rect">
            <a:avLst/>
          </a:prstGeom>
          <a:noFill/>
          <a:ln>
            <a:noFill/>
          </a:ln>
        </p:spPr>
      </p:pic>
      <p:sp>
        <p:nvSpPr>
          <p:cNvPr id="428" name="Google Shape;428;p43"/>
          <p:cNvSpPr txBox="1"/>
          <p:nvPr/>
        </p:nvSpPr>
        <p:spPr>
          <a:xfrm>
            <a:off x="2037675" y="5170875"/>
            <a:ext cx="7673400" cy="948600"/>
          </a:xfrm>
          <a:prstGeom prst="rect">
            <a:avLst/>
          </a:prstGeom>
          <a:solidFill>
            <a:srgbClr val="565A32"/>
          </a:solidFill>
          <a:ln>
            <a:noFill/>
          </a:ln>
        </p:spPr>
        <p:txBody>
          <a:bodyPr anchorCtr="0" anchor="t" bIns="91425" lIns="91425" spcFirstLastPara="1" rIns="91425" wrap="square" tIns="91425">
            <a:noAutofit/>
          </a:bodyPr>
          <a:lstStyle/>
          <a:p>
            <a:pPr indent="0" lvl="0" marL="0" marR="0" rtl="0" algn="ctr">
              <a:lnSpc>
                <a:spcPct val="115000"/>
              </a:lnSpc>
              <a:spcBef>
                <a:spcPts val="1200"/>
              </a:spcBef>
              <a:spcAft>
                <a:spcPts val="0"/>
              </a:spcAft>
              <a:buClr>
                <a:schemeClr val="dk1"/>
              </a:buClr>
              <a:buSzPts val="1400"/>
              <a:buFont typeface="Arial"/>
              <a:buNone/>
            </a:pPr>
            <a:r>
              <a:rPr b="1" i="0" lang="en-US" spc="0" sz="1600" u="none" cap="none" strike="noStrike">
                <a:solidFill>
                  <a:schemeClr val="lt1"/>
                </a:solidFill>
                <a:latin typeface="Raleway"/>
                <a:ea typeface="Raleway"/>
                <a:cs typeface="Raleway"/>
                <a:sym typeface="Raleway"/>
              </a:rPr>
              <a:t>Conversation creates connection. Connection creates insight.</a:t>
            </a:r>
            <a:br>
              <a:rPr b="1" i="0" lang="en-US" spc="0" sz="1600" u="none" cap="none" strike="noStrike">
                <a:solidFill>
                  <a:schemeClr val="lt1"/>
                </a:solidFill>
                <a:latin typeface="Raleway"/>
                <a:ea typeface="Raleway"/>
                <a:cs typeface="Raleway"/>
                <a:sym typeface="Raleway"/>
              </a:rPr>
            </a:br>
            <a:r>
              <a:rPr b="0" i="0" lang="en-US" spc="0" sz="1600" u="none" cap="none" strike="noStrike">
                <a:solidFill>
                  <a:schemeClr val="lt1"/>
                </a:solidFill>
                <a:latin typeface="Raleway Light"/>
                <a:ea typeface="Raleway Light"/>
                <a:cs typeface="Raleway Light"/>
                <a:sym typeface="Raleway Light"/>
              </a:rPr>
              <a:t>Partner Mode is one host’s own tasting. Combined events with many producers use Event Mode.</a:t>
            </a:r>
            <a:endParaRPr b="0" i="0" spc="0" sz="1600" u="none" cap="none" strike="noStrike">
              <a:solidFill>
                <a:schemeClr val="lt1"/>
              </a:solidFill>
              <a:latin typeface="Raleway Light"/>
              <a:ea typeface="Raleway Light"/>
              <a:cs typeface="Raleway Light"/>
              <a:sym typeface="Raleway Light"/>
            </a:endParaRPr>
          </a:p>
          <a:p>
            <a:pPr indent="0" lvl="0" marL="0" marR="0" rtl="0" algn="ctr">
              <a:lnSpc>
                <a:spcPct val="100000"/>
              </a:lnSpc>
              <a:spcBef>
                <a:spcPts val="1200"/>
              </a:spcBef>
              <a:spcAft>
                <a:spcPts val="0"/>
              </a:spcAft>
              <a:buClr>
                <a:schemeClr val="dk1"/>
              </a:buClr>
              <a:buSzPts val="1400"/>
              <a:buFont typeface="Arial"/>
              <a:buNone/>
            </a:pPr>
            <a:r>
              <a:t/>
            </a:r>
            <a:endParaRPr b="0" i="0" spc="0" sz="1600" u="none" cap="none" strike="noStrike">
              <a:solidFill>
                <a:schemeClr val="lt1"/>
              </a:solidFill>
              <a:highlight>
                <a:srgbClr val="EFEAE0"/>
              </a:highlight>
              <a:latin typeface="Raleway Light"/>
              <a:ea typeface="Raleway Light"/>
              <a:cs typeface="Raleway Light"/>
              <a:sym typeface="Raleway Light"/>
            </a:endParaRPr>
          </a:p>
          <a:p>
            <a:pPr indent="0" lvl="0" marL="0" marR="0" rtl="0" algn="ctr">
              <a:lnSpc>
                <a:spcPct val="100000"/>
              </a:lnSpc>
              <a:spcBef>
                <a:spcPts val="0"/>
              </a:spcBef>
              <a:spcAft>
                <a:spcPts val="0"/>
              </a:spcAft>
              <a:buClr>
                <a:srgbClr val="000000"/>
              </a:buClr>
              <a:buSzPts val="1600"/>
              <a:buFont typeface="Arial"/>
              <a:buNone/>
            </a:pPr>
            <a:r>
              <a:t/>
            </a:r>
            <a:endParaRPr b="0" i="0" spc="0" sz="1600" u="none" cap="none" strike="noStrike">
              <a:solidFill>
                <a:schemeClr val="lt1"/>
              </a:solidFill>
              <a:highlight>
                <a:srgbClr val="EFEAE0"/>
              </a:highlight>
              <a:latin typeface="Raleway Light"/>
              <a:ea typeface="Raleway Light"/>
              <a:cs typeface="Raleway Light"/>
              <a:sym typeface="Raleway Light"/>
            </a:endParaRPr>
          </a:p>
        </p:txBody>
      </p:sp>
      <p:sp>
        <p:nvSpPr>
          <p:cNvPr id="429" name="Google Shape;429;p43"/>
          <p:cNvSpPr/>
          <p:nvPr/>
        </p:nvSpPr>
        <p:spPr>
          <a:xfrm>
            <a:off x="8988552" y="457200"/>
            <a:ext cx="2651760" cy="384048"/>
          </a:xfrm>
          <a:prstGeom prst="roundRect">
            <a:avLst>
              <a:gd fmla="val 50000" name="adj"/>
            </a:avLst>
          </a:prstGeom>
          <a:solidFill>
            <a:srgbClr val="E3AC9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1" i="0" lang="en-US" spc="0" sz="1400" u="none" cap="none" strike="noStrike">
                <a:solidFill>
                  <a:srgbClr val="565A32"/>
                </a:solidFill>
                <a:latin typeface="Raleway SemiBold"/>
                <a:ea typeface="Raleway SemiBold"/>
                <a:cs typeface="Raleway SemiBold"/>
                <a:sym typeface="Raleway SemiBold"/>
              </a:rPr>
              <a:t>PARTNER MODE</a:t>
            </a:r>
            <a:endParaRPr b="0" i="0" spc="0" sz="1400" u="none" cap="none" strike="noStrike">
              <a:solidFill>
                <a:srgbClr val="000000"/>
              </a:solidFill>
              <a:latin typeface="Arial"/>
              <a:ea typeface="Arial"/>
              <a:cs typeface="Arial"/>
              <a:sym typeface="Arial"/>
            </a:endParaRPr>
          </a:p>
        </p:txBody>
      </p:sp>
      <p:sp>
        <p:nvSpPr>
          <p:cNvPr id="430" name="Google Shape;430;p43"/>
          <p:cNvSpPr/>
          <p:nvPr/>
        </p:nvSpPr>
        <p:spPr>
          <a:xfrm>
            <a:off x="0" y="0"/>
            <a:ext cx="12191700" cy="329100"/>
          </a:xfrm>
          <a:prstGeom prst="rect">
            <a:avLst/>
          </a:prstGeom>
          <a:solidFill>
            <a:srgbClr val="565A32"/>
          </a:solidFill>
          <a:ln cap="flat" cmpd="sng" w="12700">
            <a:solidFill>
              <a:srgbClr val="565A3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
        <p:nvSpPr>
          <p:cNvPr id="431" name="Slide number"/>
          <p:cNvSpPr txBox="1"/>
          <p:nvPr>
            <p:ph idx="4294967295" type="sldNum"/>
          </p:nvPr>
        </p:nvSpPr>
        <p:spPr>
          <a:xfrm>
            <a:off x="9372600" y="5971032"/>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chemeClr val="dk1"/>
                </a:solidFill>
                <a:latin typeface="Raleway Light"/>
                <a:ea typeface="Raleway Light"/>
                <a:cs typeface="Raleway Light"/>
                <a:sym typeface="Raleway Light"/>
              </a:rPr>
              <a:t>‹#›</a:t>
            </a:fld>
            <a:endParaRPr b="0" i="0" sz="1000" u="none" cap="none" strike="noStrike">
              <a:solidFill>
                <a:schemeClr val="dk1"/>
              </a:solidFill>
              <a:latin typeface="Raleway Light"/>
              <a:ea typeface="Raleway Light"/>
              <a:cs typeface="Raleway Light"/>
              <a:sym typeface="Raleway Light"/>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44"/>
          <p:cNvSpPr txBox="1"/>
          <p:nvPr>
            <p:ph type="title"/>
          </p:nvPr>
        </p:nvSpPr>
        <p:spPr>
          <a:xfrm>
            <a:off x="548640" y="411480"/>
            <a:ext cx="8138160" cy="68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3600"/>
              <a:buFont typeface="Raleway Light"/>
              <a:buNone/>
            </a:pPr>
            <a:r>
              <a:rPr lang="en-US" sz="3600">
                <a:solidFill>
                  <a:schemeClr val="dk1"/>
                </a:solidFill>
                <a:latin typeface="Raleway Light"/>
                <a:ea typeface="Raleway Light"/>
                <a:cs typeface="Raleway Light"/>
                <a:sym typeface="Raleway Light"/>
              </a:rPr>
              <a:t>How a Partner Mode tasting works</a:t>
            </a:r>
            <a:endParaRPr sz="3600"/>
          </a:p>
        </p:txBody>
      </p:sp>
      <p:sp>
        <p:nvSpPr>
          <p:cNvPr id="437" name="Google Shape;437;p44"/>
          <p:cNvSpPr txBox="1"/>
          <p:nvPr>
            <p:ph idx="1" type="body"/>
          </p:nvPr>
        </p:nvSpPr>
        <p:spPr>
          <a:xfrm>
            <a:off x="548640" y="1115568"/>
            <a:ext cx="11094300" cy="4116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800"/>
              <a:buNone/>
            </a:pPr>
            <a:r>
              <a:rPr lang="en-US" sz="1800">
                <a:solidFill>
                  <a:schemeClr val="dk1"/>
                </a:solidFill>
                <a:latin typeface="Raleway Light"/>
                <a:ea typeface="Raleway Light"/>
                <a:cs typeface="Raleway Light"/>
                <a:sym typeface="Raleway Light"/>
              </a:rPr>
              <a:t>You host. We add the conversation.</a:t>
            </a:r>
            <a:endParaRPr sz="1800"/>
          </a:p>
        </p:txBody>
      </p:sp>
      <p:sp>
        <p:nvSpPr>
          <p:cNvPr id="438" name="Google Shape;438;p44"/>
          <p:cNvSpPr/>
          <p:nvPr/>
        </p:nvSpPr>
        <p:spPr>
          <a:xfrm>
            <a:off x="8991295" y="457200"/>
            <a:ext cx="2651760" cy="384048"/>
          </a:xfrm>
          <a:prstGeom prst="roundRect">
            <a:avLst>
              <a:gd fmla="val 50000" name="adj"/>
            </a:avLst>
          </a:prstGeom>
          <a:solidFill>
            <a:schemeClr val="accent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1400"/>
              <a:buFont typeface="Raleway SemiBold"/>
              <a:buNone/>
            </a:pPr>
            <a:r>
              <a:rPr b="1" i="0" lang="en-US" spc="0" sz="1400" u="none" cap="none" strike="noStrike">
                <a:solidFill>
                  <a:schemeClr val="dk1"/>
                </a:solidFill>
                <a:latin typeface="Raleway SemiBold"/>
                <a:ea typeface="Raleway SemiBold"/>
                <a:cs typeface="Raleway SemiBold"/>
                <a:sym typeface="Raleway SemiBold"/>
              </a:rPr>
              <a:t>PARTNER MODE</a:t>
            </a:r>
            <a:endParaRPr b="0" i="0" spc="0" sz="1400" u="none" cap="none" strike="noStrike">
              <a:solidFill>
                <a:schemeClr val="dk1"/>
              </a:solidFill>
              <a:latin typeface="Raleway Light"/>
              <a:ea typeface="Raleway Light"/>
              <a:cs typeface="Raleway Light"/>
              <a:sym typeface="Raleway Light"/>
            </a:endParaRPr>
          </a:p>
        </p:txBody>
      </p:sp>
      <p:sp>
        <p:nvSpPr>
          <p:cNvPr id="439" name="Google Shape;439;p44"/>
          <p:cNvSpPr/>
          <p:nvPr/>
        </p:nvSpPr>
        <p:spPr>
          <a:xfrm>
            <a:off x="548640" y="1828800"/>
            <a:ext cx="1962851" cy="640080"/>
          </a:xfrm>
          <a:prstGeom prst="roundRect">
            <a:avLst>
              <a:gd fmla="val 50000" name="adj"/>
            </a:avLst>
          </a:prstGeom>
          <a:solidFill>
            <a:schemeClr val="dk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2"/>
              </a:buClr>
              <a:buSzPts val="1500"/>
              <a:buFont typeface="Raleway SemiBold"/>
              <a:buNone/>
            </a:pPr>
            <a:r>
              <a:rPr b="1" i="0" lang="en-US" spc="0" sz="1500" u="none" cap="none" strike="noStrike">
                <a:solidFill>
                  <a:schemeClr val="lt2"/>
                </a:solidFill>
                <a:latin typeface="Raleway SemiBold"/>
                <a:ea typeface="Raleway SemiBold"/>
                <a:cs typeface="Raleway SemiBold"/>
                <a:sym typeface="Raleway SemiBold"/>
              </a:rPr>
              <a:t>Join</a:t>
            </a:r>
            <a:endParaRPr b="0" i="0" spc="0" sz="1500" u="none" cap="none" strike="noStrike">
              <a:solidFill>
                <a:schemeClr val="dk1"/>
              </a:solidFill>
              <a:latin typeface="Raleway Light"/>
              <a:ea typeface="Raleway Light"/>
              <a:cs typeface="Raleway Light"/>
              <a:sym typeface="Raleway Light"/>
            </a:endParaRPr>
          </a:p>
        </p:txBody>
      </p:sp>
      <p:sp>
        <p:nvSpPr>
          <p:cNvPr id="440" name="Google Shape;440;p44"/>
          <p:cNvSpPr/>
          <p:nvPr/>
        </p:nvSpPr>
        <p:spPr>
          <a:xfrm>
            <a:off x="2575499" y="2048256"/>
            <a:ext cx="201168" cy="201168"/>
          </a:xfrm>
          <a:prstGeom prst="rightArrow">
            <a:avLst>
              <a:gd fmla="val 50000" name="adj1"/>
              <a:gd fmla="val 50000" name="adj2"/>
            </a:avLst>
          </a:prstGeom>
          <a:solidFill>
            <a:schemeClr val="accent2"/>
          </a:solidFill>
          <a:ln cap="flat" cmpd="sng" w="127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41" name="Google Shape;441;p44"/>
          <p:cNvSpPr/>
          <p:nvPr/>
        </p:nvSpPr>
        <p:spPr>
          <a:xfrm>
            <a:off x="2831531" y="1828800"/>
            <a:ext cx="1962851" cy="640080"/>
          </a:xfrm>
          <a:prstGeom prst="roundRect">
            <a:avLst>
              <a:gd fmla="val 50000" name="adj"/>
            </a:avLst>
          </a:prstGeom>
          <a:solidFill>
            <a:schemeClr val="dk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2"/>
              </a:buClr>
              <a:buSzPts val="1500"/>
              <a:buFont typeface="Raleway SemiBold"/>
              <a:buNone/>
            </a:pPr>
            <a:r>
              <a:rPr b="1" i="0" lang="en-US" spc="0" sz="1500" u="none" cap="none" strike="noStrike">
                <a:solidFill>
                  <a:schemeClr val="lt2"/>
                </a:solidFill>
                <a:latin typeface="Raleway SemiBold"/>
                <a:ea typeface="Raleway SemiBold"/>
                <a:cs typeface="Raleway SemiBold"/>
                <a:sym typeface="Raleway SemiBold"/>
              </a:rPr>
              <a:t>Taste and talk</a:t>
            </a:r>
            <a:endParaRPr b="0" i="0" spc="0" sz="1500" u="none" cap="none" strike="noStrike">
              <a:solidFill>
                <a:schemeClr val="dk1"/>
              </a:solidFill>
              <a:latin typeface="Raleway Light"/>
              <a:ea typeface="Raleway Light"/>
              <a:cs typeface="Raleway Light"/>
              <a:sym typeface="Raleway Light"/>
            </a:endParaRPr>
          </a:p>
        </p:txBody>
      </p:sp>
      <p:sp>
        <p:nvSpPr>
          <p:cNvPr id="442" name="Google Shape;442;p44"/>
          <p:cNvSpPr/>
          <p:nvPr/>
        </p:nvSpPr>
        <p:spPr>
          <a:xfrm>
            <a:off x="4858390" y="2048256"/>
            <a:ext cx="201168" cy="201168"/>
          </a:xfrm>
          <a:prstGeom prst="rightArrow">
            <a:avLst>
              <a:gd fmla="val 50000" name="adj1"/>
              <a:gd fmla="val 50000" name="adj2"/>
            </a:avLst>
          </a:prstGeom>
          <a:solidFill>
            <a:schemeClr val="accent2"/>
          </a:solidFill>
          <a:ln cap="flat" cmpd="sng" w="127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43" name="Google Shape;443;p44"/>
          <p:cNvSpPr/>
          <p:nvPr/>
        </p:nvSpPr>
        <p:spPr>
          <a:xfrm>
            <a:off x="5114422" y="1828800"/>
            <a:ext cx="1962851" cy="640080"/>
          </a:xfrm>
          <a:prstGeom prst="roundRect">
            <a:avLst>
              <a:gd fmla="val 50000" name="adj"/>
            </a:avLst>
          </a:prstGeom>
          <a:solidFill>
            <a:schemeClr val="dk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2"/>
              </a:buClr>
              <a:buSzPts val="1500"/>
              <a:buFont typeface="Raleway SemiBold"/>
              <a:buNone/>
            </a:pPr>
            <a:r>
              <a:rPr b="1" i="0" lang="en-US" spc="0" sz="1500" u="none" cap="none" strike="noStrike">
                <a:solidFill>
                  <a:schemeClr val="lt2"/>
                </a:solidFill>
                <a:latin typeface="Raleway SemiBold"/>
                <a:ea typeface="Raleway SemiBold"/>
                <a:cs typeface="Raleway SemiBold"/>
                <a:sym typeface="Raleway SemiBold"/>
              </a:rPr>
              <a:t>Vote and discover</a:t>
            </a:r>
            <a:endParaRPr b="0" i="0" spc="0" sz="1500" u="none" cap="none" strike="noStrike">
              <a:solidFill>
                <a:schemeClr val="dk1"/>
              </a:solidFill>
              <a:latin typeface="Raleway Light"/>
              <a:ea typeface="Raleway Light"/>
              <a:cs typeface="Raleway Light"/>
              <a:sym typeface="Raleway Light"/>
            </a:endParaRPr>
          </a:p>
        </p:txBody>
      </p:sp>
      <p:sp>
        <p:nvSpPr>
          <p:cNvPr id="444" name="Google Shape;444;p44"/>
          <p:cNvSpPr/>
          <p:nvPr/>
        </p:nvSpPr>
        <p:spPr>
          <a:xfrm>
            <a:off x="7141281" y="2048256"/>
            <a:ext cx="201168" cy="201168"/>
          </a:xfrm>
          <a:prstGeom prst="rightArrow">
            <a:avLst>
              <a:gd fmla="val 50000" name="adj1"/>
              <a:gd fmla="val 50000" name="adj2"/>
            </a:avLst>
          </a:prstGeom>
          <a:solidFill>
            <a:schemeClr val="accent2"/>
          </a:solidFill>
          <a:ln cap="flat" cmpd="sng" w="127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45" name="Google Shape;445;p44"/>
          <p:cNvSpPr/>
          <p:nvPr/>
        </p:nvSpPr>
        <p:spPr>
          <a:xfrm>
            <a:off x="7397313" y="1828800"/>
            <a:ext cx="1962851" cy="640080"/>
          </a:xfrm>
          <a:prstGeom prst="roundRect">
            <a:avLst>
              <a:gd fmla="val 50000" name="adj"/>
            </a:avLst>
          </a:prstGeom>
          <a:solidFill>
            <a:schemeClr val="dk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2"/>
              </a:buClr>
              <a:buSzPts val="1500"/>
              <a:buFont typeface="Raleway SemiBold"/>
              <a:buNone/>
            </a:pPr>
            <a:r>
              <a:rPr b="1" i="0" lang="en-US" spc="0" sz="1500" u="none" cap="none" strike="noStrike">
                <a:solidFill>
                  <a:schemeClr val="lt2"/>
                </a:solidFill>
                <a:latin typeface="Raleway SemiBold"/>
                <a:ea typeface="Raleway SemiBold"/>
                <a:cs typeface="Raleway SemiBold"/>
                <a:sym typeface="Raleway SemiBold"/>
              </a:rPr>
              <a:t>Note and favourite</a:t>
            </a:r>
            <a:endParaRPr b="0" i="0" spc="0" sz="1500" u="none" cap="none" strike="noStrike">
              <a:solidFill>
                <a:schemeClr val="dk1"/>
              </a:solidFill>
              <a:latin typeface="Raleway Light"/>
              <a:ea typeface="Raleway Light"/>
              <a:cs typeface="Raleway Light"/>
              <a:sym typeface="Raleway Light"/>
            </a:endParaRPr>
          </a:p>
        </p:txBody>
      </p:sp>
      <p:sp>
        <p:nvSpPr>
          <p:cNvPr id="446" name="Google Shape;446;p44"/>
          <p:cNvSpPr/>
          <p:nvPr/>
        </p:nvSpPr>
        <p:spPr>
          <a:xfrm>
            <a:off x="9424172" y="2048256"/>
            <a:ext cx="201168" cy="201168"/>
          </a:xfrm>
          <a:prstGeom prst="rightArrow">
            <a:avLst>
              <a:gd fmla="val 50000" name="adj1"/>
              <a:gd fmla="val 50000" name="adj2"/>
            </a:avLst>
          </a:prstGeom>
          <a:solidFill>
            <a:schemeClr val="accent2"/>
          </a:solidFill>
          <a:ln cap="flat" cmpd="sng" w="127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47" name="Google Shape;447;p44"/>
          <p:cNvSpPr/>
          <p:nvPr/>
        </p:nvSpPr>
        <p:spPr>
          <a:xfrm>
            <a:off x="9680204" y="1828800"/>
            <a:ext cx="1962851" cy="640080"/>
          </a:xfrm>
          <a:prstGeom prst="roundRect">
            <a:avLst>
              <a:gd fmla="val 50000" name="adj"/>
            </a:avLst>
          </a:prstGeom>
          <a:solidFill>
            <a:schemeClr val="dk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2"/>
              </a:buClr>
              <a:buSzPts val="1500"/>
              <a:buFont typeface="Raleway SemiBold"/>
              <a:buNone/>
            </a:pPr>
            <a:r>
              <a:rPr b="1" i="0" lang="en-US" spc="0" sz="1500" u="none" cap="none" strike="noStrike">
                <a:solidFill>
                  <a:schemeClr val="lt2"/>
                </a:solidFill>
                <a:latin typeface="Raleway SemiBold"/>
                <a:ea typeface="Raleway SemiBold"/>
                <a:cs typeface="Raleway SemiBold"/>
                <a:sym typeface="Raleway SemiBold"/>
              </a:rPr>
              <a:t>Share and keep</a:t>
            </a:r>
            <a:endParaRPr b="0" i="0" spc="0" sz="1500" u="none" cap="none" strike="noStrike">
              <a:solidFill>
                <a:schemeClr val="dk1"/>
              </a:solidFill>
              <a:latin typeface="Raleway Light"/>
              <a:ea typeface="Raleway Light"/>
              <a:cs typeface="Raleway Light"/>
              <a:sym typeface="Raleway Light"/>
            </a:endParaRPr>
          </a:p>
        </p:txBody>
      </p:sp>
      <p:sp>
        <p:nvSpPr>
          <p:cNvPr id="448" name="Google Shape;448;p44"/>
          <p:cNvSpPr/>
          <p:nvPr/>
        </p:nvSpPr>
        <p:spPr>
          <a:xfrm>
            <a:off x="548640" y="2697480"/>
            <a:ext cx="1962851" cy="2011680"/>
          </a:xfrm>
          <a:prstGeom prst="roundRect">
            <a:avLst>
              <a:gd fmla="val 5590" name="adj"/>
            </a:avLst>
          </a:prstGeom>
          <a:solidFill>
            <a:schemeClr val="lt1"/>
          </a:solidFill>
          <a:ln cap="flat" cmpd="sng" w="12700">
            <a:solidFill>
              <a:schemeClr val="lt1"/>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49" name="Google Shape;449;p44"/>
          <p:cNvSpPr txBox="1"/>
          <p:nvPr/>
        </p:nvSpPr>
        <p:spPr>
          <a:xfrm>
            <a:off x="731520" y="2880360"/>
            <a:ext cx="1597091" cy="1737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Raleway Light"/>
              <a:buNone/>
            </a:pPr>
            <a:r>
              <a:rPr b="0" i="0" lang="en-US" spc="0" sz="1400" u="none" cap="none" strike="noStrike">
                <a:solidFill>
                  <a:schemeClr val="dk1"/>
                </a:solidFill>
                <a:latin typeface="Raleway Light"/>
                <a:ea typeface="Raleway Light"/>
                <a:cs typeface="Raleway Light"/>
                <a:sym typeface="Raleway Light"/>
              </a:rPr>
              <a:t>Guests join your tasting on their phones.</a:t>
            </a:r>
            <a:endParaRPr b="0" i="0" spc="0" sz="1400" u="none" cap="none" strike="noStrike">
              <a:solidFill>
                <a:schemeClr val="dk1"/>
              </a:solidFill>
              <a:latin typeface="Raleway Light"/>
              <a:ea typeface="Raleway Light"/>
              <a:cs typeface="Raleway Light"/>
              <a:sym typeface="Raleway Light"/>
            </a:endParaRPr>
          </a:p>
        </p:txBody>
      </p:sp>
      <p:sp>
        <p:nvSpPr>
          <p:cNvPr id="450" name="Google Shape;450;p44"/>
          <p:cNvSpPr/>
          <p:nvPr/>
        </p:nvSpPr>
        <p:spPr>
          <a:xfrm>
            <a:off x="2831531" y="2697480"/>
            <a:ext cx="1962851" cy="2011680"/>
          </a:xfrm>
          <a:prstGeom prst="roundRect">
            <a:avLst>
              <a:gd fmla="val 5590" name="adj"/>
            </a:avLst>
          </a:prstGeom>
          <a:solidFill>
            <a:schemeClr val="lt1"/>
          </a:solidFill>
          <a:ln cap="flat" cmpd="sng" w="12700">
            <a:solidFill>
              <a:schemeClr val="lt1"/>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51" name="Google Shape;451;p44"/>
          <p:cNvSpPr txBox="1"/>
          <p:nvPr/>
        </p:nvSpPr>
        <p:spPr>
          <a:xfrm>
            <a:off x="3014411" y="2880360"/>
            <a:ext cx="1597091" cy="1737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Raleway Light"/>
              <a:buNone/>
            </a:pPr>
            <a:r>
              <a:rPr b="0" i="0" lang="en-US" spc="0" sz="1400" u="none" cap="none" strike="noStrike">
                <a:solidFill>
                  <a:schemeClr val="dk1"/>
                </a:solidFill>
                <a:latin typeface="Raleway Light"/>
                <a:ea typeface="Raleway Light"/>
                <a:cs typeface="Raleway Light"/>
                <a:sym typeface="Raleway Light"/>
              </a:rPr>
              <a:t>Information on each wine and on you. Savour and Pour cards get people talking, if you'd like them.</a:t>
            </a:r>
            <a:endParaRPr b="0" i="0" spc="0" sz="1400" u="none" cap="none" strike="noStrike">
              <a:solidFill>
                <a:schemeClr val="dk1"/>
              </a:solidFill>
              <a:latin typeface="Raleway Light"/>
              <a:ea typeface="Raleway Light"/>
              <a:cs typeface="Raleway Light"/>
              <a:sym typeface="Raleway Light"/>
            </a:endParaRPr>
          </a:p>
        </p:txBody>
      </p:sp>
      <p:sp>
        <p:nvSpPr>
          <p:cNvPr id="452" name="Google Shape;452;p44"/>
          <p:cNvSpPr/>
          <p:nvPr/>
        </p:nvSpPr>
        <p:spPr>
          <a:xfrm>
            <a:off x="5114422" y="2697480"/>
            <a:ext cx="1962851" cy="2011680"/>
          </a:xfrm>
          <a:prstGeom prst="roundRect">
            <a:avLst>
              <a:gd fmla="val 5590" name="adj"/>
            </a:avLst>
          </a:prstGeom>
          <a:solidFill>
            <a:schemeClr val="lt1"/>
          </a:solidFill>
          <a:ln cap="flat" cmpd="sng" w="12700">
            <a:solidFill>
              <a:schemeClr val="lt1"/>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53" name="Google Shape;453;p44"/>
          <p:cNvSpPr txBox="1"/>
          <p:nvPr/>
        </p:nvSpPr>
        <p:spPr>
          <a:xfrm>
            <a:off x="5297302" y="2880360"/>
            <a:ext cx="1597091" cy="1737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Raleway Light"/>
              <a:buNone/>
            </a:pPr>
            <a:r>
              <a:rPr b="0" i="0" lang="en-US" spc="0" sz="1400" u="none" cap="none" strike="noStrike">
                <a:solidFill>
                  <a:schemeClr val="dk1"/>
                </a:solidFill>
                <a:latin typeface="Raleway Light"/>
                <a:ea typeface="Raleway Light"/>
                <a:cs typeface="Raleway Light"/>
                <a:sym typeface="Raleway Light"/>
              </a:rPr>
              <a:t>Live votes, and your own questions and quizzes. Answers are revealed as discoveries, never as wrong.</a:t>
            </a:r>
            <a:endParaRPr b="0" i="0" spc="0" sz="1400" u="none" cap="none" strike="noStrike">
              <a:solidFill>
                <a:schemeClr val="dk1"/>
              </a:solidFill>
              <a:latin typeface="Raleway Light"/>
              <a:ea typeface="Raleway Light"/>
              <a:cs typeface="Raleway Light"/>
              <a:sym typeface="Raleway Light"/>
            </a:endParaRPr>
          </a:p>
        </p:txBody>
      </p:sp>
      <p:sp>
        <p:nvSpPr>
          <p:cNvPr id="454" name="Google Shape;454;p44"/>
          <p:cNvSpPr/>
          <p:nvPr/>
        </p:nvSpPr>
        <p:spPr>
          <a:xfrm>
            <a:off x="7397313" y="2697480"/>
            <a:ext cx="1962851" cy="2011680"/>
          </a:xfrm>
          <a:prstGeom prst="roundRect">
            <a:avLst>
              <a:gd fmla="val 5590" name="adj"/>
            </a:avLst>
          </a:prstGeom>
          <a:solidFill>
            <a:schemeClr val="lt1"/>
          </a:solidFill>
          <a:ln cap="flat" cmpd="sng" w="12700">
            <a:solidFill>
              <a:schemeClr val="lt1"/>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55" name="Google Shape;455;p44"/>
          <p:cNvSpPr txBox="1"/>
          <p:nvPr/>
        </p:nvSpPr>
        <p:spPr>
          <a:xfrm>
            <a:off x="7580193" y="2880360"/>
            <a:ext cx="1597091" cy="1737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Raleway Light"/>
              <a:buNone/>
            </a:pPr>
            <a:r>
              <a:rPr b="0" i="0" lang="en-US" spc="0" sz="1400" u="none" cap="none" strike="noStrike">
                <a:solidFill>
                  <a:schemeClr val="dk1"/>
                </a:solidFill>
                <a:latin typeface="Raleway Light"/>
                <a:ea typeface="Raleway Light"/>
                <a:cs typeface="Raleway Light"/>
                <a:sym typeface="Raleway Light"/>
              </a:rPr>
              <a:t>Guests keep their own notes and favourite the wines they like.</a:t>
            </a:r>
            <a:endParaRPr b="0" i="0" spc="0" sz="1400" u="none" cap="none" strike="noStrike">
              <a:solidFill>
                <a:schemeClr val="dk1"/>
              </a:solidFill>
              <a:latin typeface="Raleway Light"/>
              <a:ea typeface="Raleway Light"/>
              <a:cs typeface="Raleway Light"/>
              <a:sym typeface="Raleway Light"/>
            </a:endParaRPr>
          </a:p>
        </p:txBody>
      </p:sp>
      <p:sp>
        <p:nvSpPr>
          <p:cNvPr id="456" name="Google Shape;456;p44"/>
          <p:cNvSpPr/>
          <p:nvPr/>
        </p:nvSpPr>
        <p:spPr>
          <a:xfrm>
            <a:off x="9680204" y="2697480"/>
            <a:ext cx="1962851" cy="2011680"/>
          </a:xfrm>
          <a:prstGeom prst="roundRect">
            <a:avLst>
              <a:gd fmla="val 5590" name="adj"/>
            </a:avLst>
          </a:prstGeom>
          <a:solidFill>
            <a:schemeClr val="lt1"/>
          </a:solidFill>
          <a:ln cap="flat" cmpd="sng" w="12700">
            <a:solidFill>
              <a:schemeClr val="lt1"/>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57" name="Google Shape;457;p44"/>
          <p:cNvSpPr txBox="1"/>
          <p:nvPr/>
        </p:nvSpPr>
        <p:spPr>
          <a:xfrm>
            <a:off x="9863084" y="2880360"/>
            <a:ext cx="1597091" cy="1737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Raleway Light"/>
              <a:buNone/>
            </a:pPr>
            <a:r>
              <a:rPr b="0" i="0" lang="en-US" spc="0" sz="1400" u="none" cap="none" strike="noStrike">
                <a:solidFill>
                  <a:schemeClr val="dk1"/>
                </a:solidFill>
                <a:latin typeface="Raleway Light"/>
                <a:ea typeface="Raleway Light"/>
                <a:cs typeface="Raleway Light"/>
                <a:sym typeface="Raleway Light"/>
              </a:rPr>
              <a:t>Favourites are saved under My wines in their account. Notes are theirs to keep or share.</a:t>
            </a:r>
            <a:endParaRPr b="0" i="0" spc="0" sz="1400" u="none" cap="none" strike="noStrike">
              <a:solidFill>
                <a:schemeClr val="dk1"/>
              </a:solidFill>
              <a:latin typeface="Raleway Light"/>
              <a:ea typeface="Raleway Light"/>
              <a:cs typeface="Raleway Light"/>
              <a:sym typeface="Raleway Light"/>
            </a:endParaRPr>
          </a:p>
        </p:txBody>
      </p:sp>
      <p:sp>
        <p:nvSpPr>
          <p:cNvPr id="458" name="Google Shape;458;p44"/>
          <p:cNvSpPr txBox="1"/>
          <p:nvPr>
            <p:ph idx="4294967295" type="sldNum"/>
          </p:nvPr>
        </p:nvSpPr>
        <p:spPr>
          <a:xfrm>
            <a:off x="10180015" y="6355080"/>
            <a:ext cx="365760" cy="2743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000"/>
              <a:buNone/>
            </a:pPr>
            <a:fld id="{00000000-1234-1234-1234-123412341234}" type="slidenum">
              <a:rPr b="0" i="0" lang="en-US" sz="1000" u="none" cap="none" strike="noStrike">
                <a:solidFill>
                  <a:schemeClr val="dk1"/>
                </a:solidFill>
                <a:latin typeface="Raleway Light"/>
                <a:ea typeface="Raleway Light"/>
                <a:cs typeface="Raleway Light"/>
                <a:sym typeface="Raleway Light"/>
              </a:rPr>
              <a:t>‹#›</a:t>
            </a:fld>
            <a:endParaRPr b="0" i="0" sz="1000" u="none" cap="none" strike="noStrike">
              <a:solidFill>
                <a:schemeClr val="dk1"/>
              </a:solidFill>
              <a:latin typeface="Raleway Light"/>
              <a:ea typeface="Raleway Light"/>
              <a:cs typeface="Raleway Light"/>
              <a:sym typeface="Raleway Light"/>
            </a:endParaRPr>
          </a:p>
        </p:txBody>
      </p:sp>
      <p:sp>
        <p:nvSpPr>
          <p:cNvPr id="459" name="Google Shape;459;p44"/>
          <p:cNvSpPr/>
          <p:nvPr/>
        </p:nvSpPr>
        <p:spPr>
          <a:xfrm>
            <a:off x="0" y="0"/>
            <a:ext cx="12191700" cy="329100"/>
          </a:xfrm>
          <a:prstGeom prst="rect">
            <a:avLst/>
          </a:prstGeom>
          <a:solidFill>
            <a:srgbClr val="565A32"/>
          </a:solidFill>
          <a:ln cap="flat" cmpd="sng" w="12700">
            <a:solidFill>
              <a:srgbClr val="565A3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45"/>
          <p:cNvSpPr txBox="1"/>
          <p:nvPr>
            <p:ph type="title"/>
          </p:nvPr>
        </p:nvSpPr>
        <p:spPr>
          <a:xfrm>
            <a:off x="548640" y="411480"/>
            <a:ext cx="8138100" cy="685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3600"/>
              <a:buNone/>
            </a:pPr>
            <a:r>
              <a:rPr lang="en-US"/>
              <a:t>Just tasting</a:t>
            </a:r>
            <a:endParaRPr/>
          </a:p>
        </p:txBody>
      </p:sp>
      <p:sp>
        <p:nvSpPr>
          <p:cNvPr id="466" name="Google Shape;466;p45"/>
          <p:cNvSpPr txBox="1"/>
          <p:nvPr>
            <p:ph idx="1" type="body"/>
          </p:nvPr>
        </p:nvSpPr>
        <p:spPr>
          <a:xfrm>
            <a:off x="548640" y="1115568"/>
            <a:ext cx="11094300" cy="411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800"/>
              <a:buNone/>
            </a:pPr>
            <a:r>
              <a:rPr b="0" i="0" lang="en-US" sz="1800" u="none" cap="none" strike="noStrike">
                <a:solidFill>
                  <a:schemeClr val="dk1"/>
                </a:solidFill>
                <a:latin typeface="Raleway Light"/>
                <a:ea typeface="Raleway Light"/>
                <a:cs typeface="Raleway Light"/>
                <a:sym typeface="Raleway Light"/>
              </a:rPr>
              <a:t>Tasting on your own, at your own pace. There are no wrong answers.</a:t>
            </a:r>
            <a:endParaRPr/>
          </a:p>
        </p:txBody>
      </p:sp>
      <p:sp>
        <p:nvSpPr>
          <p:cNvPr id="467" name="Google Shape;467;p45"/>
          <p:cNvSpPr/>
          <p:nvPr/>
        </p:nvSpPr>
        <p:spPr>
          <a:xfrm>
            <a:off x="548640" y="1783080"/>
            <a:ext cx="2633472" cy="2194560"/>
          </a:xfrm>
          <a:prstGeom prst="roundRect">
            <a:avLst>
              <a:gd fmla="val 5217" name="adj"/>
            </a:avLst>
          </a:prstGeom>
          <a:solidFill>
            <a:srgbClr val="FFFFFF"/>
          </a:solidFill>
          <a:ln cap="flat" cmpd="sng" w="12700">
            <a:solidFill>
              <a:srgbClr val="FFFFFF"/>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68" name="Google Shape;468;p45"/>
          <p:cNvSpPr txBox="1"/>
          <p:nvPr/>
        </p:nvSpPr>
        <p:spPr>
          <a:xfrm>
            <a:off x="758952" y="1993392"/>
            <a:ext cx="2212848" cy="1828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65A32"/>
              </a:buClr>
              <a:buSzPts val="1200"/>
              <a:buFont typeface="Raleway SemiBold"/>
              <a:buNone/>
            </a:pPr>
            <a:r>
              <a:rPr b="1" i="0" lang="en-US" spc="0" sz="1200" u="none" cap="none" strike="noStrike">
                <a:solidFill>
                  <a:srgbClr val="565A32"/>
                </a:solidFill>
                <a:latin typeface="Raleway SemiBold"/>
                <a:ea typeface="Raleway SemiBold"/>
                <a:cs typeface="Raleway SemiBold"/>
                <a:sym typeface="Raleway SemiBold"/>
              </a:rPr>
              <a:t>FOUR QUESTIONS</a:t>
            </a:r>
            <a:endParaRPr b="0" i="0" spc="0" sz="1600" u="none" cap="none" strike="noStrike">
              <a:solidFill>
                <a:srgbClr val="565A32"/>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rgbClr val="565A32"/>
              </a:buClr>
              <a:buSzPts val="600"/>
              <a:buFont typeface="Raleway Light"/>
              <a:buNone/>
            </a:pPr>
            <a:r>
              <a:rPr b="0" i="0" lang="en-US" spc="0" sz="600" u="none" cap="none" strike="noStrike">
                <a:solidFill>
                  <a:srgbClr val="565A32"/>
                </a:solidFill>
                <a:latin typeface="Raleway Light"/>
                <a:ea typeface="Raleway Light"/>
                <a:cs typeface="Raleway Light"/>
                <a:sym typeface="Raleway Light"/>
              </a:rPr>
              <a:t> </a:t>
            </a:r>
            <a:endParaRPr b="0" i="0" spc="0" sz="1600" u="none" cap="none" strike="noStrike">
              <a:solidFill>
                <a:srgbClr val="565A32"/>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rgbClr val="565A32"/>
              </a:buClr>
              <a:buSzPts val="1600"/>
              <a:buFont typeface="Raleway Light"/>
              <a:buNone/>
            </a:pPr>
            <a:r>
              <a:rPr b="0" i="0" lang="en-US" spc="0" sz="1600" u="none" cap="none" strike="noStrike">
                <a:solidFill>
                  <a:srgbClr val="565A32"/>
                </a:solidFill>
                <a:latin typeface="Raleway Light"/>
                <a:ea typeface="Raleway Light"/>
                <a:cs typeface="Raleway Light"/>
                <a:sym typeface="Raleway Light"/>
              </a:rPr>
              <a:t>Four guided questions for each wine help you notice what’s in the glass.</a:t>
            </a:r>
            <a:endParaRPr b="0" i="0" spc="0" sz="1600" u="none" cap="none" strike="noStrike">
              <a:solidFill>
                <a:srgbClr val="565A32"/>
              </a:solidFill>
              <a:latin typeface="Raleway Light"/>
              <a:ea typeface="Raleway Light"/>
              <a:cs typeface="Raleway Light"/>
              <a:sym typeface="Raleway Light"/>
            </a:endParaRPr>
          </a:p>
        </p:txBody>
      </p:sp>
      <p:sp>
        <p:nvSpPr>
          <p:cNvPr id="469" name="Google Shape;469;p45"/>
          <p:cNvSpPr/>
          <p:nvPr/>
        </p:nvSpPr>
        <p:spPr>
          <a:xfrm>
            <a:off x="3364992" y="1783080"/>
            <a:ext cx="2633472" cy="2194560"/>
          </a:xfrm>
          <a:prstGeom prst="roundRect">
            <a:avLst>
              <a:gd fmla="val 5217" name="adj"/>
            </a:avLst>
          </a:prstGeom>
          <a:solidFill>
            <a:srgbClr val="FFFFFF"/>
          </a:solidFill>
          <a:ln cap="flat" cmpd="sng" w="12700">
            <a:solidFill>
              <a:srgbClr val="FFFFFF"/>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70" name="Google Shape;470;p45"/>
          <p:cNvSpPr txBox="1"/>
          <p:nvPr/>
        </p:nvSpPr>
        <p:spPr>
          <a:xfrm>
            <a:off x="3575304" y="1993392"/>
            <a:ext cx="2212848" cy="1828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65A32"/>
              </a:buClr>
              <a:buSzPts val="1200"/>
              <a:buFont typeface="Raleway SemiBold"/>
              <a:buNone/>
            </a:pPr>
            <a:r>
              <a:rPr b="1" i="0" lang="en-US" spc="0" sz="1200" u="none" cap="none" strike="noStrike">
                <a:solidFill>
                  <a:srgbClr val="565A32"/>
                </a:solidFill>
                <a:latin typeface="Raleway SemiBold"/>
                <a:ea typeface="Raleway SemiBold"/>
                <a:cs typeface="Raleway SemiBold"/>
                <a:sym typeface="Raleway SemiBold"/>
              </a:rPr>
              <a:t>ONE WINE OR SEVERAL</a:t>
            </a:r>
            <a:endParaRPr b="0" i="0" spc="0" sz="1600" u="none" cap="none" strike="noStrike">
              <a:solidFill>
                <a:srgbClr val="565A32"/>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rgbClr val="565A32"/>
              </a:buClr>
              <a:buSzPts val="600"/>
              <a:buFont typeface="Raleway Light"/>
              <a:buNone/>
            </a:pPr>
            <a:r>
              <a:rPr b="0" i="0" lang="en-US" spc="0" sz="600" u="none" cap="none" strike="noStrike">
                <a:solidFill>
                  <a:srgbClr val="565A32"/>
                </a:solidFill>
                <a:latin typeface="Raleway Light"/>
                <a:ea typeface="Raleway Light"/>
                <a:cs typeface="Raleway Light"/>
                <a:sym typeface="Raleway Light"/>
              </a:rPr>
              <a:t> </a:t>
            </a:r>
            <a:endParaRPr b="0" i="0" spc="0" sz="1600" u="none" cap="none" strike="noStrike">
              <a:solidFill>
                <a:srgbClr val="565A32"/>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rgbClr val="565A32"/>
              </a:buClr>
              <a:buSzPts val="1600"/>
              <a:buFont typeface="Raleway Light"/>
              <a:buNone/>
            </a:pPr>
            <a:r>
              <a:rPr b="0" i="0" lang="en-US" spc="0" sz="1600" u="none" cap="none" strike="noStrike">
                <a:solidFill>
                  <a:srgbClr val="565A32"/>
                </a:solidFill>
                <a:latin typeface="Raleway Light"/>
                <a:ea typeface="Raleway Light"/>
                <a:cs typeface="Raleway Light"/>
                <a:sym typeface="Raleway Light"/>
              </a:rPr>
              <a:t>Taste one wine or a few, side by side. A single glass of each is enough.</a:t>
            </a:r>
            <a:endParaRPr b="0" i="0" spc="0" sz="1600" u="none" cap="none" strike="noStrike">
              <a:solidFill>
                <a:srgbClr val="565A32"/>
              </a:solidFill>
              <a:latin typeface="Raleway Light"/>
              <a:ea typeface="Raleway Light"/>
              <a:cs typeface="Raleway Light"/>
              <a:sym typeface="Raleway Light"/>
            </a:endParaRPr>
          </a:p>
        </p:txBody>
      </p:sp>
      <p:sp>
        <p:nvSpPr>
          <p:cNvPr id="471" name="Google Shape;471;p45"/>
          <p:cNvSpPr/>
          <p:nvPr/>
        </p:nvSpPr>
        <p:spPr>
          <a:xfrm>
            <a:off x="6181344" y="1783080"/>
            <a:ext cx="2633472" cy="2194560"/>
          </a:xfrm>
          <a:prstGeom prst="roundRect">
            <a:avLst>
              <a:gd fmla="val 5217" name="adj"/>
            </a:avLst>
          </a:prstGeom>
          <a:solidFill>
            <a:srgbClr val="FFFFFF"/>
          </a:solidFill>
          <a:ln cap="flat" cmpd="sng" w="12700">
            <a:solidFill>
              <a:srgbClr val="FFFFFF"/>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72" name="Google Shape;472;p45"/>
          <p:cNvSpPr txBox="1"/>
          <p:nvPr/>
        </p:nvSpPr>
        <p:spPr>
          <a:xfrm>
            <a:off x="6391656" y="1993392"/>
            <a:ext cx="2212848" cy="1828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65A32"/>
              </a:buClr>
              <a:buSzPts val="1200"/>
              <a:buFont typeface="Raleway SemiBold"/>
              <a:buNone/>
            </a:pPr>
            <a:r>
              <a:rPr b="1" i="0" lang="en-US" spc="0" sz="1200" u="none" cap="none" strike="noStrike">
                <a:solidFill>
                  <a:srgbClr val="565A32"/>
                </a:solidFill>
                <a:latin typeface="Raleway SemiBold"/>
                <a:ea typeface="Raleway SemiBold"/>
                <a:cs typeface="Raleway SemiBold"/>
                <a:sym typeface="Raleway SemiBold"/>
              </a:rPr>
              <a:t>PHOTOGRAPH THE LABEL</a:t>
            </a:r>
            <a:endParaRPr b="0" i="0" spc="0" sz="1600" u="none" cap="none" strike="noStrike">
              <a:solidFill>
                <a:srgbClr val="565A32"/>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rgbClr val="565A32"/>
              </a:buClr>
              <a:buSzPts val="600"/>
              <a:buFont typeface="Raleway Light"/>
              <a:buNone/>
            </a:pPr>
            <a:r>
              <a:rPr b="0" i="0" lang="en-US" spc="0" sz="600" u="none" cap="none" strike="noStrike">
                <a:solidFill>
                  <a:srgbClr val="565A32"/>
                </a:solidFill>
                <a:latin typeface="Raleway Light"/>
                <a:ea typeface="Raleway Light"/>
                <a:cs typeface="Raleway Light"/>
                <a:sym typeface="Raleway Light"/>
              </a:rPr>
              <a:t> </a:t>
            </a:r>
            <a:endParaRPr b="0" i="0" spc="0" sz="1600" u="none" cap="none" strike="noStrike">
              <a:solidFill>
                <a:srgbClr val="565A32"/>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rgbClr val="565A32"/>
              </a:buClr>
              <a:buSzPts val="1600"/>
              <a:buFont typeface="Raleway Light"/>
              <a:buNone/>
            </a:pPr>
            <a:r>
              <a:rPr b="0" i="0" lang="en-US" spc="0" sz="1600" u="none" cap="none" strike="noStrike">
                <a:solidFill>
                  <a:srgbClr val="565A32"/>
                </a:solidFill>
                <a:latin typeface="Raleway Light"/>
                <a:ea typeface="Raleway Light"/>
                <a:cs typeface="Raleway Light"/>
                <a:sym typeface="Raleway Light"/>
              </a:rPr>
              <a:t>Add a wine from its label. If the app doesn’t know it, it fills in the tasting details itself.</a:t>
            </a:r>
            <a:endParaRPr b="0" i="0" spc="0" sz="1600" u="none" cap="none" strike="noStrike">
              <a:solidFill>
                <a:srgbClr val="565A32"/>
              </a:solidFill>
              <a:latin typeface="Raleway Light"/>
              <a:ea typeface="Raleway Light"/>
              <a:cs typeface="Raleway Light"/>
              <a:sym typeface="Raleway Light"/>
            </a:endParaRPr>
          </a:p>
        </p:txBody>
      </p:sp>
      <p:sp>
        <p:nvSpPr>
          <p:cNvPr id="473" name="Google Shape;473;p45"/>
          <p:cNvSpPr/>
          <p:nvPr/>
        </p:nvSpPr>
        <p:spPr>
          <a:xfrm>
            <a:off x="8997696" y="1783080"/>
            <a:ext cx="2633472" cy="2194560"/>
          </a:xfrm>
          <a:prstGeom prst="roundRect">
            <a:avLst>
              <a:gd fmla="val 5217" name="adj"/>
            </a:avLst>
          </a:prstGeom>
          <a:solidFill>
            <a:srgbClr val="FFFFFF"/>
          </a:solidFill>
          <a:ln cap="flat" cmpd="sng" w="12700">
            <a:solidFill>
              <a:srgbClr val="FFFFFF"/>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74" name="Google Shape;474;p45"/>
          <p:cNvSpPr txBox="1"/>
          <p:nvPr/>
        </p:nvSpPr>
        <p:spPr>
          <a:xfrm>
            <a:off x="9208008" y="1993392"/>
            <a:ext cx="2212848" cy="1828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65A32"/>
              </a:buClr>
              <a:buSzPts val="1200"/>
              <a:buFont typeface="Raleway SemiBold"/>
              <a:buNone/>
            </a:pPr>
            <a:r>
              <a:rPr b="1" i="0" lang="en-US" spc="0" sz="1200" u="none" cap="none" strike="noStrike">
                <a:solidFill>
                  <a:srgbClr val="565A32"/>
                </a:solidFill>
                <a:latin typeface="Raleway SemiBold"/>
                <a:ea typeface="Raleway SemiBold"/>
                <a:cs typeface="Raleway SemiBold"/>
                <a:sym typeface="Raleway SemiBold"/>
              </a:rPr>
              <a:t>KEPT IN MY WINES</a:t>
            </a:r>
            <a:endParaRPr b="0" i="0" spc="0" sz="1600" u="none" cap="none" strike="noStrike">
              <a:solidFill>
                <a:srgbClr val="565A32"/>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rgbClr val="565A32"/>
              </a:buClr>
              <a:buSzPts val="600"/>
              <a:buFont typeface="Raleway Light"/>
              <a:buNone/>
            </a:pPr>
            <a:r>
              <a:rPr b="0" i="0" lang="en-US" spc="0" sz="600" u="none" cap="none" strike="noStrike">
                <a:solidFill>
                  <a:srgbClr val="565A32"/>
                </a:solidFill>
                <a:latin typeface="Raleway Light"/>
                <a:ea typeface="Raleway Light"/>
                <a:cs typeface="Raleway Light"/>
                <a:sym typeface="Raleway Light"/>
              </a:rPr>
              <a:t> </a:t>
            </a:r>
            <a:endParaRPr b="0" i="0" spc="0" sz="1600" u="none" cap="none" strike="noStrike">
              <a:solidFill>
                <a:srgbClr val="565A32"/>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rgbClr val="565A32"/>
              </a:buClr>
              <a:buSzPts val="1600"/>
              <a:buFont typeface="Raleway Light"/>
              <a:buNone/>
            </a:pPr>
            <a:r>
              <a:rPr b="0" i="0" lang="en-US" spc="0" sz="1600" u="none" cap="none" strike="noStrike">
                <a:solidFill>
                  <a:srgbClr val="565A32"/>
                </a:solidFill>
                <a:latin typeface="Raleway Light"/>
                <a:ea typeface="Raleway Light"/>
                <a:cs typeface="Raleway Light"/>
                <a:sym typeface="Raleway Light"/>
              </a:rPr>
              <a:t>Every tasting is saved to My wines, to come back to on any device.</a:t>
            </a:r>
            <a:endParaRPr b="0" i="0" spc="0" sz="1600" u="none" cap="none" strike="noStrike">
              <a:solidFill>
                <a:srgbClr val="565A32"/>
              </a:solidFill>
              <a:latin typeface="Raleway Light"/>
              <a:ea typeface="Raleway Light"/>
              <a:cs typeface="Raleway Light"/>
              <a:sym typeface="Raleway Light"/>
            </a:endParaRPr>
          </a:p>
        </p:txBody>
      </p:sp>
      <p:sp>
        <p:nvSpPr>
          <p:cNvPr id="475" name="Google Shape;475;p45"/>
          <p:cNvSpPr/>
          <p:nvPr/>
        </p:nvSpPr>
        <p:spPr>
          <a:xfrm>
            <a:off x="9262872" y="457200"/>
            <a:ext cx="2377440" cy="384048"/>
          </a:xfrm>
          <a:prstGeom prst="roundRect">
            <a:avLst>
              <a:gd fmla="val 50000" name="adj"/>
            </a:avLst>
          </a:prstGeom>
          <a:solidFill>
            <a:srgbClr val="8B8B5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1" i="0" lang="en-US" spc="0" sz="1400" u="none" cap="none" strike="noStrike">
                <a:solidFill>
                  <a:srgbClr val="FFFFFF"/>
                </a:solidFill>
                <a:latin typeface="Raleway SemiBold"/>
                <a:ea typeface="Raleway SemiBold"/>
                <a:cs typeface="Raleway SemiBold"/>
                <a:sym typeface="Raleway SemiBold"/>
              </a:rPr>
              <a:t>THE APP</a:t>
            </a:r>
            <a:endParaRPr b="0" i="0" spc="0" sz="1400" u="none" cap="none" strike="noStrike">
              <a:solidFill>
                <a:srgbClr val="000000"/>
              </a:solidFill>
              <a:latin typeface="Arial"/>
              <a:ea typeface="Arial"/>
              <a:cs typeface="Arial"/>
              <a:sym typeface="Arial"/>
            </a:endParaRPr>
          </a:p>
        </p:txBody>
      </p:sp>
      <p:pic>
        <p:nvPicPr>
          <p:cNvPr descr="9f872b480314de1a56e327099eda6190.jpg" id="476" name="Google Shape;476;p45"/>
          <p:cNvPicPr preferRelativeResize="0"/>
          <p:nvPr/>
        </p:nvPicPr>
        <p:blipFill rotWithShape="1">
          <a:blip r:embed="rId3">
            <a:alphaModFix/>
          </a:blip>
          <a:srcRect b="0" l="0" r="0" t="0"/>
          <a:stretch/>
        </p:blipFill>
        <p:spPr>
          <a:xfrm>
            <a:off x="548640" y="4114800"/>
            <a:ext cx="914400" cy="1975104"/>
          </a:xfrm>
          <a:prstGeom prst="roundRect">
            <a:avLst>
              <a:gd fmla="val 8000" name="adj"/>
            </a:avLst>
          </a:prstGeom>
          <a:noFill/>
          <a:ln cap="flat" cmpd="sng" w="31750">
            <a:solidFill>
              <a:srgbClr val="2B2926"/>
            </a:solidFill>
            <a:prstDash val="solid"/>
            <a:round/>
            <a:headEnd len="sm" w="sm" type="none"/>
            <a:tailEnd len="sm" w="sm" type="none"/>
          </a:ln>
        </p:spPr>
      </p:pic>
      <p:sp>
        <p:nvSpPr>
          <p:cNvPr id="477" name="Google Shape;477;p45"/>
          <p:cNvSpPr txBox="1"/>
          <p:nvPr/>
        </p:nvSpPr>
        <p:spPr>
          <a:xfrm>
            <a:off x="1645919" y="4343400"/>
            <a:ext cx="2468880" cy="1463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pc="0" sz="1400" u="none" cap="none" strike="noStrike">
                <a:solidFill>
                  <a:srgbClr val="565A32"/>
                </a:solidFill>
                <a:latin typeface="Raleway SemiBold"/>
                <a:ea typeface="Raleway SemiBold"/>
                <a:cs typeface="Raleway SemiBold"/>
                <a:sym typeface="Raleway SemiBold"/>
              </a:rPr>
              <a:t>Start here</a:t>
            </a:r>
            <a:endParaRPr/>
          </a:p>
          <a:p>
            <a:pPr indent="0" lvl="0" marL="0" marR="0" rtl="0" algn="l">
              <a:lnSpc>
                <a:spcPct val="100000"/>
              </a:lnSpc>
              <a:spcBef>
                <a:spcPts val="0"/>
              </a:spcBef>
              <a:spcAft>
                <a:spcPts val="0"/>
              </a:spcAft>
              <a:buNone/>
            </a:pPr>
            <a:r>
              <a:rPr b="0" i="0" lang="en-US" spc="0" sz="1200" u="none" cap="none" strike="noStrike">
                <a:solidFill>
                  <a:srgbClr val="565A32"/>
                </a:solidFill>
                <a:latin typeface="Raleway Light"/>
                <a:ea typeface="Raleway Light"/>
                <a:cs typeface="Raleway Light"/>
                <a:sym typeface="Raleway Light"/>
              </a:rPr>
              <a:t>Just tasting sits on the front door, beside Play with friends and Scan or enter a code.</a:t>
            </a:r>
            <a:endParaRPr/>
          </a:p>
        </p:txBody>
      </p:sp>
      <p:pic>
        <p:nvPicPr>
          <p:cNvPr descr="898e3c624d229bb21af0acfd34ee2ab4.jpg" id="478" name="Google Shape;478;p45"/>
          <p:cNvPicPr preferRelativeResize="0"/>
          <p:nvPr/>
        </p:nvPicPr>
        <p:blipFill rotWithShape="1">
          <a:blip r:embed="rId4">
            <a:alphaModFix/>
          </a:blip>
          <a:srcRect b="0" l="0" r="0" t="0"/>
          <a:stretch/>
        </p:blipFill>
        <p:spPr>
          <a:xfrm>
            <a:off x="4315968" y="4114800"/>
            <a:ext cx="914400" cy="1975104"/>
          </a:xfrm>
          <a:prstGeom prst="roundRect">
            <a:avLst>
              <a:gd fmla="val 8000" name="adj"/>
            </a:avLst>
          </a:prstGeom>
          <a:noFill/>
          <a:ln cap="flat" cmpd="sng" w="31750">
            <a:solidFill>
              <a:srgbClr val="2B2926"/>
            </a:solidFill>
            <a:prstDash val="solid"/>
            <a:round/>
            <a:headEnd len="sm" w="sm" type="none"/>
            <a:tailEnd len="sm" w="sm" type="none"/>
          </a:ln>
        </p:spPr>
      </p:pic>
      <p:sp>
        <p:nvSpPr>
          <p:cNvPr id="479" name="Google Shape;479;p45"/>
          <p:cNvSpPr txBox="1"/>
          <p:nvPr/>
        </p:nvSpPr>
        <p:spPr>
          <a:xfrm>
            <a:off x="5413248" y="4343400"/>
            <a:ext cx="2468880" cy="1463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pc="0" sz="1400" u="none" cap="none" strike="noStrike">
                <a:solidFill>
                  <a:srgbClr val="565A32"/>
                </a:solidFill>
                <a:latin typeface="Raleway SemiBold"/>
                <a:ea typeface="Raleway SemiBold"/>
                <a:cs typeface="Raleway SemiBold"/>
                <a:sym typeface="Raleway SemiBold"/>
              </a:rPr>
              <a:t>Add the wine</a:t>
            </a:r>
            <a:endParaRPr/>
          </a:p>
          <a:p>
            <a:pPr indent="0" lvl="0" marL="0" marR="0" rtl="0" algn="l">
              <a:lnSpc>
                <a:spcPct val="100000"/>
              </a:lnSpc>
              <a:spcBef>
                <a:spcPts val="0"/>
              </a:spcBef>
              <a:spcAft>
                <a:spcPts val="0"/>
              </a:spcAft>
              <a:buNone/>
            </a:pPr>
            <a:r>
              <a:rPr b="0" i="0" lang="en-US" spc="0" sz="1200" u="none" cap="none" strike="noStrike">
                <a:solidFill>
                  <a:srgbClr val="565A32"/>
                </a:solidFill>
                <a:latin typeface="Raleway Light"/>
                <a:ea typeface="Raleway Light"/>
                <a:cs typeface="Raleway Light"/>
                <a:sym typeface="Raleway Light"/>
              </a:rPr>
              <a:t>Photograph the label or type it in, then four guided questions.</a:t>
            </a:r>
            <a:endParaRPr/>
          </a:p>
        </p:txBody>
      </p:sp>
      <p:pic>
        <p:nvPicPr>
          <p:cNvPr descr="ccc371ef8e0b467efd0fb2993402455e.jpg" id="480" name="Google Shape;480;p45"/>
          <p:cNvPicPr preferRelativeResize="0"/>
          <p:nvPr/>
        </p:nvPicPr>
        <p:blipFill rotWithShape="1">
          <a:blip r:embed="rId5">
            <a:alphaModFix/>
          </a:blip>
          <a:srcRect b="0" l="0" r="0" t="0"/>
          <a:stretch/>
        </p:blipFill>
        <p:spPr>
          <a:xfrm>
            <a:off x="8083296" y="4114800"/>
            <a:ext cx="914400" cy="1975104"/>
          </a:xfrm>
          <a:prstGeom prst="roundRect">
            <a:avLst>
              <a:gd fmla="val 8000" name="adj"/>
            </a:avLst>
          </a:prstGeom>
          <a:noFill/>
          <a:ln cap="flat" cmpd="sng" w="31750">
            <a:solidFill>
              <a:srgbClr val="2B2926"/>
            </a:solidFill>
            <a:prstDash val="solid"/>
            <a:round/>
            <a:headEnd len="sm" w="sm" type="none"/>
            <a:tailEnd len="sm" w="sm" type="none"/>
          </a:ln>
        </p:spPr>
      </p:pic>
      <p:sp>
        <p:nvSpPr>
          <p:cNvPr id="481" name="Google Shape;481;p45"/>
          <p:cNvSpPr txBox="1"/>
          <p:nvPr/>
        </p:nvSpPr>
        <p:spPr>
          <a:xfrm>
            <a:off x="9180576" y="4343400"/>
            <a:ext cx="2468880" cy="1463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pc="0" sz="1400" u="none" cap="none" strike="noStrike">
                <a:solidFill>
                  <a:srgbClr val="565A32"/>
                </a:solidFill>
                <a:latin typeface="Raleway SemiBold"/>
                <a:ea typeface="Raleway SemiBold"/>
                <a:cs typeface="Raleway SemiBold"/>
                <a:sym typeface="Raleway SemiBold"/>
              </a:rPr>
              <a:t>Kept in My wines</a:t>
            </a:r>
            <a:endParaRPr/>
          </a:p>
          <a:p>
            <a:pPr indent="0" lvl="0" marL="0" marR="0" rtl="0" algn="l">
              <a:lnSpc>
                <a:spcPct val="100000"/>
              </a:lnSpc>
              <a:spcBef>
                <a:spcPts val="0"/>
              </a:spcBef>
              <a:spcAft>
                <a:spcPts val="0"/>
              </a:spcAft>
              <a:buNone/>
            </a:pPr>
            <a:r>
              <a:rPr b="0" i="0" lang="en-US" spc="0" sz="1200" u="none" cap="none" strike="noStrike">
                <a:solidFill>
                  <a:srgbClr val="565A32"/>
                </a:solidFill>
                <a:latin typeface="Raleway Light"/>
                <a:ea typeface="Raleway Light"/>
                <a:cs typeface="Raleway Light"/>
                <a:sym typeface="Raleway Light"/>
              </a:rPr>
              <a:t>Each tasting is saved, to come back to on any device.</a:t>
            </a:r>
            <a:endParaRPr/>
          </a:p>
        </p:txBody>
      </p:sp>
      <p:sp>
        <p:nvSpPr>
          <p:cNvPr id="482" name="Google Shape;482;p45"/>
          <p:cNvSpPr/>
          <p:nvPr/>
        </p:nvSpPr>
        <p:spPr>
          <a:xfrm>
            <a:off x="0" y="0"/>
            <a:ext cx="12191700" cy="329100"/>
          </a:xfrm>
          <a:prstGeom prst="rect">
            <a:avLst/>
          </a:prstGeom>
          <a:solidFill>
            <a:srgbClr val="565A32"/>
          </a:solidFill>
          <a:ln cap="flat" cmpd="sng" w="12700">
            <a:solidFill>
              <a:srgbClr val="565A3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
        <p:nvSpPr>
          <p:cNvPr id="483" name="Slide number"/>
          <p:cNvSpPr txBox="1"/>
          <p:nvPr>
            <p:ph idx="4294967295" type="sldNum"/>
          </p:nvPr>
        </p:nvSpPr>
        <p:spPr>
          <a:xfrm>
            <a:off x="10180015" y="6355080"/>
            <a:ext cx="365760" cy="2743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000"/>
              <a:buNone/>
            </a:pPr>
            <a:fld id="{00000000-1234-1234-1234-123412341234}" type="slidenum">
              <a:rPr b="0" i="0" lang="en-US" sz="1000" u="none" cap="none" strike="noStrike">
                <a:solidFill>
                  <a:schemeClr val="dk1"/>
                </a:solidFill>
                <a:latin typeface="Raleway Light"/>
                <a:ea typeface="Raleway Light"/>
                <a:cs typeface="Raleway Light"/>
                <a:sym typeface="Raleway Light"/>
              </a:rPr>
              <a:t>‹#›</a:t>
            </a:fld>
            <a:endParaRPr b="0" i="0" sz="1000" u="none" cap="none" strike="noStrike">
              <a:solidFill>
                <a:schemeClr val="dk1"/>
              </a:solidFill>
              <a:latin typeface="Raleway Light"/>
              <a:ea typeface="Raleway Light"/>
              <a:cs typeface="Raleway Light"/>
              <a:sym typeface="Raleway Ligh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46"/>
          <p:cNvSpPr txBox="1"/>
          <p:nvPr>
            <p:ph type="title"/>
          </p:nvPr>
        </p:nvSpPr>
        <p:spPr>
          <a:xfrm>
            <a:off x="548640" y="411480"/>
            <a:ext cx="8138100" cy="68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3600"/>
              <a:buFont typeface="Raleway Light"/>
              <a:buNone/>
            </a:pPr>
            <a:r>
              <a:rPr lang="en-US" sz="3600">
                <a:solidFill>
                  <a:schemeClr val="dk1"/>
                </a:solidFill>
                <a:latin typeface="Raleway Light"/>
                <a:ea typeface="Raleway Light"/>
                <a:cs typeface="Raleway Light"/>
                <a:sym typeface="Raleway Light"/>
              </a:rPr>
              <a:t>The visitor journey</a:t>
            </a:r>
            <a:endParaRPr sz="3600"/>
          </a:p>
        </p:txBody>
      </p:sp>
      <p:sp>
        <p:nvSpPr>
          <p:cNvPr id="489" name="Google Shape;489;p46"/>
          <p:cNvSpPr txBox="1"/>
          <p:nvPr>
            <p:ph idx="1" type="body"/>
          </p:nvPr>
        </p:nvSpPr>
        <p:spPr>
          <a:xfrm>
            <a:off x="548640" y="1115568"/>
            <a:ext cx="11094300" cy="4116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800"/>
              <a:buNone/>
            </a:pPr>
            <a:r>
              <a:rPr lang="en-US" sz="1800">
                <a:solidFill>
                  <a:schemeClr val="dk1"/>
                </a:solidFill>
                <a:latin typeface="Raleway Light"/>
                <a:ea typeface="Raleway Light"/>
                <a:cs typeface="Raleway Light"/>
                <a:sym typeface="Raleway Light"/>
              </a:rPr>
              <a:t>Designed around what actually happens at a discovery day.</a:t>
            </a:r>
            <a:endParaRPr sz="1800"/>
          </a:p>
        </p:txBody>
      </p:sp>
      <p:sp>
        <p:nvSpPr>
          <p:cNvPr id="490" name="Google Shape;490;p46"/>
          <p:cNvSpPr/>
          <p:nvPr/>
        </p:nvSpPr>
        <p:spPr>
          <a:xfrm>
            <a:off x="9265615" y="457200"/>
            <a:ext cx="2377500" cy="384000"/>
          </a:xfrm>
          <a:prstGeom prst="roundRect">
            <a:avLst>
              <a:gd fmla="val 50000" name="adj"/>
            </a:avLst>
          </a:prstGeom>
          <a:solidFill>
            <a:schemeClr val="accent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1400"/>
              <a:buFont typeface="Raleway SemiBold"/>
              <a:buNone/>
            </a:pPr>
            <a:r>
              <a:rPr b="1" i="0" lang="en-US" spc="0" sz="1400" u="none" cap="none" strike="noStrike">
                <a:solidFill>
                  <a:schemeClr val="dk1"/>
                </a:solidFill>
                <a:latin typeface="Raleway SemiBold"/>
                <a:ea typeface="Raleway SemiBold"/>
                <a:cs typeface="Raleway SemiBold"/>
                <a:sym typeface="Raleway SemiBold"/>
              </a:rPr>
              <a:t>EVENT MODE</a:t>
            </a:r>
            <a:endParaRPr b="0" i="0" spc="0" sz="1400" u="none" cap="none" strike="noStrike">
              <a:solidFill>
                <a:schemeClr val="dk1"/>
              </a:solidFill>
              <a:latin typeface="Raleway Light"/>
              <a:ea typeface="Raleway Light"/>
              <a:cs typeface="Raleway Light"/>
              <a:sym typeface="Raleway Light"/>
            </a:endParaRPr>
          </a:p>
        </p:txBody>
      </p:sp>
      <p:sp>
        <p:nvSpPr>
          <p:cNvPr id="491" name="Google Shape;491;p46"/>
          <p:cNvSpPr/>
          <p:nvPr/>
        </p:nvSpPr>
        <p:spPr>
          <a:xfrm>
            <a:off x="548640" y="1828800"/>
            <a:ext cx="1334100" cy="685800"/>
          </a:xfrm>
          <a:prstGeom prst="roundRect">
            <a:avLst>
              <a:gd fmla="val 49333" name="adj"/>
            </a:avLst>
          </a:prstGeom>
          <a:solidFill>
            <a:schemeClr val="dk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2"/>
              </a:buClr>
              <a:buSzPts val="1500"/>
              <a:buFont typeface="Raleway SemiBold"/>
              <a:buNone/>
            </a:pPr>
            <a:r>
              <a:rPr b="1" i="0" lang="en-US" spc="0" sz="1500" u="none" cap="none" strike="noStrike">
                <a:solidFill>
                  <a:schemeClr val="lt2"/>
                </a:solidFill>
                <a:latin typeface="Raleway SemiBold"/>
                <a:ea typeface="Raleway SemiBold"/>
                <a:cs typeface="Raleway SemiBold"/>
                <a:sym typeface="Raleway SemiBold"/>
              </a:rPr>
              <a:t>Arrive</a:t>
            </a:r>
            <a:endParaRPr b="0" i="0" spc="0" sz="1500" u="none" cap="none" strike="noStrike">
              <a:solidFill>
                <a:schemeClr val="dk1"/>
              </a:solidFill>
              <a:latin typeface="Raleway Light"/>
              <a:ea typeface="Raleway Light"/>
              <a:cs typeface="Raleway Light"/>
              <a:sym typeface="Raleway Light"/>
            </a:endParaRPr>
          </a:p>
        </p:txBody>
      </p:sp>
      <p:sp>
        <p:nvSpPr>
          <p:cNvPr id="492" name="Google Shape;492;p46"/>
          <p:cNvSpPr/>
          <p:nvPr/>
        </p:nvSpPr>
        <p:spPr>
          <a:xfrm>
            <a:off x="1937614" y="2075688"/>
            <a:ext cx="183000" cy="183000"/>
          </a:xfrm>
          <a:prstGeom prst="rightArrow">
            <a:avLst>
              <a:gd fmla="val 50000" name="adj1"/>
              <a:gd fmla="val 50000" name="adj2"/>
            </a:avLst>
          </a:prstGeom>
          <a:solidFill>
            <a:schemeClr val="accent2"/>
          </a:solidFill>
          <a:ln cap="flat" cmpd="sng" w="127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93" name="Google Shape;493;p46"/>
          <p:cNvSpPr/>
          <p:nvPr/>
        </p:nvSpPr>
        <p:spPr>
          <a:xfrm>
            <a:off x="2175358" y="1828800"/>
            <a:ext cx="1334100" cy="685800"/>
          </a:xfrm>
          <a:prstGeom prst="roundRect">
            <a:avLst>
              <a:gd fmla="val 49333" name="adj"/>
            </a:avLst>
          </a:prstGeom>
          <a:solidFill>
            <a:schemeClr val="dk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2"/>
              </a:buClr>
              <a:buSzPts val="1500"/>
              <a:buFont typeface="Raleway SemiBold"/>
              <a:buNone/>
            </a:pPr>
            <a:r>
              <a:rPr b="1" i="0" lang="en-US" spc="0" sz="1500" u="none" cap="none" strike="noStrike">
                <a:solidFill>
                  <a:schemeClr val="lt2"/>
                </a:solidFill>
                <a:latin typeface="Raleway SemiBold"/>
                <a:ea typeface="Raleway SemiBold"/>
                <a:cs typeface="Raleway SemiBold"/>
                <a:sym typeface="Raleway SemiBold"/>
              </a:rPr>
              <a:t>Explore</a:t>
            </a:r>
            <a:endParaRPr b="0" i="0" spc="0" sz="1500" u="none" cap="none" strike="noStrike">
              <a:solidFill>
                <a:schemeClr val="dk1"/>
              </a:solidFill>
              <a:latin typeface="Raleway Light"/>
              <a:ea typeface="Raleway Light"/>
              <a:cs typeface="Raleway Light"/>
              <a:sym typeface="Raleway Light"/>
            </a:endParaRPr>
          </a:p>
        </p:txBody>
      </p:sp>
      <p:sp>
        <p:nvSpPr>
          <p:cNvPr id="494" name="Google Shape;494;p46"/>
          <p:cNvSpPr/>
          <p:nvPr/>
        </p:nvSpPr>
        <p:spPr>
          <a:xfrm>
            <a:off x="3564331" y="2075688"/>
            <a:ext cx="183000" cy="183000"/>
          </a:xfrm>
          <a:prstGeom prst="rightArrow">
            <a:avLst>
              <a:gd fmla="val 50000" name="adj1"/>
              <a:gd fmla="val 50000" name="adj2"/>
            </a:avLst>
          </a:prstGeom>
          <a:solidFill>
            <a:schemeClr val="accent2"/>
          </a:solidFill>
          <a:ln cap="flat" cmpd="sng" w="127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95" name="Google Shape;495;p46"/>
          <p:cNvSpPr/>
          <p:nvPr/>
        </p:nvSpPr>
        <p:spPr>
          <a:xfrm>
            <a:off x="3802075" y="1828800"/>
            <a:ext cx="1334100" cy="685800"/>
          </a:xfrm>
          <a:prstGeom prst="roundRect">
            <a:avLst>
              <a:gd fmla="val 49333" name="adj"/>
            </a:avLst>
          </a:prstGeom>
          <a:solidFill>
            <a:schemeClr val="dk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2"/>
              </a:buClr>
              <a:buSzPts val="1500"/>
              <a:buFont typeface="Raleway SemiBold"/>
              <a:buNone/>
            </a:pPr>
            <a:r>
              <a:rPr b="1" i="0" lang="en-US" spc="0" sz="1500" u="none" cap="none" strike="noStrike">
                <a:solidFill>
                  <a:schemeClr val="lt2"/>
                </a:solidFill>
                <a:latin typeface="Raleway SemiBold"/>
                <a:ea typeface="Raleway SemiBold"/>
                <a:cs typeface="Raleway SemiBold"/>
                <a:sym typeface="Raleway SemiBold"/>
              </a:rPr>
              <a:t>Taste</a:t>
            </a:r>
            <a:endParaRPr b="0" i="0" spc="0" sz="1500" u="none" cap="none" strike="noStrike">
              <a:solidFill>
                <a:schemeClr val="dk1"/>
              </a:solidFill>
              <a:latin typeface="Raleway Light"/>
              <a:ea typeface="Raleway Light"/>
              <a:cs typeface="Raleway Light"/>
              <a:sym typeface="Raleway Light"/>
            </a:endParaRPr>
          </a:p>
        </p:txBody>
      </p:sp>
      <p:sp>
        <p:nvSpPr>
          <p:cNvPr id="496" name="Google Shape;496;p46"/>
          <p:cNvSpPr/>
          <p:nvPr/>
        </p:nvSpPr>
        <p:spPr>
          <a:xfrm>
            <a:off x="5191049" y="2075688"/>
            <a:ext cx="183000" cy="183000"/>
          </a:xfrm>
          <a:prstGeom prst="rightArrow">
            <a:avLst>
              <a:gd fmla="val 50000" name="adj1"/>
              <a:gd fmla="val 50000" name="adj2"/>
            </a:avLst>
          </a:prstGeom>
          <a:solidFill>
            <a:schemeClr val="accent2"/>
          </a:solidFill>
          <a:ln cap="flat" cmpd="sng" w="127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97" name="Google Shape;497;p46"/>
          <p:cNvSpPr/>
          <p:nvPr/>
        </p:nvSpPr>
        <p:spPr>
          <a:xfrm>
            <a:off x="5428793" y="1828800"/>
            <a:ext cx="1334100" cy="685800"/>
          </a:xfrm>
          <a:prstGeom prst="roundRect">
            <a:avLst>
              <a:gd fmla="val 49333" name="adj"/>
            </a:avLst>
          </a:prstGeom>
          <a:solidFill>
            <a:schemeClr val="dk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2"/>
              </a:buClr>
              <a:buSzPts val="1500"/>
              <a:buFont typeface="Raleway SemiBold"/>
              <a:buNone/>
            </a:pPr>
            <a:r>
              <a:rPr b="1" i="0" lang="en-US" spc="0" sz="1500" u="none" cap="none" strike="noStrike">
                <a:solidFill>
                  <a:schemeClr val="lt2"/>
                </a:solidFill>
                <a:latin typeface="Raleway SemiBold"/>
                <a:ea typeface="Raleway SemiBold"/>
                <a:cs typeface="Raleway SemiBold"/>
                <a:sym typeface="Raleway SemiBold"/>
              </a:rPr>
              <a:t>Sit and talk</a:t>
            </a:r>
            <a:endParaRPr b="0" i="0" spc="0" sz="1500" u="none" cap="none" strike="noStrike">
              <a:solidFill>
                <a:schemeClr val="dk1"/>
              </a:solidFill>
              <a:latin typeface="Raleway Light"/>
              <a:ea typeface="Raleway Light"/>
              <a:cs typeface="Raleway Light"/>
              <a:sym typeface="Raleway Light"/>
            </a:endParaRPr>
          </a:p>
        </p:txBody>
      </p:sp>
      <p:sp>
        <p:nvSpPr>
          <p:cNvPr id="498" name="Google Shape;498;p46"/>
          <p:cNvSpPr/>
          <p:nvPr/>
        </p:nvSpPr>
        <p:spPr>
          <a:xfrm>
            <a:off x="6817766" y="2075688"/>
            <a:ext cx="183000" cy="183000"/>
          </a:xfrm>
          <a:prstGeom prst="rightArrow">
            <a:avLst>
              <a:gd fmla="val 50000" name="adj1"/>
              <a:gd fmla="val 50000" name="adj2"/>
            </a:avLst>
          </a:prstGeom>
          <a:solidFill>
            <a:schemeClr val="accent2"/>
          </a:solidFill>
          <a:ln cap="flat" cmpd="sng" w="127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499" name="Google Shape;499;p46"/>
          <p:cNvSpPr/>
          <p:nvPr/>
        </p:nvSpPr>
        <p:spPr>
          <a:xfrm>
            <a:off x="7055510" y="1828800"/>
            <a:ext cx="1334100" cy="685800"/>
          </a:xfrm>
          <a:prstGeom prst="roundRect">
            <a:avLst>
              <a:gd fmla="val 49333" name="adj"/>
            </a:avLst>
          </a:prstGeom>
          <a:solidFill>
            <a:schemeClr val="dk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2"/>
              </a:buClr>
              <a:buSzPts val="1500"/>
              <a:buFont typeface="Raleway SemiBold"/>
              <a:buNone/>
            </a:pPr>
            <a:r>
              <a:rPr b="1" i="0" lang="en-US" spc="0" sz="1500" u="none" cap="none" strike="noStrike">
                <a:solidFill>
                  <a:schemeClr val="lt2"/>
                </a:solidFill>
                <a:latin typeface="Raleway SemiBold"/>
                <a:ea typeface="Raleway SemiBold"/>
                <a:cs typeface="Raleway SemiBold"/>
                <a:sym typeface="Raleway SemiBold"/>
              </a:rPr>
              <a:t>Save</a:t>
            </a:r>
            <a:endParaRPr b="0" i="0" spc="0" sz="1500" u="none" cap="none" strike="noStrike">
              <a:solidFill>
                <a:schemeClr val="dk1"/>
              </a:solidFill>
              <a:latin typeface="Raleway Light"/>
              <a:ea typeface="Raleway Light"/>
              <a:cs typeface="Raleway Light"/>
              <a:sym typeface="Raleway Light"/>
            </a:endParaRPr>
          </a:p>
        </p:txBody>
      </p:sp>
      <p:sp>
        <p:nvSpPr>
          <p:cNvPr id="500" name="Google Shape;500;p46"/>
          <p:cNvSpPr/>
          <p:nvPr/>
        </p:nvSpPr>
        <p:spPr>
          <a:xfrm>
            <a:off x="8444484" y="2075688"/>
            <a:ext cx="183000" cy="183000"/>
          </a:xfrm>
          <a:prstGeom prst="rightArrow">
            <a:avLst>
              <a:gd fmla="val 50000" name="adj1"/>
              <a:gd fmla="val 50000" name="adj2"/>
            </a:avLst>
          </a:prstGeom>
          <a:solidFill>
            <a:schemeClr val="accent2"/>
          </a:solidFill>
          <a:ln cap="flat" cmpd="sng" w="127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01" name="Google Shape;501;p46"/>
          <p:cNvSpPr/>
          <p:nvPr/>
        </p:nvSpPr>
        <p:spPr>
          <a:xfrm>
            <a:off x="8682228" y="1828800"/>
            <a:ext cx="1334100" cy="685800"/>
          </a:xfrm>
          <a:prstGeom prst="roundRect">
            <a:avLst>
              <a:gd fmla="val 49333" name="adj"/>
            </a:avLst>
          </a:prstGeom>
          <a:solidFill>
            <a:schemeClr val="dk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2"/>
              </a:buClr>
              <a:buSzPts val="1500"/>
              <a:buFont typeface="Raleway SemiBold"/>
              <a:buNone/>
            </a:pPr>
            <a:r>
              <a:rPr b="1" i="0" lang="en-US" spc="0" sz="1500" u="none" cap="none" strike="noStrike">
                <a:solidFill>
                  <a:schemeClr val="lt2"/>
                </a:solidFill>
                <a:latin typeface="Raleway SemiBold"/>
                <a:ea typeface="Raleway SemiBold"/>
                <a:cs typeface="Raleway SemiBold"/>
                <a:sym typeface="Raleway SemiBold"/>
              </a:rPr>
              <a:t>Crown</a:t>
            </a:r>
            <a:endParaRPr b="0" i="0" spc="0" sz="1500" u="none" cap="none" strike="noStrike">
              <a:solidFill>
                <a:schemeClr val="dk1"/>
              </a:solidFill>
              <a:latin typeface="Raleway Light"/>
              <a:ea typeface="Raleway Light"/>
              <a:cs typeface="Raleway Light"/>
              <a:sym typeface="Raleway Light"/>
            </a:endParaRPr>
          </a:p>
        </p:txBody>
      </p:sp>
      <p:sp>
        <p:nvSpPr>
          <p:cNvPr id="502" name="Google Shape;502;p46"/>
          <p:cNvSpPr/>
          <p:nvPr/>
        </p:nvSpPr>
        <p:spPr>
          <a:xfrm>
            <a:off x="10071202" y="2075688"/>
            <a:ext cx="183000" cy="183000"/>
          </a:xfrm>
          <a:prstGeom prst="rightArrow">
            <a:avLst>
              <a:gd fmla="val 50000" name="adj1"/>
              <a:gd fmla="val 50000" name="adj2"/>
            </a:avLst>
          </a:prstGeom>
          <a:solidFill>
            <a:schemeClr val="accent2"/>
          </a:solidFill>
          <a:ln cap="flat" cmpd="sng" w="127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03" name="Google Shape;503;p46"/>
          <p:cNvSpPr/>
          <p:nvPr/>
        </p:nvSpPr>
        <p:spPr>
          <a:xfrm>
            <a:off x="10308946" y="1828800"/>
            <a:ext cx="1334100" cy="685800"/>
          </a:xfrm>
          <a:prstGeom prst="roundRect">
            <a:avLst>
              <a:gd fmla="val 49333" name="adj"/>
            </a:avLst>
          </a:prstGeom>
          <a:solidFill>
            <a:schemeClr val="dk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2"/>
              </a:buClr>
              <a:buSzPts val="1500"/>
              <a:buFont typeface="Raleway SemiBold"/>
              <a:buNone/>
            </a:pPr>
            <a:r>
              <a:rPr b="1" i="0" lang="en-US" spc="0" sz="1500" u="none" cap="none" strike="noStrike">
                <a:solidFill>
                  <a:schemeClr val="lt2"/>
                </a:solidFill>
                <a:latin typeface="Raleway SemiBold"/>
                <a:ea typeface="Raleway SemiBold"/>
                <a:cs typeface="Raleway SemiBold"/>
                <a:sym typeface="Raleway SemiBold"/>
              </a:rPr>
              <a:t>Revisit</a:t>
            </a:r>
            <a:endParaRPr b="0" i="0" spc="0" sz="1500" u="none" cap="none" strike="noStrike">
              <a:solidFill>
                <a:schemeClr val="dk1"/>
              </a:solidFill>
              <a:latin typeface="Raleway Light"/>
              <a:ea typeface="Raleway Light"/>
              <a:cs typeface="Raleway Light"/>
              <a:sym typeface="Raleway Light"/>
            </a:endParaRPr>
          </a:p>
        </p:txBody>
      </p:sp>
      <p:sp>
        <p:nvSpPr>
          <p:cNvPr id="504" name="Google Shape;504;p46"/>
          <p:cNvSpPr txBox="1"/>
          <p:nvPr>
            <p:ph idx="4294967295" type="sldNum"/>
          </p:nvPr>
        </p:nvSpPr>
        <p:spPr>
          <a:xfrm>
            <a:off x="10180015" y="6355080"/>
            <a:ext cx="365700" cy="274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000"/>
              <a:buNone/>
            </a:pPr>
            <a:fld id="{00000000-1234-1234-1234-123412341234}" type="slidenum">
              <a:rPr b="0" i="0" lang="en-US" sz="1000" u="none" cap="none" strike="noStrike">
                <a:solidFill>
                  <a:schemeClr val="dk1"/>
                </a:solidFill>
                <a:latin typeface="Raleway Light"/>
                <a:ea typeface="Raleway Light"/>
                <a:cs typeface="Raleway Light"/>
                <a:sym typeface="Raleway Light"/>
              </a:rPr>
              <a:t>‹#›</a:t>
            </a:fld>
            <a:endParaRPr b="0" i="0" sz="1000" u="none" cap="none" strike="noStrike">
              <a:solidFill>
                <a:schemeClr val="dk1"/>
              </a:solidFill>
              <a:latin typeface="Raleway Light"/>
              <a:ea typeface="Raleway Light"/>
              <a:cs typeface="Raleway Light"/>
              <a:sym typeface="Raleway Light"/>
            </a:endParaRPr>
          </a:p>
        </p:txBody>
      </p:sp>
      <p:pic>
        <p:nvPicPr>
          <p:cNvPr descr="fdcf541711f83b4c332ddc303a475bc3.jpg" id="505" name="Google Shape;505;p46"/>
          <p:cNvPicPr preferRelativeResize="0"/>
          <p:nvPr/>
        </p:nvPicPr>
        <p:blipFill rotWithShape="1">
          <a:blip r:embed="rId3">
            <a:alphaModFix/>
          </a:blip>
          <a:srcRect b="0" l="0" r="0" t="0"/>
          <a:stretch/>
        </p:blipFill>
        <p:spPr>
          <a:xfrm>
            <a:off x="667512" y="2697480"/>
            <a:ext cx="1097280" cy="2377440"/>
          </a:xfrm>
          <a:prstGeom prst="roundRect">
            <a:avLst>
              <a:gd fmla="val 8000" name="adj"/>
            </a:avLst>
          </a:prstGeom>
          <a:noFill/>
          <a:ln cap="flat" cmpd="sng" w="31750">
            <a:solidFill>
              <a:srgbClr val="2B2926"/>
            </a:solidFill>
            <a:prstDash val="solid"/>
            <a:round/>
            <a:headEnd len="sm" w="sm" type="none"/>
            <a:tailEnd len="sm" w="sm" type="none"/>
          </a:ln>
        </p:spPr>
      </p:pic>
      <p:pic>
        <p:nvPicPr>
          <p:cNvPr descr="a6dca438a1655041bdf6801d8c176199.jpg" id="506" name="Google Shape;506;p46"/>
          <p:cNvPicPr preferRelativeResize="0"/>
          <p:nvPr/>
        </p:nvPicPr>
        <p:blipFill rotWithShape="1">
          <a:blip r:embed="rId4">
            <a:alphaModFix/>
          </a:blip>
          <a:srcRect b="0" l="0" r="0" t="0"/>
          <a:stretch/>
        </p:blipFill>
        <p:spPr>
          <a:xfrm>
            <a:off x="2293315" y="2697480"/>
            <a:ext cx="1097280" cy="2377440"/>
          </a:xfrm>
          <a:prstGeom prst="roundRect">
            <a:avLst>
              <a:gd fmla="val 8000" name="adj"/>
            </a:avLst>
          </a:prstGeom>
          <a:noFill/>
          <a:ln cap="flat" cmpd="sng" w="31750">
            <a:solidFill>
              <a:srgbClr val="2B2926"/>
            </a:solidFill>
            <a:prstDash val="solid"/>
            <a:round/>
            <a:headEnd len="sm" w="sm" type="none"/>
            <a:tailEnd len="sm" w="sm" type="none"/>
          </a:ln>
        </p:spPr>
      </p:pic>
      <p:pic>
        <p:nvPicPr>
          <p:cNvPr descr="ace7d86a644641b705aca465e362d82c.jpg" id="507" name="Google Shape;507;p46"/>
          <p:cNvPicPr preferRelativeResize="0"/>
          <p:nvPr/>
        </p:nvPicPr>
        <p:blipFill rotWithShape="1">
          <a:blip r:embed="rId5">
            <a:alphaModFix/>
          </a:blip>
          <a:srcRect b="0" l="0" r="0" t="0"/>
          <a:stretch/>
        </p:blipFill>
        <p:spPr>
          <a:xfrm>
            <a:off x="3919118" y="2697480"/>
            <a:ext cx="1097280" cy="2377440"/>
          </a:xfrm>
          <a:prstGeom prst="roundRect">
            <a:avLst>
              <a:gd fmla="val 8000" name="adj"/>
            </a:avLst>
          </a:prstGeom>
          <a:noFill/>
          <a:ln cap="flat" cmpd="sng" w="31750">
            <a:solidFill>
              <a:srgbClr val="2B2926"/>
            </a:solidFill>
            <a:prstDash val="solid"/>
            <a:round/>
            <a:headEnd len="sm" w="sm" type="none"/>
            <a:tailEnd len="sm" w="sm" type="none"/>
          </a:ln>
        </p:spPr>
      </p:pic>
      <p:pic>
        <p:nvPicPr>
          <p:cNvPr descr="79807af09c4ecbf571e283fac76d00ba.jpg" id="508" name="Google Shape;508;p46"/>
          <p:cNvPicPr preferRelativeResize="0"/>
          <p:nvPr/>
        </p:nvPicPr>
        <p:blipFill rotWithShape="1">
          <a:blip r:embed="rId6">
            <a:alphaModFix/>
          </a:blip>
          <a:srcRect b="0" l="0" r="0" t="0"/>
          <a:stretch/>
        </p:blipFill>
        <p:spPr>
          <a:xfrm>
            <a:off x="5544921" y="2697480"/>
            <a:ext cx="1097280" cy="2377440"/>
          </a:xfrm>
          <a:prstGeom prst="roundRect">
            <a:avLst>
              <a:gd fmla="val 8000" name="adj"/>
            </a:avLst>
          </a:prstGeom>
          <a:noFill/>
          <a:ln cap="flat" cmpd="sng" w="31750">
            <a:solidFill>
              <a:srgbClr val="2B2926"/>
            </a:solidFill>
            <a:prstDash val="solid"/>
            <a:round/>
            <a:headEnd len="sm" w="sm" type="none"/>
            <a:tailEnd len="sm" w="sm" type="none"/>
          </a:ln>
        </p:spPr>
      </p:pic>
      <p:pic>
        <p:nvPicPr>
          <p:cNvPr descr="271b9c778efc897fb10575453f13ddfc.jpg" id="509" name="Google Shape;509;p46"/>
          <p:cNvPicPr preferRelativeResize="0"/>
          <p:nvPr/>
        </p:nvPicPr>
        <p:blipFill rotWithShape="1">
          <a:blip r:embed="rId7">
            <a:alphaModFix/>
          </a:blip>
          <a:srcRect b="0" l="0" r="0" t="0"/>
          <a:stretch/>
        </p:blipFill>
        <p:spPr>
          <a:xfrm>
            <a:off x="8796528" y="2697480"/>
            <a:ext cx="1097280" cy="2377440"/>
          </a:xfrm>
          <a:prstGeom prst="roundRect">
            <a:avLst>
              <a:gd fmla="val 8000" name="adj"/>
            </a:avLst>
          </a:prstGeom>
          <a:noFill/>
          <a:ln cap="flat" cmpd="sng" w="31750">
            <a:solidFill>
              <a:srgbClr val="2B2926"/>
            </a:solidFill>
            <a:prstDash val="solid"/>
            <a:round/>
            <a:headEnd len="sm" w="sm" type="none"/>
            <a:tailEnd len="sm" w="sm" type="none"/>
          </a:ln>
        </p:spPr>
      </p:pic>
      <p:pic>
        <p:nvPicPr>
          <p:cNvPr descr="ccc371ef8e0b467efd0fb2993402455e.jpg" id="510" name="Google Shape;510;p46"/>
          <p:cNvPicPr preferRelativeResize="0"/>
          <p:nvPr/>
        </p:nvPicPr>
        <p:blipFill rotWithShape="1">
          <a:blip r:embed="rId8">
            <a:alphaModFix/>
          </a:blip>
          <a:srcRect b="0" l="0" r="0" t="0"/>
          <a:stretch/>
        </p:blipFill>
        <p:spPr>
          <a:xfrm>
            <a:off x="10422331" y="2697480"/>
            <a:ext cx="1097280" cy="2377440"/>
          </a:xfrm>
          <a:prstGeom prst="roundRect">
            <a:avLst>
              <a:gd fmla="val 8000" name="adj"/>
            </a:avLst>
          </a:prstGeom>
          <a:noFill/>
          <a:ln cap="flat" cmpd="sng" w="31750">
            <a:solidFill>
              <a:srgbClr val="2B2926"/>
            </a:solidFill>
            <a:prstDash val="solid"/>
            <a:round/>
            <a:headEnd len="sm" w="sm" type="none"/>
            <a:tailEnd len="sm" w="sm" type="none"/>
          </a:ln>
        </p:spPr>
      </p:pic>
      <p:pic>
        <p:nvPicPr>
          <p:cNvPr descr="image.jpg" id="511" name="Google Shape;511;p46"/>
          <p:cNvPicPr preferRelativeResize="0"/>
          <p:nvPr/>
        </p:nvPicPr>
        <p:blipFill rotWithShape="1">
          <a:blip r:embed="rId9">
            <a:alphaModFix/>
          </a:blip>
          <a:srcRect b="0" l="0" r="0" t="0"/>
          <a:stretch/>
        </p:blipFill>
        <p:spPr>
          <a:xfrm>
            <a:off x="7170724" y="2697480"/>
            <a:ext cx="1097280" cy="2377440"/>
          </a:xfrm>
          <a:prstGeom prst="roundRect">
            <a:avLst>
              <a:gd fmla="val 8000" name="adj"/>
            </a:avLst>
          </a:prstGeom>
          <a:noFill/>
          <a:ln cap="flat" cmpd="sng" w="31750">
            <a:solidFill>
              <a:srgbClr val="2B2926"/>
            </a:solidFill>
            <a:prstDash val="solid"/>
            <a:round/>
            <a:headEnd len="sm" w="sm" type="none"/>
            <a:tailEnd len="sm" w="sm" type="none"/>
          </a:ln>
        </p:spPr>
      </p:pic>
      <p:sp>
        <p:nvSpPr>
          <p:cNvPr id="512" name="Google Shape;512;p46"/>
          <p:cNvSpPr/>
          <p:nvPr/>
        </p:nvSpPr>
        <p:spPr>
          <a:xfrm>
            <a:off x="1385316" y="5138928"/>
            <a:ext cx="9418320" cy="969264"/>
          </a:xfrm>
          <a:prstGeom prst="roundRect">
            <a:avLst>
              <a:gd fmla="val 5217" name="adj"/>
            </a:avLst>
          </a:prstGeom>
          <a:solidFill>
            <a:srgbClr val="FFFFFF"/>
          </a:solidFill>
          <a:ln cap="flat" cmpd="sng" w="12700">
            <a:solidFill>
              <a:srgbClr val="FFFFFF"/>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13" name="Google Shape;513;p46"/>
          <p:cNvSpPr txBox="1"/>
          <p:nvPr/>
        </p:nvSpPr>
        <p:spPr>
          <a:xfrm>
            <a:off x="1385316" y="5193792"/>
            <a:ext cx="9418320" cy="237744"/>
          </a:xfrm>
          <a:prstGeom prst="rect">
            <a:avLst/>
          </a:prstGeom>
          <a:noFill/>
          <a:ln>
            <a:noFill/>
          </a:ln>
        </p:spPr>
        <p:txBody>
          <a:bodyPr anchorCtr="0" anchor="ctr" bIns="18275" lIns="0" spcFirstLastPara="1" rIns="0" wrap="square" tIns="18275">
            <a:spAutoFit/>
          </a:bodyPr>
          <a:lstStyle/>
          <a:p>
            <a:pPr indent="0" lvl="0" marL="0" marR="0" rtl="0" algn="ctr">
              <a:lnSpc>
                <a:spcPct val="100000"/>
              </a:lnSpc>
              <a:spcBef>
                <a:spcPts val="0"/>
              </a:spcBef>
              <a:spcAft>
                <a:spcPts val="0"/>
              </a:spcAft>
              <a:buNone/>
            </a:pPr>
            <a:r>
              <a:rPr b="1" i="0" lang="en-US" spc="0" sz="1000" u="none" cap="none" strike="noStrike">
                <a:solidFill>
                  <a:srgbClr val="8B8B5C"/>
                </a:solidFill>
                <a:latin typeface="Raleway SemiBold"/>
                <a:ea typeface="Raleway SemiBold"/>
                <a:cs typeface="Raleway SemiBold"/>
                <a:sym typeface="Raleway SemiBold"/>
              </a:rPr>
              <a:t>ACROSS THE WHOLE DAY</a:t>
            </a:r>
            <a:endParaRPr/>
          </a:p>
        </p:txBody>
      </p:sp>
      <p:sp>
        <p:nvSpPr>
          <p:cNvPr id="514" name="Google Shape;514;p46"/>
          <p:cNvSpPr txBox="1"/>
          <p:nvPr/>
        </p:nvSpPr>
        <p:spPr>
          <a:xfrm>
            <a:off x="1499616" y="5440680"/>
            <a:ext cx="2103120" cy="621792"/>
          </a:xfrm>
          <a:prstGeom prst="rect">
            <a:avLst/>
          </a:prstGeom>
          <a:noFill/>
          <a:ln>
            <a:noFill/>
          </a:ln>
        </p:spPr>
        <p:txBody>
          <a:bodyPr anchorCtr="0" anchor="t" bIns="18275" lIns="0" spcFirstLastPara="1" rIns="0" wrap="square" tIns="18275">
            <a:spAutoFit/>
          </a:bodyPr>
          <a:lstStyle/>
          <a:p>
            <a:pPr indent="0" lvl="0" marL="0" marR="0" rtl="0" algn="ctr">
              <a:lnSpc>
                <a:spcPct val="100000"/>
              </a:lnSpc>
              <a:spcBef>
                <a:spcPts val="0"/>
              </a:spcBef>
              <a:spcAft>
                <a:spcPts val="0"/>
              </a:spcAft>
              <a:buNone/>
            </a:pPr>
            <a:r>
              <a:rPr b="1" i="0" lang="en-US" spc="0" sz="1200" u="none" cap="none" strike="noStrike">
                <a:solidFill>
                  <a:srgbClr val="565A32"/>
                </a:solidFill>
                <a:latin typeface="Raleway SemiBold"/>
                <a:ea typeface="Raleway SemiBold"/>
                <a:cs typeface="Raleway SemiBold"/>
                <a:sym typeface="Raleway SemiBold"/>
              </a:rPr>
              <a:t>Quick to use</a:t>
            </a:r>
            <a:endParaRPr/>
          </a:p>
          <a:p>
            <a:pPr indent="0" lvl="0" marL="0" marR="0" rtl="0" algn="ctr">
              <a:lnSpc>
                <a:spcPct val="100000"/>
              </a:lnSpc>
              <a:spcBef>
                <a:spcPts val="0"/>
              </a:spcBef>
              <a:spcAft>
                <a:spcPts val="0"/>
              </a:spcAft>
              <a:buNone/>
            </a:pPr>
            <a:r>
              <a:rPr b="0" i="0" lang="en-US" spc="0" sz="1100" u="none" cap="none" strike="noStrike">
                <a:solidFill>
                  <a:srgbClr val="565A32"/>
                </a:solidFill>
                <a:latin typeface="Raleway Light"/>
                <a:ea typeface="Raleway Light"/>
                <a:cs typeface="Raleway Light"/>
                <a:sym typeface="Raleway Light"/>
              </a:rPr>
              <a:t>Easy to start, easy to join.</a:t>
            </a:r>
            <a:endParaRPr/>
          </a:p>
        </p:txBody>
      </p:sp>
      <p:sp>
        <p:nvSpPr>
          <p:cNvPr id="515" name="Google Shape;515;p46"/>
          <p:cNvSpPr txBox="1"/>
          <p:nvPr/>
        </p:nvSpPr>
        <p:spPr>
          <a:xfrm>
            <a:off x="3803904" y="5440680"/>
            <a:ext cx="2103120" cy="621792"/>
          </a:xfrm>
          <a:prstGeom prst="rect">
            <a:avLst/>
          </a:prstGeom>
          <a:noFill/>
          <a:ln>
            <a:noFill/>
          </a:ln>
        </p:spPr>
        <p:txBody>
          <a:bodyPr anchorCtr="0" anchor="t" bIns="18275" lIns="0" spcFirstLastPara="1" rIns="0" wrap="square" tIns="18275">
            <a:spAutoFit/>
          </a:bodyPr>
          <a:lstStyle/>
          <a:p>
            <a:pPr indent="0" lvl="0" marL="0" marR="0" rtl="0" algn="ctr">
              <a:lnSpc>
                <a:spcPct val="100000"/>
              </a:lnSpc>
              <a:spcBef>
                <a:spcPts val="0"/>
              </a:spcBef>
              <a:spcAft>
                <a:spcPts val="0"/>
              </a:spcAft>
              <a:buNone/>
            </a:pPr>
            <a:r>
              <a:rPr b="1" i="0" lang="en-US" spc="0" sz="1200" u="none" cap="none" strike="noStrike">
                <a:solidFill>
                  <a:srgbClr val="565A32"/>
                </a:solidFill>
                <a:latin typeface="Raleway SemiBold"/>
                <a:ea typeface="Raleway SemiBold"/>
                <a:cs typeface="Raleway SemiBold"/>
                <a:sym typeface="Raleway SemiBold"/>
              </a:rPr>
              <a:t>Optional questions</a:t>
            </a:r>
            <a:endParaRPr/>
          </a:p>
          <a:p>
            <a:pPr indent="0" lvl="0" marL="0" marR="0" rtl="0" algn="ctr">
              <a:lnSpc>
                <a:spcPct val="100000"/>
              </a:lnSpc>
              <a:spcBef>
                <a:spcPts val="0"/>
              </a:spcBef>
              <a:spcAft>
                <a:spcPts val="0"/>
              </a:spcAft>
              <a:buNone/>
            </a:pPr>
            <a:r>
              <a:rPr b="0" i="0" lang="en-US" spc="0" sz="1100" u="none" cap="none" strike="noStrike">
                <a:solidFill>
                  <a:srgbClr val="565A32"/>
                </a:solidFill>
                <a:latin typeface="Raleway Light"/>
                <a:ea typeface="Raleway Light"/>
                <a:cs typeface="Raleway Light"/>
                <a:sym typeface="Raleway Light"/>
              </a:rPr>
              <a:t>Answer as much or as little as you like.</a:t>
            </a:r>
            <a:endParaRPr/>
          </a:p>
        </p:txBody>
      </p:sp>
      <p:sp>
        <p:nvSpPr>
          <p:cNvPr id="516" name="Google Shape;516;p46"/>
          <p:cNvSpPr txBox="1"/>
          <p:nvPr/>
        </p:nvSpPr>
        <p:spPr>
          <a:xfrm>
            <a:off x="6108192" y="5440680"/>
            <a:ext cx="2103120" cy="621792"/>
          </a:xfrm>
          <a:prstGeom prst="rect">
            <a:avLst/>
          </a:prstGeom>
          <a:noFill/>
          <a:ln>
            <a:noFill/>
          </a:ln>
        </p:spPr>
        <p:txBody>
          <a:bodyPr anchorCtr="0" anchor="t" bIns="18275" lIns="0" spcFirstLastPara="1" rIns="0" wrap="square" tIns="18275">
            <a:spAutoFit/>
          </a:bodyPr>
          <a:lstStyle/>
          <a:p>
            <a:pPr indent="0" lvl="0" marL="0" marR="0" rtl="0" algn="ctr">
              <a:lnSpc>
                <a:spcPct val="100000"/>
              </a:lnSpc>
              <a:spcBef>
                <a:spcPts val="0"/>
              </a:spcBef>
              <a:spcAft>
                <a:spcPts val="0"/>
              </a:spcAft>
              <a:buNone/>
            </a:pPr>
            <a:r>
              <a:rPr b="1" i="0" lang="en-US" spc="0" sz="1200" u="none" cap="none" strike="noStrike">
                <a:solidFill>
                  <a:srgbClr val="565A32"/>
                </a:solidFill>
                <a:latin typeface="Raleway SemiBold"/>
                <a:ea typeface="Raleway SemiBold"/>
                <a:cs typeface="Raleway SemiBold"/>
                <a:sym typeface="Raleway SemiBold"/>
              </a:rPr>
              <a:t>No compulsory tasting</a:t>
            </a:r>
            <a:endParaRPr/>
          </a:p>
          <a:p>
            <a:pPr indent="0" lvl="0" marL="0" marR="0" rtl="0" algn="ctr">
              <a:lnSpc>
                <a:spcPct val="100000"/>
              </a:lnSpc>
              <a:spcBef>
                <a:spcPts val="0"/>
              </a:spcBef>
              <a:spcAft>
                <a:spcPts val="0"/>
              </a:spcAft>
              <a:buNone/>
            </a:pPr>
            <a:r>
              <a:rPr b="0" i="0" lang="en-US" spc="0" sz="1100" u="none" cap="none" strike="noStrike">
                <a:solidFill>
                  <a:srgbClr val="565A32"/>
                </a:solidFill>
                <a:latin typeface="Raleway Light"/>
                <a:ea typeface="Raleway Light"/>
                <a:cs typeface="Raleway Light"/>
                <a:sym typeface="Raleway Light"/>
              </a:rPr>
              <a:t>Tasting is always optional.</a:t>
            </a:r>
            <a:endParaRPr/>
          </a:p>
        </p:txBody>
      </p:sp>
      <p:sp>
        <p:nvSpPr>
          <p:cNvPr id="517" name="Google Shape;517;p46"/>
          <p:cNvSpPr txBox="1"/>
          <p:nvPr/>
        </p:nvSpPr>
        <p:spPr>
          <a:xfrm>
            <a:off x="8412480" y="5440680"/>
            <a:ext cx="2103120" cy="621792"/>
          </a:xfrm>
          <a:prstGeom prst="rect">
            <a:avLst/>
          </a:prstGeom>
          <a:noFill/>
          <a:ln>
            <a:noFill/>
          </a:ln>
        </p:spPr>
        <p:txBody>
          <a:bodyPr anchorCtr="0" anchor="t" bIns="18275" lIns="0" spcFirstLastPara="1" rIns="0" wrap="square" tIns="18275">
            <a:spAutoFit/>
          </a:bodyPr>
          <a:lstStyle/>
          <a:p>
            <a:pPr indent="0" lvl="0" marL="0" marR="0" rtl="0" algn="ctr">
              <a:lnSpc>
                <a:spcPct val="100000"/>
              </a:lnSpc>
              <a:spcBef>
                <a:spcPts val="0"/>
              </a:spcBef>
              <a:spcAft>
                <a:spcPts val="0"/>
              </a:spcAft>
              <a:buNone/>
            </a:pPr>
            <a:r>
              <a:rPr b="1" i="0" lang="en-US" spc="0" sz="1200" u="none" cap="none" strike="noStrike">
                <a:solidFill>
                  <a:srgbClr val="565A32"/>
                </a:solidFill>
                <a:latin typeface="Raleway SemiBold"/>
                <a:ea typeface="Raleway SemiBold"/>
                <a:cs typeface="Raleway SemiBold"/>
                <a:sym typeface="Raleway SemiBold"/>
              </a:rPr>
              <a:t>Tailored to each event</a:t>
            </a:r>
            <a:endParaRPr/>
          </a:p>
          <a:p>
            <a:pPr indent="0" lvl="0" marL="0" marR="0" rtl="0" algn="ctr">
              <a:lnSpc>
                <a:spcPct val="100000"/>
              </a:lnSpc>
              <a:spcBef>
                <a:spcPts val="0"/>
              </a:spcBef>
              <a:spcAft>
                <a:spcPts val="0"/>
              </a:spcAft>
              <a:buNone/>
            </a:pPr>
            <a:r>
              <a:rPr b="0" i="0" lang="en-US" spc="0" sz="1100" u="none" cap="none" strike="noStrike">
                <a:solidFill>
                  <a:srgbClr val="565A32"/>
                </a:solidFill>
                <a:latin typeface="Raleway Light"/>
                <a:ea typeface="Raleway Light"/>
                <a:cs typeface="Raleway Light"/>
                <a:sym typeface="Raleway Light"/>
              </a:rPr>
              <a:t>Adds to the day, and helps visitors remember it.</a:t>
            </a:r>
            <a:endParaRPr/>
          </a:p>
        </p:txBody>
      </p:sp>
      <p:sp>
        <p:nvSpPr>
          <p:cNvPr id="518" name="Google Shape;518;p46"/>
          <p:cNvSpPr/>
          <p:nvPr/>
        </p:nvSpPr>
        <p:spPr>
          <a:xfrm>
            <a:off x="0" y="0"/>
            <a:ext cx="12191700" cy="329100"/>
          </a:xfrm>
          <a:prstGeom prst="rect">
            <a:avLst/>
          </a:prstGeom>
          <a:solidFill>
            <a:srgbClr val="565A32"/>
          </a:solidFill>
          <a:ln cap="flat" cmpd="sng" w="12700">
            <a:solidFill>
              <a:srgbClr val="565A3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47"/>
          <p:cNvSpPr txBox="1"/>
          <p:nvPr>
            <p:ph type="title"/>
          </p:nvPr>
        </p:nvSpPr>
        <p:spPr>
          <a:xfrm>
            <a:off x="548640" y="411480"/>
            <a:ext cx="8138100" cy="685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3600"/>
              <a:buNone/>
            </a:pPr>
            <a:r>
              <a:rPr lang="en-US"/>
              <a:t>My wines and memories</a:t>
            </a:r>
            <a:endParaRPr/>
          </a:p>
        </p:txBody>
      </p:sp>
      <p:sp>
        <p:nvSpPr>
          <p:cNvPr id="525" name="Google Shape;525;p47"/>
          <p:cNvSpPr txBox="1"/>
          <p:nvPr>
            <p:ph idx="1" type="body"/>
          </p:nvPr>
        </p:nvSpPr>
        <p:spPr>
          <a:xfrm>
            <a:off x="548640" y="1115568"/>
            <a:ext cx="11094300" cy="411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800"/>
              <a:buNone/>
            </a:pPr>
            <a:r>
              <a:rPr b="0" i="0" lang="en-US" sz="1800" u="none" cap="none" strike="noStrike">
                <a:solidFill>
                  <a:schemeClr val="dk1"/>
                </a:solidFill>
                <a:latin typeface="Raleway Light"/>
                <a:ea typeface="Raleway Light"/>
                <a:cs typeface="Raleway Light"/>
                <a:sym typeface="Raleway Light"/>
              </a:rPr>
              <a:t>Everything worth remembering, in one place.</a:t>
            </a:r>
            <a:endParaRPr/>
          </a:p>
        </p:txBody>
      </p:sp>
      <p:sp>
        <p:nvSpPr>
          <p:cNvPr id="526" name="Google Shape;526;p47"/>
          <p:cNvSpPr/>
          <p:nvPr/>
        </p:nvSpPr>
        <p:spPr>
          <a:xfrm>
            <a:off x="548640" y="1783080"/>
            <a:ext cx="3511296" cy="1508760"/>
          </a:xfrm>
          <a:prstGeom prst="roundRect">
            <a:avLst>
              <a:gd fmla="val 5217" name="adj"/>
            </a:avLst>
          </a:prstGeom>
          <a:solidFill>
            <a:srgbClr val="FFFFFF"/>
          </a:solidFill>
          <a:ln cap="flat" cmpd="sng" w="12700">
            <a:solidFill>
              <a:srgbClr val="FFFFFF"/>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27" name="Google Shape;527;p47"/>
          <p:cNvSpPr txBox="1"/>
          <p:nvPr/>
        </p:nvSpPr>
        <p:spPr>
          <a:xfrm>
            <a:off x="758952" y="1993392"/>
            <a:ext cx="3090672" cy="114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65A32"/>
              </a:buClr>
              <a:buSzPts val="1200"/>
              <a:buFont typeface="Raleway SemiBold"/>
              <a:buNone/>
            </a:pPr>
            <a:r>
              <a:rPr b="1" i="0" lang="en-US" spc="0" sz="1200" u="none" cap="none" strike="noStrike">
                <a:solidFill>
                  <a:srgbClr val="565A32"/>
                </a:solidFill>
                <a:latin typeface="Raleway SemiBold"/>
                <a:ea typeface="Raleway SemiBold"/>
                <a:cs typeface="Raleway SemiBold"/>
                <a:sym typeface="Raleway SemiBold"/>
              </a:rPr>
              <a:t>TASTINGS</a:t>
            </a:r>
            <a:endParaRPr b="0" i="0" spc="0" sz="1600" u="none" cap="none" strike="noStrike">
              <a:solidFill>
                <a:srgbClr val="565A32"/>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rgbClr val="565A32"/>
              </a:buClr>
              <a:buSzPts val="600"/>
              <a:buFont typeface="Raleway Light"/>
              <a:buNone/>
            </a:pPr>
            <a:r>
              <a:rPr b="0" i="0" lang="en-US" spc="0" sz="600" u="none" cap="none" strike="noStrike">
                <a:solidFill>
                  <a:srgbClr val="565A32"/>
                </a:solidFill>
                <a:latin typeface="Raleway Light"/>
                <a:ea typeface="Raleway Light"/>
                <a:cs typeface="Raleway Light"/>
                <a:sym typeface="Raleway Light"/>
              </a:rPr>
              <a:t> </a:t>
            </a:r>
            <a:endParaRPr b="0" i="0" spc="0" sz="1600" u="none" cap="none" strike="noStrike">
              <a:solidFill>
                <a:srgbClr val="565A32"/>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rgbClr val="565A32"/>
              </a:buClr>
              <a:buSzPts val="1600"/>
              <a:buFont typeface="Raleway Light"/>
              <a:buNone/>
            </a:pPr>
            <a:r>
              <a:rPr b="0" i="0" lang="en-US" spc="0" sz="1600" u="none" cap="none" strike="noStrike">
                <a:solidFill>
                  <a:srgbClr val="565A32"/>
                </a:solidFill>
                <a:latin typeface="Raleway Light"/>
                <a:ea typeface="Raleway Light"/>
                <a:cs typeface="Raleway Light"/>
                <a:sym typeface="Raleway Light"/>
              </a:rPr>
              <a:t>Every tasting, with the notes you made along the way.</a:t>
            </a:r>
            <a:endParaRPr b="0" i="0" spc="0" sz="1600" u="none" cap="none" strike="noStrike">
              <a:solidFill>
                <a:srgbClr val="565A32"/>
              </a:solidFill>
              <a:latin typeface="Raleway Light"/>
              <a:ea typeface="Raleway Light"/>
              <a:cs typeface="Raleway Light"/>
              <a:sym typeface="Raleway Light"/>
            </a:endParaRPr>
          </a:p>
        </p:txBody>
      </p:sp>
      <p:sp>
        <p:nvSpPr>
          <p:cNvPr id="528" name="Google Shape;528;p47"/>
          <p:cNvSpPr/>
          <p:nvPr/>
        </p:nvSpPr>
        <p:spPr>
          <a:xfrm>
            <a:off x="4334255" y="1783080"/>
            <a:ext cx="3511296" cy="1508760"/>
          </a:xfrm>
          <a:prstGeom prst="roundRect">
            <a:avLst>
              <a:gd fmla="val 5217" name="adj"/>
            </a:avLst>
          </a:prstGeom>
          <a:solidFill>
            <a:srgbClr val="FFFFFF"/>
          </a:solidFill>
          <a:ln cap="flat" cmpd="sng" w="12700">
            <a:solidFill>
              <a:srgbClr val="FFFFFF"/>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29" name="Google Shape;529;p47"/>
          <p:cNvSpPr txBox="1"/>
          <p:nvPr/>
        </p:nvSpPr>
        <p:spPr>
          <a:xfrm>
            <a:off x="4544568" y="1993392"/>
            <a:ext cx="3090672" cy="114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65A32"/>
              </a:buClr>
              <a:buSzPts val="1200"/>
              <a:buFont typeface="Raleway SemiBold"/>
              <a:buNone/>
            </a:pPr>
            <a:r>
              <a:rPr b="1" i="0" lang="en-US" spc="0" sz="1200" u="none" cap="none" strike="noStrike">
                <a:solidFill>
                  <a:srgbClr val="565A32"/>
                </a:solidFill>
                <a:latin typeface="Raleway SemiBold"/>
                <a:ea typeface="Raleway SemiBold"/>
                <a:cs typeface="Raleway SemiBold"/>
                <a:sym typeface="Raleway SemiBold"/>
              </a:rPr>
              <a:t>FAVOURITES</a:t>
            </a:r>
            <a:endParaRPr b="0" i="0" spc="0" sz="1600" u="none" cap="none" strike="noStrike">
              <a:solidFill>
                <a:srgbClr val="565A32"/>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rgbClr val="565A32"/>
              </a:buClr>
              <a:buSzPts val="600"/>
              <a:buFont typeface="Raleway Light"/>
              <a:buNone/>
            </a:pPr>
            <a:r>
              <a:rPr b="0" i="0" lang="en-US" spc="0" sz="600" u="none" cap="none" strike="noStrike">
                <a:solidFill>
                  <a:srgbClr val="565A32"/>
                </a:solidFill>
                <a:latin typeface="Raleway Light"/>
                <a:ea typeface="Raleway Light"/>
                <a:cs typeface="Raleway Light"/>
                <a:sym typeface="Raleway Light"/>
              </a:rPr>
              <a:t> </a:t>
            </a:r>
            <a:endParaRPr b="0" i="0" spc="0" sz="1600" u="none" cap="none" strike="noStrike">
              <a:solidFill>
                <a:srgbClr val="565A32"/>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rgbClr val="565A32"/>
              </a:buClr>
              <a:buSzPts val="1600"/>
              <a:buFont typeface="Raleway Light"/>
              <a:buNone/>
            </a:pPr>
            <a:r>
              <a:rPr b="0" i="0" lang="en-US" spc="0" sz="1600" u="none" cap="none" strike="noStrike">
                <a:solidFill>
                  <a:srgbClr val="565A32"/>
                </a:solidFill>
                <a:latin typeface="Raleway Light"/>
                <a:ea typeface="Raleway Light"/>
                <a:cs typeface="Raleway Light"/>
                <a:sym typeface="Raleway Light"/>
              </a:rPr>
              <a:t>The wines you loved, from a game at home, a partner tasting or an event.</a:t>
            </a:r>
            <a:endParaRPr b="0" i="0" spc="0" sz="1600" u="none" cap="none" strike="noStrike">
              <a:solidFill>
                <a:srgbClr val="565A32"/>
              </a:solidFill>
              <a:latin typeface="Raleway Light"/>
              <a:ea typeface="Raleway Light"/>
              <a:cs typeface="Raleway Light"/>
              <a:sym typeface="Raleway Light"/>
            </a:endParaRPr>
          </a:p>
        </p:txBody>
      </p:sp>
      <p:sp>
        <p:nvSpPr>
          <p:cNvPr id="530" name="Google Shape;530;p47"/>
          <p:cNvSpPr/>
          <p:nvPr/>
        </p:nvSpPr>
        <p:spPr>
          <a:xfrm>
            <a:off x="8119871" y="1783080"/>
            <a:ext cx="3511296" cy="1508760"/>
          </a:xfrm>
          <a:prstGeom prst="roundRect">
            <a:avLst>
              <a:gd fmla="val 5217" name="adj"/>
            </a:avLst>
          </a:prstGeom>
          <a:solidFill>
            <a:srgbClr val="FFFFFF"/>
          </a:solidFill>
          <a:ln cap="flat" cmpd="sng" w="12700">
            <a:solidFill>
              <a:srgbClr val="FFFFFF"/>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31" name="Google Shape;531;p47"/>
          <p:cNvSpPr txBox="1"/>
          <p:nvPr/>
        </p:nvSpPr>
        <p:spPr>
          <a:xfrm>
            <a:off x="8330183" y="1993392"/>
            <a:ext cx="3090672" cy="114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65A32"/>
              </a:buClr>
              <a:buSzPts val="1200"/>
              <a:buFont typeface="Raleway SemiBold"/>
              <a:buNone/>
            </a:pPr>
            <a:r>
              <a:rPr b="1" i="0" lang="en-US" spc="0" sz="1200" u="none" cap="none" strike="noStrike">
                <a:solidFill>
                  <a:srgbClr val="565A32"/>
                </a:solidFill>
                <a:latin typeface="Raleway SemiBold"/>
                <a:ea typeface="Raleway SemiBold"/>
                <a:cs typeface="Raleway SemiBold"/>
                <a:sym typeface="Raleway SemiBold"/>
              </a:rPr>
              <a:t>OCCASIONS AND EVENTS</a:t>
            </a:r>
            <a:endParaRPr b="0" i="0" spc="0" sz="1600" u="none" cap="none" strike="noStrike">
              <a:solidFill>
                <a:srgbClr val="565A32"/>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rgbClr val="565A32"/>
              </a:buClr>
              <a:buSzPts val="600"/>
              <a:buFont typeface="Raleway Light"/>
              <a:buNone/>
            </a:pPr>
            <a:r>
              <a:rPr b="0" i="0" lang="en-US" spc="0" sz="600" u="none" cap="none" strike="noStrike">
                <a:solidFill>
                  <a:srgbClr val="565A32"/>
                </a:solidFill>
                <a:latin typeface="Raleway Light"/>
                <a:ea typeface="Raleway Light"/>
                <a:cs typeface="Raleway Light"/>
                <a:sym typeface="Raleway Light"/>
              </a:rPr>
              <a:t> </a:t>
            </a:r>
            <a:endParaRPr b="0" i="0" spc="0" sz="1600" u="none" cap="none" strike="noStrike">
              <a:solidFill>
                <a:srgbClr val="565A32"/>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rgbClr val="565A32"/>
              </a:buClr>
              <a:buSzPts val="1600"/>
              <a:buFont typeface="Raleway Light"/>
              <a:buNone/>
            </a:pPr>
            <a:r>
              <a:rPr b="0" i="0" lang="en-US" spc="0" sz="1600" u="none" cap="none" strike="noStrike">
                <a:solidFill>
                  <a:srgbClr val="565A32"/>
                </a:solidFill>
                <a:latin typeface="Raleway Light"/>
                <a:ea typeface="Raleway Light"/>
                <a:cs typeface="Raleway Light"/>
                <a:sym typeface="Raleway Light"/>
              </a:rPr>
              <a:t>The occasions you shared, with the scores and the wines that went with them.</a:t>
            </a:r>
            <a:endParaRPr b="0" i="0" spc="0" sz="1600" u="none" cap="none" strike="noStrike">
              <a:solidFill>
                <a:srgbClr val="565A32"/>
              </a:solidFill>
              <a:latin typeface="Raleway Light"/>
              <a:ea typeface="Raleway Light"/>
              <a:cs typeface="Raleway Light"/>
              <a:sym typeface="Raleway Light"/>
            </a:endParaRPr>
          </a:p>
        </p:txBody>
      </p:sp>
      <p:sp>
        <p:nvSpPr>
          <p:cNvPr id="532" name="Google Shape;532;p47"/>
          <p:cNvSpPr/>
          <p:nvPr/>
        </p:nvSpPr>
        <p:spPr>
          <a:xfrm>
            <a:off x="548640" y="3474720"/>
            <a:ext cx="3511296" cy="1508760"/>
          </a:xfrm>
          <a:prstGeom prst="roundRect">
            <a:avLst>
              <a:gd fmla="val 5217" name="adj"/>
            </a:avLst>
          </a:prstGeom>
          <a:solidFill>
            <a:srgbClr val="FFFFFF"/>
          </a:solidFill>
          <a:ln cap="flat" cmpd="sng" w="12700">
            <a:solidFill>
              <a:srgbClr val="FFFFFF"/>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33" name="Google Shape;533;p47"/>
          <p:cNvSpPr txBox="1"/>
          <p:nvPr/>
        </p:nvSpPr>
        <p:spPr>
          <a:xfrm>
            <a:off x="758952" y="3685032"/>
            <a:ext cx="3090672" cy="114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65A32"/>
              </a:buClr>
              <a:buSzPts val="1200"/>
              <a:buFont typeface="Raleway SemiBold"/>
              <a:buNone/>
            </a:pPr>
            <a:r>
              <a:rPr b="1" i="0" lang="en-US" spc="0" sz="1200" u="none" cap="none" strike="noStrike">
                <a:solidFill>
                  <a:srgbClr val="565A32"/>
                </a:solidFill>
                <a:latin typeface="Raleway SemiBold"/>
                <a:ea typeface="Raleway SemiBold"/>
                <a:cs typeface="Raleway SemiBold"/>
                <a:sym typeface="Raleway SemiBold"/>
              </a:rPr>
              <a:t>YOUR REACTIONS</a:t>
            </a:r>
            <a:endParaRPr b="0" i="0" spc="0" sz="1600" u="none" cap="none" strike="noStrike">
              <a:solidFill>
                <a:srgbClr val="565A32"/>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rgbClr val="565A32"/>
              </a:buClr>
              <a:buSzPts val="600"/>
              <a:buFont typeface="Raleway Light"/>
              <a:buNone/>
            </a:pPr>
            <a:r>
              <a:rPr b="0" i="0" lang="en-US" spc="0" sz="600" u="none" cap="none" strike="noStrike">
                <a:solidFill>
                  <a:srgbClr val="565A32"/>
                </a:solidFill>
                <a:latin typeface="Raleway Light"/>
                <a:ea typeface="Raleway Light"/>
                <a:cs typeface="Raleway Light"/>
                <a:sym typeface="Raleway Light"/>
              </a:rPr>
              <a:t> </a:t>
            </a:r>
            <a:endParaRPr b="0" i="0" spc="0" sz="1600" u="none" cap="none" strike="noStrike">
              <a:solidFill>
                <a:srgbClr val="565A32"/>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rgbClr val="565A32"/>
              </a:buClr>
              <a:buSzPts val="1600"/>
              <a:buFont typeface="Raleway Light"/>
              <a:buNone/>
            </a:pPr>
            <a:r>
              <a:rPr b="0" i="0" lang="en-US" spc="0" sz="1600" u="none" cap="none" strike="noStrike">
                <a:solidFill>
                  <a:srgbClr val="565A32"/>
                </a:solidFill>
                <a:latin typeface="Raleway Light"/>
                <a:ea typeface="Raleway Light"/>
                <a:cs typeface="Raleway Light"/>
                <a:sym typeface="Raleway Light"/>
              </a:rPr>
              <a:t>Love it, Like it, Not sure, Not for me: your view, kept for next time.</a:t>
            </a:r>
            <a:endParaRPr b="0" i="0" spc="0" sz="1600" u="none" cap="none" strike="noStrike">
              <a:solidFill>
                <a:srgbClr val="565A32"/>
              </a:solidFill>
              <a:latin typeface="Raleway Light"/>
              <a:ea typeface="Raleway Light"/>
              <a:cs typeface="Raleway Light"/>
              <a:sym typeface="Raleway Light"/>
            </a:endParaRPr>
          </a:p>
        </p:txBody>
      </p:sp>
      <p:sp>
        <p:nvSpPr>
          <p:cNvPr id="534" name="Google Shape;534;p47"/>
          <p:cNvSpPr/>
          <p:nvPr/>
        </p:nvSpPr>
        <p:spPr>
          <a:xfrm>
            <a:off x="4334255" y="3474720"/>
            <a:ext cx="3511296" cy="1508760"/>
          </a:xfrm>
          <a:prstGeom prst="roundRect">
            <a:avLst>
              <a:gd fmla="val 5217" name="adj"/>
            </a:avLst>
          </a:prstGeom>
          <a:solidFill>
            <a:srgbClr val="FFFFFF"/>
          </a:solidFill>
          <a:ln cap="flat" cmpd="sng" w="12700">
            <a:solidFill>
              <a:srgbClr val="FFFFFF"/>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35" name="Google Shape;535;p47"/>
          <p:cNvSpPr txBox="1"/>
          <p:nvPr/>
        </p:nvSpPr>
        <p:spPr>
          <a:xfrm>
            <a:off x="4544568" y="3685032"/>
            <a:ext cx="3090672" cy="114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65A32"/>
              </a:buClr>
              <a:buSzPts val="1200"/>
              <a:buFont typeface="Raleway SemiBold"/>
              <a:buNone/>
            </a:pPr>
            <a:r>
              <a:rPr b="1" i="0" lang="en-US" spc="0" sz="1200" u="none" cap="none" strike="noStrike">
                <a:solidFill>
                  <a:srgbClr val="565A32"/>
                </a:solidFill>
                <a:latin typeface="Raleway SemiBold"/>
                <a:ea typeface="Raleway SemiBold"/>
                <a:cs typeface="Raleway SemiBold"/>
                <a:sym typeface="Raleway SemiBold"/>
              </a:rPr>
              <a:t>ON EVERY DEVICE</a:t>
            </a:r>
            <a:endParaRPr b="0" i="0" spc="0" sz="1600" u="none" cap="none" strike="noStrike">
              <a:solidFill>
                <a:srgbClr val="565A32"/>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rgbClr val="565A32"/>
              </a:buClr>
              <a:buSzPts val="600"/>
              <a:buFont typeface="Raleway Light"/>
              <a:buNone/>
            </a:pPr>
            <a:r>
              <a:rPr b="0" i="0" lang="en-US" spc="0" sz="600" u="none" cap="none" strike="noStrike">
                <a:solidFill>
                  <a:srgbClr val="565A32"/>
                </a:solidFill>
                <a:latin typeface="Raleway Light"/>
                <a:ea typeface="Raleway Light"/>
                <a:cs typeface="Raleway Light"/>
                <a:sym typeface="Raleway Light"/>
              </a:rPr>
              <a:t> </a:t>
            </a:r>
            <a:endParaRPr b="0" i="0" spc="0" sz="1600" u="none" cap="none" strike="noStrike">
              <a:solidFill>
                <a:srgbClr val="565A32"/>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rgbClr val="565A32"/>
              </a:buClr>
              <a:buSzPts val="1600"/>
              <a:buFont typeface="Raleway Light"/>
              <a:buNone/>
            </a:pPr>
            <a:r>
              <a:rPr b="0" i="0" lang="en-US" spc="0" sz="1600" u="none" cap="none" strike="noStrike">
                <a:solidFill>
                  <a:srgbClr val="565A32"/>
                </a:solidFill>
                <a:latin typeface="Raleway Light"/>
                <a:ea typeface="Raleway Light"/>
                <a:cs typeface="Raleway Light"/>
                <a:sym typeface="Raleway Light"/>
              </a:rPr>
              <a:t>Sign in with an email code and My wines is there wherever you are.</a:t>
            </a:r>
            <a:endParaRPr b="0" i="0" spc="0" sz="1600" u="none" cap="none" strike="noStrike">
              <a:solidFill>
                <a:srgbClr val="565A32"/>
              </a:solidFill>
              <a:latin typeface="Raleway Light"/>
              <a:ea typeface="Raleway Light"/>
              <a:cs typeface="Raleway Light"/>
              <a:sym typeface="Raleway Light"/>
            </a:endParaRPr>
          </a:p>
        </p:txBody>
      </p:sp>
      <p:sp>
        <p:nvSpPr>
          <p:cNvPr id="536" name="Google Shape;536;p47"/>
          <p:cNvSpPr/>
          <p:nvPr/>
        </p:nvSpPr>
        <p:spPr>
          <a:xfrm>
            <a:off x="8119871" y="3474720"/>
            <a:ext cx="3511296" cy="1508760"/>
          </a:xfrm>
          <a:prstGeom prst="roundRect">
            <a:avLst>
              <a:gd fmla="val 5217" name="adj"/>
            </a:avLst>
          </a:prstGeom>
          <a:solidFill>
            <a:srgbClr val="FFFFFF"/>
          </a:solidFill>
          <a:ln cap="flat" cmpd="sng" w="12700">
            <a:solidFill>
              <a:srgbClr val="FFFFFF"/>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37" name="Google Shape;537;p47"/>
          <p:cNvSpPr txBox="1"/>
          <p:nvPr/>
        </p:nvSpPr>
        <p:spPr>
          <a:xfrm>
            <a:off x="8330183" y="3685032"/>
            <a:ext cx="3090672" cy="114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65A32"/>
              </a:buClr>
              <a:buSzPts val="1200"/>
              <a:buFont typeface="Raleway SemiBold"/>
              <a:buNone/>
            </a:pPr>
            <a:r>
              <a:rPr b="1" i="0" lang="en-US" spc="0" sz="1200" u="none" cap="none" strike="noStrike">
                <a:solidFill>
                  <a:srgbClr val="565A32"/>
                </a:solidFill>
                <a:latin typeface="Raleway SemiBold"/>
                <a:ea typeface="Raleway SemiBold"/>
                <a:cs typeface="Raleway SemiBold"/>
                <a:sym typeface="Raleway SemiBold"/>
              </a:rPr>
              <a:t>YOURS TO KEEP</a:t>
            </a:r>
            <a:endParaRPr b="0" i="0" spc="0" sz="1600" u="none" cap="none" strike="noStrike">
              <a:solidFill>
                <a:srgbClr val="565A32"/>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rgbClr val="565A32"/>
              </a:buClr>
              <a:buSzPts val="600"/>
              <a:buFont typeface="Raleway Light"/>
              <a:buNone/>
            </a:pPr>
            <a:r>
              <a:rPr b="0" i="0" lang="en-US" spc="0" sz="600" u="none" cap="none" strike="noStrike">
                <a:solidFill>
                  <a:srgbClr val="565A32"/>
                </a:solidFill>
                <a:latin typeface="Raleway Light"/>
                <a:ea typeface="Raleway Light"/>
                <a:cs typeface="Raleway Light"/>
                <a:sym typeface="Raleway Light"/>
              </a:rPr>
              <a:t> </a:t>
            </a:r>
            <a:endParaRPr b="0" i="0" spc="0" sz="1600" u="none" cap="none" strike="noStrike">
              <a:solidFill>
                <a:srgbClr val="565A32"/>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rgbClr val="565A32"/>
              </a:buClr>
              <a:buSzPts val="1600"/>
              <a:buFont typeface="Raleway Light"/>
              <a:buNone/>
            </a:pPr>
            <a:r>
              <a:rPr b="0" i="0" lang="en-US" spc="0" sz="1600" u="none" cap="none" strike="noStrike">
                <a:solidFill>
                  <a:srgbClr val="565A32"/>
                </a:solidFill>
                <a:latin typeface="Raleway Light"/>
                <a:ea typeface="Raleway Light"/>
                <a:cs typeface="Raleway Light"/>
                <a:sym typeface="Raleway Light"/>
              </a:rPr>
              <a:t>Notes belong to the guest. Sharing them is always their choice.</a:t>
            </a:r>
            <a:endParaRPr b="0" i="0" spc="0" sz="1600" u="none" cap="none" strike="noStrike">
              <a:solidFill>
                <a:srgbClr val="565A32"/>
              </a:solidFill>
              <a:latin typeface="Raleway Light"/>
              <a:ea typeface="Raleway Light"/>
              <a:cs typeface="Raleway Light"/>
              <a:sym typeface="Raleway Light"/>
            </a:endParaRPr>
          </a:p>
        </p:txBody>
      </p:sp>
      <p:sp>
        <p:nvSpPr>
          <p:cNvPr id="538" name="Google Shape;538;p47"/>
          <p:cNvSpPr txBox="1"/>
          <p:nvPr/>
        </p:nvSpPr>
        <p:spPr>
          <a:xfrm>
            <a:off x="548640" y="5257800"/>
            <a:ext cx="11082528" cy="3200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0" i="0" lang="en-US" spc="0" sz="1400" u="none" cap="none" strike="noStrike">
                <a:solidFill>
                  <a:srgbClr val="565A32"/>
                </a:solidFill>
                <a:latin typeface="Raleway Light"/>
                <a:ea typeface="Raleway Light"/>
                <a:cs typeface="Raleway Light"/>
                <a:sym typeface="Raleway Light"/>
              </a:rPr>
              <a:t>Alongside it, Wine 101: wine facts and help, like a directory. My wines is personal; Wine 101 is for everyone.</a:t>
            </a:r>
            <a:endParaRPr b="0" i="0" spc="0" sz="1400" u="none" cap="none" strike="noStrike">
              <a:solidFill>
                <a:srgbClr val="000000"/>
              </a:solidFill>
              <a:latin typeface="Arial"/>
              <a:ea typeface="Arial"/>
              <a:cs typeface="Arial"/>
              <a:sym typeface="Arial"/>
            </a:endParaRPr>
          </a:p>
        </p:txBody>
      </p:sp>
      <p:sp>
        <p:nvSpPr>
          <p:cNvPr id="539" name="Google Shape;539;p47"/>
          <p:cNvSpPr txBox="1"/>
          <p:nvPr/>
        </p:nvSpPr>
        <p:spPr>
          <a:xfrm>
            <a:off x="548640" y="5669280"/>
            <a:ext cx="9144000" cy="457200"/>
          </a:xfrm>
          <a:prstGeom prst="rect">
            <a:avLst/>
          </a:prstGeom>
          <a:solidFill>
            <a:srgbClr val="FFFFFF"/>
          </a:solidFill>
          <a:ln cap="flat" cmpd="sng" w="25400">
            <a:solidFill>
              <a:srgbClr val="E3AC9A"/>
            </a:solidFill>
            <a:prstDash val="solid"/>
            <a:round/>
            <a:headEnd len="sm" w="sm" type="none"/>
            <a:tailEnd len="sm" w="sm" type="none"/>
          </a:ln>
        </p:spPr>
        <p:txBody>
          <a:bodyPr anchorCtr="0" anchor="ctr" bIns="38100" lIns="76200" spcFirstLastPara="1" rIns="76200" wrap="square" tIns="38100">
            <a:noAutofit/>
          </a:bodyPr>
          <a:lstStyle/>
          <a:p>
            <a:pPr indent="0" lvl="0" marL="0" marR="0" rtl="0" algn="l">
              <a:lnSpc>
                <a:spcPct val="100000"/>
              </a:lnSpc>
              <a:spcBef>
                <a:spcPts val="0"/>
              </a:spcBef>
              <a:spcAft>
                <a:spcPts val="0"/>
              </a:spcAft>
              <a:buClr>
                <a:srgbClr val="565A32"/>
              </a:buClr>
              <a:buSzPts val="1100"/>
              <a:buFont typeface="Raleway SemiBold"/>
              <a:buNone/>
            </a:pPr>
            <a:r>
              <a:rPr b="1" i="0" lang="en-US" spc="0" sz="1100" u="none" cap="none" strike="noStrike">
                <a:solidFill>
                  <a:srgbClr val="565A32"/>
                </a:solidFill>
                <a:latin typeface="Raleway SemiBold"/>
                <a:ea typeface="Raleway SemiBold"/>
                <a:cs typeface="Raleway SemiBold"/>
                <a:sym typeface="Raleway SemiBold"/>
              </a:rPr>
              <a:t>STATUS  </a:t>
            </a:r>
            <a:r>
              <a:rPr b="0" i="0" lang="en-US" spc="0" sz="1100" u="none" cap="none" strike="noStrike">
                <a:solidFill>
                  <a:srgbClr val="565A32"/>
                </a:solidFill>
                <a:latin typeface="Raleway Light"/>
                <a:ea typeface="Raleway Light"/>
                <a:cs typeface="Raleway Light"/>
                <a:sym typeface="Raleway Light"/>
              </a:rPr>
              <a:t>Built in the app as a prototype. May be described as in development, never as complete (Brand Brain 00).</a:t>
            </a:r>
            <a:endParaRPr b="0" i="0" spc="0" sz="1400" u="none" cap="none" strike="noStrike">
              <a:solidFill>
                <a:srgbClr val="000000"/>
              </a:solidFill>
              <a:latin typeface="Arial"/>
              <a:ea typeface="Arial"/>
              <a:cs typeface="Arial"/>
              <a:sym typeface="Arial"/>
            </a:endParaRPr>
          </a:p>
        </p:txBody>
      </p:sp>
      <p:sp>
        <p:nvSpPr>
          <p:cNvPr id="540" name="Google Shape;540;p47"/>
          <p:cNvSpPr/>
          <p:nvPr/>
        </p:nvSpPr>
        <p:spPr>
          <a:xfrm>
            <a:off x="9262872" y="457200"/>
            <a:ext cx="2377440" cy="384048"/>
          </a:xfrm>
          <a:prstGeom prst="roundRect">
            <a:avLst>
              <a:gd fmla="val 50000" name="adj"/>
            </a:avLst>
          </a:prstGeom>
          <a:solidFill>
            <a:srgbClr val="8B8B5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1" i="0" lang="en-US" spc="0" sz="1400" u="none" cap="none" strike="noStrike">
                <a:solidFill>
                  <a:srgbClr val="FFFFFF"/>
                </a:solidFill>
                <a:latin typeface="Raleway SemiBold"/>
                <a:ea typeface="Raleway SemiBold"/>
                <a:cs typeface="Raleway SemiBold"/>
                <a:sym typeface="Raleway SemiBold"/>
              </a:rPr>
              <a:t>THE APP</a:t>
            </a:r>
            <a:endParaRPr b="0" i="0" spc="0" sz="1400" u="none" cap="none" strike="noStrike">
              <a:solidFill>
                <a:srgbClr val="000000"/>
              </a:solidFill>
              <a:latin typeface="Arial"/>
              <a:ea typeface="Arial"/>
              <a:cs typeface="Arial"/>
              <a:sym typeface="Arial"/>
            </a:endParaRPr>
          </a:p>
        </p:txBody>
      </p:sp>
      <p:sp>
        <p:nvSpPr>
          <p:cNvPr id="541" name="Google Shape;541;p47"/>
          <p:cNvSpPr/>
          <p:nvPr/>
        </p:nvSpPr>
        <p:spPr>
          <a:xfrm>
            <a:off x="0" y="0"/>
            <a:ext cx="12191700" cy="329100"/>
          </a:xfrm>
          <a:prstGeom prst="rect">
            <a:avLst/>
          </a:prstGeom>
          <a:solidFill>
            <a:srgbClr val="565A32"/>
          </a:solidFill>
          <a:ln cap="flat" cmpd="sng" w="12700">
            <a:solidFill>
              <a:srgbClr val="565A3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
        <p:nvSpPr>
          <p:cNvPr id="542" name="Slide number"/>
          <p:cNvSpPr txBox="1"/>
          <p:nvPr>
            <p:ph idx="4294967295" type="sldNum"/>
          </p:nvPr>
        </p:nvSpPr>
        <p:spPr>
          <a:xfrm>
            <a:off x="10180015" y="6355080"/>
            <a:ext cx="365760" cy="2743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000"/>
              <a:buNone/>
            </a:pPr>
            <a:fld id="{00000000-1234-1234-1234-123412341234}" type="slidenum">
              <a:rPr b="0" i="0" lang="en-US" sz="1000" u="none" cap="none" strike="noStrike">
                <a:solidFill>
                  <a:schemeClr val="dk1"/>
                </a:solidFill>
                <a:latin typeface="Raleway Light"/>
                <a:ea typeface="Raleway Light"/>
                <a:cs typeface="Raleway Light"/>
                <a:sym typeface="Raleway Light"/>
              </a:rPr>
              <a:t>‹#›</a:t>
            </a:fld>
            <a:endParaRPr b="0" i="0" sz="1000" u="none" cap="none" strike="noStrike">
              <a:solidFill>
                <a:schemeClr val="dk1"/>
              </a:solidFill>
              <a:latin typeface="Raleway Light"/>
              <a:ea typeface="Raleway Light"/>
              <a:cs typeface="Raleway Light"/>
              <a:sym typeface="Raleway Light"/>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AE0"/>
        </a:solidFill>
      </p:bgPr>
    </p:bg>
    <p:spTree>
      <p:nvGrpSpPr>
        <p:cNvPr id="546" name="Shape 546"/>
        <p:cNvGrpSpPr/>
        <p:nvPr/>
      </p:nvGrpSpPr>
      <p:grpSpPr>
        <a:xfrm>
          <a:off x="0" y="0"/>
          <a:ext cx="0" cy="0"/>
          <a:chOff x="0" y="0"/>
          <a:chExt cx="0" cy="0"/>
        </a:xfrm>
      </p:grpSpPr>
      <p:sp>
        <p:nvSpPr>
          <p:cNvPr id="547" name="Google Shape;547;p48"/>
          <p:cNvSpPr/>
          <p:nvPr/>
        </p:nvSpPr>
        <p:spPr>
          <a:xfrm>
            <a:off x="0" y="0"/>
            <a:ext cx="12191700" cy="6858000"/>
          </a:xfrm>
          <a:prstGeom prst="rect">
            <a:avLst/>
          </a:prstGeom>
          <a:solidFill>
            <a:srgbClr val="EFEAE0"/>
          </a:solidFill>
          <a:ln cap="flat" cmpd="sng" w="12700">
            <a:solidFill>
              <a:srgbClr val="EFEAE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
        <p:nvSpPr>
          <p:cNvPr id="548" name="Google Shape;548;p48"/>
          <p:cNvSpPr txBox="1"/>
          <p:nvPr/>
        </p:nvSpPr>
        <p:spPr>
          <a:xfrm>
            <a:off x="685800" y="475501"/>
            <a:ext cx="7315200" cy="5832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565A32"/>
              </a:buClr>
              <a:buSzPts val="3800"/>
              <a:buFont typeface="Raleway Light"/>
              <a:buNone/>
            </a:pPr>
            <a:r>
              <a:rPr b="0" i="0" lang="en-US" spc="0" sz="3800" u="none" cap="none" strike="noStrike">
                <a:solidFill>
                  <a:srgbClr val="565A32"/>
                </a:solidFill>
                <a:latin typeface="Raleway Light"/>
                <a:ea typeface="Raleway Light"/>
                <a:cs typeface="Raleway Light"/>
                <a:sym typeface="Raleway Light"/>
              </a:rPr>
              <a:t>Entre Amis stays</a:t>
            </a:r>
            <a:endParaRPr b="0" i="0" spc="0" sz="3800" u="none" cap="none" strike="noStrike">
              <a:solidFill>
                <a:schemeClr val="dk1"/>
              </a:solidFill>
              <a:latin typeface="Raleway Light"/>
              <a:ea typeface="Raleway Light"/>
              <a:cs typeface="Raleway Light"/>
              <a:sym typeface="Raleway Light"/>
            </a:endParaRPr>
          </a:p>
        </p:txBody>
      </p:sp>
      <p:sp>
        <p:nvSpPr>
          <p:cNvPr id="549" name="Google Shape;549;p48"/>
          <p:cNvSpPr txBox="1"/>
          <p:nvPr/>
        </p:nvSpPr>
        <p:spPr>
          <a:xfrm>
            <a:off x="685800" y="1104581"/>
            <a:ext cx="9346500" cy="3375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565A32"/>
              </a:buClr>
              <a:buSzPts val="1900"/>
              <a:buFont typeface="Raleway Light"/>
              <a:buNone/>
            </a:pPr>
            <a:r>
              <a:rPr b="0" i="0" lang="en-US" spc="0" sz="1900" u="none" cap="none" strike="noStrike">
                <a:solidFill>
                  <a:srgbClr val="565A32"/>
                </a:solidFill>
                <a:latin typeface="Raleway Light"/>
                <a:ea typeface="Raleway Light"/>
                <a:cs typeface="Raleway Light"/>
                <a:sym typeface="Raleway Light"/>
              </a:rPr>
              <a:t>Not a tour. Not a retreat. More like staying with friends who know all the good places.</a:t>
            </a:r>
            <a:endParaRPr b="0" i="0" spc="0" sz="1900" u="none" cap="none" strike="noStrike">
              <a:solidFill>
                <a:schemeClr val="dk1"/>
              </a:solidFill>
              <a:latin typeface="Raleway Light"/>
              <a:ea typeface="Raleway Light"/>
              <a:cs typeface="Raleway Light"/>
              <a:sym typeface="Raleway Light"/>
            </a:endParaRPr>
          </a:p>
        </p:txBody>
      </p:sp>
      <p:sp>
        <p:nvSpPr>
          <p:cNvPr id="550" name="Google Shape;550;p48"/>
          <p:cNvSpPr txBox="1"/>
          <p:nvPr/>
        </p:nvSpPr>
        <p:spPr>
          <a:xfrm>
            <a:off x="685800" y="1783080"/>
            <a:ext cx="7315200" cy="457200"/>
          </a:xfrm>
          <a:prstGeom prst="rect">
            <a:avLst/>
          </a:prstGeom>
          <a:noFill/>
          <a:ln>
            <a:noFill/>
          </a:ln>
        </p:spPr>
        <p:txBody>
          <a:bodyPr anchorCtr="0" anchor="t" bIns="0" lIns="0" spcFirstLastPara="1" rIns="0" wrap="square" tIns="0">
            <a:normAutofit fontScale="70000"/>
          </a:bodyPr>
          <a:lstStyle/>
          <a:p>
            <a:pPr indent="0" lvl="0" marL="0" marR="0" rtl="0" algn="l">
              <a:lnSpc>
                <a:spcPct val="100000"/>
              </a:lnSpc>
              <a:spcBef>
                <a:spcPts val="0"/>
              </a:spcBef>
              <a:spcAft>
                <a:spcPts val="0"/>
              </a:spcAft>
              <a:buClr>
                <a:srgbClr val="565A32"/>
              </a:buClr>
              <a:buSzPct val="100000"/>
              <a:buFont typeface="Raleway Light"/>
              <a:buNone/>
            </a:pPr>
            <a:r>
              <a:rPr b="0" i="0" lang="en-US" spc="0" sz="2500" u="none" cap="none" strike="noStrike">
                <a:solidFill>
                  <a:srgbClr val="565A32"/>
                </a:solidFill>
                <a:latin typeface="Raleway Light"/>
                <a:ea typeface="Raleway Light"/>
                <a:cs typeface="Raleway Light"/>
                <a:sym typeface="Raleway Light"/>
              </a:rPr>
              <a:t>A future ambition: Entre Amis, lived for a few days rather than played for an evening.</a:t>
            </a:r>
            <a:endParaRPr b="0" i="0" spc="0" sz="2500" u="none" cap="none" strike="noStrike">
              <a:solidFill>
                <a:schemeClr val="dk1"/>
              </a:solidFill>
              <a:latin typeface="Raleway Light"/>
              <a:ea typeface="Raleway Light"/>
              <a:cs typeface="Raleway Light"/>
              <a:sym typeface="Raleway Light"/>
            </a:endParaRPr>
          </a:p>
        </p:txBody>
      </p:sp>
      <p:sp>
        <p:nvSpPr>
          <p:cNvPr id="551" name="Google Shape;551;p48"/>
          <p:cNvSpPr txBox="1"/>
          <p:nvPr/>
        </p:nvSpPr>
        <p:spPr>
          <a:xfrm>
            <a:off x="713232" y="3220898"/>
            <a:ext cx="4983600" cy="2240400"/>
          </a:xfrm>
          <a:prstGeom prst="rect">
            <a:avLst/>
          </a:prstGeom>
          <a:noFill/>
          <a:ln>
            <a:noFill/>
          </a:ln>
        </p:spPr>
        <p:txBody>
          <a:bodyPr anchorCtr="0" anchor="t" bIns="0" lIns="0" spcFirstLastPara="1" rIns="0" wrap="square" tIns="0">
            <a:normAutofit/>
          </a:bodyPr>
          <a:lstStyle/>
          <a:p>
            <a:pPr indent="-355600" lvl="0" marL="457200" marR="0" rtl="0" algn="l">
              <a:lnSpc>
                <a:spcPct val="100000"/>
              </a:lnSpc>
              <a:spcBef>
                <a:spcPts val="0"/>
              </a:spcBef>
              <a:spcAft>
                <a:spcPts val="0"/>
              </a:spcAft>
              <a:buClr>
                <a:srgbClr val="565A32"/>
              </a:buClr>
              <a:buSzPts val="2000"/>
              <a:buFont typeface="Raleway Light"/>
              <a:buChar char="●"/>
            </a:pPr>
            <a:r>
              <a:rPr b="0" i="0" lang="en-US" spc="0" sz="2000" u="none" cap="none" strike="noStrike">
                <a:solidFill>
                  <a:srgbClr val="565A32"/>
                </a:solidFill>
                <a:latin typeface="Raleway Light"/>
                <a:ea typeface="Raleway Light"/>
                <a:cs typeface="Raleway Light"/>
                <a:sym typeface="Raleway Light"/>
              </a:rPr>
              <a:t>Shared tables, never rigid itineraries.</a:t>
            </a:r>
            <a:endParaRPr b="0" i="0" spc="0" sz="2000" u="none" cap="none" strike="noStrike">
              <a:solidFill>
                <a:schemeClr val="dk1"/>
              </a:solidFill>
              <a:latin typeface="Raleway Light"/>
              <a:ea typeface="Raleway Light"/>
              <a:cs typeface="Raleway Light"/>
              <a:sym typeface="Raleway Light"/>
            </a:endParaRPr>
          </a:p>
          <a:p>
            <a:pPr indent="-355600" lvl="0" marL="457200" marR="0" rtl="0" algn="l">
              <a:lnSpc>
                <a:spcPct val="100000"/>
              </a:lnSpc>
              <a:spcBef>
                <a:spcPts val="0"/>
              </a:spcBef>
              <a:spcAft>
                <a:spcPts val="0"/>
              </a:spcAft>
              <a:buClr>
                <a:srgbClr val="565A32"/>
              </a:buClr>
              <a:buSzPts val="2000"/>
              <a:buFont typeface="Raleway Light"/>
              <a:buChar char="●"/>
            </a:pPr>
            <a:r>
              <a:rPr b="0" i="0" lang="en-US" spc="0" sz="2000" u="none" cap="none" strike="noStrike">
                <a:solidFill>
                  <a:srgbClr val="565A32"/>
                </a:solidFill>
                <a:latin typeface="Raleway Light"/>
                <a:ea typeface="Raleway Light"/>
                <a:cs typeface="Raleway Light"/>
                <a:sym typeface="Raleway Light"/>
              </a:rPr>
              <a:t>Everything is optional.</a:t>
            </a:r>
            <a:endParaRPr b="0" i="0" spc="0" sz="2000" u="none" cap="none" strike="noStrike">
              <a:solidFill>
                <a:schemeClr val="dk1"/>
              </a:solidFill>
              <a:latin typeface="Raleway Light"/>
              <a:ea typeface="Raleway Light"/>
              <a:cs typeface="Raleway Light"/>
              <a:sym typeface="Raleway Light"/>
            </a:endParaRPr>
          </a:p>
          <a:p>
            <a:pPr indent="-355600" lvl="0" marL="457200" marR="0" rtl="0" algn="l">
              <a:lnSpc>
                <a:spcPct val="100000"/>
              </a:lnSpc>
              <a:spcBef>
                <a:spcPts val="0"/>
              </a:spcBef>
              <a:spcAft>
                <a:spcPts val="0"/>
              </a:spcAft>
              <a:buClr>
                <a:srgbClr val="565A32"/>
              </a:buClr>
              <a:buSzPts val="2000"/>
              <a:buFont typeface="Raleway Light"/>
              <a:buChar char="●"/>
            </a:pPr>
            <a:r>
              <a:rPr b="0" i="0" lang="en-US" spc="0" sz="2000" u="none" cap="none" strike="noStrike">
                <a:solidFill>
                  <a:srgbClr val="565A32"/>
                </a:solidFill>
                <a:latin typeface="Raleway Light"/>
                <a:ea typeface="Raleway Light"/>
                <a:cs typeface="Raleway Light"/>
                <a:sym typeface="Raleway Light"/>
              </a:rPr>
              <a:t>Wine explained when you are curious, not taught at you.</a:t>
            </a:r>
            <a:endParaRPr b="0" i="0" spc="0" sz="2000" u="none" cap="none" strike="noStrike">
              <a:solidFill>
                <a:schemeClr val="dk1"/>
              </a:solidFill>
              <a:latin typeface="Raleway Light"/>
              <a:ea typeface="Raleway Light"/>
              <a:cs typeface="Raleway Light"/>
              <a:sym typeface="Raleway Light"/>
            </a:endParaRPr>
          </a:p>
          <a:p>
            <a:pPr indent="-355600" lvl="0" marL="457200" marR="0" rtl="0" algn="l">
              <a:lnSpc>
                <a:spcPct val="100000"/>
              </a:lnSpc>
              <a:spcBef>
                <a:spcPts val="0"/>
              </a:spcBef>
              <a:spcAft>
                <a:spcPts val="0"/>
              </a:spcAft>
              <a:buClr>
                <a:srgbClr val="565A32"/>
              </a:buClr>
              <a:buSzPts val="2000"/>
              <a:buFont typeface="Raleway Light"/>
              <a:buChar char="●"/>
            </a:pPr>
            <a:r>
              <a:rPr b="0" i="0" lang="en-US" spc="0" sz="2000" u="none" cap="none" strike="noStrike">
                <a:solidFill>
                  <a:srgbClr val="565A32"/>
                </a:solidFill>
                <a:latin typeface="Raleway Light"/>
                <a:ea typeface="Raleway Light"/>
                <a:cs typeface="Raleway Light"/>
                <a:sym typeface="Raleway Light"/>
              </a:rPr>
              <a:t>Local places chosen because we love them, not because they are on a checklist.</a:t>
            </a:r>
            <a:endParaRPr b="0" i="0" spc="0" sz="2000" u="none" cap="none" strike="noStrike">
              <a:solidFill>
                <a:schemeClr val="dk1"/>
              </a:solidFill>
              <a:latin typeface="Raleway Light"/>
              <a:ea typeface="Raleway Light"/>
              <a:cs typeface="Raleway Light"/>
              <a:sym typeface="Raleway Light"/>
            </a:endParaRPr>
          </a:p>
        </p:txBody>
      </p:sp>
      <p:sp>
        <p:nvSpPr>
          <p:cNvPr id="552" name="Google Shape;552;p48"/>
          <p:cNvSpPr txBox="1"/>
          <p:nvPr/>
        </p:nvSpPr>
        <p:spPr>
          <a:xfrm>
            <a:off x="6035040" y="3220898"/>
            <a:ext cx="4663500" cy="2240400"/>
          </a:xfrm>
          <a:prstGeom prst="rect">
            <a:avLst/>
          </a:prstGeom>
          <a:noFill/>
          <a:ln>
            <a:noFill/>
          </a:ln>
        </p:spPr>
        <p:txBody>
          <a:bodyPr anchorCtr="0" anchor="t" bIns="0" lIns="0" spcFirstLastPara="1" rIns="0" wrap="square" tIns="0">
            <a:normAutofit lnSpcReduction="20000"/>
          </a:bodyPr>
          <a:lstStyle/>
          <a:p>
            <a:pPr indent="-355600" lvl="0" marL="457200" marR="0" rtl="0" algn="l">
              <a:lnSpc>
                <a:spcPct val="100000"/>
              </a:lnSpc>
              <a:spcBef>
                <a:spcPts val="0"/>
              </a:spcBef>
              <a:spcAft>
                <a:spcPts val="0"/>
              </a:spcAft>
              <a:buClr>
                <a:srgbClr val="565A32"/>
              </a:buClr>
              <a:buSzPts val="2000"/>
              <a:buFont typeface="Raleway Light"/>
              <a:buChar char="●"/>
            </a:pPr>
            <a:r>
              <a:rPr b="0" i="0" lang="en-US" spc="0" sz="2000" u="none" cap="none" strike="noStrike">
                <a:solidFill>
                  <a:srgbClr val="565A32"/>
                </a:solidFill>
                <a:latin typeface="Raleway Light"/>
                <a:ea typeface="Raleway Light"/>
                <a:cs typeface="Raleway Light"/>
                <a:sym typeface="Raleway Light"/>
              </a:rPr>
              <a:t>Time to disappear for an afternoon if you want to.</a:t>
            </a:r>
            <a:endParaRPr b="0" i="0" spc="0" sz="2000" u="none" cap="none" strike="noStrike">
              <a:solidFill>
                <a:schemeClr val="dk1"/>
              </a:solidFill>
              <a:latin typeface="Raleway Light"/>
              <a:ea typeface="Raleway Light"/>
              <a:cs typeface="Raleway Light"/>
              <a:sym typeface="Raleway Light"/>
            </a:endParaRPr>
          </a:p>
          <a:p>
            <a:pPr indent="-355600" lvl="0" marL="457200" marR="0" rtl="0" algn="l">
              <a:lnSpc>
                <a:spcPct val="100000"/>
              </a:lnSpc>
              <a:spcBef>
                <a:spcPts val="0"/>
              </a:spcBef>
              <a:spcAft>
                <a:spcPts val="0"/>
              </a:spcAft>
              <a:buClr>
                <a:srgbClr val="565A32"/>
              </a:buClr>
              <a:buSzPts val="2000"/>
              <a:buFont typeface="Raleway Light"/>
              <a:buChar char="●"/>
            </a:pPr>
            <a:r>
              <a:rPr b="0" i="0" lang="en-US" spc="0" sz="2000" u="none" cap="none" strike="noStrike">
                <a:solidFill>
                  <a:srgbClr val="565A32"/>
                </a:solidFill>
                <a:latin typeface="Raleway Light"/>
                <a:ea typeface="Raleway Light"/>
                <a:cs typeface="Raleway Light"/>
                <a:sym typeface="Raleway Light"/>
              </a:rPr>
              <a:t>One or two brilliant surprises.</a:t>
            </a:r>
            <a:endParaRPr b="0" i="0" spc="0" sz="2000" u="none" cap="none" strike="noStrike">
              <a:solidFill>
                <a:schemeClr val="dk1"/>
              </a:solidFill>
              <a:latin typeface="Raleway Light"/>
              <a:ea typeface="Raleway Light"/>
              <a:cs typeface="Raleway Light"/>
              <a:sym typeface="Raleway Light"/>
            </a:endParaRPr>
          </a:p>
          <a:p>
            <a:pPr indent="-355600" lvl="0" marL="457200" marR="0" rtl="0" algn="l">
              <a:lnSpc>
                <a:spcPct val="100000"/>
              </a:lnSpc>
              <a:spcBef>
                <a:spcPts val="0"/>
              </a:spcBef>
              <a:spcAft>
                <a:spcPts val="0"/>
              </a:spcAft>
              <a:buClr>
                <a:srgbClr val="565A32"/>
              </a:buClr>
              <a:buSzPts val="2000"/>
              <a:buFont typeface="Raleway Light"/>
              <a:buChar char="●"/>
            </a:pPr>
            <a:r>
              <a:rPr b="0" i="0" lang="en-US" spc="0" sz="2000" u="none" cap="none" strike="noStrike">
                <a:solidFill>
                  <a:srgbClr val="565A32"/>
                </a:solidFill>
                <a:latin typeface="Raleway Light"/>
                <a:ea typeface="Raleway Light"/>
                <a:cs typeface="Raleway Light"/>
                <a:sym typeface="Raleway Light"/>
              </a:rPr>
              <a:t>A relaxed Provençal home where you can wander, read and swim.</a:t>
            </a:r>
            <a:endParaRPr b="0" i="0" spc="0" sz="2000" u="none" cap="none" strike="noStrike">
              <a:solidFill>
                <a:schemeClr val="dk1"/>
              </a:solidFill>
              <a:latin typeface="Raleway Light"/>
              <a:ea typeface="Raleway Light"/>
              <a:cs typeface="Raleway Light"/>
              <a:sym typeface="Raleway Light"/>
            </a:endParaRPr>
          </a:p>
          <a:p>
            <a:pPr indent="-355600" lvl="0" marL="457200" marR="0" rtl="0" algn="l">
              <a:lnSpc>
                <a:spcPct val="100000"/>
              </a:lnSpc>
              <a:spcBef>
                <a:spcPts val="0"/>
              </a:spcBef>
              <a:spcAft>
                <a:spcPts val="0"/>
              </a:spcAft>
              <a:buClr>
                <a:srgbClr val="565A32"/>
              </a:buClr>
              <a:buSzPts val="2000"/>
              <a:buFont typeface="Raleway Light"/>
              <a:buChar char="●"/>
            </a:pPr>
            <a:r>
              <a:rPr b="0" i="0" lang="en-US" spc="0" sz="2000" u="none" cap="none" strike="noStrike">
                <a:solidFill>
                  <a:srgbClr val="565A32"/>
                </a:solidFill>
                <a:latin typeface="Raleway Light"/>
                <a:ea typeface="Raleway Light"/>
                <a:cs typeface="Raleway Light"/>
                <a:sym typeface="Raleway Light"/>
              </a:rPr>
              <a:t>The feeling that you are staying with friends who happen to know Provence rather well.</a:t>
            </a:r>
            <a:endParaRPr b="0" i="0" spc="0" sz="2000" u="none" cap="none" strike="noStrike">
              <a:solidFill>
                <a:schemeClr val="dk1"/>
              </a:solidFill>
              <a:latin typeface="Raleway Light"/>
              <a:ea typeface="Raleway Light"/>
              <a:cs typeface="Raleway Light"/>
              <a:sym typeface="Raleway Light"/>
            </a:endParaRPr>
          </a:p>
        </p:txBody>
      </p:sp>
      <p:sp>
        <p:nvSpPr>
          <p:cNvPr id="553" name="Google Shape;553;p48"/>
          <p:cNvSpPr txBox="1"/>
          <p:nvPr/>
        </p:nvSpPr>
        <p:spPr>
          <a:xfrm>
            <a:off x="685800" y="6355080"/>
            <a:ext cx="4114800" cy="2376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565A32"/>
              </a:buClr>
              <a:buSzPts val="1300"/>
              <a:buFont typeface="Raleway Light"/>
              <a:buNone/>
            </a:pPr>
            <a:r>
              <a:rPr b="0" i="0" lang="en-US" spc="0" sz="1300" u="none" cap="none" strike="noStrike">
                <a:solidFill>
                  <a:srgbClr val="565A32"/>
                </a:solidFill>
                <a:latin typeface="Raleway Light"/>
                <a:ea typeface="Raleway Light"/>
                <a:cs typeface="Raleway Light"/>
                <a:sym typeface="Raleway Light"/>
              </a:rPr>
              <a:t>Say what you really think.</a:t>
            </a:r>
            <a:endParaRPr b="0" i="0" spc="0" sz="1300" u="none" cap="none" strike="noStrike">
              <a:solidFill>
                <a:schemeClr val="dk1"/>
              </a:solidFill>
              <a:latin typeface="Raleway Light"/>
              <a:ea typeface="Raleway Light"/>
              <a:cs typeface="Raleway Light"/>
              <a:sym typeface="Raleway Light"/>
            </a:endParaRPr>
          </a:p>
        </p:txBody>
      </p:sp>
      <p:pic>
        <p:nvPicPr>
          <p:cNvPr id="554" name="Google Shape;554;p48" title="Copy_of_Untitled-removebg-preview.png"/>
          <p:cNvPicPr preferRelativeResize="0"/>
          <p:nvPr/>
        </p:nvPicPr>
        <p:blipFill rotWithShape="1">
          <a:blip r:embed="rId3">
            <a:alphaModFix/>
          </a:blip>
          <a:srcRect b="0" l="0" r="0" t="0"/>
          <a:stretch/>
        </p:blipFill>
        <p:spPr>
          <a:xfrm>
            <a:off x="9834990" y="5349262"/>
            <a:ext cx="1508730" cy="1508730"/>
          </a:xfrm>
          <a:prstGeom prst="rect">
            <a:avLst/>
          </a:prstGeom>
          <a:noFill/>
          <a:ln>
            <a:noFill/>
          </a:ln>
        </p:spPr>
      </p:pic>
      <p:sp>
        <p:nvSpPr>
          <p:cNvPr id="555" name="Google Shape;555;p48"/>
          <p:cNvSpPr/>
          <p:nvPr/>
        </p:nvSpPr>
        <p:spPr>
          <a:xfrm>
            <a:off x="9262872" y="457200"/>
            <a:ext cx="2377440" cy="384048"/>
          </a:xfrm>
          <a:prstGeom prst="roundRect">
            <a:avLst>
              <a:gd fmla="val 50000" name="adj"/>
            </a:avLst>
          </a:prstGeom>
          <a:solidFill>
            <a:srgbClr val="B9BC9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1" i="0" lang="en-US" spc="0" sz="1400" u="none" cap="none" strike="noStrike">
                <a:solidFill>
                  <a:srgbClr val="565A32"/>
                </a:solidFill>
                <a:latin typeface="Raleway SemiBold"/>
                <a:ea typeface="Raleway SemiBold"/>
                <a:cs typeface="Raleway SemiBold"/>
                <a:sym typeface="Raleway SemiBold"/>
              </a:rPr>
              <a:t>STAYS</a:t>
            </a:r>
            <a:endParaRPr b="0" i="0" spc="0" sz="1400" u="none" cap="none" strike="noStrike">
              <a:solidFill>
                <a:srgbClr val="000000"/>
              </a:solidFill>
              <a:latin typeface="Arial"/>
              <a:ea typeface="Arial"/>
              <a:cs typeface="Arial"/>
              <a:sym typeface="Arial"/>
            </a:endParaRPr>
          </a:p>
        </p:txBody>
      </p:sp>
      <p:sp>
        <p:nvSpPr>
          <p:cNvPr id="556" name="Google Shape;556;p48"/>
          <p:cNvSpPr/>
          <p:nvPr/>
        </p:nvSpPr>
        <p:spPr>
          <a:xfrm>
            <a:off x="0" y="0"/>
            <a:ext cx="12191700" cy="329100"/>
          </a:xfrm>
          <a:prstGeom prst="rect">
            <a:avLst/>
          </a:prstGeom>
          <a:solidFill>
            <a:srgbClr val="565A32"/>
          </a:solidFill>
          <a:ln cap="flat" cmpd="sng" w="12700">
            <a:solidFill>
              <a:srgbClr val="565A3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
        <p:nvSpPr>
          <p:cNvPr id="557" name="Slide number"/>
          <p:cNvSpPr txBox="1"/>
          <p:nvPr>
            <p:ph idx="4294967295" type="sldNum"/>
          </p:nvPr>
        </p:nvSpPr>
        <p:spPr>
          <a:xfrm>
            <a:off x="9372600" y="5971032"/>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chemeClr val="dk1"/>
                </a:solidFill>
                <a:latin typeface="Raleway Light"/>
                <a:ea typeface="Raleway Light"/>
                <a:cs typeface="Raleway Light"/>
                <a:sym typeface="Raleway Light"/>
              </a:rPr>
              <a:t>‹#›</a:t>
            </a:fld>
            <a:endParaRPr b="0" i="0" sz="1000" u="none" cap="none" strike="noStrike">
              <a:solidFill>
                <a:schemeClr val="dk1"/>
              </a:solidFill>
              <a:latin typeface="Raleway Light"/>
              <a:ea typeface="Raleway Light"/>
              <a:cs typeface="Raleway Light"/>
              <a:sym typeface="Raleway Light"/>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AE0"/>
        </a:solidFill>
      </p:bgPr>
    </p:bg>
    <p:spTree>
      <p:nvGrpSpPr>
        <p:cNvPr id="561" name="Shape 561"/>
        <p:cNvGrpSpPr/>
        <p:nvPr/>
      </p:nvGrpSpPr>
      <p:grpSpPr>
        <a:xfrm>
          <a:off x="0" y="0"/>
          <a:ext cx="0" cy="0"/>
          <a:chOff x="0" y="0"/>
          <a:chExt cx="0" cy="0"/>
        </a:xfrm>
      </p:grpSpPr>
      <p:sp>
        <p:nvSpPr>
          <p:cNvPr id="562" name="Google Shape;562;p49"/>
          <p:cNvSpPr/>
          <p:nvPr/>
        </p:nvSpPr>
        <p:spPr>
          <a:xfrm>
            <a:off x="0" y="0"/>
            <a:ext cx="12191700" cy="6858000"/>
          </a:xfrm>
          <a:prstGeom prst="rect">
            <a:avLst/>
          </a:prstGeom>
          <a:solidFill>
            <a:srgbClr val="EFEAE0"/>
          </a:solidFill>
          <a:ln cap="flat" cmpd="sng" w="12700">
            <a:solidFill>
              <a:srgbClr val="EFEAE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
        <p:nvSpPr>
          <p:cNvPr id="563" name="Google Shape;563;p49"/>
          <p:cNvSpPr txBox="1"/>
          <p:nvPr/>
        </p:nvSpPr>
        <p:spPr>
          <a:xfrm>
            <a:off x="685800" y="475488"/>
            <a:ext cx="7315200" cy="5832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565A32"/>
              </a:buClr>
              <a:buSzPts val="3800"/>
              <a:buFont typeface="Raleway Light"/>
              <a:buNone/>
            </a:pPr>
            <a:r>
              <a:rPr b="0" i="0" lang="en-US" spc="0" sz="3800" u="none" cap="none" strike="noStrike">
                <a:solidFill>
                  <a:srgbClr val="565A32"/>
                </a:solidFill>
                <a:latin typeface="Raleway Light"/>
                <a:ea typeface="Raleway Light"/>
                <a:cs typeface="Raleway Light"/>
                <a:sym typeface="Raleway Light"/>
              </a:rPr>
              <a:t>The future of product</a:t>
            </a:r>
            <a:endParaRPr b="0" i="0" spc="0" sz="3800" u="none" cap="none" strike="noStrike">
              <a:solidFill>
                <a:schemeClr val="dk1"/>
              </a:solidFill>
              <a:latin typeface="Raleway Light"/>
              <a:ea typeface="Raleway Light"/>
              <a:cs typeface="Raleway Light"/>
              <a:sym typeface="Raleway Light"/>
            </a:endParaRPr>
          </a:p>
        </p:txBody>
      </p:sp>
      <p:sp>
        <p:nvSpPr>
          <p:cNvPr id="564" name="Google Shape;564;p49"/>
          <p:cNvSpPr txBox="1"/>
          <p:nvPr/>
        </p:nvSpPr>
        <p:spPr>
          <a:xfrm>
            <a:off x="685800" y="6355080"/>
            <a:ext cx="4114800" cy="2376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565A32"/>
              </a:buClr>
              <a:buSzPts val="1300"/>
              <a:buFont typeface="Raleway Light"/>
              <a:buNone/>
            </a:pPr>
            <a:r>
              <a:rPr b="0" i="0" lang="en-US" spc="0" sz="1300" u="none" cap="none" strike="noStrike">
                <a:solidFill>
                  <a:srgbClr val="565A32"/>
                </a:solidFill>
                <a:latin typeface="Raleway Light"/>
                <a:ea typeface="Raleway Light"/>
                <a:cs typeface="Raleway Light"/>
                <a:sym typeface="Raleway Light"/>
              </a:rPr>
              <a:t>Say what you really think.</a:t>
            </a:r>
            <a:endParaRPr b="0" i="0" spc="0" sz="1300" u="none" cap="none" strike="noStrike">
              <a:solidFill>
                <a:schemeClr val="dk1"/>
              </a:solidFill>
              <a:latin typeface="Raleway Light"/>
              <a:ea typeface="Raleway Light"/>
              <a:cs typeface="Raleway Light"/>
              <a:sym typeface="Raleway Light"/>
            </a:endParaRPr>
          </a:p>
        </p:txBody>
      </p:sp>
      <p:pic>
        <p:nvPicPr>
          <p:cNvPr id="565" name="Google Shape;565;p49" title="Copy_of_Untitled-removebg-preview.png"/>
          <p:cNvPicPr preferRelativeResize="0"/>
          <p:nvPr/>
        </p:nvPicPr>
        <p:blipFill rotWithShape="1">
          <a:blip r:embed="rId3">
            <a:alphaModFix/>
          </a:blip>
          <a:srcRect b="0" l="0" r="0" t="0"/>
          <a:stretch/>
        </p:blipFill>
        <p:spPr>
          <a:xfrm>
            <a:off x="9834990" y="5349262"/>
            <a:ext cx="1508730" cy="1508730"/>
          </a:xfrm>
          <a:prstGeom prst="rect">
            <a:avLst/>
          </a:prstGeom>
          <a:noFill/>
          <a:ln>
            <a:noFill/>
          </a:ln>
        </p:spPr>
      </p:pic>
      <p:sp>
        <p:nvSpPr>
          <p:cNvPr id="566" name="Google Shape;566;p49"/>
          <p:cNvSpPr/>
          <p:nvPr/>
        </p:nvSpPr>
        <p:spPr>
          <a:xfrm>
            <a:off x="9262872" y="457200"/>
            <a:ext cx="2377440" cy="384048"/>
          </a:xfrm>
          <a:prstGeom prst="roundRect">
            <a:avLst>
              <a:gd fmla="val 50000" name="adj"/>
            </a:avLst>
          </a:prstGeom>
          <a:solidFill>
            <a:srgbClr val="EFEAE0"/>
          </a:solidFill>
          <a:ln cap="flat" cmpd="sng" w="12700">
            <a:solidFill>
              <a:srgbClr val="565A32"/>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1" i="0" lang="en-US" spc="0" sz="1400" u="none" cap="none" strike="noStrike">
                <a:solidFill>
                  <a:srgbClr val="565A32"/>
                </a:solidFill>
                <a:latin typeface="Raleway SemiBold"/>
                <a:ea typeface="Raleway SemiBold"/>
                <a:cs typeface="Raleway SemiBold"/>
                <a:sym typeface="Raleway SemiBold"/>
              </a:rPr>
              <a:t>INTERNAL</a:t>
            </a:r>
            <a:endParaRPr b="0" i="0" spc="0" sz="1400" u="none" cap="none" strike="noStrike">
              <a:solidFill>
                <a:srgbClr val="000000"/>
              </a:solidFill>
              <a:latin typeface="Arial"/>
              <a:ea typeface="Arial"/>
              <a:cs typeface="Arial"/>
              <a:sym typeface="Arial"/>
            </a:endParaRPr>
          </a:p>
        </p:txBody>
      </p:sp>
      <p:sp>
        <p:nvSpPr>
          <p:cNvPr id="567" name="Google Shape;567;p49"/>
          <p:cNvSpPr txBox="1"/>
          <p:nvPr/>
        </p:nvSpPr>
        <p:spPr>
          <a:xfrm>
            <a:off x="685800" y="1042415"/>
            <a:ext cx="8686800" cy="38404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pc="0" sz="1900" u="none" cap="none" strike="noStrike">
                <a:solidFill>
                  <a:srgbClr val="565A32"/>
                </a:solidFill>
                <a:latin typeface="Raleway Light"/>
                <a:ea typeface="Raleway Light"/>
                <a:cs typeface="Raleway Light"/>
                <a:sym typeface="Raleway Light"/>
              </a:rPr>
              <a:t>Where the product could go next. Internal only.</a:t>
            </a:r>
            <a:endParaRPr/>
          </a:p>
        </p:txBody>
      </p:sp>
      <p:sp>
        <p:nvSpPr>
          <p:cNvPr id="568" name="Google Shape;568;p49"/>
          <p:cNvSpPr/>
          <p:nvPr/>
        </p:nvSpPr>
        <p:spPr>
          <a:xfrm>
            <a:off x="685800" y="1737360"/>
            <a:ext cx="2560320" cy="3246120"/>
          </a:xfrm>
          <a:prstGeom prst="roundRect">
            <a:avLst>
              <a:gd fmla="val 5217" name="adj"/>
            </a:avLst>
          </a:prstGeom>
          <a:solidFill>
            <a:srgbClr val="FFFFFF"/>
          </a:solidFill>
          <a:ln cap="flat" cmpd="sng" w="12700">
            <a:solidFill>
              <a:srgbClr val="FFFFFF"/>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69" name="Google Shape;569;p49"/>
          <p:cNvSpPr txBox="1"/>
          <p:nvPr/>
        </p:nvSpPr>
        <p:spPr>
          <a:xfrm>
            <a:off x="886968" y="1920240"/>
            <a:ext cx="2157984" cy="2971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65A32"/>
              </a:buClr>
              <a:buSzPts val="1200"/>
              <a:buFont typeface="Raleway SemiBold"/>
              <a:buNone/>
            </a:pPr>
            <a:r>
              <a:rPr b="1" i="0" lang="en-US" spc="0" sz="1200" u="none" cap="none" strike="noStrike">
                <a:solidFill>
                  <a:srgbClr val="565A32"/>
                </a:solidFill>
                <a:latin typeface="Raleway SemiBold"/>
                <a:ea typeface="Raleway SemiBold"/>
                <a:cs typeface="Raleway SemiBold"/>
                <a:sym typeface="Raleway SemiBold"/>
              </a:rPr>
              <a:t>THE GAME</a:t>
            </a:r>
            <a:endParaRPr b="0" i="0" spc="0" sz="1600" u="none" cap="none" strike="noStrike">
              <a:solidFill>
                <a:srgbClr val="565A32"/>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rgbClr val="565A32"/>
              </a:buClr>
              <a:buSzPts val="600"/>
              <a:buFont typeface="Raleway Light"/>
              <a:buNone/>
            </a:pPr>
            <a:r>
              <a:rPr b="0" i="0" lang="en-US" spc="0" sz="600" u="none" cap="none" strike="noStrike">
                <a:solidFill>
                  <a:srgbClr val="565A32"/>
                </a:solidFill>
                <a:latin typeface="Raleway Light"/>
                <a:ea typeface="Raleway Light"/>
                <a:cs typeface="Raleway Light"/>
                <a:sym typeface="Raleway Light"/>
              </a:rPr>
              <a:t> </a:t>
            </a:r>
            <a:endParaRPr b="0" i="0" spc="0" sz="1600" u="none" cap="none" strike="noStrike">
              <a:solidFill>
                <a:srgbClr val="565A32"/>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rgbClr val="565A32"/>
              </a:buClr>
              <a:buSzPts val="1600"/>
              <a:buFont typeface="Raleway Light"/>
              <a:buNone/>
            </a:pPr>
            <a:r>
              <a:rPr b="0" i="0" lang="en-US" spc="0" sz="1600" u="none" cap="none" strike="noStrike">
                <a:solidFill>
                  <a:srgbClr val="565A32"/>
                </a:solidFill>
                <a:latin typeface="Raleway Light"/>
                <a:ea typeface="Raleway Light"/>
                <a:cs typeface="Raleway Light"/>
                <a:sym typeface="Raleway Light"/>
              </a:rPr>
              <a:t>The game mat as a printed, washable textile with original art. Artist editions and collaborations. A signature Entre Amis table setting.</a:t>
            </a:r>
            <a:endParaRPr b="0" i="0" spc="0" sz="1600" u="none" cap="none" strike="noStrike">
              <a:solidFill>
                <a:srgbClr val="565A32"/>
              </a:solidFill>
              <a:latin typeface="Raleway Light"/>
              <a:ea typeface="Raleway Light"/>
              <a:cs typeface="Raleway Light"/>
              <a:sym typeface="Raleway Light"/>
            </a:endParaRPr>
          </a:p>
        </p:txBody>
      </p:sp>
      <p:sp>
        <p:nvSpPr>
          <p:cNvPr id="570" name="Google Shape;570;p49"/>
          <p:cNvSpPr/>
          <p:nvPr/>
        </p:nvSpPr>
        <p:spPr>
          <a:xfrm>
            <a:off x="886968" y="4434840"/>
            <a:ext cx="2157984" cy="292608"/>
          </a:xfrm>
          <a:prstGeom prst="roundRect">
            <a:avLst>
              <a:gd fmla="val 50000" name="adj"/>
            </a:avLst>
          </a:prstGeom>
          <a:solidFill>
            <a:srgbClr val="8B8B5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pc="0" sz="1050" u="none" cap="none" strike="noStrike">
                <a:solidFill>
                  <a:srgbClr val="FFFFFF"/>
                </a:solidFill>
                <a:latin typeface="Raleway SemiBold"/>
                <a:ea typeface="Raleway SemiBold"/>
                <a:cs typeface="Raleway SemiBold"/>
                <a:sym typeface="Raleway SemiBold"/>
              </a:rPr>
              <a:t>Early thinking</a:t>
            </a:r>
            <a:endParaRPr/>
          </a:p>
        </p:txBody>
      </p:sp>
      <p:sp>
        <p:nvSpPr>
          <p:cNvPr id="571" name="Google Shape;571;p49"/>
          <p:cNvSpPr/>
          <p:nvPr/>
        </p:nvSpPr>
        <p:spPr>
          <a:xfrm>
            <a:off x="3410712" y="1737360"/>
            <a:ext cx="2560320" cy="3246120"/>
          </a:xfrm>
          <a:prstGeom prst="roundRect">
            <a:avLst>
              <a:gd fmla="val 5217" name="adj"/>
            </a:avLst>
          </a:prstGeom>
          <a:solidFill>
            <a:srgbClr val="FFFFFF"/>
          </a:solidFill>
          <a:ln cap="flat" cmpd="sng" w="12700">
            <a:solidFill>
              <a:srgbClr val="FFFFFF"/>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72" name="Google Shape;572;p49"/>
          <p:cNvSpPr txBox="1"/>
          <p:nvPr/>
        </p:nvSpPr>
        <p:spPr>
          <a:xfrm>
            <a:off x="3611880" y="1920240"/>
            <a:ext cx="2157984" cy="2971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65A32"/>
              </a:buClr>
              <a:buSzPts val="1200"/>
              <a:buFont typeface="Raleway SemiBold"/>
              <a:buNone/>
            </a:pPr>
            <a:r>
              <a:rPr b="1" i="0" lang="en-US" spc="0" sz="1200" u="none" cap="none" strike="noStrike">
                <a:solidFill>
                  <a:srgbClr val="565A32"/>
                </a:solidFill>
                <a:latin typeface="Raleway SemiBold"/>
                <a:ea typeface="Raleway SemiBold"/>
                <a:cs typeface="Raleway SemiBold"/>
                <a:sym typeface="Raleway SemiBold"/>
              </a:rPr>
              <a:t>EDITIONS</a:t>
            </a:r>
            <a:endParaRPr b="0" i="0" spc="0" sz="1600" u="none" cap="none" strike="noStrike">
              <a:solidFill>
                <a:srgbClr val="565A32"/>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rgbClr val="565A32"/>
              </a:buClr>
              <a:buSzPts val="600"/>
              <a:buFont typeface="Raleway Light"/>
              <a:buNone/>
            </a:pPr>
            <a:r>
              <a:rPr b="0" i="0" lang="en-US" spc="0" sz="600" u="none" cap="none" strike="noStrike">
                <a:solidFill>
                  <a:srgbClr val="565A32"/>
                </a:solidFill>
                <a:latin typeface="Raleway Light"/>
                <a:ea typeface="Raleway Light"/>
                <a:cs typeface="Raleway Light"/>
                <a:sym typeface="Raleway Light"/>
              </a:rPr>
              <a:t> </a:t>
            </a:r>
            <a:endParaRPr b="0" i="0" spc="0" sz="1600" u="none" cap="none" strike="noStrike">
              <a:solidFill>
                <a:srgbClr val="565A32"/>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rgbClr val="565A32"/>
              </a:buClr>
              <a:buSzPts val="1600"/>
              <a:buFont typeface="Raleway Light"/>
              <a:buNone/>
            </a:pPr>
            <a:r>
              <a:rPr b="0" i="0" lang="en-US" spc="0" sz="1600" u="none" cap="none" strike="noStrike">
                <a:solidFill>
                  <a:srgbClr val="565A32"/>
                </a:solidFill>
                <a:latin typeface="Raleway Light"/>
                <a:ea typeface="Raleway Light"/>
                <a:cs typeface="Raleway Light"/>
                <a:sym typeface="Raleway Light"/>
              </a:rPr>
              <a:t>Seasonal Mini-Editions, such as Christmas. Curated Collaborations with chosen partners. A time-limited edition inside an Event Mode relationship.</a:t>
            </a:r>
            <a:endParaRPr b="0" i="0" spc="0" sz="1600" u="none" cap="none" strike="noStrike">
              <a:solidFill>
                <a:srgbClr val="565A32"/>
              </a:solidFill>
              <a:latin typeface="Raleway Light"/>
              <a:ea typeface="Raleway Light"/>
              <a:cs typeface="Raleway Light"/>
              <a:sym typeface="Raleway Light"/>
            </a:endParaRPr>
          </a:p>
        </p:txBody>
      </p:sp>
      <p:sp>
        <p:nvSpPr>
          <p:cNvPr id="573" name="Google Shape;573;p49"/>
          <p:cNvSpPr/>
          <p:nvPr/>
        </p:nvSpPr>
        <p:spPr>
          <a:xfrm>
            <a:off x="3611880" y="4434840"/>
            <a:ext cx="2157984" cy="292608"/>
          </a:xfrm>
          <a:prstGeom prst="roundRect">
            <a:avLst>
              <a:gd fmla="val 50000" name="adj"/>
            </a:avLst>
          </a:prstGeom>
          <a:solidFill>
            <a:srgbClr val="E3AC9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pc="0" sz="1050" u="none" cap="none" strike="noStrike">
                <a:solidFill>
                  <a:srgbClr val="565A32"/>
                </a:solidFill>
                <a:latin typeface="Raleway SemiBold"/>
                <a:ea typeface="Raleway SemiBold"/>
                <a:cs typeface="Raleway SemiBold"/>
                <a:sym typeface="Raleway SemiBold"/>
              </a:rPr>
              <a:t>Proposed (Brand Brain 06)</a:t>
            </a:r>
            <a:endParaRPr/>
          </a:p>
        </p:txBody>
      </p:sp>
      <p:sp>
        <p:nvSpPr>
          <p:cNvPr id="574" name="Google Shape;574;p49"/>
          <p:cNvSpPr/>
          <p:nvPr/>
        </p:nvSpPr>
        <p:spPr>
          <a:xfrm>
            <a:off x="6135624" y="1737360"/>
            <a:ext cx="2560320" cy="3246120"/>
          </a:xfrm>
          <a:prstGeom prst="roundRect">
            <a:avLst>
              <a:gd fmla="val 5217" name="adj"/>
            </a:avLst>
          </a:prstGeom>
          <a:solidFill>
            <a:srgbClr val="FFFFFF"/>
          </a:solidFill>
          <a:ln cap="flat" cmpd="sng" w="12700">
            <a:solidFill>
              <a:srgbClr val="FFFFFF"/>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75" name="Google Shape;575;p49"/>
          <p:cNvSpPr txBox="1"/>
          <p:nvPr/>
        </p:nvSpPr>
        <p:spPr>
          <a:xfrm>
            <a:off x="6336792" y="1920240"/>
            <a:ext cx="2157984" cy="2971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65A32"/>
              </a:buClr>
              <a:buSzPts val="1200"/>
              <a:buFont typeface="Raleway SemiBold"/>
              <a:buNone/>
            </a:pPr>
            <a:r>
              <a:rPr b="1" i="0" lang="en-US" spc="0" sz="1200" u="none" cap="none" strike="noStrike">
                <a:solidFill>
                  <a:srgbClr val="565A32"/>
                </a:solidFill>
                <a:latin typeface="Raleway SemiBold"/>
                <a:ea typeface="Raleway SemiBold"/>
                <a:cs typeface="Raleway SemiBold"/>
                <a:sym typeface="Raleway SemiBold"/>
              </a:rPr>
              <a:t>THE APP</a:t>
            </a:r>
            <a:endParaRPr b="0" i="0" spc="0" sz="1600" u="none" cap="none" strike="noStrike">
              <a:solidFill>
                <a:srgbClr val="565A32"/>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rgbClr val="565A32"/>
              </a:buClr>
              <a:buSzPts val="600"/>
              <a:buFont typeface="Raleway Light"/>
              <a:buNone/>
            </a:pPr>
            <a:r>
              <a:rPr b="0" i="0" lang="en-US" spc="0" sz="600" u="none" cap="none" strike="noStrike">
                <a:solidFill>
                  <a:srgbClr val="565A32"/>
                </a:solidFill>
                <a:latin typeface="Raleway Light"/>
                <a:ea typeface="Raleway Light"/>
                <a:cs typeface="Raleway Light"/>
                <a:sym typeface="Raleway Light"/>
              </a:rPr>
              <a:t> </a:t>
            </a:r>
            <a:endParaRPr b="0" i="0" spc="0" sz="1600" u="none" cap="none" strike="noStrike">
              <a:solidFill>
                <a:srgbClr val="565A32"/>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rgbClr val="565A32"/>
              </a:buClr>
              <a:buSzPts val="1600"/>
              <a:buFont typeface="Raleway Light"/>
              <a:buNone/>
            </a:pPr>
            <a:r>
              <a:rPr b="0" i="0" lang="en-US" spc="0" sz="1600" u="none" cap="none" strike="noStrike">
                <a:solidFill>
                  <a:srgbClr val="565A32"/>
                </a:solidFill>
                <a:latin typeface="Raleway Light"/>
                <a:ea typeface="Raleway Light"/>
                <a:cs typeface="Raleway Light"/>
                <a:sym typeface="Raleway Light"/>
              </a:rPr>
              <a:t>Live updates for Partner and Event Mode. Self-service set-up for partners. Content editing. Anonymised trend reports: decided in principle, not offered.</a:t>
            </a:r>
            <a:endParaRPr b="0" i="0" spc="0" sz="1600" u="none" cap="none" strike="noStrike">
              <a:solidFill>
                <a:srgbClr val="565A32"/>
              </a:solidFill>
              <a:latin typeface="Raleway Light"/>
              <a:ea typeface="Raleway Light"/>
              <a:cs typeface="Raleway Light"/>
              <a:sym typeface="Raleway Light"/>
            </a:endParaRPr>
          </a:p>
        </p:txBody>
      </p:sp>
      <p:sp>
        <p:nvSpPr>
          <p:cNvPr id="576" name="Google Shape;576;p49"/>
          <p:cNvSpPr/>
          <p:nvPr/>
        </p:nvSpPr>
        <p:spPr>
          <a:xfrm>
            <a:off x="6336792" y="4434840"/>
            <a:ext cx="2157984" cy="292608"/>
          </a:xfrm>
          <a:prstGeom prst="roundRect">
            <a:avLst>
              <a:gd fmla="val 50000" name="adj"/>
            </a:avLst>
          </a:prstGeom>
          <a:solidFill>
            <a:srgbClr val="8B8B5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pc="0" sz="1050" u="none" cap="none" strike="noStrike">
                <a:solidFill>
                  <a:srgbClr val="FFFFFF"/>
                </a:solidFill>
                <a:latin typeface="Raleway SemiBold"/>
                <a:ea typeface="Raleway SemiBold"/>
                <a:cs typeface="Raleway SemiBold"/>
                <a:sym typeface="Raleway SemiBold"/>
              </a:rPr>
              <a:t>Planned improvements</a:t>
            </a:r>
            <a:endParaRPr/>
          </a:p>
        </p:txBody>
      </p:sp>
      <p:sp>
        <p:nvSpPr>
          <p:cNvPr id="577" name="Google Shape;577;p49"/>
          <p:cNvSpPr/>
          <p:nvPr/>
        </p:nvSpPr>
        <p:spPr>
          <a:xfrm>
            <a:off x="8860536" y="1737360"/>
            <a:ext cx="2560320" cy="3246120"/>
          </a:xfrm>
          <a:prstGeom prst="roundRect">
            <a:avLst>
              <a:gd fmla="val 5217" name="adj"/>
            </a:avLst>
          </a:prstGeom>
          <a:solidFill>
            <a:srgbClr val="FFFFFF"/>
          </a:solidFill>
          <a:ln cap="flat" cmpd="sng" w="12700">
            <a:solidFill>
              <a:srgbClr val="FFFFFF"/>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578" name="Google Shape;578;p49"/>
          <p:cNvSpPr txBox="1"/>
          <p:nvPr/>
        </p:nvSpPr>
        <p:spPr>
          <a:xfrm>
            <a:off x="9061704" y="1920240"/>
            <a:ext cx="2157984" cy="2971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65A32"/>
              </a:buClr>
              <a:buSzPts val="1200"/>
              <a:buFont typeface="Raleway SemiBold"/>
              <a:buNone/>
            </a:pPr>
            <a:r>
              <a:rPr b="1" i="0" lang="en-US" spc="0" sz="1200" u="none" cap="none" strike="noStrike">
                <a:solidFill>
                  <a:srgbClr val="565A32"/>
                </a:solidFill>
                <a:latin typeface="Raleway SemiBold"/>
                <a:ea typeface="Raleway SemiBold"/>
                <a:cs typeface="Raleway SemiBold"/>
                <a:sym typeface="Raleway SemiBold"/>
              </a:rPr>
              <a:t>BEYOND WINE</a:t>
            </a:r>
            <a:endParaRPr b="0" i="0" spc="0" sz="1600" u="none" cap="none" strike="noStrike">
              <a:solidFill>
                <a:srgbClr val="565A32"/>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rgbClr val="565A32"/>
              </a:buClr>
              <a:buSzPts val="600"/>
              <a:buFont typeface="Raleway Light"/>
              <a:buNone/>
            </a:pPr>
            <a:r>
              <a:rPr b="0" i="0" lang="en-US" spc="0" sz="600" u="none" cap="none" strike="noStrike">
                <a:solidFill>
                  <a:srgbClr val="565A32"/>
                </a:solidFill>
                <a:latin typeface="Raleway Light"/>
                <a:ea typeface="Raleway Light"/>
                <a:cs typeface="Raleway Light"/>
                <a:sym typeface="Raleway Light"/>
              </a:rPr>
              <a:t> </a:t>
            </a:r>
            <a:endParaRPr b="0" i="0" spc="0" sz="1600" u="none" cap="none" strike="noStrike">
              <a:solidFill>
                <a:srgbClr val="565A32"/>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rgbClr val="565A32"/>
              </a:buClr>
              <a:buSzPts val="1600"/>
              <a:buFont typeface="Raleway Light"/>
              <a:buNone/>
            </a:pPr>
            <a:r>
              <a:rPr b="0" i="0" lang="en-US" spc="0" sz="1600" u="none" cap="none" strike="noStrike">
                <a:solidFill>
                  <a:srgbClr val="565A32"/>
                </a:solidFill>
                <a:latin typeface="Raleway Light"/>
                <a:ea typeface="Raleway Light"/>
                <a:cs typeface="Raleway Light"/>
                <a:sym typeface="Raleway Light"/>
              </a:rPr>
              <a:t>Entre Amis stays: lived for a few days in Provence. Future non-wine expressions of connection, discovery and belonging.</a:t>
            </a:r>
            <a:endParaRPr b="0" i="0" spc="0" sz="1600" u="none" cap="none" strike="noStrike">
              <a:solidFill>
                <a:srgbClr val="565A32"/>
              </a:solidFill>
              <a:latin typeface="Raleway Light"/>
              <a:ea typeface="Raleway Light"/>
              <a:cs typeface="Raleway Light"/>
              <a:sym typeface="Raleway Light"/>
            </a:endParaRPr>
          </a:p>
        </p:txBody>
      </p:sp>
      <p:sp>
        <p:nvSpPr>
          <p:cNvPr id="579" name="Google Shape;579;p49"/>
          <p:cNvSpPr/>
          <p:nvPr/>
        </p:nvSpPr>
        <p:spPr>
          <a:xfrm>
            <a:off x="9061704" y="4434840"/>
            <a:ext cx="2157984" cy="292608"/>
          </a:xfrm>
          <a:prstGeom prst="roundRect">
            <a:avLst>
              <a:gd fmla="val 50000" name="adj"/>
            </a:avLst>
          </a:prstGeom>
          <a:solidFill>
            <a:srgbClr val="B9BC9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pc="0" sz="1050" u="none" cap="none" strike="noStrike">
                <a:solidFill>
                  <a:srgbClr val="565A32"/>
                </a:solidFill>
                <a:latin typeface="Raleway SemiBold"/>
                <a:ea typeface="Raleway SemiBold"/>
                <a:cs typeface="Raleway SemiBold"/>
                <a:sym typeface="Raleway SemiBold"/>
              </a:rPr>
              <a:t>The vision</a:t>
            </a:r>
            <a:endParaRPr/>
          </a:p>
        </p:txBody>
      </p:sp>
      <p:sp>
        <p:nvSpPr>
          <p:cNvPr id="580" name="Google Shape;580;p49"/>
          <p:cNvSpPr txBox="1"/>
          <p:nvPr/>
        </p:nvSpPr>
        <p:spPr>
          <a:xfrm>
            <a:off x="685800" y="5212080"/>
            <a:ext cx="8961120" cy="5486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pc="0" sz="1300" u="none" cap="none" strike="noStrike">
                <a:solidFill>
                  <a:srgbClr val="565A32"/>
                </a:solidFill>
                <a:latin typeface="Raleway Light"/>
                <a:ea typeface="Raleway Light"/>
                <a:cs typeface="Raleway Light"/>
                <a:sym typeface="Raleway Light"/>
              </a:rPr>
              <a:t>Early thinking is never described externally, not even as “coming”. Editions wait on decisions ED2–ED10 in the commercial decisions brief.</a:t>
            </a:r>
            <a:endParaRPr/>
          </a:p>
        </p:txBody>
      </p:sp>
      <p:sp>
        <p:nvSpPr>
          <p:cNvPr id="581" name="Google Shape;581;p49"/>
          <p:cNvSpPr/>
          <p:nvPr/>
        </p:nvSpPr>
        <p:spPr>
          <a:xfrm>
            <a:off x="0" y="0"/>
            <a:ext cx="12191700" cy="329100"/>
          </a:xfrm>
          <a:prstGeom prst="rect">
            <a:avLst/>
          </a:prstGeom>
          <a:solidFill>
            <a:srgbClr val="565A32"/>
          </a:solidFill>
          <a:ln cap="flat" cmpd="sng" w="12700">
            <a:solidFill>
              <a:srgbClr val="565A3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
        <p:nvSpPr>
          <p:cNvPr id="582" name="Slide number"/>
          <p:cNvSpPr txBox="1"/>
          <p:nvPr>
            <p:ph idx="4294967295" type="sldNum"/>
          </p:nvPr>
        </p:nvSpPr>
        <p:spPr>
          <a:xfrm>
            <a:off x="9372600" y="5971032"/>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chemeClr val="dk1"/>
                </a:solidFill>
                <a:latin typeface="Raleway Light"/>
                <a:ea typeface="Raleway Light"/>
                <a:cs typeface="Raleway Light"/>
                <a:sym typeface="Raleway Light"/>
              </a:rPr>
              <a:t>‹#›</a:t>
            </a:fld>
            <a:endParaRPr b="0" i="0" sz="1000" u="none" cap="none" strike="noStrike">
              <a:solidFill>
                <a:schemeClr val="dk1"/>
              </a:solidFill>
              <a:latin typeface="Raleway Light"/>
              <a:ea typeface="Raleway Light"/>
              <a:cs typeface="Raleway Light"/>
              <a:sym typeface="Raleway Light"/>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AE0"/>
        </a:solidFill>
      </p:bgPr>
    </p:bg>
    <p:spTree>
      <p:nvGrpSpPr>
        <p:cNvPr id="586" name="Shape 586"/>
        <p:cNvGrpSpPr/>
        <p:nvPr/>
      </p:nvGrpSpPr>
      <p:grpSpPr>
        <a:xfrm>
          <a:off x="0" y="0"/>
          <a:ext cx="0" cy="0"/>
          <a:chOff x="0" y="0"/>
          <a:chExt cx="0" cy="0"/>
        </a:xfrm>
      </p:grpSpPr>
      <p:sp>
        <p:nvSpPr>
          <p:cNvPr id="587" name="Google Shape;587;p50"/>
          <p:cNvSpPr/>
          <p:nvPr/>
        </p:nvSpPr>
        <p:spPr>
          <a:xfrm>
            <a:off x="0" y="0"/>
            <a:ext cx="12191700" cy="6858000"/>
          </a:xfrm>
          <a:prstGeom prst="rect">
            <a:avLst/>
          </a:prstGeom>
          <a:solidFill>
            <a:srgbClr val="EFEAE0"/>
          </a:solidFill>
          <a:ln cap="flat" cmpd="sng" w="12700">
            <a:solidFill>
              <a:srgbClr val="EFEAE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
        <p:nvSpPr>
          <p:cNvPr id="588" name="Google Shape;588;p50"/>
          <p:cNvSpPr txBox="1"/>
          <p:nvPr/>
        </p:nvSpPr>
        <p:spPr>
          <a:xfrm>
            <a:off x="685800" y="475488"/>
            <a:ext cx="8229600" cy="5304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chemeClr val="dk1"/>
              </a:buClr>
              <a:buSzPts val="3800"/>
              <a:buFont typeface="Arial"/>
              <a:buNone/>
            </a:pPr>
            <a:r>
              <a:rPr b="0" i="0" lang="en-US" spc="0" sz="3800" u="none" cap="none" strike="noStrike">
                <a:solidFill>
                  <a:srgbClr val="565A32"/>
                </a:solidFill>
                <a:latin typeface="Raleway Light"/>
                <a:ea typeface="Raleway Light"/>
                <a:cs typeface="Raleway Light"/>
                <a:sym typeface="Raleway Light"/>
              </a:rPr>
              <a:t>The Entre Amis table</a:t>
            </a:r>
            <a:endParaRPr b="1" i="0" spc="0" sz="3800" u="none" cap="none" strike="noStrike">
              <a:solidFill>
                <a:srgbClr val="565A32"/>
              </a:solidFill>
              <a:latin typeface="Raleway"/>
              <a:ea typeface="Raleway"/>
              <a:cs typeface="Raleway"/>
              <a:sym typeface="Raleway"/>
            </a:endParaRPr>
          </a:p>
        </p:txBody>
      </p:sp>
      <p:sp>
        <p:nvSpPr>
          <p:cNvPr id="589" name="Google Shape;589;p50"/>
          <p:cNvSpPr txBox="1"/>
          <p:nvPr/>
        </p:nvSpPr>
        <p:spPr>
          <a:xfrm>
            <a:off x="685800" y="1042416"/>
            <a:ext cx="8503800" cy="3840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chemeClr val="dk1"/>
              </a:buClr>
              <a:buSzPts val="1900"/>
              <a:buFont typeface="Arial"/>
              <a:buNone/>
            </a:pPr>
            <a:r>
              <a:rPr b="0" i="0" lang="en-US" spc="0" sz="1900" u="none" cap="none" strike="noStrike">
                <a:solidFill>
                  <a:srgbClr val="565A32"/>
                </a:solidFill>
                <a:latin typeface="Raleway Light"/>
                <a:ea typeface="Raleway Light"/>
                <a:cs typeface="Raleway Light"/>
                <a:sym typeface="Raleway Light"/>
              </a:rPr>
              <a:t>An invitation to experience the brand, never a sales stand.</a:t>
            </a:r>
            <a:endParaRPr b="0" i="0" spc="0" sz="1900" u="none" cap="none" strike="noStrike">
              <a:solidFill>
                <a:schemeClr val="dk1"/>
              </a:solidFill>
              <a:latin typeface="Raleway Light"/>
              <a:ea typeface="Raleway Light"/>
              <a:cs typeface="Raleway Light"/>
              <a:sym typeface="Raleway Light"/>
            </a:endParaRPr>
          </a:p>
        </p:txBody>
      </p:sp>
      <p:sp>
        <p:nvSpPr>
          <p:cNvPr id="590" name="Google Shape;590;p50"/>
          <p:cNvSpPr txBox="1"/>
          <p:nvPr/>
        </p:nvSpPr>
        <p:spPr>
          <a:xfrm>
            <a:off x="685800" y="6355080"/>
            <a:ext cx="4114800" cy="2376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565A32"/>
              </a:buClr>
              <a:buSzPts val="1300"/>
              <a:buFont typeface="Raleway Light"/>
              <a:buNone/>
            </a:pPr>
            <a:r>
              <a:rPr b="0" i="0" lang="en-US" spc="0" sz="1300" u="none" cap="none" strike="noStrike">
                <a:solidFill>
                  <a:srgbClr val="565A32"/>
                </a:solidFill>
                <a:latin typeface="Raleway Light"/>
                <a:ea typeface="Raleway Light"/>
                <a:cs typeface="Raleway Light"/>
                <a:sym typeface="Raleway Light"/>
              </a:rPr>
              <a:t>Say what you really think.</a:t>
            </a:r>
            <a:endParaRPr b="0" i="0" spc="0" sz="1300" u="none" cap="none" strike="noStrike">
              <a:solidFill>
                <a:schemeClr val="dk1"/>
              </a:solidFill>
              <a:latin typeface="Raleway Light"/>
              <a:ea typeface="Raleway Light"/>
              <a:cs typeface="Raleway Light"/>
              <a:sym typeface="Raleway Light"/>
            </a:endParaRPr>
          </a:p>
        </p:txBody>
      </p:sp>
      <p:pic>
        <p:nvPicPr>
          <p:cNvPr id="591" name="Google Shape;591;p50" title="Copy_of_Untitled-removebg-preview.png"/>
          <p:cNvPicPr preferRelativeResize="0"/>
          <p:nvPr/>
        </p:nvPicPr>
        <p:blipFill rotWithShape="1">
          <a:blip r:embed="rId3">
            <a:alphaModFix/>
          </a:blip>
          <a:srcRect b="0" l="0" r="0" t="0"/>
          <a:stretch/>
        </p:blipFill>
        <p:spPr>
          <a:xfrm>
            <a:off x="9834990" y="5349262"/>
            <a:ext cx="1508730" cy="1508730"/>
          </a:xfrm>
          <a:prstGeom prst="rect">
            <a:avLst/>
          </a:prstGeom>
          <a:noFill/>
          <a:ln>
            <a:noFill/>
          </a:ln>
        </p:spPr>
      </p:pic>
      <p:sp>
        <p:nvSpPr>
          <p:cNvPr id="592" name="Google Shape;592;p50"/>
          <p:cNvSpPr/>
          <p:nvPr/>
        </p:nvSpPr>
        <p:spPr>
          <a:xfrm>
            <a:off x="627278" y="2426145"/>
            <a:ext cx="3432000" cy="2218800"/>
          </a:xfrm>
          <a:prstGeom prst="roundRect">
            <a:avLst>
              <a:gd fmla="val 16667" name="adj"/>
            </a:avLst>
          </a:prstGeom>
          <a:solidFill>
            <a:srgbClr val="EFEAE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pc="0" sz="1800" u="none" cap="none" strike="noStrike">
              <a:solidFill>
                <a:srgbClr val="565A32"/>
              </a:solidFill>
              <a:latin typeface="Raleway Light"/>
              <a:ea typeface="Raleway Light"/>
              <a:cs typeface="Raleway Light"/>
              <a:sym typeface="Raleway Light"/>
            </a:endParaRPr>
          </a:p>
        </p:txBody>
      </p:sp>
      <p:sp>
        <p:nvSpPr>
          <p:cNvPr id="593" name="Google Shape;593;p50"/>
          <p:cNvSpPr/>
          <p:nvPr/>
        </p:nvSpPr>
        <p:spPr>
          <a:xfrm>
            <a:off x="627278" y="2346779"/>
            <a:ext cx="3432000" cy="73200"/>
          </a:xfrm>
          <a:prstGeom prst="rect">
            <a:avLst/>
          </a:prstGeom>
          <a:solidFill>
            <a:srgbClr val="565A3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pc="0" sz="1800" u="none" cap="none" strike="noStrike">
              <a:solidFill>
                <a:srgbClr val="565A32"/>
              </a:solidFill>
              <a:latin typeface="Raleway Light"/>
              <a:ea typeface="Raleway Light"/>
              <a:cs typeface="Raleway Light"/>
              <a:sym typeface="Raleway Light"/>
            </a:endParaRPr>
          </a:p>
        </p:txBody>
      </p:sp>
      <p:sp>
        <p:nvSpPr>
          <p:cNvPr id="594" name="Google Shape;594;p50"/>
          <p:cNvSpPr txBox="1"/>
          <p:nvPr/>
        </p:nvSpPr>
        <p:spPr>
          <a:xfrm>
            <a:off x="828428" y="3338455"/>
            <a:ext cx="3029700" cy="1400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500"/>
              <a:buFont typeface="Arial"/>
              <a:buNone/>
            </a:pPr>
            <a:r>
              <a:rPr b="0" i="0" lang="en-US" spc="0" sz="1500" u="none" cap="none" strike="noStrike">
                <a:solidFill>
                  <a:srgbClr val="565A32"/>
                </a:solidFill>
                <a:latin typeface="Raleway Light"/>
                <a:ea typeface="Raleway Light"/>
                <a:cs typeface="Raleway Light"/>
                <a:sym typeface="Raleway Light"/>
              </a:rPr>
              <a:t>A small, beautifully set table with comfortable seats, tactile details, and the game and crown naturally in place.</a:t>
            </a:r>
            <a:endParaRPr b="0" i="0" spc="0" sz="1600" u="none" cap="none" strike="noStrike">
              <a:solidFill>
                <a:schemeClr val="dk1"/>
              </a:solidFill>
              <a:latin typeface="Raleway Light"/>
              <a:ea typeface="Raleway Light"/>
              <a:cs typeface="Raleway Light"/>
              <a:sym typeface="Raleway Light"/>
            </a:endParaRPr>
          </a:p>
          <a:p>
            <a:pPr indent="0" lvl="0" marL="0" marR="0" rtl="0" algn="ctr">
              <a:lnSpc>
                <a:spcPct val="100000"/>
              </a:lnSpc>
              <a:spcBef>
                <a:spcPts val="0"/>
              </a:spcBef>
              <a:spcAft>
                <a:spcPts val="0"/>
              </a:spcAft>
              <a:buClr>
                <a:srgbClr val="000000"/>
              </a:buClr>
              <a:buSzPts val="1700"/>
              <a:buFont typeface="Arial"/>
              <a:buNone/>
            </a:pPr>
            <a:r>
              <a:t/>
            </a:r>
            <a:endParaRPr b="0" i="0" spc="0" sz="1700" u="none" cap="none" strike="noStrike">
              <a:solidFill>
                <a:srgbClr val="565A32"/>
              </a:solidFill>
              <a:latin typeface="Raleway Light"/>
              <a:ea typeface="Raleway Light"/>
              <a:cs typeface="Raleway Light"/>
              <a:sym typeface="Raleway Light"/>
            </a:endParaRPr>
          </a:p>
        </p:txBody>
      </p:sp>
      <p:sp>
        <p:nvSpPr>
          <p:cNvPr id="595" name="Google Shape;595;p50"/>
          <p:cNvSpPr txBox="1"/>
          <p:nvPr/>
        </p:nvSpPr>
        <p:spPr>
          <a:xfrm>
            <a:off x="828428" y="2637491"/>
            <a:ext cx="3029700" cy="384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900"/>
              <a:buFont typeface="Arial"/>
              <a:buNone/>
            </a:pPr>
            <a:r>
              <a:rPr b="1" i="0" lang="en-US" spc="0" sz="1900" u="none" cap="none" strike="noStrike">
                <a:solidFill>
                  <a:srgbClr val="565A32"/>
                </a:solidFill>
                <a:latin typeface="Raleway"/>
                <a:ea typeface="Raleway"/>
                <a:cs typeface="Raleway"/>
                <a:sym typeface="Raleway"/>
              </a:rPr>
              <a:t>The setting</a:t>
            </a:r>
            <a:endParaRPr b="1" i="0" spc="0" sz="1900" u="none" cap="none" strike="noStrike">
              <a:solidFill>
                <a:srgbClr val="565A32"/>
              </a:solidFill>
              <a:latin typeface="Raleway"/>
              <a:ea typeface="Raleway"/>
              <a:cs typeface="Raleway"/>
              <a:sym typeface="Raleway"/>
            </a:endParaRPr>
          </a:p>
        </p:txBody>
      </p:sp>
      <p:sp>
        <p:nvSpPr>
          <p:cNvPr id="596" name="Google Shape;596;p50"/>
          <p:cNvSpPr/>
          <p:nvPr/>
        </p:nvSpPr>
        <p:spPr>
          <a:xfrm>
            <a:off x="4321174" y="2426146"/>
            <a:ext cx="3432000" cy="2218800"/>
          </a:xfrm>
          <a:prstGeom prst="roundRect">
            <a:avLst>
              <a:gd fmla="val 16667" name="adj"/>
            </a:avLst>
          </a:prstGeom>
          <a:solidFill>
            <a:srgbClr val="EFEAE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pc="0" sz="1800" u="none" cap="none" strike="noStrike">
              <a:solidFill>
                <a:srgbClr val="565A32"/>
              </a:solidFill>
              <a:latin typeface="Raleway Light"/>
              <a:ea typeface="Raleway Light"/>
              <a:cs typeface="Raleway Light"/>
              <a:sym typeface="Raleway Light"/>
            </a:endParaRPr>
          </a:p>
        </p:txBody>
      </p:sp>
      <p:sp>
        <p:nvSpPr>
          <p:cNvPr id="597" name="Google Shape;597;p50"/>
          <p:cNvSpPr/>
          <p:nvPr/>
        </p:nvSpPr>
        <p:spPr>
          <a:xfrm>
            <a:off x="4321174" y="2346779"/>
            <a:ext cx="3432000" cy="73200"/>
          </a:xfrm>
          <a:prstGeom prst="rect">
            <a:avLst/>
          </a:prstGeom>
          <a:solidFill>
            <a:srgbClr val="E3AC9A"/>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pc="0" sz="1800" u="none" cap="none" strike="noStrike">
              <a:solidFill>
                <a:srgbClr val="565A32"/>
              </a:solidFill>
              <a:latin typeface="Raleway Light"/>
              <a:ea typeface="Raleway Light"/>
              <a:cs typeface="Raleway Light"/>
              <a:sym typeface="Raleway Light"/>
            </a:endParaRPr>
          </a:p>
        </p:txBody>
      </p:sp>
      <p:sp>
        <p:nvSpPr>
          <p:cNvPr id="598" name="Google Shape;598;p50"/>
          <p:cNvSpPr txBox="1"/>
          <p:nvPr/>
        </p:nvSpPr>
        <p:spPr>
          <a:xfrm>
            <a:off x="4522324" y="2637491"/>
            <a:ext cx="3029700" cy="384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900"/>
              <a:buFont typeface="Arial"/>
              <a:buNone/>
            </a:pPr>
            <a:r>
              <a:rPr b="1" i="0" lang="en-US" spc="0" sz="1900" u="none" cap="none" strike="noStrike">
                <a:solidFill>
                  <a:srgbClr val="565A32"/>
                </a:solidFill>
                <a:latin typeface="Raleway"/>
                <a:ea typeface="Raleway"/>
                <a:cs typeface="Raleway"/>
                <a:sym typeface="Raleway"/>
              </a:rPr>
              <a:t>The experience</a:t>
            </a:r>
            <a:endParaRPr b="1" i="0" spc="0" sz="1400" u="none" cap="none" strike="noStrike">
              <a:solidFill>
                <a:srgbClr val="000000"/>
              </a:solidFill>
              <a:latin typeface="Raleway"/>
              <a:ea typeface="Raleway"/>
              <a:cs typeface="Raleway"/>
              <a:sym typeface="Raleway"/>
            </a:endParaRPr>
          </a:p>
        </p:txBody>
      </p:sp>
      <p:sp>
        <p:nvSpPr>
          <p:cNvPr id="599" name="Google Shape;599;p50"/>
          <p:cNvSpPr txBox="1"/>
          <p:nvPr/>
        </p:nvSpPr>
        <p:spPr>
          <a:xfrm>
            <a:off x="4522324" y="3338455"/>
            <a:ext cx="3029700" cy="1139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500"/>
              <a:buFont typeface="Arial"/>
              <a:buNone/>
            </a:pPr>
            <a:r>
              <a:rPr b="0" i="0" lang="en-US" spc="0" sz="1500" u="none" cap="none" strike="noStrike">
                <a:solidFill>
                  <a:srgbClr val="565A32"/>
                </a:solidFill>
                <a:latin typeface="Raleway Light"/>
                <a:ea typeface="Raleway Light"/>
                <a:cs typeface="Raleway Light"/>
                <a:sym typeface="Raleway Light"/>
              </a:rPr>
              <a:t>Short hosted conversations, tasting prompts and playful challenges. Never a hard sell.</a:t>
            </a:r>
            <a:endParaRPr b="0" i="0" spc="0" sz="1600" u="none" cap="none" strike="noStrike">
              <a:solidFill>
                <a:srgbClr val="000000"/>
              </a:solidFill>
              <a:latin typeface="Raleway Light"/>
              <a:ea typeface="Raleway Light"/>
              <a:cs typeface="Raleway Light"/>
              <a:sym typeface="Raleway Light"/>
            </a:endParaRPr>
          </a:p>
        </p:txBody>
      </p:sp>
      <p:sp>
        <p:nvSpPr>
          <p:cNvPr id="600" name="Google Shape;600;p50"/>
          <p:cNvSpPr/>
          <p:nvPr/>
        </p:nvSpPr>
        <p:spPr>
          <a:xfrm>
            <a:off x="7934844" y="2407818"/>
            <a:ext cx="3432000" cy="2218800"/>
          </a:xfrm>
          <a:prstGeom prst="roundRect">
            <a:avLst>
              <a:gd fmla="val 16667" name="adj"/>
            </a:avLst>
          </a:prstGeom>
          <a:solidFill>
            <a:srgbClr val="EFEAE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pc="0" sz="1800" u="none" cap="none" strike="noStrike">
              <a:solidFill>
                <a:srgbClr val="565A32"/>
              </a:solidFill>
              <a:latin typeface="Raleway Light"/>
              <a:ea typeface="Raleway Light"/>
              <a:cs typeface="Raleway Light"/>
              <a:sym typeface="Raleway Light"/>
            </a:endParaRPr>
          </a:p>
        </p:txBody>
      </p:sp>
      <p:sp>
        <p:nvSpPr>
          <p:cNvPr id="601" name="Google Shape;601;p50"/>
          <p:cNvSpPr/>
          <p:nvPr/>
        </p:nvSpPr>
        <p:spPr>
          <a:xfrm>
            <a:off x="7934844" y="2346779"/>
            <a:ext cx="3432000" cy="73200"/>
          </a:xfrm>
          <a:prstGeom prst="rect">
            <a:avLst/>
          </a:prstGeom>
          <a:solidFill>
            <a:srgbClr val="B9BC9A"/>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pc="0" sz="1800" u="none" cap="none" strike="noStrike">
              <a:solidFill>
                <a:srgbClr val="565A32"/>
              </a:solidFill>
              <a:latin typeface="Raleway Light"/>
              <a:ea typeface="Raleway Light"/>
              <a:cs typeface="Raleway Light"/>
              <a:sym typeface="Raleway Light"/>
            </a:endParaRPr>
          </a:p>
        </p:txBody>
      </p:sp>
      <p:sp>
        <p:nvSpPr>
          <p:cNvPr id="602" name="Google Shape;602;p50"/>
          <p:cNvSpPr txBox="1"/>
          <p:nvPr/>
        </p:nvSpPr>
        <p:spPr>
          <a:xfrm>
            <a:off x="8135994" y="2637491"/>
            <a:ext cx="3029700" cy="384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900"/>
              <a:buFont typeface="Arial"/>
              <a:buNone/>
            </a:pPr>
            <a:r>
              <a:rPr b="1" i="0" lang="en-US" spc="0" sz="1900" u="none" cap="none" strike="noStrike">
                <a:solidFill>
                  <a:srgbClr val="565A32"/>
                </a:solidFill>
                <a:latin typeface="Raleway"/>
                <a:ea typeface="Raleway"/>
                <a:cs typeface="Raleway"/>
                <a:sym typeface="Raleway"/>
              </a:rPr>
              <a:t>The connection</a:t>
            </a:r>
            <a:endParaRPr b="1" i="0" spc="0" sz="1400" u="none" cap="none" strike="noStrike">
              <a:solidFill>
                <a:srgbClr val="000000"/>
              </a:solidFill>
              <a:latin typeface="Raleway"/>
              <a:ea typeface="Raleway"/>
              <a:cs typeface="Raleway"/>
              <a:sym typeface="Raleway"/>
            </a:endParaRPr>
          </a:p>
        </p:txBody>
      </p:sp>
      <p:sp>
        <p:nvSpPr>
          <p:cNvPr id="603" name="Google Shape;603;p50"/>
          <p:cNvSpPr txBox="1"/>
          <p:nvPr/>
        </p:nvSpPr>
        <p:spPr>
          <a:xfrm>
            <a:off x="8135994" y="3338455"/>
            <a:ext cx="3029700" cy="1139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500"/>
              <a:buFont typeface="Arial"/>
              <a:buNone/>
            </a:pPr>
            <a:r>
              <a:rPr b="0" i="0" lang="en-US" spc="0" sz="1500" u="none" cap="none" strike="noStrike">
                <a:solidFill>
                  <a:srgbClr val="565A32"/>
                </a:solidFill>
                <a:latin typeface="Raleway Light"/>
                <a:ea typeface="Raleway Light"/>
                <a:cs typeface="Raleway Light"/>
                <a:sym typeface="Raleway Light"/>
              </a:rPr>
              <a:t>Optional moments on the event screen. The table supports what visitors do on their phones; it’s never the centre of the event.</a:t>
            </a:r>
            <a:endParaRPr b="0" i="0" spc="0" sz="1700" u="none" cap="none" strike="noStrike">
              <a:solidFill>
                <a:srgbClr val="565A32"/>
              </a:solidFill>
              <a:latin typeface="Raleway Light"/>
              <a:ea typeface="Raleway Light"/>
              <a:cs typeface="Raleway Light"/>
              <a:sym typeface="Raleway Light"/>
            </a:endParaRPr>
          </a:p>
        </p:txBody>
      </p:sp>
      <p:sp>
        <p:nvSpPr>
          <p:cNvPr id="604" name="Google Shape;604;p50"/>
          <p:cNvSpPr txBox="1"/>
          <p:nvPr/>
        </p:nvSpPr>
        <p:spPr>
          <a:xfrm>
            <a:off x="571515" y="5270063"/>
            <a:ext cx="106071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pc="0" sz="1600" u="none" cap="none" strike="noStrike">
                <a:solidFill>
                  <a:srgbClr val="565A32"/>
                </a:solidFill>
                <a:latin typeface="Raleway Light"/>
                <a:ea typeface="Raleway Light"/>
                <a:cs typeface="Raleway Light"/>
                <a:sym typeface="Raleway Light"/>
              </a:rPr>
              <a:t>Commercial note: staffing, furniture, transport, setup and operational support must be covered by the agreed event fee.</a:t>
            </a:r>
            <a:endParaRPr b="0" i="0" spc="0" sz="1700" u="none" cap="none" strike="noStrike">
              <a:solidFill>
                <a:srgbClr val="000000"/>
              </a:solidFill>
              <a:latin typeface="Raleway Light"/>
              <a:ea typeface="Raleway Light"/>
              <a:cs typeface="Raleway Light"/>
              <a:sym typeface="Raleway Light"/>
            </a:endParaRPr>
          </a:p>
        </p:txBody>
      </p:sp>
      <p:sp>
        <p:nvSpPr>
          <p:cNvPr id="605" name="Google Shape;605;p50"/>
          <p:cNvSpPr/>
          <p:nvPr/>
        </p:nvSpPr>
        <p:spPr>
          <a:xfrm>
            <a:off x="9262872" y="457200"/>
            <a:ext cx="2377440" cy="384048"/>
          </a:xfrm>
          <a:prstGeom prst="roundRect">
            <a:avLst>
              <a:gd fmla="val 50000" name="adj"/>
            </a:avLst>
          </a:prstGeom>
          <a:solidFill>
            <a:srgbClr val="E3AC9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1" i="0" lang="en-US" spc="0" sz="1400" u="none" cap="none" strike="noStrike">
                <a:solidFill>
                  <a:srgbClr val="565A32"/>
                </a:solidFill>
                <a:latin typeface="Raleway SemiBold"/>
                <a:ea typeface="Raleway SemiBold"/>
                <a:cs typeface="Raleway SemiBold"/>
                <a:sym typeface="Raleway SemiBold"/>
              </a:rPr>
              <a:t>EVENT MODE</a:t>
            </a:r>
            <a:endParaRPr b="0" i="0" spc="0" sz="1400" u="none" cap="none" strike="noStrike">
              <a:solidFill>
                <a:srgbClr val="000000"/>
              </a:solidFill>
              <a:latin typeface="Arial"/>
              <a:ea typeface="Arial"/>
              <a:cs typeface="Arial"/>
              <a:sym typeface="Arial"/>
            </a:endParaRPr>
          </a:p>
        </p:txBody>
      </p:sp>
      <p:sp>
        <p:nvSpPr>
          <p:cNvPr id="606" name="Google Shape;606;p50"/>
          <p:cNvSpPr/>
          <p:nvPr/>
        </p:nvSpPr>
        <p:spPr>
          <a:xfrm>
            <a:off x="0" y="0"/>
            <a:ext cx="12191700" cy="329100"/>
          </a:xfrm>
          <a:prstGeom prst="rect">
            <a:avLst/>
          </a:prstGeom>
          <a:solidFill>
            <a:srgbClr val="565A32"/>
          </a:solidFill>
          <a:ln cap="flat" cmpd="sng" w="12700">
            <a:solidFill>
              <a:srgbClr val="565A3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
        <p:nvSpPr>
          <p:cNvPr id="607" name="Slide number"/>
          <p:cNvSpPr txBox="1"/>
          <p:nvPr>
            <p:ph idx="4294967295" type="sldNum"/>
          </p:nvPr>
        </p:nvSpPr>
        <p:spPr>
          <a:xfrm>
            <a:off x="9372600" y="5971032"/>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chemeClr val="dk1"/>
                </a:solidFill>
                <a:latin typeface="Raleway Light"/>
                <a:ea typeface="Raleway Light"/>
                <a:cs typeface="Raleway Light"/>
                <a:sym typeface="Raleway Light"/>
              </a:rPr>
              <a:t>‹#›</a:t>
            </a:fld>
            <a:endParaRPr b="0" i="0" sz="1000" u="none" cap="none" strike="noStrike">
              <a:solidFill>
                <a:schemeClr val="dk1"/>
              </a:solidFill>
              <a:latin typeface="Raleway Light"/>
              <a:ea typeface="Raleway Light"/>
              <a:cs typeface="Raleway Light"/>
              <a:sym typeface="Raleway Light"/>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AE0"/>
        </a:solidFill>
      </p:bgPr>
    </p:bg>
    <p:spTree>
      <p:nvGrpSpPr>
        <p:cNvPr id="611" name="Shape 611"/>
        <p:cNvGrpSpPr/>
        <p:nvPr/>
      </p:nvGrpSpPr>
      <p:grpSpPr>
        <a:xfrm>
          <a:off x="0" y="0"/>
          <a:ext cx="0" cy="0"/>
          <a:chOff x="0" y="0"/>
          <a:chExt cx="0" cy="0"/>
        </a:xfrm>
      </p:grpSpPr>
      <p:sp>
        <p:nvSpPr>
          <p:cNvPr id="612" name="Google Shape;612;p51"/>
          <p:cNvSpPr/>
          <p:nvPr/>
        </p:nvSpPr>
        <p:spPr>
          <a:xfrm>
            <a:off x="685800" y="475488"/>
            <a:ext cx="8229600" cy="5303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65A32"/>
              </a:buClr>
              <a:buSzPts val="2700"/>
              <a:buFont typeface="Raleway"/>
              <a:buNone/>
            </a:pPr>
            <a:r>
              <a:rPr b="0" i="0" lang="en-US" spc="0" sz="3800" u="none" cap="none" strike="noStrike">
                <a:solidFill>
                  <a:srgbClr val="565A32"/>
                </a:solidFill>
                <a:latin typeface="Raleway Light"/>
                <a:ea typeface="Raleway Light"/>
                <a:cs typeface="Raleway Light"/>
                <a:sym typeface="Raleway Light"/>
              </a:rPr>
              <a:t>Guest • Entre Amis • Partner</a:t>
            </a:r>
            <a:endParaRPr b="0" i="0" spc="0" sz="2700" u="none" cap="none" strike="noStrike">
              <a:solidFill>
                <a:schemeClr val="dk1"/>
              </a:solidFill>
              <a:latin typeface="Raleway Light"/>
              <a:ea typeface="Raleway Light"/>
              <a:cs typeface="Raleway Light"/>
              <a:sym typeface="Raleway Light"/>
            </a:endParaRPr>
          </a:p>
        </p:txBody>
      </p:sp>
      <p:sp>
        <p:nvSpPr>
          <p:cNvPr id="613" name="Google Shape;613;p51"/>
          <p:cNvSpPr/>
          <p:nvPr/>
        </p:nvSpPr>
        <p:spPr>
          <a:xfrm>
            <a:off x="685800" y="1042415"/>
            <a:ext cx="850392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65A32"/>
              </a:buClr>
              <a:buSzPts val="1500"/>
              <a:buFont typeface="Raleway"/>
              <a:buNone/>
            </a:pPr>
            <a:r>
              <a:rPr b="0" i="0" lang="en-US" spc="0" sz="1900" u="none" cap="none" strike="noStrike">
                <a:solidFill>
                  <a:srgbClr val="565A32"/>
                </a:solidFill>
                <a:latin typeface="Raleway Light"/>
                <a:ea typeface="Raleway Light"/>
                <a:cs typeface="Raleway Light"/>
                <a:sym typeface="Raleway Light"/>
              </a:rPr>
              <a:t>How shared experiences create lasting relationships</a:t>
            </a:r>
            <a:endParaRPr b="0" i="0" spc="0" sz="1500" u="none" cap="none" strike="noStrike">
              <a:solidFill>
                <a:schemeClr val="dk1"/>
              </a:solidFill>
              <a:latin typeface="Raleway Light"/>
              <a:ea typeface="Raleway Light"/>
              <a:cs typeface="Raleway Light"/>
              <a:sym typeface="Raleway Light"/>
            </a:endParaRPr>
          </a:p>
        </p:txBody>
      </p:sp>
      <p:sp>
        <p:nvSpPr>
          <p:cNvPr id="614" name="Google Shape;614;p51"/>
          <p:cNvSpPr/>
          <p:nvPr/>
        </p:nvSpPr>
        <p:spPr>
          <a:xfrm>
            <a:off x="594360" y="1517904"/>
            <a:ext cx="3273600" cy="3675900"/>
          </a:xfrm>
          <a:prstGeom prst="roundRect">
            <a:avLst>
              <a:gd fmla="val 3631" name="adj"/>
            </a:avLst>
          </a:prstGeom>
          <a:solidFill>
            <a:srgbClr val="EFEAE0"/>
          </a:solidFill>
          <a:ln cap="flat" cmpd="sng" w="12700">
            <a:solidFill>
              <a:srgbClr val="EFEAE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
        <p:nvSpPr>
          <p:cNvPr id="615" name="Google Shape;615;p51"/>
          <p:cNvSpPr/>
          <p:nvPr/>
        </p:nvSpPr>
        <p:spPr>
          <a:xfrm>
            <a:off x="822960" y="1773936"/>
            <a:ext cx="2816400" cy="310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65A32"/>
              </a:buClr>
              <a:buSzPts val="1900"/>
              <a:buFont typeface="Raleway"/>
              <a:buNone/>
            </a:pPr>
            <a:r>
              <a:rPr b="1" i="0" lang="en-US" spc="0" sz="1900" u="none" cap="none" strike="noStrike">
                <a:solidFill>
                  <a:srgbClr val="565A32"/>
                </a:solidFill>
                <a:latin typeface="Raleway"/>
                <a:ea typeface="Raleway"/>
                <a:cs typeface="Raleway"/>
                <a:sym typeface="Raleway"/>
              </a:rPr>
              <a:t>GUEST</a:t>
            </a:r>
            <a:endParaRPr b="0" i="0" spc="0" sz="1900" u="none" cap="none" strike="noStrike">
              <a:solidFill>
                <a:schemeClr val="dk1"/>
              </a:solidFill>
              <a:latin typeface="Raleway Light"/>
              <a:ea typeface="Raleway Light"/>
              <a:cs typeface="Raleway Light"/>
              <a:sym typeface="Raleway Light"/>
            </a:endParaRPr>
          </a:p>
        </p:txBody>
      </p:sp>
      <p:cxnSp>
        <p:nvCxnSpPr>
          <p:cNvPr id="616" name="Google Shape;616;p51"/>
          <p:cNvCxnSpPr/>
          <p:nvPr/>
        </p:nvCxnSpPr>
        <p:spPr>
          <a:xfrm>
            <a:off x="1819656" y="2194560"/>
            <a:ext cx="822900" cy="0"/>
          </a:xfrm>
          <a:prstGeom prst="straightConnector1">
            <a:avLst/>
          </a:prstGeom>
          <a:noFill/>
          <a:ln cap="flat" cmpd="sng" w="25400">
            <a:solidFill>
              <a:srgbClr val="E3AC9A"/>
            </a:solidFill>
            <a:prstDash val="solid"/>
            <a:round/>
            <a:headEnd len="sm" w="sm" type="none"/>
            <a:tailEnd len="sm" w="sm" type="none"/>
          </a:ln>
        </p:spPr>
      </p:cxnSp>
      <p:sp>
        <p:nvSpPr>
          <p:cNvPr id="617" name="Google Shape;617;p51"/>
          <p:cNvSpPr/>
          <p:nvPr/>
        </p:nvSpPr>
        <p:spPr>
          <a:xfrm>
            <a:off x="896112" y="2514600"/>
            <a:ext cx="2670000" cy="512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65A32"/>
              </a:buClr>
              <a:buSzPts val="1400"/>
              <a:buFont typeface="Raleway"/>
              <a:buNone/>
            </a:pPr>
            <a:r>
              <a:rPr b="0" i="0" lang="en-US" spc="0" sz="1400" u="none" cap="none" strike="noStrike">
                <a:solidFill>
                  <a:srgbClr val="565A32"/>
                </a:solidFill>
                <a:latin typeface="Raleway Light"/>
                <a:ea typeface="Raleway Light"/>
                <a:cs typeface="Raleway Light"/>
                <a:sym typeface="Raleway Light"/>
              </a:rPr>
              <a:t>• Discovers and joins experiences</a:t>
            </a:r>
            <a:endParaRPr b="0" i="0" spc="0" sz="1400" u="none" cap="none" strike="noStrike">
              <a:solidFill>
                <a:schemeClr val="dk1"/>
              </a:solidFill>
              <a:latin typeface="Raleway Light"/>
              <a:ea typeface="Raleway Light"/>
              <a:cs typeface="Raleway Light"/>
              <a:sym typeface="Raleway Light"/>
            </a:endParaRPr>
          </a:p>
        </p:txBody>
      </p:sp>
      <p:sp>
        <p:nvSpPr>
          <p:cNvPr id="618" name="Google Shape;618;p51"/>
          <p:cNvSpPr/>
          <p:nvPr/>
        </p:nvSpPr>
        <p:spPr>
          <a:xfrm>
            <a:off x="896112" y="3118104"/>
            <a:ext cx="2670000" cy="512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65A32"/>
              </a:buClr>
              <a:buSzPts val="1400"/>
              <a:buFont typeface="Raleway"/>
              <a:buNone/>
            </a:pPr>
            <a:r>
              <a:rPr b="0" i="0" lang="en-US" spc="0" sz="1400" u="none" cap="none" strike="noStrike">
                <a:solidFill>
                  <a:srgbClr val="565A32"/>
                </a:solidFill>
                <a:latin typeface="Raleway Light"/>
                <a:ea typeface="Raleway Light"/>
                <a:cs typeface="Raleway Light"/>
                <a:sym typeface="Raleway Light"/>
              </a:rPr>
              <a:t>• Enjoys conversation and discovery</a:t>
            </a:r>
            <a:endParaRPr b="0" i="0" spc="0" sz="1400" u="none" cap="none" strike="noStrike">
              <a:solidFill>
                <a:schemeClr val="dk1"/>
              </a:solidFill>
              <a:latin typeface="Raleway Light"/>
              <a:ea typeface="Raleway Light"/>
              <a:cs typeface="Raleway Light"/>
              <a:sym typeface="Raleway Light"/>
            </a:endParaRPr>
          </a:p>
        </p:txBody>
      </p:sp>
      <p:sp>
        <p:nvSpPr>
          <p:cNvPr id="619" name="Google Shape;619;p51"/>
          <p:cNvSpPr/>
          <p:nvPr/>
        </p:nvSpPr>
        <p:spPr>
          <a:xfrm>
            <a:off x="896112" y="3721608"/>
            <a:ext cx="2670000" cy="512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65A32"/>
              </a:buClr>
              <a:buSzPts val="1400"/>
              <a:buFont typeface="Raleway"/>
              <a:buNone/>
            </a:pPr>
            <a:r>
              <a:rPr b="0" i="0" lang="en-US" spc="0" sz="1400" u="none" cap="none" strike="noStrike">
                <a:solidFill>
                  <a:srgbClr val="565A32"/>
                </a:solidFill>
                <a:latin typeface="Raleway Light"/>
                <a:ea typeface="Raleway Light"/>
                <a:cs typeface="Raleway Light"/>
                <a:sym typeface="Raleway Light"/>
              </a:rPr>
              <a:t>• Saves favourites and memories</a:t>
            </a:r>
            <a:endParaRPr b="0" i="0" spc="0" sz="1400" u="none" cap="none" strike="noStrike">
              <a:solidFill>
                <a:schemeClr val="dk1"/>
              </a:solidFill>
              <a:latin typeface="Raleway Light"/>
              <a:ea typeface="Raleway Light"/>
              <a:cs typeface="Raleway Light"/>
              <a:sym typeface="Raleway Light"/>
            </a:endParaRPr>
          </a:p>
        </p:txBody>
      </p:sp>
      <p:sp>
        <p:nvSpPr>
          <p:cNvPr id="620" name="Google Shape;620;p51"/>
          <p:cNvSpPr/>
          <p:nvPr/>
        </p:nvSpPr>
        <p:spPr>
          <a:xfrm>
            <a:off x="896112" y="4325112"/>
            <a:ext cx="2670000" cy="512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65A32"/>
              </a:buClr>
              <a:buSzPts val="1400"/>
              <a:buFont typeface="Raleway"/>
              <a:buNone/>
            </a:pPr>
            <a:r>
              <a:rPr b="0" i="0" lang="en-US" spc="0" sz="1400" u="none" cap="none" strike="noStrike">
                <a:solidFill>
                  <a:srgbClr val="565A32"/>
                </a:solidFill>
                <a:latin typeface="Raleway Light"/>
                <a:ea typeface="Raleway Light"/>
                <a:cs typeface="Raleway Light"/>
                <a:sym typeface="Raleway Light"/>
              </a:rPr>
              <a:t>• Returns, recommends or hosts again</a:t>
            </a:r>
            <a:endParaRPr b="0" i="0" spc="0" sz="1400" u="none" cap="none" strike="noStrike">
              <a:solidFill>
                <a:schemeClr val="dk1"/>
              </a:solidFill>
              <a:latin typeface="Raleway Light"/>
              <a:ea typeface="Raleway Light"/>
              <a:cs typeface="Raleway Light"/>
              <a:sym typeface="Raleway Light"/>
            </a:endParaRPr>
          </a:p>
        </p:txBody>
      </p:sp>
      <p:sp>
        <p:nvSpPr>
          <p:cNvPr id="621" name="Google Shape;621;p51"/>
          <p:cNvSpPr/>
          <p:nvPr/>
        </p:nvSpPr>
        <p:spPr>
          <a:xfrm>
            <a:off x="4462272" y="1517904"/>
            <a:ext cx="3273600" cy="3675900"/>
          </a:xfrm>
          <a:prstGeom prst="roundRect">
            <a:avLst>
              <a:gd fmla="val 3631" name="adj"/>
            </a:avLst>
          </a:prstGeom>
          <a:solidFill>
            <a:srgbClr val="565A32"/>
          </a:solidFill>
          <a:ln cap="flat" cmpd="sng" w="12700">
            <a:solidFill>
              <a:srgbClr val="565A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
        <p:nvSpPr>
          <p:cNvPr id="622" name="Google Shape;622;p51"/>
          <p:cNvSpPr/>
          <p:nvPr/>
        </p:nvSpPr>
        <p:spPr>
          <a:xfrm>
            <a:off x="4690872" y="1773936"/>
            <a:ext cx="2816400" cy="310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900"/>
              <a:buFont typeface="Raleway"/>
              <a:buNone/>
            </a:pPr>
            <a:r>
              <a:rPr b="1" i="0" lang="en-US" spc="0" sz="1900" u="none" cap="none" strike="noStrike">
                <a:solidFill>
                  <a:srgbClr val="FFFFFF"/>
                </a:solidFill>
                <a:latin typeface="Raleway"/>
                <a:ea typeface="Raleway"/>
                <a:cs typeface="Raleway"/>
                <a:sym typeface="Raleway"/>
              </a:rPr>
              <a:t>ENTRE AMIS</a:t>
            </a:r>
            <a:endParaRPr b="0" i="0" spc="0" sz="1900" u="none" cap="none" strike="noStrike">
              <a:solidFill>
                <a:schemeClr val="dk1"/>
              </a:solidFill>
              <a:latin typeface="Raleway Light"/>
              <a:ea typeface="Raleway Light"/>
              <a:cs typeface="Raleway Light"/>
              <a:sym typeface="Raleway Light"/>
            </a:endParaRPr>
          </a:p>
        </p:txBody>
      </p:sp>
      <p:cxnSp>
        <p:nvCxnSpPr>
          <p:cNvPr id="623" name="Google Shape;623;p51"/>
          <p:cNvCxnSpPr/>
          <p:nvPr/>
        </p:nvCxnSpPr>
        <p:spPr>
          <a:xfrm>
            <a:off x="5687568" y="2194560"/>
            <a:ext cx="822900" cy="0"/>
          </a:xfrm>
          <a:prstGeom prst="straightConnector1">
            <a:avLst/>
          </a:prstGeom>
          <a:noFill/>
          <a:ln cap="flat" cmpd="sng" w="25400">
            <a:solidFill>
              <a:srgbClr val="E3AC9A"/>
            </a:solidFill>
            <a:prstDash val="solid"/>
            <a:round/>
            <a:headEnd len="sm" w="sm" type="none"/>
            <a:tailEnd len="sm" w="sm" type="none"/>
          </a:ln>
        </p:spPr>
      </p:cxnSp>
      <p:sp>
        <p:nvSpPr>
          <p:cNvPr id="624" name="Google Shape;624;p51"/>
          <p:cNvSpPr/>
          <p:nvPr/>
        </p:nvSpPr>
        <p:spPr>
          <a:xfrm>
            <a:off x="4764024" y="2514600"/>
            <a:ext cx="2670000" cy="512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Raleway"/>
              <a:buNone/>
            </a:pPr>
            <a:r>
              <a:rPr b="0" i="0" lang="en-US" spc="0" sz="1400" u="none" cap="none" strike="noStrike">
                <a:solidFill>
                  <a:srgbClr val="FFFFFF"/>
                </a:solidFill>
                <a:latin typeface="Raleway Light"/>
                <a:ea typeface="Raleway Light"/>
                <a:cs typeface="Raleway Light"/>
                <a:sym typeface="Raleway Light"/>
              </a:rPr>
              <a:t>• Connects games, app and experiences</a:t>
            </a:r>
            <a:endParaRPr b="0" i="0" spc="0" sz="1400" u="none" cap="none" strike="noStrike">
              <a:solidFill>
                <a:schemeClr val="dk1"/>
              </a:solidFill>
              <a:latin typeface="Raleway Light"/>
              <a:ea typeface="Raleway Light"/>
              <a:cs typeface="Raleway Light"/>
              <a:sym typeface="Raleway Light"/>
            </a:endParaRPr>
          </a:p>
        </p:txBody>
      </p:sp>
      <p:sp>
        <p:nvSpPr>
          <p:cNvPr id="625" name="Google Shape;625;p51"/>
          <p:cNvSpPr/>
          <p:nvPr/>
        </p:nvSpPr>
        <p:spPr>
          <a:xfrm>
            <a:off x="4764024" y="3118104"/>
            <a:ext cx="2670000" cy="512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Raleway"/>
              <a:buNone/>
            </a:pPr>
            <a:r>
              <a:rPr b="0" i="0" lang="en-US" spc="0" sz="1400" u="none" cap="none" strike="noStrike">
                <a:solidFill>
                  <a:srgbClr val="FFFFFF"/>
                </a:solidFill>
                <a:latin typeface="Raleway Light"/>
                <a:ea typeface="Raleway Light"/>
                <a:cs typeface="Raleway Light"/>
                <a:sym typeface="Raleway Light"/>
              </a:rPr>
              <a:t>• Helps people remember and revisit</a:t>
            </a:r>
            <a:endParaRPr b="0" i="0" spc="0" sz="1400" u="none" cap="none" strike="noStrike">
              <a:solidFill>
                <a:schemeClr val="dk1"/>
              </a:solidFill>
              <a:latin typeface="Raleway Light"/>
              <a:ea typeface="Raleway Light"/>
              <a:cs typeface="Raleway Light"/>
              <a:sym typeface="Raleway Light"/>
            </a:endParaRPr>
          </a:p>
        </p:txBody>
      </p:sp>
      <p:sp>
        <p:nvSpPr>
          <p:cNvPr id="626" name="Google Shape;626;p51"/>
          <p:cNvSpPr/>
          <p:nvPr/>
        </p:nvSpPr>
        <p:spPr>
          <a:xfrm>
            <a:off x="4764024" y="3721608"/>
            <a:ext cx="2670000" cy="512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Raleway"/>
              <a:buNone/>
            </a:pPr>
            <a:r>
              <a:rPr b="0" i="0" lang="en-US" spc="0" sz="1400" u="none" cap="none" strike="noStrike">
                <a:solidFill>
                  <a:srgbClr val="FFFFFF"/>
                </a:solidFill>
                <a:latin typeface="Raleway Light"/>
                <a:ea typeface="Raleway Light"/>
                <a:cs typeface="Raleway Light"/>
                <a:sym typeface="Raleway Light"/>
              </a:rPr>
              <a:t>• Supports ongoing relationships</a:t>
            </a:r>
            <a:endParaRPr b="0" i="0" spc="0" sz="1400" u="none" cap="none" strike="noStrike">
              <a:solidFill>
                <a:schemeClr val="dk1"/>
              </a:solidFill>
              <a:latin typeface="Raleway Light"/>
              <a:ea typeface="Raleway Light"/>
              <a:cs typeface="Raleway Light"/>
              <a:sym typeface="Raleway Light"/>
            </a:endParaRPr>
          </a:p>
        </p:txBody>
      </p:sp>
      <p:sp>
        <p:nvSpPr>
          <p:cNvPr id="627" name="Google Shape;627;p51"/>
          <p:cNvSpPr/>
          <p:nvPr/>
        </p:nvSpPr>
        <p:spPr>
          <a:xfrm>
            <a:off x="4764024" y="4325112"/>
            <a:ext cx="2670000" cy="512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400"/>
              <a:buFont typeface="Raleway"/>
              <a:buNone/>
            </a:pPr>
            <a:r>
              <a:rPr b="0" i="0" lang="en-US" spc="0" sz="1400" u="none" cap="none" strike="noStrike">
                <a:solidFill>
                  <a:srgbClr val="FFFFFF"/>
                </a:solidFill>
                <a:latin typeface="Raleway Light"/>
                <a:ea typeface="Raleway Light"/>
                <a:cs typeface="Raleway Light"/>
                <a:sym typeface="Raleway Light"/>
              </a:rPr>
              <a:t>• Manages permissions and privacy</a:t>
            </a:r>
            <a:endParaRPr b="0" i="0" spc="0" sz="1400" u="none" cap="none" strike="noStrike">
              <a:solidFill>
                <a:schemeClr val="dk1"/>
              </a:solidFill>
              <a:latin typeface="Raleway Light"/>
              <a:ea typeface="Raleway Light"/>
              <a:cs typeface="Raleway Light"/>
              <a:sym typeface="Raleway Light"/>
            </a:endParaRPr>
          </a:p>
        </p:txBody>
      </p:sp>
      <p:sp>
        <p:nvSpPr>
          <p:cNvPr id="628" name="Google Shape;628;p51"/>
          <p:cNvSpPr/>
          <p:nvPr/>
        </p:nvSpPr>
        <p:spPr>
          <a:xfrm>
            <a:off x="8330184" y="1517904"/>
            <a:ext cx="3273600" cy="3675900"/>
          </a:xfrm>
          <a:prstGeom prst="roundRect">
            <a:avLst>
              <a:gd fmla="val 3631" name="adj"/>
            </a:avLst>
          </a:prstGeom>
          <a:solidFill>
            <a:srgbClr val="EFEAE0"/>
          </a:solidFill>
          <a:ln cap="flat" cmpd="sng" w="12700">
            <a:solidFill>
              <a:srgbClr val="EFEAE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
        <p:nvSpPr>
          <p:cNvPr id="629" name="Google Shape;629;p51"/>
          <p:cNvSpPr/>
          <p:nvPr/>
        </p:nvSpPr>
        <p:spPr>
          <a:xfrm>
            <a:off x="8558784" y="1773936"/>
            <a:ext cx="2816400" cy="310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65A32"/>
              </a:buClr>
              <a:buSzPts val="1900"/>
              <a:buFont typeface="Raleway"/>
              <a:buNone/>
            </a:pPr>
            <a:r>
              <a:rPr b="1" i="0" lang="en-US" spc="0" sz="1900" u="none" cap="none" strike="noStrike">
                <a:solidFill>
                  <a:srgbClr val="565A32"/>
                </a:solidFill>
                <a:latin typeface="Raleway"/>
                <a:ea typeface="Raleway"/>
                <a:cs typeface="Raleway"/>
                <a:sym typeface="Raleway"/>
              </a:rPr>
              <a:t>PARTNER</a:t>
            </a:r>
            <a:endParaRPr b="0" i="0" spc="0" sz="1900" u="none" cap="none" strike="noStrike">
              <a:solidFill>
                <a:schemeClr val="dk1"/>
              </a:solidFill>
              <a:latin typeface="Raleway Light"/>
              <a:ea typeface="Raleway Light"/>
              <a:cs typeface="Raleway Light"/>
              <a:sym typeface="Raleway Light"/>
            </a:endParaRPr>
          </a:p>
        </p:txBody>
      </p:sp>
      <p:cxnSp>
        <p:nvCxnSpPr>
          <p:cNvPr id="630" name="Google Shape;630;p51"/>
          <p:cNvCxnSpPr/>
          <p:nvPr/>
        </p:nvCxnSpPr>
        <p:spPr>
          <a:xfrm>
            <a:off x="9555480" y="2194560"/>
            <a:ext cx="822900" cy="0"/>
          </a:xfrm>
          <a:prstGeom prst="straightConnector1">
            <a:avLst/>
          </a:prstGeom>
          <a:noFill/>
          <a:ln cap="flat" cmpd="sng" w="25400">
            <a:solidFill>
              <a:srgbClr val="E3AC9A"/>
            </a:solidFill>
            <a:prstDash val="solid"/>
            <a:round/>
            <a:headEnd len="sm" w="sm" type="none"/>
            <a:tailEnd len="sm" w="sm" type="none"/>
          </a:ln>
        </p:spPr>
      </p:cxnSp>
      <p:sp>
        <p:nvSpPr>
          <p:cNvPr id="631" name="Google Shape;631;p51"/>
          <p:cNvSpPr/>
          <p:nvPr/>
        </p:nvSpPr>
        <p:spPr>
          <a:xfrm>
            <a:off x="8631936" y="2514600"/>
            <a:ext cx="2670000" cy="512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65A32"/>
              </a:buClr>
              <a:buSzPts val="1400"/>
              <a:buFont typeface="Raleway"/>
              <a:buNone/>
            </a:pPr>
            <a:r>
              <a:rPr b="0" i="0" lang="en-US" spc="0" sz="1400" u="none" cap="none" strike="noStrike">
                <a:solidFill>
                  <a:srgbClr val="565A32"/>
                </a:solidFill>
                <a:latin typeface="Raleway Light"/>
                <a:ea typeface="Raleway Light"/>
                <a:cs typeface="Raleway Light"/>
                <a:sym typeface="Raleway Light"/>
              </a:rPr>
              <a:t>• Hosts or contributes an experience</a:t>
            </a:r>
            <a:endParaRPr b="0" i="0" spc="0" sz="1400" u="none" cap="none" strike="noStrike">
              <a:solidFill>
                <a:schemeClr val="dk1"/>
              </a:solidFill>
              <a:latin typeface="Raleway Light"/>
              <a:ea typeface="Raleway Light"/>
              <a:cs typeface="Raleway Light"/>
              <a:sym typeface="Raleway Light"/>
            </a:endParaRPr>
          </a:p>
        </p:txBody>
      </p:sp>
      <p:sp>
        <p:nvSpPr>
          <p:cNvPr id="632" name="Google Shape;632;p51"/>
          <p:cNvSpPr/>
          <p:nvPr/>
        </p:nvSpPr>
        <p:spPr>
          <a:xfrm>
            <a:off x="8631936" y="3118104"/>
            <a:ext cx="2670000" cy="512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65A32"/>
              </a:buClr>
              <a:buSzPts val="1400"/>
              <a:buFont typeface="Raleway"/>
              <a:buNone/>
            </a:pPr>
            <a:r>
              <a:rPr b="0" i="0" lang="en-US" spc="0" sz="1400" u="none" cap="none" strike="noStrike">
                <a:solidFill>
                  <a:srgbClr val="565A32"/>
                </a:solidFill>
                <a:latin typeface="Raleway Light"/>
                <a:ea typeface="Raleway Light"/>
                <a:cs typeface="Raleway Light"/>
                <a:sym typeface="Raleway Light"/>
              </a:rPr>
              <a:t>• Engages people meaningfully</a:t>
            </a:r>
            <a:endParaRPr b="0" i="0" spc="0" sz="1400" u="none" cap="none" strike="noStrike">
              <a:solidFill>
                <a:schemeClr val="dk1"/>
              </a:solidFill>
              <a:latin typeface="Raleway Light"/>
              <a:ea typeface="Raleway Light"/>
              <a:cs typeface="Raleway Light"/>
              <a:sym typeface="Raleway Light"/>
            </a:endParaRPr>
          </a:p>
        </p:txBody>
      </p:sp>
      <p:sp>
        <p:nvSpPr>
          <p:cNvPr id="633" name="Google Shape;633;p51"/>
          <p:cNvSpPr/>
          <p:nvPr/>
        </p:nvSpPr>
        <p:spPr>
          <a:xfrm>
            <a:off x="8631936" y="3721608"/>
            <a:ext cx="2670000" cy="512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65A32"/>
              </a:buClr>
              <a:buSzPts val="1400"/>
              <a:buFont typeface="Raleway"/>
              <a:buNone/>
            </a:pPr>
            <a:r>
              <a:rPr b="0" i="0" lang="en-US" spc="0" sz="1400" u="none" cap="none" strike="noStrike">
                <a:solidFill>
                  <a:srgbClr val="565A32"/>
                </a:solidFill>
                <a:latin typeface="Raleway Light"/>
                <a:ea typeface="Raleway Light"/>
                <a:cs typeface="Raleway Light"/>
                <a:sym typeface="Raleway Light"/>
              </a:rPr>
              <a:t>• Receives agreed insights</a:t>
            </a:r>
            <a:endParaRPr b="0" i="0" spc="0" sz="1400" u="none" cap="none" strike="noStrike">
              <a:solidFill>
                <a:schemeClr val="dk1"/>
              </a:solidFill>
              <a:latin typeface="Raleway Light"/>
              <a:ea typeface="Raleway Light"/>
              <a:cs typeface="Raleway Light"/>
              <a:sym typeface="Raleway Light"/>
            </a:endParaRPr>
          </a:p>
        </p:txBody>
      </p:sp>
      <p:sp>
        <p:nvSpPr>
          <p:cNvPr id="634" name="Google Shape;634;p51"/>
          <p:cNvSpPr/>
          <p:nvPr/>
        </p:nvSpPr>
        <p:spPr>
          <a:xfrm>
            <a:off x="8631936" y="4325112"/>
            <a:ext cx="2670000" cy="512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65A32"/>
              </a:buClr>
              <a:buSzPts val="1400"/>
              <a:buFont typeface="Raleway"/>
              <a:buNone/>
            </a:pPr>
            <a:r>
              <a:rPr b="0" i="0" lang="en-US" spc="0" sz="1400" u="none" cap="none" strike="noStrike">
                <a:solidFill>
                  <a:srgbClr val="565A32"/>
                </a:solidFill>
                <a:latin typeface="Raleway Light"/>
                <a:ea typeface="Raleway Light"/>
                <a:cs typeface="Raleway Light"/>
                <a:sym typeface="Raleway Light"/>
              </a:rPr>
              <a:t>• Connects again with permission</a:t>
            </a:r>
            <a:endParaRPr b="0" i="0" spc="0" sz="1400" u="none" cap="none" strike="noStrike">
              <a:solidFill>
                <a:schemeClr val="dk1"/>
              </a:solidFill>
              <a:latin typeface="Raleway Light"/>
              <a:ea typeface="Raleway Light"/>
              <a:cs typeface="Raleway Light"/>
              <a:sym typeface="Raleway Light"/>
            </a:endParaRPr>
          </a:p>
        </p:txBody>
      </p:sp>
      <p:sp>
        <p:nvSpPr>
          <p:cNvPr id="635" name="Google Shape;635;p51"/>
          <p:cNvSpPr/>
          <p:nvPr/>
        </p:nvSpPr>
        <p:spPr>
          <a:xfrm>
            <a:off x="3968496" y="3145536"/>
            <a:ext cx="356700" cy="457200"/>
          </a:xfrm>
          <a:prstGeom prst="chevron">
            <a:avLst>
              <a:gd fmla="val 50000" name="adj"/>
            </a:avLst>
          </a:prstGeom>
          <a:solidFill>
            <a:srgbClr val="E3AC9A"/>
          </a:solidFill>
          <a:ln cap="flat" cmpd="sng" w="12700">
            <a:solidFill>
              <a:srgbClr val="E3AC9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
        <p:nvSpPr>
          <p:cNvPr id="636" name="Google Shape;636;p51"/>
          <p:cNvSpPr/>
          <p:nvPr/>
        </p:nvSpPr>
        <p:spPr>
          <a:xfrm>
            <a:off x="7836408" y="3145536"/>
            <a:ext cx="356700" cy="457200"/>
          </a:xfrm>
          <a:prstGeom prst="chevron">
            <a:avLst>
              <a:gd fmla="val 50000" name="adj"/>
            </a:avLst>
          </a:prstGeom>
          <a:solidFill>
            <a:srgbClr val="E3AC9A"/>
          </a:solidFill>
          <a:ln cap="flat" cmpd="sng" w="12700">
            <a:solidFill>
              <a:srgbClr val="E3AC9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
        <p:nvSpPr>
          <p:cNvPr id="637" name="Google Shape;637;p51"/>
          <p:cNvSpPr/>
          <p:nvPr/>
        </p:nvSpPr>
        <p:spPr>
          <a:xfrm>
            <a:off x="713232" y="5431536"/>
            <a:ext cx="10744200" cy="301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65A32"/>
              </a:buClr>
              <a:buSzPts val="1600"/>
              <a:buFont typeface="Raleway"/>
              <a:buNone/>
            </a:pPr>
            <a:r>
              <a:rPr b="1" i="0" lang="en-US" spc="0" sz="1600" u="none" cap="none" strike="noStrike">
                <a:solidFill>
                  <a:srgbClr val="565A32"/>
                </a:solidFill>
                <a:latin typeface="Raleway"/>
                <a:ea typeface="Raleway"/>
                <a:cs typeface="Raleway"/>
                <a:sym typeface="Raleway"/>
              </a:rPr>
              <a:t>The experience comes first. Relationships and understanding grow from it.</a:t>
            </a:r>
            <a:endParaRPr b="0" i="0" spc="0" sz="1600" u="none" cap="none" strike="noStrike">
              <a:solidFill>
                <a:schemeClr val="dk1"/>
              </a:solidFill>
              <a:latin typeface="Raleway Light"/>
              <a:ea typeface="Raleway Light"/>
              <a:cs typeface="Raleway Light"/>
              <a:sym typeface="Raleway Light"/>
            </a:endParaRPr>
          </a:p>
        </p:txBody>
      </p:sp>
      <p:sp>
        <p:nvSpPr>
          <p:cNvPr id="638" name="Google Shape;638;p51"/>
          <p:cNvSpPr/>
          <p:nvPr/>
        </p:nvSpPr>
        <p:spPr>
          <a:xfrm>
            <a:off x="658368" y="5943600"/>
            <a:ext cx="10872300" cy="594300"/>
          </a:xfrm>
          <a:prstGeom prst="roundRect">
            <a:avLst>
              <a:gd fmla="val 9231" name="adj"/>
            </a:avLst>
          </a:prstGeom>
          <a:solidFill>
            <a:srgbClr val="EFEAE0"/>
          </a:solidFill>
          <a:ln cap="flat" cmpd="sng" w="12700">
            <a:solidFill>
              <a:srgbClr val="B9BC9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
        <p:nvSpPr>
          <p:cNvPr id="639" name="Google Shape;639;p51"/>
          <p:cNvSpPr/>
          <p:nvPr/>
        </p:nvSpPr>
        <p:spPr>
          <a:xfrm>
            <a:off x="868680" y="6099048"/>
            <a:ext cx="1938600" cy="201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65A32"/>
              </a:buClr>
              <a:buSzPts val="1200"/>
              <a:buFont typeface="Raleway"/>
              <a:buNone/>
            </a:pPr>
            <a:r>
              <a:rPr b="1" i="0" lang="en-US" spc="0" sz="1200" u="none" cap="none" strike="noStrike">
                <a:solidFill>
                  <a:srgbClr val="565A32"/>
                </a:solidFill>
                <a:latin typeface="Raleway"/>
                <a:ea typeface="Raleway"/>
                <a:cs typeface="Raleway"/>
                <a:sym typeface="Raleway"/>
              </a:rPr>
              <a:t>PERMISSION FIRST</a:t>
            </a:r>
            <a:endParaRPr b="0" i="0" spc="0" sz="1200" u="none" cap="none" strike="noStrike">
              <a:solidFill>
                <a:schemeClr val="dk1"/>
              </a:solidFill>
              <a:latin typeface="Raleway Light"/>
              <a:ea typeface="Raleway Light"/>
              <a:cs typeface="Raleway Light"/>
              <a:sym typeface="Raleway Light"/>
            </a:endParaRPr>
          </a:p>
        </p:txBody>
      </p:sp>
      <p:sp>
        <p:nvSpPr>
          <p:cNvPr id="640" name="Google Shape;640;p51"/>
          <p:cNvSpPr/>
          <p:nvPr/>
        </p:nvSpPr>
        <p:spPr>
          <a:xfrm>
            <a:off x="2743200" y="6035040"/>
            <a:ext cx="8458200" cy="402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65A32"/>
              </a:buClr>
              <a:buSzPts val="1200"/>
              <a:buFont typeface="Raleway"/>
              <a:buNone/>
            </a:pPr>
            <a:r>
              <a:rPr b="0" i="0" lang="en-US" spc="0" sz="1200" u="none" cap="none" strike="noStrike">
                <a:solidFill>
                  <a:srgbClr val="565A32"/>
                </a:solidFill>
                <a:latin typeface="Raleway Light"/>
                <a:ea typeface="Raleway Light"/>
                <a:cs typeface="Raleway Light"/>
                <a:sym typeface="Raleway Light"/>
              </a:rPr>
              <a:t>Personal information is never shared without consent. Partners receive agreed reporting and explicitly consented connections.</a:t>
            </a:r>
            <a:endParaRPr b="0" i="0" spc="0" sz="1200" u="none" cap="none" strike="noStrike">
              <a:solidFill>
                <a:schemeClr val="dk1"/>
              </a:solidFill>
              <a:latin typeface="Raleway Light"/>
              <a:ea typeface="Raleway Light"/>
              <a:cs typeface="Raleway Light"/>
              <a:sym typeface="Raleway Light"/>
            </a:endParaRPr>
          </a:p>
        </p:txBody>
      </p:sp>
      <p:sp>
        <p:nvSpPr>
          <p:cNvPr id="641" name="Google Shape;641;p51"/>
          <p:cNvSpPr/>
          <p:nvPr/>
        </p:nvSpPr>
        <p:spPr>
          <a:xfrm>
            <a:off x="9262872" y="457200"/>
            <a:ext cx="2377440" cy="384048"/>
          </a:xfrm>
          <a:prstGeom prst="roundRect">
            <a:avLst>
              <a:gd fmla="val 50000" name="adj"/>
            </a:avLst>
          </a:prstGeom>
          <a:solidFill>
            <a:srgbClr val="E3AC9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1" i="0" lang="en-US" spc="0" sz="1400" u="none" cap="none" strike="noStrike">
                <a:solidFill>
                  <a:srgbClr val="565A32"/>
                </a:solidFill>
                <a:latin typeface="Raleway SemiBold"/>
                <a:ea typeface="Raleway SemiBold"/>
                <a:cs typeface="Raleway SemiBold"/>
                <a:sym typeface="Raleway SemiBold"/>
              </a:rPr>
              <a:t>PARTNER + EVENT</a:t>
            </a:r>
            <a:endParaRPr b="0" i="0" spc="0" sz="1400" u="none" cap="none" strike="noStrike">
              <a:solidFill>
                <a:srgbClr val="000000"/>
              </a:solidFill>
              <a:latin typeface="Arial"/>
              <a:ea typeface="Arial"/>
              <a:cs typeface="Arial"/>
              <a:sym typeface="Arial"/>
            </a:endParaRPr>
          </a:p>
        </p:txBody>
      </p:sp>
      <p:sp>
        <p:nvSpPr>
          <p:cNvPr id="642" name="Google Shape;642;p51"/>
          <p:cNvSpPr/>
          <p:nvPr/>
        </p:nvSpPr>
        <p:spPr>
          <a:xfrm>
            <a:off x="0" y="0"/>
            <a:ext cx="12191700" cy="329100"/>
          </a:xfrm>
          <a:prstGeom prst="rect">
            <a:avLst/>
          </a:prstGeom>
          <a:solidFill>
            <a:srgbClr val="565A32"/>
          </a:solidFill>
          <a:ln cap="flat" cmpd="sng" w="12700">
            <a:solidFill>
              <a:srgbClr val="565A3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
        <p:nvSpPr>
          <p:cNvPr id="643" name="Slide number"/>
          <p:cNvSpPr txBox="1"/>
          <p:nvPr>
            <p:ph idx="4294967295" type="sldNum"/>
          </p:nvPr>
        </p:nvSpPr>
        <p:spPr>
          <a:xfrm>
            <a:off x="11539728" y="6355080"/>
            <a:ext cx="548640" cy="2743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000"/>
              <a:buNone/>
            </a:pPr>
            <a:fld id="{00000000-1234-1234-1234-123412341234}" type="slidenum">
              <a:rPr b="0" i="0" lang="en-US" sz="1000" u="none" cap="none" strike="noStrike">
                <a:solidFill>
                  <a:schemeClr val="dk1"/>
                </a:solidFill>
                <a:latin typeface="Raleway Light"/>
                <a:ea typeface="Raleway Light"/>
                <a:cs typeface="Raleway Light"/>
                <a:sym typeface="Raleway Light"/>
              </a:rPr>
              <a:t>‹#›</a:t>
            </a:fld>
            <a:endParaRPr b="0" i="0" sz="1000" u="none" cap="none" strike="noStrike">
              <a:solidFill>
                <a:schemeClr val="dk1"/>
              </a:solidFill>
              <a:latin typeface="Raleway Light"/>
              <a:ea typeface="Raleway Light"/>
              <a:cs typeface="Raleway Light"/>
              <a:sym typeface="Raleway Light"/>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52"/>
          <p:cNvSpPr txBox="1"/>
          <p:nvPr>
            <p:ph type="title"/>
          </p:nvPr>
        </p:nvSpPr>
        <p:spPr>
          <a:xfrm>
            <a:off x="548640" y="411480"/>
            <a:ext cx="8138160" cy="68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3600"/>
              <a:buFont typeface="Raleway Light"/>
              <a:buNone/>
            </a:pPr>
            <a:r>
              <a:rPr lang="en-US" sz="3600">
                <a:solidFill>
                  <a:schemeClr val="dk1"/>
                </a:solidFill>
                <a:latin typeface="Raleway Light"/>
                <a:ea typeface="Raleway Light"/>
                <a:cs typeface="Raleway Light"/>
                <a:sym typeface="Raleway Light"/>
              </a:rPr>
              <a:t>Honest insight starts with trust</a:t>
            </a:r>
            <a:endParaRPr sz="3600"/>
          </a:p>
        </p:txBody>
      </p:sp>
      <p:sp>
        <p:nvSpPr>
          <p:cNvPr id="649" name="Google Shape;649;p52"/>
          <p:cNvSpPr txBox="1"/>
          <p:nvPr>
            <p:ph idx="1" type="body"/>
          </p:nvPr>
        </p:nvSpPr>
        <p:spPr>
          <a:xfrm>
            <a:off x="548640" y="1115568"/>
            <a:ext cx="11094415" cy="4114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800"/>
              <a:buNone/>
            </a:pPr>
            <a:r>
              <a:rPr lang="en-US" sz="1800">
                <a:solidFill>
                  <a:schemeClr val="dk1"/>
                </a:solidFill>
                <a:latin typeface="Raleway Light"/>
                <a:ea typeface="Raleway Light"/>
                <a:cs typeface="Raleway Light"/>
                <a:sym typeface="Raleway Light"/>
              </a:rPr>
              <a:t>People only say what they really think when it's safe to.</a:t>
            </a:r>
            <a:endParaRPr sz="1800"/>
          </a:p>
        </p:txBody>
      </p:sp>
      <p:sp>
        <p:nvSpPr>
          <p:cNvPr id="650" name="Google Shape;650;p52"/>
          <p:cNvSpPr/>
          <p:nvPr/>
        </p:nvSpPr>
        <p:spPr>
          <a:xfrm>
            <a:off x="8988552" y="457200"/>
            <a:ext cx="2651760" cy="384048"/>
          </a:xfrm>
          <a:prstGeom prst="roundRect">
            <a:avLst>
              <a:gd fmla="val 50000" name="adj"/>
            </a:avLst>
          </a:prstGeom>
          <a:solidFill>
            <a:schemeClr val="accent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1400"/>
              <a:buFont typeface="Raleway SemiBold"/>
              <a:buNone/>
            </a:pPr>
            <a:r>
              <a:rPr b="1" i="0" lang="en-US" spc="0" sz="1400" u="none" cap="none" strike="noStrike">
                <a:solidFill>
                  <a:schemeClr val="dk1"/>
                </a:solidFill>
                <a:latin typeface="Raleway SemiBold"/>
                <a:ea typeface="Raleway SemiBold"/>
                <a:cs typeface="Raleway SemiBold"/>
                <a:sym typeface="Raleway SemiBold"/>
              </a:rPr>
              <a:t>PARTNER + EVENT</a:t>
            </a:r>
            <a:endParaRPr b="0" i="0" spc="0" sz="1400" u="none" cap="none" strike="noStrike">
              <a:solidFill>
                <a:schemeClr val="dk1"/>
              </a:solidFill>
              <a:latin typeface="Raleway Light"/>
              <a:ea typeface="Raleway Light"/>
              <a:cs typeface="Raleway Light"/>
              <a:sym typeface="Raleway Light"/>
            </a:endParaRPr>
          </a:p>
        </p:txBody>
      </p:sp>
      <p:sp>
        <p:nvSpPr>
          <p:cNvPr id="651" name="Google Shape;651;p52"/>
          <p:cNvSpPr/>
          <p:nvPr/>
        </p:nvSpPr>
        <p:spPr>
          <a:xfrm>
            <a:off x="548640" y="1783080"/>
            <a:ext cx="7680960" cy="603504"/>
          </a:xfrm>
          <a:prstGeom prst="roundRect">
            <a:avLst>
              <a:gd fmla="val 18182" name="adj"/>
            </a:avLst>
          </a:prstGeom>
          <a:solidFill>
            <a:schemeClr val="lt1"/>
          </a:solidFill>
          <a:ln cap="flat" cmpd="sng" w="12700">
            <a:solidFill>
              <a:schemeClr val="lt1"/>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52" name="Google Shape;652;p52"/>
          <p:cNvSpPr txBox="1"/>
          <p:nvPr/>
        </p:nvSpPr>
        <p:spPr>
          <a:xfrm>
            <a:off x="822960" y="1783080"/>
            <a:ext cx="7223760"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Raleway SemiBold"/>
              <a:buNone/>
            </a:pPr>
            <a:r>
              <a:rPr b="1" i="0" lang="en-US" spc="0" sz="1400" u="none" cap="none" strike="noStrike">
                <a:solidFill>
                  <a:schemeClr val="dk1"/>
                </a:solidFill>
                <a:latin typeface="Raleway SemiBold"/>
                <a:ea typeface="Raleway SemiBold"/>
                <a:cs typeface="Raleway SemiBold"/>
                <a:sym typeface="Raleway SemiBold"/>
              </a:rPr>
              <a:t>Consent first  </a:t>
            </a:r>
            <a:r>
              <a:rPr b="0" i="0" lang="en-US" spc="0" sz="1400" u="none" cap="none" strike="noStrike">
                <a:solidFill>
                  <a:schemeClr val="dk1"/>
                </a:solidFill>
                <a:latin typeface="Raleway Light"/>
                <a:ea typeface="Raleway Light"/>
                <a:cs typeface="Raleway Light"/>
                <a:sym typeface="Raleway Light"/>
              </a:rPr>
              <a:t>Nothing is collected for your insight without clear, informed consent.</a:t>
            </a:r>
            <a:endParaRPr b="0" i="0" spc="0" sz="1400" u="none" cap="none" strike="noStrike">
              <a:solidFill>
                <a:schemeClr val="dk1"/>
              </a:solidFill>
              <a:latin typeface="Raleway Light"/>
              <a:ea typeface="Raleway Light"/>
              <a:cs typeface="Raleway Light"/>
              <a:sym typeface="Raleway Light"/>
            </a:endParaRPr>
          </a:p>
        </p:txBody>
      </p:sp>
      <p:sp>
        <p:nvSpPr>
          <p:cNvPr id="653" name="Google Shape;653;p52"/>
          <p:cNvSpPr/>
          <p:nvPr/>
        </p:nvSpPr>
        <p:spPr>
          <a:xfrm>
            <a:off x="548640" y="2496312"/>
            <a:ext cx="7680960" cy="603504"/>
          </a:xfrm>
          <a:prstGeom prst="roundRect">
            <a:avLst>
              <a:gd fmla="val 18182" name="adj"/>
            </a:avLst>
          </a:prstGeom>
          <a:solidFill>
            <a:schemeClr val="lt1"/>
          </a:solidFill>
          <a:ln cap="flat" cmpd="sng" w="12700">
            <a:solidFill>
              <a:schemeClr val="lt1"/>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54" name="Google Shape;654;p52"/>
          <p:cNvSpPr txBox="1"/>
          <p:nvPr/>
        </p:nvSpPr>
        <p:spPr>
          <a:xfrm>
            <a:off x="822960" y="2496312"/>
            <a:ext cx="7223760"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Raleway SemiBold"/>
              <a:buNone/>
            </a:pPr>
            <a:r>
              <a:rPr b="1" i="0" lang="en-US" spc="0" sz="1400" u="none" cap="none" strike="noStrike">
                <a:solidFill>
                  <a:schemeClr val="dk1"/>
                </a:solidFill>
                <a:latin typeface="Raleway SemiBold"/>
                <a:ea typeface="Raleway SemiBold"/>
                <a:cs typeface="Raleway SemiBold"/>
                <a:sym typeface="Raleway SemiBold"/>
              </a:rPr>
              <a:t>Anonymised  </a:t>
            </a:r>
            <a:r>
              <a:rPr b="0" i="0" lang="en-US" spc="0" sz="1400" u="none" cap="none" strike="noStrike">
                <a:solidFill>
                  <a:schemeClr val="dk1"/>
                </a:solidFill>
                <a:latin typeface="Raleway Light"/>
                <a:ea typeface="Raleway Light"/>
                <a:cs typeface="Raleway Light"/>
                <a:sym typeface="Raleway Light"/>
              </a:rPr>
              <a:t>Opinions and responses are combined and anonymised, never linked to a name.</a:t>
            </a:r>
            <a:endParaRPr b="0" i="0" spc="0" sz="1400" u="none" cap="none" strike="noStrike">
              <a:solidFill>
                <a:schemeClr val="dk1"/>
              </a:solidFill>
              <a:latin typeface="Raleway Light"/>
              <a:ea typeface="Raleway Light"/>
              <a:cs typeface="Raleway Light"/>
              <a:sym typeface="Raleway Light"/>
            </a:endParaRPr>
          </a:p>
        </p:txBody>
      </p:sp>
      <p:sp>
        <p:nvSpPr>
          <p:cNvPr id="655" name="Google Shape;655;p52"/>
          <p:cNvSpPr/>
          <p:nvPr/>
        </p:nvSpPr>
        <p:spPr>
          <a:xfrm>
            <a:off x="548640" y="3209544"/>
            <a:ext cx="7680960" cy="603504"/>
          </a:xfrm>
          <a:prstGeom prst="roundRect">
            <a:avLst>
              <a:gd fmla="val 18182" name="adj"/>
            </a:avLst>
          </a:prstGeom>
          <a:solidFill>
            <a:schemeClr val="lt1"/>
          </a:solidFill>
          <a:ln cap="flat" cmpd="sng" w="12700">
            <a:solidFill>
              <a:schemeClr val="lt1"/>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56" name="Google Shape;656;p52"/>
          <p:cNvSpPr txBox="1"/>
          <p:nvPr/>
        </p:nvSpPr>
        <p:spPr>
          <a:xfrm>
            <a:off x="822960" y="3209544"/>
            <a:ext cx="7223760"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Raleway SemiBold"/>
              <a:buNone/>
            </a:pPr>
            <a:r>
              <a:rPr b="1" i="0" lang="en-US" spc="0" sz="1400" u="none" cap="none" strike="noStrike">
                <a:solidFill>
                  <a:schemeClr val="dk1"/>
                </a:solidFill>
                <a:latin typeface="Raleway SemiBold"/>
                <a:ea typeface="Raleway SemiBold"/>
                <a:cs typeface="Raleway SemiBold"/>
                <a:sym typeface="Raleway SemiBold"/>
              </a:rPr>
              <a:t>Never sold  </a:t>
            </a:r>
            <a:r>
              <a:rPr b="0" i="0" lang="en-US" spc="0" sz="1400" u="none" cap="none" strike="noStrike">
                <a:solidFill>
                  <a:schemeClr val="dk1"/>
                </a:solidFill>
                <a:latin typeface="Raleway Light"/>
                <a:ea typeface="Raleway Light"/>
                <a:cs typeface="Raleway Light"/>
                <a:sym typeface="Raleway Light"/>
              </a:rPr>
              <a:t>What someone says is never sold or passed on as individual data.</a:t>
            </a:r>
            <a:endParaRPr b="0" i="0" spc="0" sz="1400" u="none" cap="none" strike="noStrike">
              <a:solidFill>
                <a:schemeClr val="dk1"/>
              </a:solidFill>
              <a:latin typeface="Raleway Light"/>
              <a:ea typeface="Raleway Light"/>
              <a:cs typeface="Raleway Light"/>
              <a:sym typeface="Raleway Light"/>
            </a:endParaRPr>
          </a:p>
        </p:txBody>
      </p:sp>
      <p:sp>
        <p:nvSpPr>
          <p:cNvPr id="657" name="Google Shape;657;p52"/>
          <p:cNvSpPr/>
          <p:nvPr/>
        </p:nvSpPr>
        <p:spPr>
          <a:xfrm>
            <a:off x="548640" y="3922776"/>
            <a:ext cx="7680960" cy="603504"/>
          </a:xfrm>
          <a:prstGeom prst="roundRect">
            <a:avLst>
              <a:gd fmla="val 18182" name="adj"/>
            </a:avLst>
          </a:prstGeom>
          <a:solidFill>
            <a:schemeClr val="lt1"/>
          </a:solidFill>
          <a:ln cap="flat" cmpd="sng" w="12700">
            <a:solidFill>
              <a:schemeClr val="lt1"/>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58" name="Google Shape;658;p52"/>
          <p:cNvSpPr txBox="1"/>
          <p:nvPr/>
        </p:nvSpPr>
        <p:spPr>
          <a:xfrm>
            <a:off x="822960" y="3922776"/>
            <a:ext cx="7223760"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Raleway SemiBold"/>
              <a:buNone/>
            </a:pPr>
            <a:r>
              <a:rPr b="1" i="0" lang="en-US" spc="0" sz="1400" u="none" cap="none" strike="noStrike">
                <a:solidFill>
                  <a:schemeClr val="dk1"/>
                </a:solidFill>
                <a:latin typeface="Raleway SemiBold"/>
                <a:ea typeface="Raleway SemiBold"/>
                <a:cs typeface="Raleway SemiBold"/>
                <a:sym typeface="Raleway SemiBold"/>
              </a:rPr>
              <a:t>Personal crowns stay personal  </a:t>
            </a:r>
            <a:r>
              <a:rPr b="0" i="0" lang="en-US" spc="0" sz="1400" u="none" cap="none" strike="noStrike">
                <a:solidFill>
                  <a:schemeClr val="dk1"/>
                </a:solidFill>
                <a:latin typeface="Raleway Light"/>
                <a:ea typeface="Raleway Light"/>
                <a:cs typeface="Raleway Light"/>
                <a:sym typeface="Raleway Light"/>
              </a:rPr>
              <a:t>No public ranking of producers.</a:t>
            </a:r>
            <a:endParaRPr b="0" i="0" spc="0" sz="1400" u="none" cap="none" strike="noStrike">
              <a:solidFill>
                <a:schemeClr val="dk1"/>
              </a:solidFill>
              <a:latin typeface="Raleway Light"/>
              <a:ea typeface="Raleway Light"/>
              <a:cs typeface="Raleway Light"/>
              <a:sym typeface="Raleway Light"/>
            </a:endParaRPr>
          </a:p>
        </p:txBody>
      </p:sp>
      <p:sp>
        <p:nvSpPr>
          <p:cNvPr id="659" name="Google Shape;659;p52"/>
          <p:cNvSpPr/>
          <p:nvPr/>
        </p:nvSpPr>
        <p:spPr>
          <a:xfrm>
            <a:off x="548640" y="4636008"/>
            <a:ext cx="7680960" cy="603504"/>
          </a:xfrm>
          <a:prstGeom prst="roundRect">
            <a:avLst>
              <a:gd fmla="val 18182" name="adj"/>
            </a:avLst>
          </a:prstGeom>
          <a:solidFill>
            <a:schemeClr val="lt1"/>
          </a:solidFill>
          <a:ln cap="flat" cmpd="sng" w="12700">
            <a:solidFill>
              <a:schemeClr val="lt1"/>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60" name="Google Shape;660;p52"/>
          <p:cNvSpPr txBox="1"/>
          <p:nvPr/>
        </p:nvSpPr>
        <p:spPr>
          <a:xfrm>
            <a:off x="822960" y="4636008"/>
            <a:ext cx="7223760" cy="6035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Raleway SemiBold"/>
              <a:buNone/>
            </a:pPr>
            <a:r>
              <a:rPr b="1" i="0" lang="en-US" spc="0" sz="1400" u="none" cap="none" strike="noStrike">
                <a:solidFill>
                  <a:schemeClr val="dk1"/>
                </a:solidFill>
                <a:latin typeface="Raleway SemiBold"/>
                <a:ea typeface="Raleway SemiBold"/>
                <a:cs typeface="Raleway SemiBold"/>
                <a:sym typeface="Raleway SemiBold"/>
              </a:rPr>
              <a:t>No risk of identifying anyone  </a:t>
            </a:r>
            <a:r>
              <a:rPr b="0" i="0" lang="en-US" spc="0" sz="1400" u="none" cap="none" strike="noStrike">
                <a:solidFill>
                  <a:schemeClr val="dk1"/>
                </a:solidFill>
                <a:latin typeface="Raleway Light"/>
                <a:ea typeface="Raleway Light"/>
                <a:cs typeface="Raleway Light"/>
                <a:sym typeface="Raleway Light"/>
              </a:rPr>
              <a:t>No data sharing across platforms.</a:t>
            </a:r>
            <a:endParaRPr b="0" i="0" spc="0" sz="1400" u="none" cap="none" strike="noStrike">
              <a:solidFill>
                <a:schemeClr val="dk1"/>
              </a:solidFill>
              <a:latin typeface="Raleway Light"/>
              <a:ea typeface="Raleway Light"/>
              <a:cs typeface="Raleway Light"/>
              <a:sym typeface="Raleway Light"/>
            </a:endParaRPr>
          </a:p>
        </p:txBody>
      </p:sp>
      <p:sp>
        <p:nvSpPr>
          <p:cNvPr id="661" name="Google Shape;661;p52"/>
          <p:cNvSpPr/>
          <p:nvPr/>
        </p:nvSpPr>
        <p:spPr>
          <a:xfrm>
            <a:off x="8503920" y="1783080"/>
            <a:ext cx="3139135" cy="3456432"/>
          </a:xfrm>
          <a:prstGeom prst="roundRect">
            <a:avLst>
              <a:gd fmla="val 3495" name="adj"/>
            </a:avLst>
          </a:prstGeom>
          <a:solidFill>
            <a:schemeClr val="dk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62" name="Google Shape;662;p52"/>
          <p:cNvSpPr txBox="1"/>
          <p:nvPr/>
        </p:nvSpPr>
        <p:spPr>
          <a:xfrm>
            <a:off x="8778240" y="2011680"/>
            <a:ext cx="2590495" cy="30175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lt2"/>
              </a:buClr>
              <a:buSzPts val="1300"/>
              <a:buFont typeface="Raleway SemiBold"/>
              <a:buNone/>
            </a:pPr>
            <a:r>
              <a:rPr b="1" i="0" lang="en-US" spc="0" sz="1300" u="none" cap="none" strike="noStrike">
                <a:solidFill>
                  <a:schemeClr val="lt2"/>
                </a:solidFill>
                <a:latin typeface="Raleway SemiBold"/>
                <a:ea typeface="Raleway SemiBold"/>
                <a:cs typeface="Raleway SemiBold"/>
                <a:sym typeface="Raleway SemiBold"/>
              </a:rPr>
              <a:t>WHY IT MATTERS</a:t>
            </a:r>
            <a:endParaRPr b="0" i="0" spc="0" sz="1700" u="none" cap="none" strike="noStrike">
              <a:solidFill>
                <a:schemeClr val="dk1"/>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chemeClr val="lt2"/>
              </a:buClr>
              <a:buSzPts val="800"/>
              <a:buFont typeface="Raleway Light"/>
              <a:buNone/>
            </a:pPr>
            <a:r>
              <a:rPr b="0" i="0" lang="en-US" spc="0" sz="800" u="none" cap="none" strike="noStrike">
                <a:solidFill>
                  <a:schemeClr val="lt2"/>
                </a:solidFill>
                <a:latin typeface="Raleway Light"/>
                <a:ea typeface="Raleway Light"/>
                <a:cs typeface="Raleway Light"/>
                <a:sym typeface="Raleway Light"/>
              </a:rPr>
              <a:t> </a:t>
            </a:r>
            <a:endParaRPr b="0" i="0" spc="0" sz="1700" u="none" cap="none" strike="noStrike">
              <a:solidFill>
                <a:schemeClr val="dk1"/>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chemeClr val="lt2"/>
              </a:buClr>
              <a:buSzPts val="1700"/>
              <a:buFont typeface="Raleway Light"/>
              <a:buNone/>
            </a:pPr>
            <a:r>
              <a:rPr b="0" i="0" lang="en-US" spc="0" sz="1700" u="none" cap="none" strike="noStrike">
                <a:solidFill>
                  <a:schemeClr val="lt2"/>
                </a:solidFill>
                <a:latin typeface="Raleway Light"/>
                <a:ea typeface="Raleway Light"/>
                <a:cs typeface="Raleway Light"/>
                <a:sym typeface="Raleway Light"/>
              </a:rPr>
              <a:t>Say what you really think. It only works if people are safe to. That trust is what makes the insight worth having.</a:t>
            </a:r>
            <a:endParaRPr b="0" i="0" spc="0" sz="1700" u="none" cap="none" strike="noStrike">
              <a:solidFill>
                <a:schemeClr val="dk1"/>
              </a:solidFill>
              <a:latin typeface="Raleway Light"/>
              <a:ea typeface="Raleway Light"/>
              <a:cs typeface="Raleway Light"/>
              <a:sym typeface="Raleway Light"/>
            </a:endParaRPr>
          </a:p>
        </p:txBody>
      </p:sp>
      <p:sp>
        <p:nvSpPr>
          <p:cNvPr id="663" name="Google Shape;663;p52"/>
          <p:cNvSpPr txBox="1"/>
          <p:nvPr>
            <p:ph idx="4294967295" type="sldNum"/>
          </p:nvPr>
        </p:nvSpPr>
        <p:spPr>
          <a:xfrm>
            <a:off x="10180015" y="6355080"/>
            <a:ext cx="365760" cy="2743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000"/>
              <a:buNone/>
            </a:pPr>
            <a:fld id="{00000000-1234-1234-1234-123412341234}" type="slidenum">
              <a:rPr b="0" i="0" lang="en-US" sz="1000" u="none" cap="none" strike="noStrike">
                <a:solidFill>
                  <a:schemeClr val="dk1"/>
                </a:solidFill>
                <a:latin typeface="Raleway Light"/>
                <a:ea typeface="Raleway Light"/>
                <a:cs typeface="Raleway Light"/>
                <a:sym typeface="Raleway Light"/>
              </a:rPr>
              <a:t>‹#›</a:t>
            </a:fld>
            <a:endParaRPr b="0" i="0" sz="1000" u="none" cap="none" strike="noStrike">
              <a:solidFill>
                <a:schemeClr val="dk1"/>
              </a:solidFill>
              <a:latin typeface="Raleway Light"/>
              <a:ea typeface="Raleway Light"/>
              <a:cs typeface="Raleway Light"/>
              <a:sym typeface="Raleway Light"/>
            </a:endParaRPr>
          </a:p>
        </p:txBody>
      </p:sp>
      <p:sp>
        <p:nvSpPr>
          <p:cNvPr id="664" name="Google Shape;664;p52"/>
          <p:cNvSpPr/>
          <p:nvPr/>
        </p:nvSpPr>
        <p:spPr>
          <a:xfrm>
            <a:off x="0" y="0"/>
            <a:ext cx="12191700" cy="329100"/>
          </a:xfrm>
          <a:prstGeom prst="rect">
            <a:avLst/>
          </a:prstGeom>
          <a:solidFill>
            <a:srgbClr val="565A32"/>
          </a:solidFill>
          <a:ln cap="flat" cmpd="sng" w="12700">
            <a:solidFill>
              <a:srgbClr val="565A3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65A32"/>
        </a:solidFill>
      </p:bgPr>
    </p:bg>
    <p:spTree>
      <p:nvGrpSpPr>
        <p:cNvPr id="669" name="Shape 669"/>
        <p:cNvGrpSpPr/>
        <p:nvPr/>
      </p:nvGrpSpPr>
      <p:grpSpPr>
        <a:xfrm>
          <a:off x="0" y="0"/>
          <a:ext cx="0" cy="0"/>
          <a:chOff x="0" y="0"/>
          <a:chExt cx="0" cy="0"/>
        </a:xfrm>
      </p:grpSpPr>
      <p:sp>
        <p:nvSpPr>
          <p:cNvPr id="670" name="Google Shape;670;p53"/>
          <p:cNvSpPr/>
          <p:nvPr/>
        </p:nvSpPr>
        <p:spPr>
          <a:xfrm>
            <a:off x="594360" y="475488"/>
            <a:ext cx="100584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65A32"/>
              </a:buClr>
              <a:buSzPts val="1200"/>
              <a:buFont typeface="Arial"/>
              <a:buNone/>
            </a:pPr>
            <a:r>
              <a:rPr b="1" i="0" lang="en-US" spc="0" sz="1200" u="none" cap="none" strike="noStrike">
                <a:solidFill>
                  <a:srgbClr val="E3AC9A"/>
                </a:solidFill>
                <a:latin typeface="Raleway"/>
                <a:ea typeface="Raleway"/>
                <a:cs typeface="Raleway"/>
                <a:sym typeface="Raleway"/>
              </a:rPr>
              <a:t>ENTRE AMIS  /  WORKING MASTER</a:t>
            </a:r>
            <a:endParaRPr b="0" i="0" spc="0" sz="1200" u="none" cap="none" strike="noStrike">
              <a:solidFill>
                <a:schemeClr val="dk1"/>
              </a:solidFill>
              <a:latin typeface="Raleway Light"/>
              <a:ea typeface="Raleway Light"/>
              <a:cs typeface="Raleway Light"/>
              <a:sym typeface="Raleway Light"/>
            </a:endParaRPr>
          </a:p>
        </p:txBody>
      </p:sp>
      <p:sp>
        <p:nvSpPr>
          <p:cNvPr id="671" name="Google Shape;671;p53"/>
          <p:cNvSpPr/>
          <p:nvPr/>
        </p:nvSpPr>
        <p:spPr>
          <a:xfrm>
            <a:off x="594360" y="1325880"/>
            <a:ext cx="10972800" cy="118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65A32"/>
              </a:buClr>
              <a:buSzPts val="3400"/>
              <a:buFont typeface="Arial"/>
              <a:buNone/>
            </a:pPr>
            <a:r>
              <a:rPr b="1" i="0" lang="en-US" spc="0" sz="3400" u="none" cap="none" strike="noStrike">
                <a:solidFill>
                  <a:srgbClr val="EFEAE0"/>
                </a:solidFill>
                <a:latin typeface="Raleway"/>
                <a:ea typeface="Raleway"/>
                <a:cs typeface="Raleway"/>
                <a:sym typeface="Raleway"/>
              </a:rPr>
              <a:t>05  Partner and event value</a:t>
            </a:r>
            <a:endParaRPr b="0" i="0" spc="0" sz="3400" u="none" cap="none" strike="noStrike">
              <a:solidFill>
                <a:schemeClr val="dk1"/>
              </a:solidFill>
              <a:latin typeface="Raleway Light"/>
              <a:ea typeface="Raleway Light"/>
              <a:cs typeface="Raleway Light"/>
              <a:sym typeface="Raleway Light"/>
            </a:endParaRPr>
          </a:p>
        </p:txBody>
      </p:sp>
      <p:sp>
        <p:nvSpPr>
          <p:cNvPr id="672" name="Google Shape;672;p53"/>
          <p:cNvSpPr/>
          <p:nvPr/>
        </p:nvSpPr>
        <p:spPr>
          <a:xfrm>
            <a:off x="621792" y="2743200"/>
            <a:ext cx="1088130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65A32"/>
              </a:buClr>
              <a:buSzPts val="1900"/>
              <a:buFont typeface="Arial"/>
              <a:buNone/>
            </a:pPr>
            <a:r>
              <a:rPr b="0" i="0" lang="en-US" spc="0" sz="1900" u="none" cap="none" strike="noStrike">
                <a:solidFill>
                  <a:srgbClr val="EFEAE0"/>
                </a:solidFill>
                <a:latin typeface="Raleway Light"/>
                <a:ea typeface="Raleway Light"/>
                <a:cs typeface="Raleway Light"/>
                <a:sym typeface="Raleway Light"/>
              </a:rPr>
              <a:t>Existing general partner proposition, Hambledon application and event formats. Kent-specific revisions are not yet approved.</a:t>
            </a:r>
            <a:endParaRPr b="0" i="0" spc="0" sz="1900" u="none" cap="none" strike="noStrike">
              <a:solidFill>
                <a:schemeClr val="dk1"/>
              </a:solidFill>
              <a:latin typeface="Raleway Light"/>
              <a:ea typeface="Raleway Light"/>
              <a:cs typeface="Raleway Light"/>
              <a:sym typeface="Raleway Light"/>
            </a:endParaRPr>
          </a:p>
        </p:txBody>
      </p:sp>
      <p:sp>
        <p:nvSpPr>
          <p:cNvPr id="673" name="Google Shape;673;p53"/>
          <p:cNvSpPr/>
          <p:nvPr/>
        </p:nvSpPr>
        <p:spPr>
          <a:xfrm>
            <a:off x="9262872" y="457200"/>
            <a:ext cx="2377440" cy="384048"/>
          </a:xfrm>
          <a:prstGeom prst="roundRect">
            <a:avLst>
              <a:gd fmla="val 50000" name="adj"/>
            </a:avLst>
          </a:prstGeom>
          <a:solidFill>
            <a:srgbClr val="EFEAE0"/>
          </a:solidFill>
          <a:ln cap="flat" cmpd="sng" w="12700">
            <a:solidFill>
              <a:srgbClr val="565A32"/>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1" i="0" lang="en-US" spc="0" sz="1400" u="none" cap="none" strike="noStrike">
                <a:solidFill>
                  <a:srgbClr val="565A32"/>
                </a:solidFill>
                <a:latin typeface="Raleway SemiBold"/>
                <a:ea typeface="Raleway SemiBold"/>
                <a:cs typeface="Raleway SemiBold"/>
                <a:sym typeface="Raleway SemiBold"/>
              </a:rPr>
              <a:t>INTERNAL</a:t>
            </a:r>
            <a:endParaRPr b="0" i="0" spc="0" sz="1400" u="none" cap="none" strike="noStrike">
              <a:solidFill>
                <a:srgbClr val="000000"/>
              </a:solidFill>
              <a:latin typeface="Arial"/>
              <a:ea typeface="Arial"/>
              <a:cs typeface="Arial"/>
              <a:sym typeface="Arial"/>
            </a:endParaRPr>
          </a:p>
        </p:txBody>
      </p:sp>
      <p:sp>
        <p:nvSpPr>
          <p:cNvPr id="674" name="Slide number"/>
          <p:cNvSpPr txBox="1"/>
          <p:nvPr>
            <p:ph idx="4294967295" type="sldNum"/>
          </p:nvPr>
        </p:nvSpPr>
        <p:spPr>
          <a:xfrm>
            <a:off x="10180015" y="6355080"/>
            <a:ext cx="365760" cy="2743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000"/>
              <a:buNone/>
            </a:pPr>
            <a:fld id="{00000000-1234-1234-1234-123412341234}" type="slidenum">
              <a:rPr b="0" i="0" lang="en-US" sz="1000" u="none" cap="none" strike="noStrike">
                <a:solidFill>
                  <a:srgbClr val="EFEAE0"/>
                </a:solidFill>
                <a:latin typeface="Raleway Light"/>
                <a:ea typeface="Raleway Light"/>
                <a:cs typeface="Raleway Light"/>
                <a:sym typeface="Raleway Light"/>
              </a:rPr>
              <a:t>‹#›</a:t>
            </a:fld>
            <a:endParaRPr b="0" i="0" sz="1000" u="none" cap="none" strike="noStrike">
              <a:solidFill>
                <a:srgbClr val="EFEAE0"/>
              </a:solidFill>
              <a:latin typeface="Raleway Light"/>
              <a:ea typeface="Raleway Light"/>
              <a:cs typeface="Raleway Light"/>
              <a:sym typeface="Raleway Light"/>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p54"/>
          <p:cNvSpPr txBox="1"/>
          <p:nvPr>
            <p:ph type="title"/>
          </p:nvPr>
        </p:nvSpPr>
        <p:spPr>
          <a:xfrm>
            <a:off x="548640" y="411480"/>
            <a:ext cx="8138100" cy="68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3600"/>
              <a:buFont typeface="Raleway Light"/>
              <a:buNone/>
            </a:pPr>
            <a:r>
              <a:rPr lang="en-US" sz="3600">
                <a:solidFill>
                  <a:schemeClr val="dk1"/>
                </a:solidFill>
                <a:latin typeface="Raleway Light"/>
                <a:ea typeface="Raleway Light"/>
                <a:cs typeface="Raleway Light"/>
                <a:sym typeface="Raleway Light"/>
              </a:rPr>
              <a:t>What wine businesses get</a:t>
            </a:r>
            <a:endParaRPr sz="3600"/>
          </a:p>
        </p:txBody>
      </p:sp>
      <p:sp>
        <p:nvSpPr>
          <p:cNvPr id="679" name="Google Shape;679;p54"/>
          <p:cNvSpPr txBox="1"/>
          <p:nvPr>
            <p:ph idx="1" type="body"/>
          </p:nvPr>
        </p:nvSpPr>
        <p:spPr>
          <a:xfrm>
            <a:off x="548640" y="1115568"/>
            <a:ext cx="11094300" cy="4116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800"/>
              <a:buNone/>
            </a:pPr>
            <a:r>
              <a:rPr lang="en-US" sz="1800">
                <a:solidFill>
                  <a:schemeClr val="dk1"/>
                </a:solidFill>
                <a:latin typeface="Raleway Light"/>
                <a:ea typeface="Raleway Light"/>
                <a:cs typeface="Raleway Light"/>
                <a:sym typeface="Raleway Light"/>
              </a:rPr>
              <a:t>Six benefits for producers and venues. All are built in the prototype; three can’t be offered yet.</a:t>
            </a:r>
            <a:endParaRPr sz="1800"/>
          </a:p>
        </p:txBody>
      </p:sp>
      <p:sp>
        <p:nvSpPr>
          <p:cNvPr id="680" name="Google Shape;680;p54"/>
          <p:cNvSpPr/>
          <p:nvPr/>
        </p:nvSpPr>
        <p:spPr>
          <a:xfrm>
            <a:off x="9265615" y="457200"/>
            <a:ext cx="2377500" cy="384000"/>
          </a:xfrm>
          <a:prstGeom prst="roundRect">
            <a:avLst>
              <a:gd fmla="val 50000" name="adj"/>
            </a:avLst>
          </a:prstGeom>
          <a:solidFill>
            <a:schemeClr val="accent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1400"/>
              <a:buFont typeface="Raleway SemiBold"/>
              <a:buNone/>
            </a:pPr>
            <a:r>
              <a:rPr b="1" i="0" lang="en-US" spc="0" sz="1400" u="none" cap="none" strike="noStrike">
                <a:solidFill>
                  <a:schemeClr val="dk1"/>
                </a:solidFill>
                <a:latin typeface="Raleway SemiBold"/>
                <a:ea typeface="Raleway SemiBold"/>
                <a:cs typeface="Raleway SemiBold"/>
                <a:sym typeface="Raleway SemiBold"/>
              </a:rPr>
              <a:t>EVENT MODE</a:t>
            </a:r>
            <a:endParaRPr b="0" i="0" spc="0" sz="1400" u="none" cap="none" strike="noStrike">
              <a:solidFill>
                <a:schemeClr val="dk1"/>
              </a:solidFill>
              <a:latin typeface="Raleway Light"/>
              <a:ea typeface="Raleway Light"/>
              <a:cs typeface="Raleway Light"/>
              <a:sym typeface="Raleway Light"/>
            </a:endParaRPr>
          </a:p>
        </p:txBody>
      </p:sp>
      <p:sp>
        <p:nvSpPr>
          <p:cNvPr id="681" name="Google Shape;681;p54"/>
          <p:cNvSpPr/>
          <p:nvPr/>
        </p:nvSpPr>
        <p:spPr>
          <a:xfrm>
            <a:off x="548640" y="1600200"/>
            <a:ext cx="3515400" cy="1828800"/>
          </a:xfrm>
          <a:prstGeom prst="roundRect">
            <a:avLst>
              <a:gd fmla="val 4706" name="adj"/>
            </a:avLst>
          </a:prstGeom>
          <a:solidFill>
            <a:schemeClr val="lt1"/>
          </a:solidFill>
          <a:ln cap="flat" cmpd="sng" w="12700">
            <a:solidFill>
              <a:schemeClr val="lt1"/>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82" name="Google Shape;682;p54"/>
          <p:cNvSpPr txBox="1"/>
          <p:nvPr/>
        </p:nvSpPr>
        <p:spPr>
          <a:xfrm>
            <a:off x="777240" y="1800200"/>
            <a:ext cx="3058200" cy="142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Raleway SemiBold"/>
              <a:buNone/>
            </a:pPr>
            <a:r>
              <a:rPr b="1" i="0" lang="en-US" spc="0" sz="1200" u="none" cap="none" strike="noStrike">
                <a:solidFill>
                  <a:schemeClr val="dk1"/>
                </a:solidFill>
                <a:latin typeface="Raleway SemiBold"/>
                <a:ea typeface="Raleway SemiBold"/>
                <a:cs typeface="Raleway SemiBold"/>
                <a:sym typeface="Raleway SemiBold"/>
              </a:rPr>
              <a:t>WHAT THE ROOM THOUGHT</a:t>
            </a:r>
            <a:endParaRPr b="0" i="0" spc="0" sz="1500" u="none" cap="none" strike="noStrike">
              <a:solidFill>
                <a:schemeClr val="dk1"/>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chemeClr val="dk1"/>
              </a:buClr>
              <a:buSzPts val="600"/>
              <a:buFont typeface="Raleway Light"/>
              <a:buNone/>
            </a:pPr>
            <a:r>
              <a:rPr b="0" i="0" lang="en-US" spc="0" sz="600" u="none" cap="none" strike="noStrike">
                <a:solidFill>
                  <a:schemeClr val="dk1"/>
                </a:solidFill>
                <a:latin typeface="Raleway Light"/>
                <a:ea typeface="Raleway Light"/>
                <a:cs typeface="Raleway Light"/>
                <a:sym typeface="Raleway Light"/>
              </a:rPr>
              <a:t> </a:t>
            </a:r>
            <a:endParaRPr b="0" i="0" spc="0" sz="1500" u="none" cap="none" strike="noStrike">
              <a:solidFill>
                <a:schemeClr val="dk1"/>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chemeClr val="dk1"/>
              </a:buClr>
              <a:buSzPts val="1400"/>
              <a:buFont typeface="Raleway Light"/>
              <a:buNone/>
            </a:pPr>
            <a:r>
              <a:rPr b="0" i="0" lang="en-US" spc="0" sz="1400" u="none" cap="none" strike="noStrike">
                <a:solidFill>
                  <a:schemeClr val="dk1"/>
                </a:solidFill>
                <a:latin typeface="Raleway Light"/>
                <a:ea typeface="Raleway Light"/>
                <a:cs typeface="Raleway Light"/>
                <a:sym typeface="Raleway Light"/>
              </a:rPr>
              <a:t>Loved, saved and crowned, wine by wine. Shown only once 5 or more people took part, and never with a name.</a:t>
            </a:r>
            <a:endParaRPr b="0" i="0" spc="0" sz="1500" u="none" cap="none" strike="noStrike">
              <a:solidFill>
                <a:schemeClr val="dk1"/>
              </a:solidFill>
              <a:latin typeface="Raleway Light"/>
              <a:ea typeface="Raleway Light"/>
              <a:cs typeface="Raleway Light"/>
              <a:sym typeface="Raleway Light"/>
            </a:endParaRPr>
          </a:p>
        </p:txBody>
      </p:sp>
      <p:sp>
        <p:nvSpPr>
          <p:cNvPr id="683" name="Google Shape;683;p54"/>
          <p:cNvSpPr/>
          <p:nvPr/>
        </p:nvSpPr>
        <p:spPr>
          <a:xfrm>
            <a:off x="4338218" y="1600200"/>
            <a:ext cx="3515400" cy="1828800"/>
          </a:xfrm>
          <a:prstGeom prst="roundRect">
            <a:avLst>
              <a:gd fmla="val 4706" name="adj"/>
            </a:avLst>
          </a:prstGeom>
          <a:solidFill>
            <a:schemeClr val="lt1"/>
          </a:solidFill>
          <a:ln cap="flat" cmpd="sng" w="12700">
            <a:solidFill>
              <a:schemeClr val="lt1"/>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84" name="Google Shape;684;p54"/>
          <p:cNvSpPr txBox="1"/>
          <p:nvPr/>
        </p:nvSpPr>
        <p:spPr>
          <a:xfrm>
            <a:off x="4566818" y="1800200"/>
            <a:ext cx="3058200" cy="142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Raleway SemiBold"/>
              <a:buNone/>
            </a:pPr>
            <a:r>
              <a:rPr b="1" i="0" lang="en-US" spc="0" sz="1200" u="none" cap="none" strike="noStrike">
                <a:solidFill>
                  <a:schemeClr val="dk1"/>
                </a:solidFill>
                <a:latin typeface="Raleway SemiBold"/>
                <a:ea typeface="Raleway SemiBold"/>
                <a:cs typeface="Raleway SemiBold"/>
                <a:sym typeface="Raleway SemiBold"/>
              </a:rPr>
              <a:t>CONTACTS WHO SAID YES</a:t>
            </a:r>
            <a:endParaRPr b="0" i="0" spc="0" sz="1500" u="none" cap="none" strike="noStrike">
              <a:solidFill>
                <a:schemeClr val="dk1"/>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chemeClr val="dk1"/>
              </a:buClr>
              <a:buSzPts val="600"/>
              <a:buFont typeface="Raleway Light"/>
              <a:buNone/>
            </a:pPr>
            <a:r>
              <a:rPr b="0" i="0" lang="en-US" spc="0" sz="600" u="none" cap="none" strike="noStrike">
                <a:solidFill>
                  <a:schemeClr val="dk1"/>
                </a:solidFill>
                <a:latin typeface="Raleway Light"/>
                <a:ea typeface="Raleway Light"/>
                <a:cs typeface="Raleway Light"/>
                <a:sym typeface="Raleway Light"/>
              </a:rPr>
              <a:t> </a:t>
            </a:r>
            <a:endParaRPr b="0" i="0" spc="0" sz="1500" u="none" cap="none" strike="noStrike">
              <a:solidFill>
                <a:schemeClr val="dk1"/>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chemeClr val="dk1"/>
              </a:buClr>
              <a:buSzPts val="1400"/>
              <a:buFont typeface="Raleway Light"/>
              <a:buNone/>
            </a:pPr>
            <a:r>
              <a:rPr b="0" i="0" lang="en-US" spc="0" sz="1400" u="none" cap="none" strike="noStrike">
                <a:solidFill>
                  <a:schemeClr val="dk1"/>
                </a:solidFill>
                <a:latin typeface="Raleway Light"/>
                <a:ea typeface="Raleway Light"/>
                <a:cs typeface="Raleway Light"/>
                <a:sym typeface="Raleway Light"/>
              </a:rPr>
              <a:t>Visitors tick a box for each producer they want to hear from. Nothing is ticked for them.</a:t>
            </a:r>
            <a:endParaRPr b="0" i="0" spc="0" sz="1500" u="none" cap="none" strike="noStrike">
              <a:solidFill>
                <a:schemeClr val="dk1"/>
              </a:solidFill>
              <a:latin typeface="Raleway Light"/>
              <a:ea typeface="Raleway Light"/>
              <a:cs typeface="Raleway Light"/>
              <a:sym typeface="Raleway Light"/>
            </a:endParaRPr>
          </a:p>
        </p:txBody>
      </p:sp>
      <p:sp>
        <p:nvSpPr>
          <p:cNvPr id="685" name="Google Shape;685;p54"/>
          <p:cNvSpPr/>
          <p:nvPr/>
        </p:nvSpPr>
        <p:spPr>
          <a:xfrm>
            <a:off x="8127797" y="1600200"/>
            <a:ext cx="3515400" cy="1828800"/>
          </a:xfrm>
          <a:prstGeom prst="roundRect">
            <a:avLst>
              <a:gd fmla="val 4706" name="adj"/>
            </a:avLst>
          </a:prstGeom>
          <a:solidFill>
            <a:schemeClr val="lt1"/>
          </a:solidFill>
          <a:ln cap="flat" cmpd="sng" w="12700">
            <a:solidFill>
              <a:schemeClr val="lt1"/>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86" name="Google Shape;686;p54"/>
          <p:cNvSpPr txBox="1"/>
          <p:nvPr/>
        </p:nvSpPr>
        <p:spPr>
          <a:xfrm>
            <a:off x="8356397" y="1800200"/>
            <a:ext cx="3058200" cy="142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Raleway SemiBold"/>
              <a:buNone/>
            </a:pPr>
            <a:r>
              <a:rPr b="1" i="0" lang="en-US" spc="0" sz="1200" u="none" cap="none" strike="noStrike">
                <a:solidFill>
                  <a:schemeClr val="dk1"/>
                </a:solidFill>
                <a:latin typeface="Raleway SemiBold"/>
                <a:ea typeface="Raleway SemiBold"/>
                <a:cs typeface="Raleway SemiBold"/>
                <a:sym typeface="Raleway SemiBold"/>
              </a:rPr>
              <a:t>YOUR STORY GOES HOME</a:t>
            </a:r>
            <a:endParaRPr b="0" i="0" spc="0" sz="1500" u="none" cap="none" strike="noStrike">
              <a:solidFill>
                <a:schemeClr val="dk1"/>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chemeClr val="dk1"/>
              </a:buClr>
              <a:buSzPts val="600"/>
              <a:buFont typeface="Raleway Light"/>
              <a:buNone/>
            </a:pPr>
            <a:r>
              <a:rPr b="0" i="0" lang="en-US" spc="0" sz="600" u="none" cap="none" strike="noStrike">
                <a:solidFill>
                  <a:schemeClr val="dk1"/>
                </a:solidFill>
                <a:latin typeface="Raleway Light"/>
                <a:ea typeface="Raleway Light"/>
                <a:cs typeface="Raleway Light"/>
                <a:sym typeface="Raleway Light"/>
              </a:rPr>
              <a:t> </a:t>
            </a:r>
            <a:endParaRPr b="0" i="0" spc="0" sz="1500" u="none" cap="none" strike="noStrike">
              <a:solidFill>
                <a:schemeClr val="dk1"/>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chemeClr val="dk1"/>
              </a:buClr>
              <a:buSzPts val="1400"/>
              <a:buFont typeface="Raleway Light"/>
              <a:buNone/>
            </a:pPr>
            <a:r>
              <a:rPr b="0" i="0" lang="en-US" spc="0" sz="1400" u="none" cap="none" strike="noStrike">
                <a:solidFill>
                  <a:schemeClr val="dk1"/>
                </a:solidFill>
                <a:latin typeface="Raleway Light"/>
                <a:ea typeface="Raleway Light"/>
                <a:cs typeface="Raleway Light"/>
                <a:sym typeface="Raleway Light"/>
              </a:rPr>
              <a:t>Your wines, story and notes stay in each visitor’s My wines after the day.</a:t>
            </a:r>
            <a:endParaRPr b="0" i="0" spc="0" sz="1500" u="none" cap="none" strike="noStrike">
              <a:solidFill>
                <a:schemeClr val="dk1"/>
              </a:solidFill>
              <a:latin typeface="Raleway Light"/>
              <a:ea typeface="Raleway Light"/>
              <a:cs typeface="Raleway Light"/>
              <a:sym typeface="Raleway Light"/>
            </a:endParaRPr>
          </a:p>
        </p:txBody>
      </p:sp>
      <p:sp>
        <p:nvSpPr>
          <p:cNvPr id="687" name="Google Shape;687;p54"/>
          <p:cNvSpPr/>
          <p:nvPr/>
        </p:nvSpPr>
        <p:spPr>
          <a:xfrm>
            <a:off x="548640" y="3611880"/>
            <a:ext cx="3515400" cy="1828800"/>
          </a:xfrm>
          <a:prstGeom prst="roundRect">
            <a:avLst>
              <a:gd fmla="val 4706" name="adj"/>
            </a:avLst>
          </a:prstGeom>
          <a:solidFill>
            <a:schemeClr val="lt1"/>
          </a:solidFill>
          <a:ln cap="flat" cmpd="sng" w="12700">
            <a:solidFill>
              <a:schemeClr val="lt1"/>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88" name="Google Shape;688;p54"/>
          <p:cNvSpPr txBox="1"/>
          <p:nvPr/>
        </p:nvSpPr>
        <p:spPr>
          <a:xfrm>
            <a:off x="777240" y="3811880"/>
            <a:ext cx="3058200" cy="142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Raleway SemiBold"/>
              <a:buNone/>
            </a:pPr>
            <a:r>
              <a:rPr b="1" i="0" lang="en-US" spc="0" sz="1200" u="none" cap="none" strike="noStrike">
                <a:solidFill>
                  <a:schemeClr val="dk1"/>
                </a:solidFill>
                <a:latin typeface="Raleway SemiBold"/>
                <a:ea typeface="Raleway SemiBold"/>
                <a:cs typeface="Raleway SemiBold"/>
                <a:sym typeface="Raleway SemiBold"/>
              </a:rPr>
              <a:t>A QUESTION ABOUT YOUR WINE</a:t>
            </a:r>
            <a:endParaRPr b="0" i="0" spc="0" sz="1500" u="none" cap="none" strike="noStrike">
              <a:solidFill>
                <a:schemeClr val="dk1"/>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chemeClr val="dk1"/>
              </a:buClr>
              <a:buSzPts val="600"/>
              <a:buFont typeface="Raleway Light"/>
              <a:buNone/>
            </a:pPr>
            <a:r>
              <a:rPr b="0" i="0" lang="en-US" spc="0" sz="600" u="none" cap="none" strike="noStrike">
                <a:solidFill>
                  <a:schemeClr val="dk1"/>
                </a:solidFill>
                <a:latin typeface="Raleway Light"/>
                <a:ea typeface="Raleway Light"/>
                <a:cs typeface="Raleway Light"/>
                <a:sym typeface="Raleway Light"/>
              </a:rPr>
              <a:t> </a:t>
            </a:r>
            <a:endParaRPr b="0" i="0" spc="0" sz="1500" u="none" cap="none" strike="noStrike">
              <a:solidFill>
                <a:schemeClr val="dk1"/>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chemeClr val="dk1"/>
              </a:buClr>
              <a:buSzPts val="1400"/>
              <a:buFont typeface="Raleway Light"/>
              <a:buNone/>
            </a:pPr>
            <a:r>
              <a:rPr b="0" i="0" lang="en-US" spc="0" sz="1400" u="none" cap="none" strike="noStrike">
                <a:solidFill>
                  <a:schemeClr val="dk1"/>
                </a:solidFill>
                <a:latin typeface="Raleway Light"/>
                <a:ea typeface="Raleway Light"/>
                <a:cs typeface="Raleway Light"/>
                <a:sym typeface="Raleway Light"/>
              </a:rPr>
              <a:t>One question per wine. Visitors see how the room answered, then a fact you chose.</a:t>
            </a:r>
            <a:endParaRPr b="0" i="0" spc="0" sz="1500" u="none" cap="none" strike="noStrike">
              <a:solidFill>
                <a:schemeClr val="dk1"/>
              </a:solidFill>
              <a:latin typeface="Raleway Light"/>
              <a:ea typeface="Raleway Light"/>
              <a:cs typeface="Raleway Light"/>
              <a:sym typeface="Raleway Light"/>
            </a:endParaRPr>
          </a:p>
        </p:txBody>
      </p:sp>
      <p:sp>
        <p:nvSpPr>
          <p:cNvPr id="689" name="Google Shape;689;p54"/>
          <p:cNvSpPr/>
          <p:nvPr/>
        </p:nvSpPr>
        <p:spPr>
          <a:xfrm>
            <a:off x="4338218" y="3611880"/>
            <a:ext cx="3515400" cy="1828800"/>
          </a:xfrm>
          <a:prstGeom prst="roundRect">
            <a:avLst>
              <a:gd fmla="val 4706" name="adj"/>
            </a:avLst>
          </a:prstGeom>
          <a:solidFill>
            <a:schemeClr val="lt1"/>
          </a:solidFill>
          <a:ln cap="flat" cmpd="sng" w="12700">
            <a:solidFill>
              <a:schemeClr val="lt1"/>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90" name="Google Shape;690;p54"/>
          <p:cNvSpPr txBox="1"/>
          <p:nvPr/>
        </p:nvSpPr>
        <p:spPr>
          <a:xfrm>
            <a:off x="4566818" y="3811880"/>
            <a:ext cx="3058200" cy="142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Raleway SemiBold"/>
              <a:buNone/>
            </a:pPr>
            <a:r>
              <a:rPr b="1" i="0" lang="en-US" spc="0" sz="1200" u="none" cap="none" strike="noStrike">
                <a:solidFill>
                  <a:schemeClr val="dk1"/>
                </a:solidFill>
                <a:latin typeface="Raleway SemiBold"/>
                <a:ea typeface="Raleway SemiBold"/>
                <a:cs typeface="Raleway SemiBold"/>
                <a:sym typeface="Raleway SemiBold"/>
              </a:rPr>
              <a:t>FOUND AT YOUR STAND</a:t>
            </a:r>
            <a:endParaRPr b="0" i="0" spc="0" sz="1500" u="none" cap="none" strike="noStrike">
              <a:solidFill>
                <a:schemeClr val="dk1"/>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chemeClr val="dk1"/>
              </a:buClr>
              <a:buSzPts val="600"/>
              <a:buFont typeface="Raleway Light"/>
              <a:buNone/>
            </a:pPr>
            <a:r>
              <a:rPr b="0" i="0" lang="en-US" spc="0" sz="600" u="none" cap="none" strike="noStrike">
                <a:solidFill>
                  <a:schemeClr val="dk1"/>
                </a:solidFill>
                <a:latin typeface="Raleway Light"/>
                <a:ea typeface="Raleway Light"/>
                <a:cs typeface="Raleway Light"/>
                <a:sym typeface="Raleway Light"/>
              </a:rPr>
              <a:t> </a:t>
            </a:r>
            <a:endParaRPr b="0" i="0" spc="0" sz="1500" u="none" cap="none" strike="noStrike">
              <a:solidFill>
                <a:schemeClr val="dk1"/>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chemeClr val="dk1"/>
              </a:buClr>
              <a:buSzPts val="1400"/>
              <a:buFont typeface="Raleway Light"/>
              <a:buNone/>
            </a:pPr>
            <a:r>
              <a:rPr b="0" i="0" lang="en-US" spc="0" sz="1400" u="none" cap="none" strike="noStrike">
                <a:solidFill>
                  <a:schemeClr val="dk1"/>
                </a:solidFill>
                <a:latin typeface="Raleway Light"/>
                <a:ea typeface="Raleway Light"/>
                <a:cs typeface="Raleway Light"/>
                <a:sym typeface="Raleway Light"/>
              </a:rPr>
              <a:t>A printed QR card on each stand opens your producer page straight away.</a:t>
            </a:r>
            <a:endParaRPr b="0" i="0" spc="0" sz="1500" u="none" cap="none" strike="noStrike">
              <a:solidFill>
                <a:schemeClr val="dk1"/>
              </a:solidFill>
              <a:latin typeface="Raleway Light"/>
              <a:ea typeface="Raleway Light"/>
              <a:cs typeface="Raleway Light"/>
              <a:sym typeface="Raleway Light"/>
            </a:endParaRPr>
          </a:p>
        </p:txBody>
      </p:sp>
      <p:sp>
        <p:nvSpPr>
          <p:cNvPr id="691" name="Google Shape;691;p54"/>
          <p:cNvSpPr/>
          <p:nvPr/>
        </p:nvSpPr>
        <p:spPr>
          <a:xfrm>
            <a:off x="8127797" y="3611880"/>
            <a:ext cx="3515400" cy="1828800"/>
          </a:xfrm>
          <a:prstGeom prst="roundRect">
            <a:avLst>
              <a:gd fmla="val 4706" name="adj"/>
            </a:avLst>
          </a:prstGeom>
          <a:solidFill>
            <a:schemeClr val="lt1"/>
          </a:solidFill>
          <a:ln cap="flat" cmpd="sng" w="12700">
            <a:solidFill>
              <a:schemeClr val="lt1"/>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92" name="Google Shape;692;p54"/>
          <p:cNvSpPr txBox="1"/>
          <p:nvPr/>
        </p:nvSpPr>
        <p:spPr>
          <a:xfrm>
            <a:off x="8356397" y="3811880"/>
            <a:ext cx="3058200" cy="142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Raleway SemiBold"/>
              <a:buNone/>
            </a:pPr>
            <a:r>
              <a:rPr b="1" i="0" lang="en-US" spc="0" sz="1200" u="none" cap="none" strike="noStrike">
                <a:solidFill>
                  <a:schemeClr val="dk1"/>
                </a:solidFill>
                <a:latin typeface="Raleway SemiBold"/>
                <a:ea typeface="Raleway SemiBold"/>
                <a:cs typeface="Raleway SemiBold"/>
                <a:sym typeface="Raleway SemiBold"/>
              </a:rPr>
              <a:t>A REASON TO CROWN</a:t>
            </a:r>
            <a:endParaRPr b="0" i="0" spc="0" sz="1500" u="none" cap="none" strike="noStrike">
              <a:solidFill>
                <a:schemeClr val="dk1"/>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chemeClr val="dk1"/>
              </a:buClr>
              <a:buSzPts val="600"/>
              <a:buFont typeface="Raleway Light"/>
              <a:buNone/>
            </a:pPr>
            <a:r>
              <a:rPr b="0" i="0" lang="en-US" spc="0" sz="600" u="none" cap="none" strike="noStrike">
                <a:solidFill>
                  <a:schemeClr val="dk1"/>
                </a:solidFill>
                <a:latin typeface="Raleway Light"/>
                <a:ea typeface="Raleway Light"/>
                <a:cs typeface="Raleway Light"/>
                <a:sym typeface="Raleway Light"/>
              </a:rPr>
              <a:t> </a:t>
            </a:r>
            <a:endParaRPr b="0" i="0" spc="0" sz="1500" u="none" cap="none" strike="noStrike">
              <a:solidFill>
                <a:schemeClr val="dk1"/>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chemeClr val="dk1"/>
              </a:buClr>
              <a:buSzPts val="1400"/>
              <a:buFont typeface="Raleway Light"/>
              <a:buNone/>
            </a:pPr>
            <a:r>
              <a:rPr b="0" i="0" lang="en-US" spc="0" sz="1400" u="none" cap="none" strike="noStrike">
                <a:solidFill>
                  <a:schemeClr val="dk1"/>
                </a:solidFill>
                <a:latin typeface="Raleway Light"/>
                <a:ea typeface="Raleway Light"/>
                <a:cs typeface="Raleway Light"/>
                <a:sym typeface="Raleway Light"/>
              </a:rPr>
              <a:t>Visitors crown their Wine of the Day. Everyone who crowns is entered into a prize draw.</a:t>
            </a:r>
            <a:endParaRPr b="0" i="0" spc="0" sz="1500" u="none" cap="none" strike="noStrike">
              <a:solidFill>
                <a:schemeClr val="dk1"/>
              </a:solidFill>
              <a:latin typeface="Raleway Light"/>
              <a:ea typeface="Raleway Light"/>
              <a:cs typeface="Raleway Light"/>
              <a:sym typeface="Raleway Light"/>
            </a:endParaRPr>
          </a:p>
        </p:txBody>
      </p:sp>
      <p:sp>
        <p:nvSpPr>
          <p:cNvPr id="693" name="Google Shape;693;p54"/>
          <p:cNvSpPr txBox="1"/>
          <p:nvPr/>
        </p:nvSpPr>
        <p:spPr>
          <a:xfrm>
            <a:off x="548640" y="5532120"/>
            <a:ext cx="11094300" cy="548700"/>
          </a:xfrm>
          <a:prstGeom prst="rect">
            <a:avLst/>
          </a:prstGeom>
          <a:solidFill>
            <a:schemeClr val="lt1"/>
          </a:solidFill>
          <a:ln cap="flat" cmpd="sng" w="25400">
            <a:solidFill>
              <a:schemeClr val="accent4"/>
            </a:solidFill>
            <a:prstDash val="solid"/>
            <a:round/>
            <a:headEnd len="sm" w="sm" type="none"/>
            <a:tailEnd len="sm" w="sm" type="none"/>
          </a:ln>
        </p:spPr>
        <p:txBody>
          <a:bodyPr anchorCtr="0" anchor="ctr" bIns="38100" lIns="76200" spcFirstLastPara="1" rIns="76200" wrap="square" tIns="38100">
            <a:noAutofit/>
          </a:bodyPr>
          <a:lstStyle/>
          <a:p>
            <a:pPr indent="0" lvl="0" marL="0" marR="0" rtl="0" algn="l">
              <a:lnSpc>
                <a:spcPct val="100000"/>
              </a:lnSpc>
              <a:spcBef>
                <a:spcPts val="0"/>
              </a:spcBef>
              <a:spcAft>
                <a:spcPts val="0"/>
              </a:spcAft>
              <a:buClr>
                <a:schemeClr val="dk1"/>
              </a:buClr>
              <a:buSzPts val="1100"/>
              <a:buFont typeface="Raleway SemiBold"/>
              <a:buNone/>
            </a:pPr>
            <a:r>
              <a:rPr b="1" i="0" lang="en-US" spc="0" sz="1100" u="none" cap="none" strike="noStrike">
                <a:solidFill>
                  <a:schemeClr val="dk1"/>
                </a:solidFill>
                <a:latin typeface="Raleway SemiBold"/>
                <a:ea typeface="Raleway SemiBold"/>
                <a:cs typeface="Raleway SemiBold"/>
                <a:sym typeface="Raleway SemiBold"/>
              </a:rPr>
              <a:t>TO CONFIRM  </a:t>
            </a:r>
            <a:r>
              <a:rPr b="0" i="0" lang="en-US" spc="0" sz="1100" u="none" cap="none" strike="noStrike">
                <a:solidFill>
                  <a:schemeClr val="dk1"/>
                </a:solidFill>
                <a:latin typeface="Raleway Light"/>
                <a:ea typeface="Raleway Light"/>
                <a:cs typeface="Raleway Light"/>
                <a:sym typeface="Raleway Light"/>
              </a:rPr>
              <a:t>Prize draw: legal check (UK prize draw rules, CAP Code, Portman Group) and short terms before any real event. Results for businesses: built in the prototype (16 October), not yet seen by a partner. Not claimable yet: results, contacts and the prize draw.</a:t>
            </a:r>
            <a:endParaRPr b="0" i="0" spc="0" sz="1400" u="none" cap="none" strike="noStrike">
              <a:solidFill>
                <a:srgbClr val="000000"/>
              </a:solidFill>
              <a:latin typeface="Arial"/>
              <a:ea typeface="Arial"/>
              <a:cs typeface="Arial"/>
              <a:sym typeface="Arial"/>
            </a:endParaRPr>
          </a:p>
        </p:txBody>
      </p:sp>
      <p:sp>
        <p:nvSpPr>
          <p:cNvPr id="694" name="Google Shape;694;p54"/>
          <p:cNvSpPr txBox="1"/>
          <p:nvPr>
            <p:ph idx="4294967295" type="sldNum"/>
          </p:nvPr>
        </p:nvSpPr>
        <p:spPr>
          <a:xfrm>
            <a:off x="10180015" y="6355080"/>
            <a:ext cx="365700" cy="274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000"/>
              <a:buNone/>
            </a:pPr>
            <a:fld id="{00000000-1234-1234-1234-123412341234}" type="slidenum">
              <a:rPr b="0" i="0" lang="en-US" sz="1000" u="none" cap="none" strike="noStrike">
                <a:solidFill>
                  <a:schemeClr val="dk1"/>
                </a:solidFill>
                <a:latin typeface="Raleway Light"/>
                <a:ea typeface="Raleway Light"/>
                <a:cs typeface="Raleway Light"/>
                <a:sym typeface="Raleway Light"/>
              </a:rPr>
              <a:t>‹#›</a:t>
            </a:fld>
            <a:endParaRPr b="0" i="0" sz="1000" u="none" cap="none" strike="noStrike">
              <a:solidFill>
                <a:schemeClr val="dk1"/>
              </a:solidFill>
              <a:latin typeface="Raleway Light"/>
              <a:ea typeface="Raleway Light"/>
              <a:cs typeface="Raleway Light"/>
              <a:sym typeface="Raleway Light"/>
            </a:endParaRPr>
          </a:p>
        </p:txBody>
      </p:sp>
      <p:sp>
        <p:nvSpPr>
          <p:cNvPr id="695" name="Google Shape;695;p54"/>
          <p:cNvSpPr/>
          <p:nvPr/>
        </p:nvSpPr>
        <p:spPr>
          <a:xfrm>
            <a:off x="0" y="0"/>
            <a:ext cx="12191700" cy="329100"/>
          </a:xfrm>
          <a:prstGeom prst="rect">
            <a:avLst/>
          </a:prstGeom>
          <a:solidFill>
            <a:srgbClr val="565A32"/>
          </a:solidFill>
          <a:ln cap="flat" cmpd="sng" w="12700">
            <a:solidFill>
              <a:srgbClr val="565A3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0" name="Shape 700"/>
        <p:cNvGrpSpPr/>
        <p:nvPr/>
      </p:nvGrpSpPr>
      <p:grpSpPr>
        <a:xfrm>
          <a:off x="0" y="0"/>
          <a:ext cx="0" cy="0"/>
          <a:chOff x="0" y="0"/>
          <a:chExt cx="0" cy="0"/>
        </a:xfrm>
      </p:grpSpPr>
      <p:sp>
        <p:nvSpPr>
          <p:cNvPr id="701" name="Google Shape;701;p55"/>
          <p:cNvSpPr txBox="1"/>
          <p:nvPr>
            <p:ph type="title"/>
          </p:nvPr>
        </p:nvSpPr>
        <p:spPr>
          <a:xfrm>
            <a:off x="548640" y="411480"/>
            <a:ext cx="8138160" cy="68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3600"/>
              <a:buFont typeface="Raleway Light"/>
              <a:buNone/>
            </a:pPr>
            <a:r>
              <a:rPr lang="en-US" sz="3600">
                <a:solidFill>
                  <a:schemeClr val="dk1"/>
                </a:solidFill>
                <a:latin typeface="Raleway Light"/>
                <a:ea typeface="Raleway Light"/>
                <a:cs typeface="Raleway Light"/>
                <a:sym typeface="Raleway Light"/>
              </a:rPr>
              <a:t>What you know after a tasting day</a:t>
            </a:r>
            <a:endParaRPr sz="3600"/>
          </a:p>
        </p:txBody>
      </p:sp>
      <p:sp>
        <p:nvSpPr>
          <p:cNvPr id="702" name="Google Shape;702;p55"/>
          <p:cNvSpPr txBox="1"/>
          <p:nvPr>
            <p:ph idx="1" type="body"/>
          </p:nvPr>
        </p:nvSpPr>
        <p:spPr>
          <a:xfrm>
            <a:off x="548640" y="1115568"/>
            <a:ext cx="11094415" cy="4114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800"/>
              <a:buNone/>
            </a:pPr>
            <a:r>
              <a:rPr lang="en-US" sz="1800">
                <a:solidFill>
                  <a:schemeClr val="dk1"/>
                </a:solidFill>
                <a:latin typeface="Raleway Light"/>
                <a:ea typeface="Raleway Light"/>
                <a:cs typeface="Raleway Light"/>
                <a:sym typeface="Raleway Light"/>
              </a:rPr>
              <a:t>Often, only who bought the tickets.</a:t>
            </a:r>
            <a:endParaRPr sz="1800"/>
          </a:p>
        </p:txBody>
      </p:sp>
      <p:sp>
        <p:nvSpPr>
          <p:cNvPr id="703" name="Google Shape;703;p55"/>
          <p:cNvSpPr/>
          <p:nvPr/>
        </p:nvSpPr>
        <p:spPr>
          <a:xfrm>
            <a:off x="9265615" y="457200"/>
            <a:ext cx="2377440" cy="384048"/>
          </a:xfrm>
          <a:prstGeom prst="roundRect">
            <a:avLst>
              <a:gd fmla="val 50000" name="adj"/>
            </a:avLst>
          </a:prstGeom>
          <a:solidFill>
            <a:schemeClr val="accent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1400"/>
              <a:buFont typeface="Raleway SemiBold"/>
              <a:buNone/>
            </a:pPr>
            <a:r>
              <a:rPr b="1" i="0" lang="en-US" spc="0" sz="1400" u="none" cap="none" strike="noStrike">
                <a:solidFill>
                  <a:schemeClr val="dk1"/>
                </a:solidFill>
                <a:latin typeface="Raleway SemiBold"/>
                <a:ea typeface="Raleway SemiBold"/>
                <a:cs typeface="Raleway SemiBold"/>
                <a:sym typeface="Raleway SemiBold"/>
              </a:rPr>
              <a:t>EVENT MODE</a:t>
            </a:r>
            <a:endParaRPr b="0" i="0" spc="0" sz="1400" u="none" cap="none" strike="noStrike">
              <a:solidFill>
                <a:schemeClr val="dk1"/>
              </a:solidFill>
              <a:latin typeface="Raleway Light"/>
              <a:ea typeface="Raleway Light"/>
              <a:cs typeface="Raleway Light"/>
              <a:sym typeface="Raleway Light"/>
            </a:endParaRPr>
          </a:p>
        </p:txBody>
      </p:sp>
      <p:sp>
        <p:nvSpPr>
          <p:cNvPr id="704" name="Google Shape;704;p55"/>
          <p:cNvSpPr/>
          <p:nvPr/>
        </p:nvSpPr>
        <p:spPr>
          <a:xfrm>
            <a:off x="548640" y="1783080"/>
            <a:ext cx="3515258" cy="2103120"/>
          </a:xfrm>
          <a:prstGeom prst="roundRect">
            <a:avLst>
              <a:gd fmla="val 5217" name="adj"/>
            </a:avLst>
          </a:prstGeom>
          <a:solidFill>
            <a:schemeClr val="lt1"/>
          </a:solidFill>
          <a:ln cap="flat" cmpd="sng" w="12700">
            <a:solidFill>
              <a:schemeClr val="lt1"/>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05" name="Google Shape;705;p55"/>
          <p:cNvSpPr txBox="1"/>
          <p:nvPr/>
        </p:nvSpPr>
        <p:spPr>
          <a:xfrm>
            <a:off x="777240" y="2011680"/>
            <a:ext cx="3058058" cy="1737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Raleway SemiBold"/>
              <a:buNone/>
            </a:pPr>
            <a:r>
              <a:rPr b="1" i="0" lang="en-US" spc="0" sz="1200" u="none" cap="none" strike="noStrike">
                <a:solidFill>
                  <a:schemeClr val="dk1"/>
                </a:solidFill>
                <a:latin typeface="Raleway SemiBold"/>
                <a:ea typeface="Raleway SemiBold"/>
                <a:cs typeface="Raleway SemiBold"/>
                <a:sym typeface="Raleway SemiBold"/>
              </a:rPr>
              <a:t>WHO CAME</a:t>
            </a:r>
            <a:endParaRPr b="0" i="0" spc="0" sz="1600" u="none" cap="none" strike="noStrike">
              <a:solidFill>
                <a:schemeClr val="dk1"/>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chemeClr val="dk1"/>
              </a:buClr>
              <a:buSzPts val="600"/>
              <a:buFont typeface="Raleway Light"/>
              <a:buNone/>
            </a:pPr>
            <a:r>
              <a:rPr b="0" i="0" lang="en-US" spc="0" sz="600" u="none" cap="none" strike="noStrike">
                <a:solidFill>
                  <a:schemeClr val="dk1"/>
                </a:solidFill>
                <a:latin typeface="Raleway Light"/>
                <a:ea typeface="Raleway Light"/>
                <a:cs typeface="Raleway Light"/>
                <a:sym typeface="Raleway Light"/>
              </a:rPr>
              <a:t> </a:t>
            </a:r>
            <a:endParaRPr b="0" i="0" spc="0" sz="1600" u="none" cap="none" strike="noStrike">
              <a:solidFill>
                <a:schemeClr val="dk1"/>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chemeClr val="dk1"/>
              </a:buClr>
              <a:buSzPts val="1600"/>
              <a:buFont typeface="Raleway Light"/>
              <a:buNone/>
            </a:pPr>
            <a:r>
              <a:rPr b="0" i="0" lang="en-US" spc="0" sz="1600" u="none" cap="none" strike="noStrike">
                <a:solidFill>
                  <a:schemeClr val="dk1"/>
                </a:solidFill>
                <a:latin typeface="Raleway Light"/>
                <a:ea typeface="Raleway Light"/>
                <a:cs typeface="Raleway Light"/>
                <a:sym typeface="Raleway Light"/>
              </a:rPr>
              <a:t>You often know the ticket buyer, not everyone with them. One person may buy eight tickets.</a:t>
            </a:r>
            <a:endParaRPr b="0" i="0" spc="0" sz="1600" u="none" cap="none" strike="noStrike">
              <a:solidFill>
                <a:schemeClr val="dk1"/>
              </a:solidFill>
              <a:latin typeface="Raleway Light"/>
              <a:ea typeface="Raleway Light"/>
              <a:cs typeface="Raleway Light"/>
              <a:sym typeface="Raleway Light"/>
            </a:endParaRPr>
          </a:p>
        </p:txBody>
      </p:sp>
      <p:sp>
        <p:nvSpPr>
          <p:cNvPr id="706" name="Google Shape;706;p55"/>
          <p:cNvSpPr/>
          <p:nvPr/>
        </p:nvSpPr>
        <p:spPr>
          <a:xfrm>
            <a:off x="4338218" y="1783080"/>
            <a:ext cx="3515258" cy="2103120"/>
          </a:xfrm>
          <a:prstGeom prst="roundRect">
            <a:avLst>
              <a:gd fmla="val 5217" name="adj"/>
            </a:avLst>
          </a:prstGeom>
          <a:solidFill>
            <a:schemeClr val="lt1"/>
          </a:solidFill>
          <a:ln cap="flat" cmpd="sng" w="12700">
            <a:solidFill>
              <a:schemeClr val="lt1"/>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07" name="Google Shape;707;p55"/>
          <p:cNvSpPr txBox="1"/>
          <p:nvPr/>
        </p:nvSpPr>
        <p:spPr>
          <a:xfrm>
            <a:off x="4566818" y="2011680"/>
            <a:ext cx="3058058" cy="1737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Raleway SemiBold"/>
              <a:buNone/>
            </a:pPr>
            <a:r>
              <a:rPr b="1" i="0" lang="en-US" spc="0" sz="1200" u="none" cap="none" strike="noStrike">
                <a:solidFill>
                  <a:schemeClr val="dk1"/>
                </a:solidFill>
                <a:latin typeface="Raleway SemiBold"/>
                <a:ea typeface="Raleway SemiBold"/>
                <a:cs typeface="Raleway SemiBold"/>
                <a:sym typeface="Raleway SemiBold"/>
              </a:rPr>
              <a:t>WHAT THEY THOUGHT</a:t>
            </a:r>
            <a:endParaRPr b="0" i="0" spc="0" sz="1600" u="none" cap="none" strike="noStrike">
              <a:solidFill>
                <a:schemeClr val="dk1"/>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chemeClr val="dk1"/>
              </a:buClr>
              <a:buSzPts val="600"/>
              <a:buFont typeface="Raleway Light"/>
              <a:buNone/>
            </a:pPr>
            <a:r>
              <a:rPr b="0" i="0" lang="en-US" spc="0" sz="600" u="none" cap="none" strike="noStrike">
                <a:solidFill>
                  <a:schemeClr val="dk1"/>
                </a:solidFill>
                <a:latin typeface="Raleway Light"/>
                <a:ea typeface="Raleway Light"/>
                <a:cs typeface="Raleway Light"/>
                <a:sym typeface="Raleway Light"/>
              </a:rPr>
              <a:t> </a:t>
            </a:r>
            <a:endParaRPr b="0" i="0" spc="0" sz="1600" u="none" cap="none" strike="noStrike">
              <a:solidFill>
                <a:schemeClr val="dk1"/>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chemeClr val="dk1"/>
              </a:buClr>
              <a:buSzPts val="1600"/>
              <a:buFont typeface="Raleway Light"/>
              <a:buNone/>
            </a:pPr>
            <a:r>
              <a:rPr b="0" i="0" lang="en-US" spc="0" sz="1600" u="none" cap="none" strike="noStrike">
                <a:solidFill>
                  <a:schemeClr val="dk1"/>
                </a:solidFill>
                <a:latin typeface="Raleway Light"/>
                <a:ea typeface="Raleway Light"/>
                <a:cs typeface="Raleway Light"/>
                <a:sym typeface="Raleway Light"/>
              </a:rPr>
              <a:t>Visitors talk about the wines all day. Most of what they say isn't captured.</a:t>
            </a:r>
            <a:endParaRPr b="0" i="0" spc="0" sz="1600" u="none" cap="none" strike="noStrike">
              <a:solidFill>
                <a:schemeClr val="dk1"/>
              </a:solidFill>
              <a:latin typeface="Raleway Light"/>
              <a:ea typeface="Raleway Light"/>
              <a:cs typeface="Raleway Light"/>
              <a:sym typeface="Raleway Light"/>
            </a:endParaRPr>
          </a:p>
        </p:txBody>
      </p:sp>
      <p:sp>
        <p:nvSpPr>
          <p:cNvPr id="708" name="Google Shape;708;p55"/>
          <p:cNvSpPr/>
          <p:nvPr/>
        </p:nvSpPr>
        <p:spPr>
          <a:xfrm>
            <a:off x="8127797" y="1783080"/>
            <a:ext cx="3515258" cy="2103120"/>
          </a:xfrm>
          <a:prstGeom prst="roundRect">
            <a:avLst>
              <a:gd fmla="val 5217" name="adj"/>
            </a:avLst>
          </a:prstGeom>
          <a:solidFill>
            <a:schemeClr val="lt1"/>
          </a:solidFill>
          <a:ln cap="flat" cmpd="sng" w="12700">
            <a:solidFill>
              <a:schemeClr val="lt1"/>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09" name="Google Shape;709;p55"/>
          <p:cNvSpPr txBox="1"/>
          <p:nvPr/>
        </p:nvSpPr>
        <p:spPr>
          <a:xfrm>
            <a:off x="8356397" y="2011680"/>
            <a:ext cx="3058058" cy="17373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Raleway SemiBold"/>
              <a:buNone/>
            </a:pPr>
            <a:r>
              <a:rPr b="1" i="0" lang="en-US" spc="0" sz="1200" u="none" cap="none" strike="noStrike">
                <a:solidFill>
                  <a:schemeClr val="dk1"/>
                </a:solidFill>
                <a:latin typeface="Raleway SemiBold"/>
                <a:ea typeface="Raleway SemiBold"/>
                <a:cs typeface="Raleway SemiBold"/>
                <a:sym typeface="Raleway SemiBold"/>
              </a:rPr>
              <a:t>WHAT HAPPENS NEXT</a:t>
            </a:r>
            <a:endParaRPr b="0" i="0" spc="0" sz="1600" u="none" cap="none" strike="noStrike">
              <a:solidFill>
                <a:schemeClr val="dk1"/>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chemeClr val="dk1"/>
              </a:buClr>
              <a:buSzPts val="600"/>
              <a:buFont typeface="Raleway Light"/>
              <a:buNone/>
            </a:pPr>
            <a:r>
              <a:rPr b="0" i="0" lang="en-US" spc="0" sz="600" u="none" cap="none" strike="noStrike">
                <a:solidFill>
                  <a:schemeClr val="dk1"/>
                </a:solidFill>
                <a:latin typeface="Raleway Light"/>
                <a:ea typeface="Raleway Light"/>
                <a:cs typeface="Raleway Light"/>
                <a:sym typeface="Raleway Light"/>
              </a:rPr>
              <a:t> </a:t>
            </a:r>
            <a:endParaRPr b="0" i="0" spc="0" sz="1600" u="none" cap="none" strike="noStrike">
              <a:solidFill>
                <a:schemeClr val="dk1"/>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chemeClr val="dk1"/>
              </a:buClr>
              <a:buSzPts val="1600"/>
              <a:buFont typeface="Raleway Light"/>
              <a:buNone/>
            </a:pPr>
            <a:r>
              <a:rPr b="0" i="0" lang="en-US" spc="0" sz="1600" u="none" cap="none" strike="noStrike">
                <a:solidFill>
                  <a:schemeClr val="dk1"/>
                </a:solidFill>
                <a:latin typeface="Raleway Light"/>
                <a:ea typeface="Raleway Light"/>
                <a:cs typeface="Raleway Light"/>
                <a:sym typeface="Raleway Light"/>
              </a:rPr>
              <a:t>The wines and producers visitors discovered are easily forgotten once the day ends.</a:t>
            </a:r>
            <a:endParaRPr b="0" i="0" spc="0" sz="1600" u="none" cap="none" strike="noStrike">
              <a:solidFill>
                <a:schemeClr val="dk1"/>
              </a:solidFill>
              <a:latin typeface="Raleway Light"/>
              <a:ea typeface="Raleway Light"/>
              <a:cs typeface="Raleway Light"/>
              <a:sym typeface="Raleway Light"/>
            </a:endParaRPr>
          </a:p>
        </p:txBody>
      </p:sp>
      <p:sp>
        <p:nvSpPr>
          <p:cNvPr id="710" name="Google Shape;710;p55"/>
          <p:cNvSpPr/>
          <p:nvPr/>
        </p:nvSpPr>
        <p:spPr>
          <a:xfrm>
            <a:off x="548640" y="4160520"/>
            <a:ext cx="11094415" cy="914400"/>
          </a:xfrm>
          <a:prstGeom prst="roundRect">
            <a:avLst>
              <a:gd fmla="val 12000" name="adj"/>
            </a:avLst>
          </a:prstGeom>
          <a:solidFill>
            <a:schemeClr val="dk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11" name="Google Shape;711;p55"/>
          <p:cNvSpPr txBox="1"/>
          <p:nvPr/>
        </p:nvSpPr>
        <p:spPr>
          <a:xfrm>
            <a:off x="1005840" y="4160520"/>
            <a:ext cx="10180015" cy="914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2"/>
              </a:buClr>
              <a:buSzPts val="1800"/>
              <a:buFont typeface="Raleway Light"/>
              <a:buNone/>
            </a:pPr>
            <a:r>
              <a:rPr b="0" i="0" lang="en-US" spc="0" sz="1800" u="none" cap="none" strike="noStrike">
                <a:solidFill>
                  <a:schemeClr val="lt2"/>
                </a:solidFill>
                <a:latin typeface="Raleway Light"/>
                <a:ea typeface="Raleway Light"/>
                <a:cs typeface="Raleway Light"/>
                <a:sym typeface="Raleway Light"/>
              </a:rPr>
              <a:t>Event Mode turns the conversations at your event into insight you can use, and gives visitors a reason to remember the day.</a:t>
            </a:r>
            <a:endParaRPr b="0" i="0" spc="0" sz="1800" u="none" cap="none" strike="noStrike">
              <a:solidFill>
                <a:schemeClr val="dk1"/>
              </a:solidFill>
              <a:latin typeface="Raleway Light"/>
              <a:ea typeface="Raleway Light"/>
              <a:cs typeface="Raleway Light"/>
              <a:sym typeface="Raleway Light"/>
            </a:endParaRPr>
          </a:p>
        </p:txBody>
      </p:sp>
      <p:sp>
        <p:nvSpPr>
          <p:cNvPr id="712" name="Google Shape;712;p55"/>
          <p:cNvSpPr txBox="1"/>
          <p:nvPr/>
        </p:nvSpPr>
        <p:spPr>
          <a:xfrm>
            <a:off x="548640" y="5257800"/>
            <a:ext cx="11094415" cy="640080"/>
          </a:xfrm>
          <a:prstGeom prst="rect">
            <a:avLst/>
          </a:prstGeom>
          <a:solidFill>
            <a:schemeClr val="lt1"/>
          </a:solidFill>
          <a:ln cap="flat" cmpd="sng" w="25400">
            <a:solidFill>
              <a:schemeClr val="accent4"/>
            </a:solidFill>
            <a:prstDash val="solid"/>
            <a:round/>
            <a:headEnd len="sm" w="sm" type="none"/>
            <a:tailEnd len="sm" w="sm" type="none"/>
          </a:ln>
        </p:spPr>
        <p:txBody>
          <a:bodyPr anchorCtr="0" anchor="ctr" bIns="38100" lIns="38100" spcFirstLastPara="1" rIns="76200" wrap="square" tIns="76200">
            <a:noAutofit/>
          </a:bodyPr>
          <a:lstStyle/>
          <a:p>
            <a:pPr indent="0" lvl="0" marL="0" marR="0" rtl="0" algn="l">
              <a:lnSpc>
                <a:spcPct val="100000"/>
              </a:lnSpc>
              <a:spcBef>
                <a:spcPts val="0"/>
              </a:spcBef>
              <a:spcAft>
                <a:spcPts val="0"/>
              </a:spcAft>
              <a:buClr>
                <a:schemeClr val="dk1"/>
              </a:buClr>
              <a:buSzPts val="1100"/>
              <a:buFont typeface="Raleway SemiBold"/>
              <a:buNone/>
            </a:pPr>
            <a:r>
              <a:rPr b="1" i="0" lang="en-US" spc="0" sz="1100" u="none" cap="none" strike="noStrike">
                <a:solidFill>
                  <a:schemeClr val="dk1"/>
                </a:solidFill>
                <a:latin typeface="Raleway SemiBold"/>
                <a:ea typeface="Raleway SemiBold"/>
                <a:cs typeface="Raleway SemiBold"/>
                <a:sym typeface="Raleway SemiBold"/>
              </a:rPr>
              <a:t>TO ADD  </a:t>
            </a:r>
            <a:r>
              <a:rPr b="0" i="0" lang="en-US" spc="0" sz="1100" u="none" cap="none" strike="noStrike">
                <a:solidFill>
                  <a:schemeClr val="dk1"/>
                </a:solidFill>
                <a:latin typeface="Raleway Light"/>
                <a:ea typeface="Raleway Light"/>
                <a:cs typeface="Raleway Light"/>
                <a:sym typeface="Raleway Light"/>
              </a:rPr>
              <a:t>Evidence for 'most of what they say isn't captured' and 'easily forgotten' from organiser conversations, so these read as findings, not assumptions.</a:t>
            </a:r>
            <a:endParaRPr b="0" i="0" spc="0" sz="1100" u="none" cap="none" strike="noStrike">
              <a:solidFill>
                <a:schemeClr val="dk1"/>
              </a:solidFill>
              <a:latin typeface="Raleway Light"/>
              <a:ea typeface="Raleway Light"/>
              <a:cs typeface="Raleway Light"/>
              <a:sym typeface="Raleway Light"/>
            </a:endParaRPr>
          </a:p>
        </p:txBody>
      </p:sp>
      <p:sp>
        <p:nvSpPr>
          <p:cNvPr id="713" name="Google Shape;713;p55"/>
          <p:cNvSpPr txBox="1"/>
          <p:nvPr>
            <p:ph idx="4294967295" type="sldNum"/>
          </p:nvPr>
        </p:nvSpPr>
        <p:spPr>
          <a:xfrm>
            <a:off x="10180015" y="6355080"/>
            <a:ext cx="365760" cy="2743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000"/>
              <a:buNone/>
            </a:pPr>
            <a:fld id="{00000000-1234-1234-1234-123412341234}" type="slidenum">
              <a:rPr b="0" i="0" lang="en-US" sz="1000" u="none" cap="none" strike="noStrike">
                <a:solidFill>
                  <a:schemeClr val="dk1"/>
                </a:solidFill>
                <a:latin typeface="Raleway Light"/>
                <a:ea typeface="Raleway Light"/>
                <a:cs typeface="Raleway Light"/>
                <a:sym typeface="Raleway Light"/>
              </a:rPr>
              <a:t>‹#›</a:t>
            </a:fld>
            <a:endParaRPr b="0" i="0" sz="1000" u="none" cap="none" strike="noStrike">
              <a:solidFill>
                <a:schemeClr val="dk1"/>
              </a:solidFill>
              <a:latin typeface="Raleway Light"/>
              <a:ea typeface="Raleway Light"/>
              <a:cs typeface="Raleway Light"/>
              <a:sym typeface="Raleway Light"/>
            </a:endParaRPr>
          </a:p>
        </p:txBody>
      </p:sp>
      <p:sp>
        <p:nvSpPr>
          <p:cNvPr id="714" name="Google Shape;714;p55"/>
          <p:cNvSpPr/>
          <p:nvPr/>
        </p:nvSpPr>
        <p:spPr>
          <a:xfrm>
            <a:off x="0" y="0"/>
            <a:ext cx="12191700" cy="329100"/>
          </a:xfrm>
          <a:prstGeom prst="rect">
            <a:avLst/>
          </a:prstGeom>
          <a:solidFill>
            <a:srgbClr val="565A32"/>
          </a:solidFill>
          <a:ln cap="flat" cmpd="sng" w="12700">
            <a:solidFill>
              <a:srgbClr val="565A3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9" name="Shape 719"/>
        <p:cNvGrpSpPr/>
        <p:nvPr/>
      </p:nvGrpSpPr>
      <p:grpSpPr>
        <a:xfrm>
          <a:off x="0" y="0"/>
          <a:ext cx="0" cy="0"/>
          <a:chOff x="0" y="0"/>
          <a:chExt cx="0" cy="0"/>
        </a:xfrm>
      </p:grpSpPr>
      <p:sp>
        <p:nvSpPr>
          <p:cNvPr id="720" name="Google Shape;720;p56"/>
          <p:cNvSpPr txBox="1"/>
          <p:nvPr>
            <p:ph type="title"/>
          </p:nvPr>
        </p:nvSpPr>
        <p:spPr>
          <a:xfrm>
            <a:off x="548640" y="411480"/>
            <a:ext cx="8138100" cy="68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3600"/>
              <a:buFont typeface="Raleway Light"/>
              <a:buNone/>
            </a:pPr>
            <a:r>
              <a:rPr lang="en-US" sz="3600">
                <a:solidFill>
                  <a:schemeClr val="dk1"/>
                </a:solidFill>
                <a:latin typeface="Raleway Light"/>
                <a:ea typeface="Raleway Light"/>
                <a:cs typeface="Raleway Light"/>
                <a:sym typeface="Raleway Light"/>
              </a:rPr>
              <a:t>The insight you receive</a:t>
            </a:r>
            <a:endParaRPr sz="3600"/>
          </a:p>
        </p:txBody>
      </p:sp>
      <p:sp>
        <p:nvSpPr>
          <p:cNvPr id="721" name="Google Shape;721;p56"/>
          <p:cNvSpPr txBox="1"/>
          <p:nvPr>
            <p:ph idx="1" type="body"/>
          </p:nvPr>
        </p:nvSpPr>
        <p:spPr>
          <a:xfrm>
            <a:off x="548640" y="1115568"/>
            <a:ext cx="11094300" cy="4116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800"/>
              <a:buNone/>
            </a:pPr>
            <a:r>
              <a:rPr lang="en-US" sz="1800">
                <a:solidFill>
                  <a:schemeClr val="dk1"/>
                </a:solidFill>
                <a:latin typeface="Raleway Light"/>
                <a:ea typeface="Raleway Light"/>
                <a:cs typeface="Raleway Light"/>
                <a:sym typeface="Raleway Light"/>
              </a:rPr>
              <a:t>Two layers, both built on consent.</a:t>
            </a:r>
            <a:endParaRPr sz="1800"/>
          </a:p>
        </p:txBody>
      </p:sp>
      <p:sp>
        <p:nvSpPr>
          <p:cNvPr id="722" name="Google Shape;722;p56"/>
          <p:cNvSpPr/>
          <p:nvPr/>
        </p:nvSpPr>
        <p:spPr>
          <a:xfrm>
            <a:off x="8991295" y="457200"/>
            <a:ext cx="2651700" cy="384000"/>
          </a:xfrm>
          <a:prstGeom prst="roundRect">
            <a:avLst>
              <a:gd fmla="val 50000" name="adj"/>
            </a:avLst>
          </a:prstGeom>
          <a:solidFill>
            <a:schemeClr val="accent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1400"/>
              <a:buFont typeface="Raleway SemiBold"/>
              <a:buNone/>
            </a:pPr>
            <a:r>
              <a:rPr b="1" i="0" lang="en-US" spc="0" sz="1400" u="none" cap="none" strike="noStrike">
                <a:solidFill>
                  <a:schemeClr val="dk1"/>
                </a:solidFill>
                <a:latin typeface="Raleway SemiBold"/>
                <a:ea typeface="Raleway SemiBold"/>
                <a:cs typeface="Raleway SemiBold"/>
                <a:sym typeface="Raleway SemiBold"/>
              </a:rPr>
              <a:t>PARTNER MODE</a:t>
            </a:r>
            <a:endParaRPr b="0" i="0" spc="0" sz="1400" u="none" cap="none" strike="noStrike">
              <a:solidFill>
                <a:schemeClr val="dk1"/>
              </a:solidFill>
              <a:latin typeface="Raleway Light"/>
              <a:ea typeface="Raleway Light"/>
              <a:cs typeface="Raleway Light"/>
              <a:sym typeface="Raleway Light"/>
            </a:endParaRPr>
          </a:p>
        </p:txBody>
      </p:sp>
      <p:sp>
        <p:nvSpPr>
          <p:cNvPr id="723" name="Google Shape;723;p56"/>
          <p:cNvSpPr/>
          <p:nvPr/>
        </p:nvSpPr>
        <p:spPr>
          <a:xfrm>
            <a:off x="548640" y="1691640"/>
            <a:ext cx="11094300" cy="749808"/>
          </a:xfrm>
          <a:prstGeom prst="roundRect">
            <a:avLst>
              <a:gd fmla="val 11429" name="adj"/>
            </a:avLst>
          </a:prstGeom>
          <a:solidFill>
            <a:schemeClr val="lt1"/>
          </a:solidFill>
          <a:ln cap="flat" cmpd="sng" w="12700">
            <a:solidFill>
              <a:schemeClr val="lt1"/>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24" name="Google Shape;724;p56"/>
          <p:cNvSpPr/>
          <p:nvPr/>
        </p:nvSpPr>
        <p:spPr>
          <a:xfrm>
            <a:off x="822960" y="1769364"/>
            <a:ext cx="594300" cy="594300"/>
          </a:xfrm>
          <a:prstGeom prst="ellipse">
            <a:avLst/>
          </a:prstGeom>
          <a:solidFill>
            <a:schemeClr val="dk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2"/>
              </a:buClr>
              <a:buSzPts val="1600"/>
              <a:buFont typeface="Raleway SemiBold"/>
              <a:buNone/>
            </a:pPr>
            <a:r>
              <a:rPr b="1" i="0" lang="en-US" spc="0" sz="1600" u="none" cap="none" strike="noStrike">
                <a:solidFill>
                  <a:schemeClr val="lt2"/>
                </a:solidFill>
                <a:latin typeface="Raleway SemiBold"/>
                <a:ea typeface="Raleway SemiBold"/>
                <a:cs typeface="Raleway SemiBold"/>
                <a:sym typeface="Raleway SemiBold"/>
              </a:rPr>
              <a:t>1</a:t>
            </a:r>
            <a:endParaRPr b="0" i="0" spc="0" sz="1600" u="none" cap="none" strike="noStrike">
              <a:solidFill>
                <a:schemeClr val="dk1"/>
              </a:solidFill>
              <a:latin typeface="Raleway Light"/>
              <a:ea typeface="Raleway Light"/>
              <a:cs typeface="Raleway Light"/>
              <a:sym typeface="Raleway Light"/>
            </a:endParaRPr>
          </a:p>
        </p:txBody>
      </p:sp>
      <p:sp>
        <p:nvSpPr>
          <p:cNvPr id="725" name="Google Shape;725;p56"/>
          <p:cNvSpPr txBox="1"/>
          <p:nvPr/>
        </p:nvSpPr>
        <p:spPr>
          <a:xfrm>
            <a:off x="1691640" y="1691640"/>
            <a:ext cx="2651700" cy="7498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600"/>
              <a:buFont typeface="Raleway SemiBold"/>
              <a:buNone/>
            </a:pPr>
            <a:r>
              <a:rPr b="1" i="0" lang="en-US" spc="0" sz="1600" u="none" cap="none" strike="noStrike">
                <a:solidFill>
                  <a:schemeClr val="dk1"/>
                </a:solidFill>
                <a:latin typeface="Raleway SemiBold"/>
                <a:ea typeface="Raleway SemiBold"/>
                <a:cs typeface="Raleway SemiBold"/>
                <a:sym typeface="Raleway SemiBold"/>
              </a:rPr>
              <a:t>Your tasting</a:t>
            </a:r>
            <a:endParaRPr b="0" i="0" spc="0" sz="1600" u="none" cap="none" strike="noStrike">
              <a:solidFill>
                <a:schemeClr val="dk1"/>
              </a:solidFill>
              <a:latin typeface="Raleway Light"/>
              <a:ea typeface="Raleway Light"/>
              <a:cs typeface="Raleway Light"/>
              <a:sym typeface="Raleway Light"/>
            </a:endParaRPr>
          </a:p>
        </p:txBody>
      </p:sp>
      <p:sp>
        <p:nvSpPr>
          <p:cNvPr id="726" name="Google Shape;726;p56"/>
          <p:cNvSpPr txBox="1"/>
          <p:nvPr/>
        </p:nvSpPr>
        <p:spPr>
          <a:xfrm>
            <a:off x="4389120" y="1691640"/>
            <a:ext cx="6979500" cy="7498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600"/>
              <a:buFont typeface="Raleway Light"/>
              <a:buNone/>
            </a:pPr>
            <a:r>
              <a:rPr b="0" i="0" lang="en-US" spc="0" sz="1600" u="none" cap="none" strike="noStrike">
                <a:solidFill>
                  <a:schemeClr val="dk1"/>
                </a:solidFill>
                <a:latin typeface="Raleway Light"/>
                <a:ea typeface="Raleway Light"/>
                <a:cs typeface="Raleway Light"/>
                <a:sym typeface="Raleway Light"/>
              </a:rPr>
              <a:t>Combined votes, quiz and tasting responses, favourites, and how guests used your content.</a:t>
            </a:r>
            <a:endParaRPr b="0" i="0" spc="0" sz="1600" u="none" cap="none" strike="noStrike">
              <a:solidFill>
                <a:schemeClr val="dk1"/>
              </a:solidFill>
              <a:latin typeface="Raleway Light"/>
              <a:ea typeface="Raleway Light"/>
              <a:cs typeface="Raleway Light"/>
              <a:sym typeface="Raleway Light"/>
            </a:endParaRPr>
          </a:p>
        </p:txBody>
      </p:sp>
      <p:sp>
        <p:nvSpPr>
          <p:cNvPr id="727" name="Google Shape;727;p56"/>
          <p:cNvSpPr/>
          <p:nvPr/>
        </p:nvSpPr>
        <p:spPr>
          <a:xfrm>
            <a:off x="548640" y="2532888"/>
            <a:ext cx="11094300" cy="749808"/>
          </a:xfrm>
          <a:prstGeom prst="roundRect">
            <a:avLst>
              <a:gd fmla="val 11429" name="adj"/>
            </a:avLst>
          </a:prstGeom>
          <a:solidFill>
            <a:schemeClr val="lt1"/>
          </a:solidFill>
          <a:ln cap="flat" cmpd="sng" w="12700">
            <a:solidFill>
              <a:schemeClr val="lt1"/>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28" name="Google Shape;728;p56"/>
          <p:cNvSpPr/>
          <p:nvPr/>
        </p:nvSpPr>
        <p:spPr>
          <a:xfrm>
            <a:off x="822960" y="2610612"/>
            <a:ext cx="594300" cy="594300"/>
          </a:xfrm>
          <a:prstGeom prst="ellipse">
            <a:avLst/>
          </a:prstGeom>
          <a:solidFill>
            <a:schemeClr val="dk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2"/>
              </a:buClr>
              <a:buSzPts val="1600"/>
              <a:buFont typeface="Raleway SemiBold"/>
              <a:buNone/>
            </a:pPr>
            <a:r>
              <a:rPr b="1" i="0" lang="en-US" spc="0" sz="1600" u="none" cap="none" strike="noStrike">
                <a:solidFill>
                  <a:schemeClr val="lt2"/>
                </a:solidFill>
                <a:latin typeface="Raleway SemiBold"/>
                <a:ea typeface="Raleway SemiBold"/>
                <a:cs typeface="Raleway SemiBold"/>
                <a:sym typeface="Raleway SemiBold"/>
              </a:rPr>
              <a:t>2</a:t>
            </a:r>
            <a:endParaRPr b="0" i="0" spc="0" sz="1600" u="none" cap="none" strike="noStrike">
              <a:solidFill>
                <a:schemeClr val="dk1"/>
              </a:solidFill>
              <a:latin typeface="Raleway Light"/>
              <a:ea typeface="Raleway Light"/>
              <a:cs typeface="Raleway Light"/>
              <a:sym typeface="Raleway Light"/>
            </a:endParaRPr>
          </a:p>
        </p:txBody>
      </p:sp>
      <p:sp>
        <p:nvSpPr>
          <p:cNvPr id="729" name="Google Shape;729;p56"/>
          <p:cNvSpPr txBox="1"/>
          <p:nvPr/>
        </p:nvSpPr>
        <p:spPr>
          <a:xfrm>
            <a:off x="1691640" y="2532888"/>
            <a:ext cx="2651700" cy="7498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600"/>
              <a:buFont typeface="Raleway SemiBold"/>
              <a:buNone/>
            </a:pPr>
            <a:r>
              <a:rPr b="1" i="0" lang="en-US" spc="0" sz="1600" u="none" cap="none" strike="noStrike">
                <a:solidFill>
                  <a:schemeClr val="dk1"/>
                </a:solidFill>
                <a:latin typeface="Raleway SemiBold"/>
                <a:ea typeface="Raleway SemiBold"/>
                <a:cs typeface="Raleway SemiBold"/>
                <a:sym typeface="Raleway SemiBold"/>
              </a:rPr>
              <a:t>Your new contacts</a:t>
            </a:r>
            <a:endParaRPr b="0" i="0" spc="0" sz="1600" u="none" cap="none" strike="noStrike">
              <a:solidFill>
                <a:schemeClr val="dk1"/>
              </a:solidFill>
              <a:latin typeface="Raleway Light"/>
              <a:ea typeface="Raleway Light"/>
              <a:cs typeface="Raleway Light"/>
              <a:sym typeface="Raleway Light"/>
            </a:endParaRPr>
          </a:p>
        </p:txBody>
      </p:sp>
      <p:sp>
        <p:nvSpPr>
          <p:cNvPr id="730" name="Google Shape;730;p56"/>
          <p:cNvSpPr txBox="1"/>
          <p:nvPr/>
        </p:nvSpPr>
        <p:spPr>
          <a:xfrm>
            <a:off x="4389120" y="2532888"/>
            <a:ext cx="6979500" cy="7498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600"/>
              <a:buFont typeface="Raleway Light"/>
              <a:buNone/>
            </a:pPr>
            <a:r>
              <a:rPr b="0" i="0" lang="en-US" spc="0" sz="1600" u="none" cap="none" strike="noStrike">
                <a:solidFill>
                  <a:schemeClr val="dk1"/>
                </a:solidFill>
                <a:latin typeface="Raleway Light"/>
                <a:ea typeface="Raleway Light"/>
                <a:cs typeface="Raleway Light"/>
                <a:sym typeface="Raleway Light"/>
              </a:rPr>
              <a:t>Individual guests who choose to hear from you, and only them.</a:t>
            </a:r>
            <a:endParaRPr b="0" i="0" spc="0" sz="1600" u="none" cap="none" strike="noStrike">
              <a:solidFill>
                <a:schemeClr val="dk1"/>
              </a:solidFill>
              <a:latin typeface="Raleway Light"/>
              <a:ea typeface="Raleway Light"/>
              <a:cs typeface="Raleway Light"/>
              <a:sym typeface="Raleway Light"/>
            </a:endParaRPr>
          </a:p>
        </p:txBody>
      </p:sp>
      <p:sp>
        <p:nvSpPr>
          <p:cNvPr id="731" name="Google Shape;731;p56"/>
          <p:cNvSpPr txBox="1"/>
          <p:nvPr/>
        </p:nvSpPr>
        <p:spPr>
          <a:xfrm>
            <a:off x="548640" y="3383280"/>
            <a:ext cx="11094300" cy="384048"/>
          </a:xfrm>
          <a:prstGeom prst="rect">
            <a:avLst/>
          </a:prstGeom>
          <a:solidFill>
            <a:schemeClr val="lt1"/>
          </a:solidFill>
          <a:ln cap="flat" cmpd="sng" w="25400">
            <a:solidFill>
              <a:schemeClr val="accent4"/>
            </a:solidFill>
            <a:prstDash val="solid"/>
            <a:round/>
            <a:headEnd len="sm" w="sm" type="none"/>
            <a:tailEnd len="sm" w="sm" type="none"/>
          </a:ln>
        </p:spPr>
        <p:txBody>
          <a:bodyPr anchorCtr="0" anchor="ctr" bIns="38100" lIns="38100" spcFirstLastPara="1" rIns="76200" wrap="square" tIns="76200">
            <a:noAutofit/>
          </a:bodyPr>
          <a:lstStyle/>
          <a:p>
            <a:pPr indent="0" lvl="0" marL="0" marR="0" rtl="0" algn="l">
              <a:lnSpc>
                <a:spcPct val="100000"/>
              </a:lnSpc>
              <a:spcBef>
                <a:spcPts val="0"/>
              </a:spcBef>
              <a:spcAft>
                <a:spcPts val="0"/>
              </a:spcAft>
              <a:buClr>
                <a:schemeClr val="dk1"/>
              </a:buClr>
              <a:buSzPts val="1100"/>
              <a:buFont typeface="Raleway SemiBold"/>
              <a:buNone/>
            </a:pPr>
            <a:r>
              <a:rPr b="1" i="0" lang="en-US" spc="0" sz="1100" u="none" cap="none" strike="noStrike">
                <a:solidFill>
                  <a:schemeClr val="dk1"/>
                </a:solidFill>
                <a:latin typeface="Raleway SemiBold"/>
                <a:ea typeface="Raleway SemiBold"/>
                <a:cs typeface="Raleway SemiBold"/>
                <a:sym typeface="Raleway SemiBold"/>
              </a:rPr>
              <a:t>TO CONFIRM  </a:t>
            </a:r>
            <a:r>
              <a:rPr b="0" i="0" lang="en-US" spc="0" sz="1100" u="none" cap="none" strike="noStrike">
                <a:solidFill>
                  <a:schemeClr val="dk1"/>
                </a:solidFill>
                <a:latin typeface="Raleway Light"/>
                <a:ea typeface="Raleway Light"/>
                <a:cs typeface="Raleway Light"/>
                <a:sym typeface="Raleway Light"/>
              </a:rPr>
              <a:t>Layer 2 depends on the proposed contact rule and legal review.</a:t>
            </a:r>
            <a:endParaRPr b="0" i="0" spc="0" sz="1100" u="none" cap="none" strike="noStrike">
              <a:solidFill>
                <a:schemeClr val="dk1"/>
              </a:solidFill>
              <a:latin typeface="Raleway Light"/>
              <a:ea typeface="Raleway Light"/>
              <a:cs typeface="Raleway Light"/>
              <a:sym typeface="Raleway Light"/>
            </a:endParaRPr>
          </a:p>
        </p:txBody>
      </p:sp>
      <p:sp>
        <p:nvSpPr>
          <p:cNvPr id="732" name="Google Shape;732;p56"/>
          <p:cNvSpPr txBox="1"/>
          <p:nvPr>
            <p:ph idx="4294967295" type="sldNum"/>
          </p:nvPr>
        </p:nvSpPr>
        <p:spPr>
          <a:xfrm>
            <a:off x="10180015" y="6355080"/>
            <a:ext cx="365700" cy="274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000"/>
              <a:buNone/>
            </a:pPr>
            <a:fld id="{00000000-1234-1234-1234-123412341234}" type="slidenum">
              <a:rPr b="0" i="0" lang="en-US" sz="1000" u="none" cap="none" strike="noStrike">
                <a:solidFill>
                  <a:schemeClr val="dk1"/>
                </a:solidFill>
                <a:latin typeface="Raleway Light"/>
                <a:ea typeface="Raleway Light"/>
                <a:cs typeface="Raleway Light"/>
                <a:sym typeface="Raleway Light"/>
              </a:rPr>
              <a:t>‹#›</a:t>
            </a:fld>
            <a:endParaRPr b="0" i="0" sz="1000" u="none" cap="none" strike="noStrike">
              <a:solidFill>
                <a:schemeClr val="dk1"/>
              </a:solidFill>
              <a:latin typeface="Raleway Light"/>
              <a:ea typeface="Raleway Light"/>
              <a:cs typeface="Raleway Light"/>
              <a:sym typeface="Raleway Light"/>
            </a:endParaRPr>
          </a:p>
        </p:txBody>
      </p:sp>
      <p:sp>
        <p:nvSpPr>
          <p:cNvPr id="733" name="Google Shape;733;p56"/>
          <p:cNvSpPr/>
          <p:nvPr/>
        </p:nvSpPr>
        <p:spPr>
          <a:xfrm>
            <a:off x="548640" y="3886200"/>
            <a:ext cx="11091672" cy="2121408"/>
          </a:xfrm>
          <a:prstGeom prst="roundRect">
            <a:avLst>
              <a:gd fmla="val 5217" name="adj"/>
            </a:avLst>
          </a:prstGeom>
          <a:solidFill>
            <a:srgbClr val="FFFFFF"/>
          </a:solidFill>
          <a:ln cap="flat" cmpd="sng" w="12700">
            <a:solidFill>
              <a:srgbClr val="FFFFFF"/>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34" name="Google Shape;734;p56"/>
          <p:cNvSpPr txBox="1"/>
          <p:nvPr/>
        </p:nvSpPr>
        <p:spPr>
          <a:xfrm>
            <a:off x="777240" y="4041648"/>
            <a:ext cx="731520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pc="0" sz="1300" u="none" cap="none" strike="noStrike">
                <a:solidFill>
                  <a:srgbClr val="565A32"/>
                </a:solidFill>
                <a:latin typeface="Raleway SemiBold"/>
                <a:ea typeface="Raleway SemiBold"/>
                <a:cs typeface="Raleway SemiBold"/>
                <a:sym typeface="Raleway SemiBold"/>
              </a:rPr>
              <a:t>Example report: Autumn Tasting at The Cellar House</a:t>
            </a:r>
            <a:endParaRPr/>
          </a:p>
        </p:txBody>
      </p:sp>
      <p:sp>
        <p:nvSpPr>
          <p:cNvPr id="735" name="Google Shape;735;p56"/>
          <p:cNvSpPr/>
          <p:nvPr/>
        </p:nvSpPr>
        <p:spPr>
          <a:xfrm>
            <a:off x="9646920" y="4041648"/>
            <a:ext cx="1783080" cy="274320"/>
          </a:xfrm>
          <a:prstGeom prst="roundRect">
            <a:avLst>
              <a:gd fmla="val 50000" name="adj"/>
            </a:avLst>
          </a:prstGeom>
          <a:noFill/>
          <a:ln cap="flat" cmpd="sng" w="12700">
            <a:solidFill>
              <a:srgbClr val="565A32"/>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pc="0" sz="1000" u="none" cap="none" strike="noStrike">
                <a:solidFill>
                  <a:srgbClr val="565A32"/>
                </a:solidFill>
                <a:latin typeface="Raleway SemiBold"/>
                <a:ea typeface="Raleway SemiBold"/>
                <a:cs typeface="Raleway SemiBold"/>
                <a:sym typeface="Raleway SemiBold"/>
              </a:rPr>
              <a:t>Illustrative example</a:t>
            </a:r>
            <a:endParaRPr/>
          </a:p>
        </p:txBody>
      </p:sp>
      <p:sp>
        <p:nvSpPr>
          <p:cNvPr id="736" name="Google Shape;736;p56"/>
          <p:cNvSpPr txBox="1"/>
          <p:nvPr/>
        </p:nvSpPr>
        <p:spPr>
          <a:xfrm>
            <a:off x="777240" y="4389120"/>
            <a:ext cx="2011680" cy="5029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pc="0" sz="2200" u="none" cap="none" strike="noStrike">
                <a:solidFill>
                  <a:srgbClr val="565A32"/>
                </a:solidFill>
                <a:latin typeface="Raleway Light"/>
                <a:ea typeface="Raleway Light"/>
                <a:cs typeface="Raleway Light"/>
                <a:sym typeface="Raleway Light"/>
              </a:rPr>
              <a:t>38</a:t>
            </a:r>
            <a:endParaRPr/>
          </a:p>
          <a:p>
            <a:pPr indent="0" lvl="0" marL="0" marR="0" rtl="0" algn="l">
              <a:lnSpc>
                <a:spcPct val="100000"/>
              </a:lnSpc>
              <a:spcBef>
                <a:spcPts val="0"/>
              </a:spcBef>
              <a:spcAft>
                <a:spcPts val="0"/>
              </a:spcAft>
              <a:buNone/>
            </a:pPr>
            <a:r>
              <a:rPr b="0" i="0" lang="en-US" spc="0" sz="1000" u="none" cap="none" strike="noStrike">
                <a:solidFill>
                  <a:srgbClr val="8B8B5C"/>
                </a:solidFill>
                <a:latin typeface="Raleway Light"/>
                <a:ea typeface="Raleway Light"/>
                <a:cs typeface="Raleway Light"/>
                <a:sym typeface="Raleway Light"/>
              </a:rPr>
              <a:t>guests joined</a:t>
            </a:r>
            <a:endParaRPr/>
          </a:p>
        </p:txBody>
      </p:sp>
      <p:sp>
        <p:nvSpPr>
          <p:cNvPr id="737" name="Google Shape;737;p56"/>
          <p:cNvSpPr txBox="1"/>
          <p:nvPr/>
        </p:nvSpPr>
        <p:spPr>
          <a:xfrm>
            <a:off x="777240" y="4901183"/>
            <a:ext cx="2011680" cy="5029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pc="0" sz="2200" u="none" cap="none" strike="noStrike">
                <a:solidFill>
                  <a:srgbClr val="565A32"/>
                </a:solidFill>
                <a:latin typeface="Raleway Light"/>
                <a:ea typeface="Raleway Light"/>
                <a:cs typeface="Raleway Light"/>
                <a:sym typeface="Raleway Light"/>
              </a:rPr>
              <a:t>4</a:t>
            </a:r>
            <a:endParaRPr/>
          </a:p>
          <a:p>
            <a:pPr indent="0" lvl="0" marL="0" marR="0" rtl="0" algn="l">
              <a:lnSpc>
                <a:spcPct val="100000"/>
              </a:lnSpc>
              <a:spcBef>
                <a:spcPts val="0"/>
              </a:spcBef>
              <a:spcAft>
                <a:spcPts val="0"/>
              </a:spcAft>
              <a:buNone/>
            </a:pPr>
            <a:r>
              <a:rPr b="0" i="0" lang="en-US" spc="0" sz="1000" u="none" cap="none" strike="noStrike">
                <a:solidFill>
                  <a:srgbClr val="8B8B5C"/>
                </a:solidFill>
                <a:latin typeface="Raleway Light"/>
                <a:ea typeface="Raleway Light"/>
                <a:cs typeface="Raleway Light"/>
                <a:sym typeface="Raleway Light"/>
              </a:rPr>
              <a:t>wines tasted</a:t>
            </a:r>
            <a:endParaRPr/>
          </a:p>
        </p:txBody>
      </p:sp>
      <p:sp>
        <p:nvSpPr>
          <p:cNvPr id="738" name="Google Shape;738;p56"/>
          <p:cNvSpPr txBox="1"/>
          <p:nvPr/>
        </p:nvSpPr>
        <p:spPr>
          <a:xfrm>
            <a:off x="777240" y="5413248"/>
            <a:ext cx="2011680" cy="5029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pc="0" sz="2200" u="none" cap="none" strike="noStrike">
                <a:solidFill>
                  <a:srgbClr val="565A32"/>
                </a:solidFill>
                <a:latin typeface="Raleway Light"/>
                <a:ea typeface="Raleway Light"/>
                <a:cs typeface="Raleway Light"/>
                <a:sym typeface="Raleway Light"/>
              </a:rPr>
              <a:t>126</a:t>
            </a:r>
            <a:endParaRPr/>
          </a:p>
          <a:p>
            <a:pPr indent="0" lvl="0" marL="0" marR="0" rtl="0" algn="l">
              <a:lnSpc>
                <a:spcPct val="100000"/>
              </a:lnSpc>
              <a:spcBef>
                <a:spcPts val="0"/>
              </a:spcBef>
              <a:spcAft>
                <a:spcPts val="0"/>
              </a:spcAft>
              <a:buNone/>
            </a:pPr>
            <a:r>
              <a:rPr b="0" i="0" lang="en-US" spc="0" sz="1000" u="none" cap="none" strike="noStrike">
                <a:solidFill>
                  <a:srgbClr val="8B8B5C"/>
                </a:solidFill>
                <a:latin typeface="Raleway Light"/>
                <a:ea typeface="Raleway Light"/>
                <a:cs typeface="Raleway Light"/>
                <a:sym typeface="Raleway Light"/>
              </a:rPr>
              <a:t>reactions</a:t>
            </a:r>
            <a:endParaRPr/>
          </a:p>
        </p:txBody>
      </p:sp>
      <p:sp>
        <p:nvSpPr>
          <p:cNvPr id="739" name="Google Shape;739;p56"/>
          <p:cNvSpPr txBox="1"/>
          <p:nvPr/>
        </p:nvSpPr>
        <p:spPr>
          <a:xfrm>
            <a:off x="2788920" y="4434840"/>
            <a:ext cx="329184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pc="0" sz="1100" u="none" cap="none" strike="noStrike">
                <a:solidFill>
                  <a:srgbClr val="565A32"/>
                </a:solidFill>
                <a:latin typeface="Raleway SemiBold"/>
                <a:ea typeface="Raleway SemiBold"/>
                <a:cs typeface="Raleway SemiBold"/>
                <a:sym typeface="Raleway SemiBold"/>
              </a:rPr>
              <a:t>How Lune Basse landed</a:t>
            </a:r>
            <a:endParaRPr/>
          </a:p>
        </p:txBody>
      </p:sp>
      <p:sp>
        <p:nvSpPr>
          <p:cNvPr id="740" name="Google Shape;740;p56"/>
          <p:cNvSpPr/>
          <p:nvPr/>
        </p:nvSpPr>
        <p:spPr>
          <a:xfrm>
            <a:off x="2788920" y="4754880"/>
            <a:ext cx="1399032" cy="292608"/>
          </a:xfrm>
          <a:prstGeom prst="rect">
            <a:avLst/>
          </a:prstGeom>
          <a:solidFill>
            <a:srgbClr val="565A3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741" name="Google Shape;741;p56"/>
          <p:cNvSpPr/>
          <p:nvPr/>
        </p:nvSpPr>
        <p:spPr>
          <a:xfrm>
            <a:off x="4187952" y="4754880"/>
            <a:ext cx="932688" cy="292608"/>
          </a:xfrm>
          <a:prstGeom prst="rect">
            <a:avLst/>
          </a:prstGeom>
          <a:solidFill>
            <a:srgbClr val="8B8B5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742" name="Google Shape;742;p56"/>
          <p:cNvSpPr/>
          <p:nvPr/>
        </p:nvSpPr>
        <p:spPr>
          <a:xfrm>
            <a:off x="5120640" y="4754880"/>
            <a:ext cx="466344" cy="292608"/>
          </a:xfrm>
          <a:prstGeom prst="rect">
            <a:avLst/>
          </a:prstGeom>
          <a:solidFill>
            <a:srgbClr val="B9BC9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743" name="Google Shape;743;p56"/>
          <p:cNvSpPr/>
          <p:nvPr/>
        </p:nvSpPr>
        <p:spPr>
          <a:xfrm>
            <a:off x="5586983" y="4754880"/>
            <a:ext cx="310896" cy="292608"/>
          </a:xfrm>
          <a:prstGeom prst="rect">
            <a:avLst/>
          </a:prstGeom>
          <a:solidFill>
            <a:srgbClr val="E3AC9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744" name="Google Shape;744;p56"/>
          <p:cNvSpPr/>
          <p:nvPr/>
        </p:nvSpPr>
        <p:spPr>
          <a:xfrm>
            <a:off x="2788920" y="5184648"/>
            <a:ext cx="128016" cy="128016"/>
          </a:xfrm>
          <a:prstGeom prst="rect">
            <a:avLst/>
          </a:prstGeom>
          <a:solidFill>
            <a:srgbClr val="565A3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745" name="Google Shape;745;p56"/>
          <p:cNvSpPr txBox="1"/>
          <p:nvPr/>
        </p:nvSpPr>
        <p:spPr>
          <a:xfrm>
            <a:off x="2990088" y="5138928"/>
            <a:ext cx="1325880" cy="21945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pc="0" sz="1000" u="none" cap="none" strike="noStrike">
                <a:solidFill>
                  <a:srgbClr val="565A32"/>
                </a:solidFill>
                <a:latin typeface="Raleway Light"/>
                <a:ea typeface="Raleway Light"/>
                <a:cs typeface="Raleway Light"/>
                <a:sym typeface="Raleway Light"/>
              </a:rPr>
              <a:t>Love it 45%</a:t>
            </a:r>
            <a:endParaRPr/>
          </a:p>
        </p:txBody>
      </p:sp>
      <p:sp>
        <p:nvSpPr>
          <p:cNvPr id="746" name="Google Shape;746;p56"/>
          <p:cNvSpPr/>
          <p:nvPr/>
        </p:nvSpPr>
        <p:spPr>
          <a:xfrm>
            <a:off x="4343400" y="5184648"/>
            <a:ext cx="128016" cy="128016"/>
          </a:xfrm>
          <a:prstGeom prst="rect">
            <a:avLst/>
          </a:prstGeom>
          <a:solidFill>
            <a:srgbClr val="8B8B5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747" name="Google Shape;747;p56"/>
          <p:cNvSpPr txBox="1"/>
          <p:nvPr/>
        </p:nvSpPr>
        <p:spPr>
          <a:xfrm>
            <a:off x="4544568" y="5138928"/>
            <a:ext cx="1325880" cy="21945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pc="0" sz="1000" u="none" cap="none" strike="noStrike">
                <a:solidFill>
                  <a:srgbClr val="565A32"/>
                </a:solidFill>
                <a:latin typeface="Raleway Light"/>
                <a:ea typeface="Raleway Light"/>
                <a:cs typeface="Raleway Light"/>
                <a:sym typeface="Raleway Light"/>
              </a:rPr>
              <a:t>Like it 30%</a:t>
            </a:r>
            <a:endParaRPr/>
          </a:p>
        </p:txBody>
      </p:sp>
      <p:sp>
        <p:nvSpPr>
          <p:cNvPr id="748" name="Google Shape;748;p56"/>
          <p:cNvSpPr/>
          <p:nvPr/>
        </p:nvSpPr>
        <p:spPr>
          <a:xfrm>
            <a:off x="2788920" y="5422392"/>
            <a:ext cx="128016" cy="128016"/>
          </a:xfrm>
          <a:prstGeom prst="rect">
            <a:avLst/>
          </a:prstGeom>
          <a:solidFill>
            <a:srgbClr val="B9BC9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749" name="Google Shape;749;p56"/>
          <p:cNvSpPr txBox="1"/>
          <p:nvPr/>
        </p:nvSpPr>
        <p:spPr>
          <a:xfrm>
            <a:off x="2990088" y="5376672"/>
            <a:ext cx="1325880" cy="21945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pc="0" sz="1000" u="none" cap="none" strike="noStrike">
                <a:solidFill>
                  <a:srgbClr val="565A32"/>
                </a:solidFill>
                <a:latin typeface="Raleway Light"/>
                <a:ea typeface="Raleway Light"/>
                <a:cs typeface="Raleway Light"/>
                <a:sym typeface="Raleway Light"/>
              </a:rPr>
              <a:t>Not sure 15%</a:t>
            </a:r>
            <a:endParaRPr/>
          </a:p>
        </p:txBody>
      </p:sp>
      <p:sp>
        <p:nvSpPr>
          <p:cNvPr id="750" name="Google Shape;750;p56"/>
          <p:cNvSpPr/>
          <p:nvPr/>
        </p:nvSpPr>
        <p:spPr>
          <a:xfrm>
            <a:off x="4343400" y="5422392"/>
            <a:ext cx="128016" cy="128016"/>
          </a:xfrm>
          <a:prstGeom prst="rect">
            <a:avLst/>
          </a:prstGeom>
          <a:solidFill>
            <a:srgbClr val="E3AC9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751" name="Google Shape;751;p56"/>
          <p:cNvSpPr txBox="1"/>
          <p:nvPr/>
        </p:nvSpPr>
        <p:spPr>
          <a:xfrm>
            <a:off x="4544568" y="5376672"/>
            <a:ext cx="1325880" cy="21945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pc="0" sz="1000" u="none" cap="none" strike="noStrike">
                <a:solidFill>
                  <a:srgbClr val="565A32"/>
                </a:solidFill>
                <a:latin typeface="Raleway Light"/>
                <a:ea typeface="Raleway Light"/>
                <a:cs typeface="Raleway Light"/>
                <a:sym typeface="Raleway Light"/>
              </a:rPr>
              <a:t>Not for me 10%</a:t>
            </a:r>
            <a:endParaRPr/>
          </a:p>
        </p:txBody>
      </p:sp>
      <p:sp>
        <p:nvSpPr>
          <p:cNvPr id="752" name="Google Shape;752;p56"/>
          <p:cNvSpPr txBox="1"/>
          <p:nvPr/>
        </p:nvSpPr>
        <p:spPr>
          <a:xfrm>
            <a:off x="2788920" y="5641848"/>
            <a:ext cx="329184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pc="0" sz="1100" u="none" cap="none" strike="noStrike">
                <a:solidFill>
                  <a:srgbClr val="565A32"/>
                </a:solidFill>
                <a:latin typeface="Raleway Light"/>
                <a:ea typeface="Raleway Light"/>
                <a:cs typeface="Raleway Light"/>
                <a:sym typeface="Raleway Light"/>
              </a:rPr>
              <a:t>Lune Basse was crowned the room’s Wine of the Day</a:t>
            </a:r>
            <a:endParaRPr/>
          </a:p>
        </p:txBody>
      </p:sp>
      <p:sp>
        <p:nvSpPr>
          <p:cNvPr id="753" name="Google Shape;753;p56"/>
          <p:cNvSpPr txBox="1"/>
          <p:nvPr/>
        </p:nvSpPr>
        <p:spPr>
          <a:xfrm>
            <a:off x="6355080" y="4434840"/>
            <a:ext cx="265176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pc="0" sz="1100" u="none" cap="none" strike="noStrike">
                <a:solidFill>
                  <a:srgbClr val="565A32"/>
                </a:solidFill>
                <a:latin typeface="Raleway SemiBold"/>
                <a:ea typeface="Raleway SemiBold"/>
                <a:cs typeface="Raleway SemiBold"/>
                <a:sym typeface="Raleway SemiBold"/>
              </a:rPr>
              <a:t>Your question: which grape leads Lune Basse?</a:t>
            </a:r>
            <a:endParaRPr/>
          </a:p>
        </p:txBody>
      </p:sp>
      <p:sp>
        <p:nvSpPr>
          <p:cNvPr id="754" name="Google Shape;754;p56"/>
          <p:cNvSpPr txBox="1"/>
          <p:nvPr/>
        </p:nvSpPr>
        <p:spPr>
          <a:xfrm>
            <a:off x="6355080" y="4800600"/>
            <a:ext cx="1463040"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pc="0" sz="1000" u="none" cap="none" strike="noStrike">
                <a:solidFill>
                  <a:srgbClr val="565A32"/>
                </a:solidFill>
                <a:latin typeface="Raleway Light"/>
                <a:ea typeface="Raleway Light"/>
                <a:cs typeface="Raleway Light"/>
                <a:sym typeface="Raleway Light"/>
              </a:rPr>
              <a:t>Merlot</a:t>
            </a:r>
            <a:endParaRPr/>
          </a:p>
        </p:txBody>
      </p:sp>
      <p:sp>
        <p:nvSpPr>
          <p:cNvPr id="755" name="Google Shape;755;p56"/>
          <p:cNvSpPr/>
          <p:nvPr/>
        </p:nvSpPr>
        <p:spPr>
          <a:xfrm>
            <a:off x="7772400" y="4837176"/>
            <a:ext cx="1005840" cy="155448"/>
          </a:xfrm>
          <a:prstGeom prst="rect">
            <a:avLst/>
          </a:prstGeom>
          <a:solidFill>
            <a:srgbClr val="565A3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756" name="Google Shape;756;p56"/>
          <p:cNvSpPr txBox="1"/>
          <p:nvPr/>
        </p:nvSpPr>
        <p:spPr>
          <a:xfrm>
            <a:off x="8823960" y="4800600"/>
            <a:ext cx="457200"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pc="0" sz="1000" u="none" cap="none" strike="noStrike">
                <a:solidFill>
                  <a:srgbClr val="565A32"/>
                </a:solidFill>
                <a:latin typeface="Raleway Light"/>
                <a:ea typeface="Raleway Light"/>
                <a:cs typeface="Raleway Light"/>
                <a:sym typeface="Raleway Light"/>
              </a:rPr>
              <a:t>64%</a:t>
            </a:r>
            <a:endParaRPr/>
          </a:p>
        </p:txBody>
      </p:sp>
      <p:sp>
        <p:nvSpPr>
          <p:cNvPr id="757" name="Google Shape;757;p56"/>
          <p:cNvSpPr txBox="1"/>
          <p:nvPr/>
        </p:nvSpPr>
        <p:spPr>
          <a:xfrm>
            <a:off x="6355080" y="5184648"/>
            <a:ext cx="1463040"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pc="0" sz="1000" u="none" cap="none" strike="noStrike">
                <a:solidFill>
                  <a:srgbClr val="565A32"/>
                </a:solidFill>
                <a:latin typeface="Raleway Light"/>
                <a:ea typeface="Raleway Light"/>
                <a:cs typeface="Raleway Light"/>
                <a:sym typeface="Raleway Light"/>
              </a:rPr>
              <a:t>Cabernet Sauvignon</a:t>
            </a:r>
            <a:endParaRPr/>
          </a:p>
        </p:txBody>
      </p:sp>
      <p:sp>
        <p:nvSpPr>
          <p:cNvPr id="758" name="Google Shape;758;p56"/>
          <p:cNvSpPr/>
          <p:nvPr/>
        </p:nvSpPr>
        <p:spPr>
          <a:xfrm>
            <a:off x="7772400" y="5221224"/>
            <a:ext cx="377190" cy="155448"/>
          </a:xfrm>
          <a:prstGeom prst="rect">
            <a:avLst/>
          </a:prstGeom>
          <a:solidFill>
            <a:srgbClr val="8B8B5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759" name="Google Shape;759;p56"/>
          <p:cNvSpPr txBox="1"/>
          <p:nvPr/>
        </p:nvSpPr>
        <p:spPr>
          <a:xfrm>
            <a:off x="8195310" y="5184648"/>
            <a:ext cx="457200"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pc="0" sz="1000" u="none" cap="none" strike="noStrike">
                <a:solidFill>
                  <a:srgbClr val="565A32"/>
                </a:solidFill>
                <a:latin typeface="Raleway Light"/>
                <a:ea typeface="Raleway Light"/>
                <a:cs typeface="Raleway Light"/>
                <a:sym typeface="Raleway Light"/>
              </a:rPr>
              <a:t>24%</a:t>
            </a:r>
            <a:endParaRPr/>
          </a:p>
        </p:txBody>
      </p:sp>
      <p:sp>
        <p:nvSpPr>
          <p:cNvPr id="760" name="Google Shape;760;p56"/>
          <p:cNvSpPr txBox="1"/>
          <p:nvPr/>
        </p:nvSpPr>
        <p:spPr>
          <a:xfrm>
            <a:off x="6355080" y="5568696"/>
            <a:ext cx="1463040"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pc="0" sz="1000" u="none" cap="none" strike="noStrike">
                <a:solidFill>
                  <a:srgbClr val="565A32"/>
                </a:solidFill>
                <a:latin typeface="Raleway Light"/>
                <a:ea typeface="Raleway Light"/>
                <a:cs typeface="Raleway Light"/>
                <a:sym typeface="Raleway Light"/>
              </a:rPr>
              <a:t>Syrah</a:t>
            </a:r>
            <a:endParaRPr/>
          </a:p>
        </p:txBody>
      </p:sp>
      <p:sp>
        <p:nvSpPr>
          <p:cNvPr id="761" name="Google Shape;761;p56"/>
          <p:cNvSpPr/>
          <p:nvPr/>
        </p:nvSpPr>
        <p:spPr>
          <a:xfrm>
            <a:off x="7772400" y="5605272"/>
            <a:ext cx="188595" cy="155448"/>
          </a:xfrm>
          <a:prstGeom prst="rect">
            <a:avLst/>
          </a:prstGeom>
          <a:solidFill>
            <a:srgbClr val="8B8B5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
        <p:nvSpPr>
          <p:cNvPr id="762" name="Google Shape;762;p56"/>
          <p:cNvSpPr txBox="1"/>
          <p:nvPr/>
        </p:nvSpPr>
        <p:spPr>
          <a:xfrm>
            <a:off x="8006715" y="5568696"/>
            <a:ext cx="457200" cy="228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pc="0" sz="1000" u="none" cap="none" strike="noStrike">
                <a:solidFill>
                  <a:srgbClr val="565A32"/>
                </a:solidFill>
                <a:latin typeface="Raleway Light"/>
                <a:ea typeface="Raleway Light"/>
                <a:cs typeface="Raleway Light"/>
                <a:sym typeface="Raleway Light"/>
              </a:rPr>
              <a:t>12%</a:t>
            </a:r>
            <a:endParaRPr/>
          </a:p>
        </p:txBody>
      </p:sp>
      <p:sp>
        <p:nvSpPr>
          <p:cNvPr id="763" name="Google Shape;763;p56"/>
          <p:cNvSpPr txBox="1"/>
          <p:nvPr/>
        </p:nvSpPr>
        <p:spPr>
          <a:xfrm>
            <a:off x="9326880" y="4434840"/>
            <a:ext cx="214884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pc="0" sz="1100" u="none" cap="none" strike="noStrike">
                <a:solidFill>
                  <a:srgbClr val="565A32"/>
                </a:solidFill>
                <a:latin typeface="Raleway SemiBold"/>
                <a:ea typeface="Raleway SemiBold"/>
                <a:cs typeface="Raleway SemiBold"/>
                <a:sym typeface="Raleway SemiBold"/>
              </a:rPr>
              <a:t>In their own words</a:t>
            </a:r>
            <a:endParaRPr/>
          </a:p>
        </p:txBody>
      </p:sp>
      <p:sp>
        <p:nvSpPr>
          <p:cNvPr id="764" name="Google Shape;764;p56"/>
          <p:cNvSpPr txBox="1"/>
          <p:nvPr/>
        </p:nvSpPr>
        <p:spPr>
          <a:xfrm>
            <a:off x="9326880" y="4754880"/>
            <a:ext cx="2148840" cy="8229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pc="0" sz="1200" u="none" cap="none" strike="noStrike">
                <a:solidFill>
                  <a:srgbClr val="565A32"/>
                </a:solidFill>
                <a:latin typeface="Raleway Light"/>
                <a:ea typeface="Raleway Light"/>
                <a:cs typeface="Raleway Light"/>
                <a:sym typeface="Raleway Light"/>
              </a:rPr>
              <a:t>fresh · smooth · surprising · lovely with food · new favourite</a:t>
            </a:r>
            <a:endParaRPr/>
          </a:p>
        </p:txBody>
      </p:sp>
      <p:sp>
        <p:nvSpPr>
          <p:cNvPr id="765" name="Google Shape;765;p56"/>
          <p:cNvSpPr txBox="1"/>
          <p:nvPr/>
        </p:nvSpPr>
        <p:spPr>
          <a:xfrm>
            <a:off x="9326880" y="5532120"/>
            <a:ext cx="2148840"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pc="0" sz="900" u="none" cap="none" strike="noStrike">
                <a:solidFill>
                  <a:srgbClr val="8B8B5C"/>
                </a:solidFill>
                <a:latin typeface="Raleway Light"/>
                <a:ea typeface="Raleway Light"/>
                <a:cs typeface="Raleway Light"/>
                <a:sym typeface="Raleway Light"/>
              </a:rPr>
              <a:t>Totals show once 5 or more took part. Never with a name.</a:t>
            </a:r>
            <a:endParaRPr/>
          </a:p>
        </p:txBody>
      </p:sp>
      <p:sp>
        <p:nvSpPr>
          <p:cNvPr id="766" name="Google Shape;766;p56"/>
          <p:cNvSpPr/>
          <p:nvPr/>
        </p:nvSpPr>
        <p:spPr>
          <a:xfrm>
            <a:off x="0" y="0"/>
            <a:ext cx="12191700" cy="329100"/>
          </a:xfrm>
          <a:prstGeom prst="rect">
            <a:avLst/>
          </a:prstGeom>
          <a:solidFill>
            <a:srgbClr val="565A32"/>
          </a:solidFill>
          <a:ln cap="flat" cmpd="sng" w="12700">
            <a:solidFill>
              <a:srgbClr val="565A3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1" name="Shape 771"/>
        <p:cNvGrpSpPr/>
        <p:nvPr/>
      </p:nvGrpSpPr>
      <p:grpSpPr>
        <a:xfrm>
          <a:off x="0" y="0"/>
          <a:ext cx="0" cy="0"/>
          <a:chOff x="0" y="0"/>
          <a:chExt cx="0" cy="0"/>
        </a:xfrm>
      </p:grpSpPr>
      <p:sp>
        <p:nvSpPr>
          <p:cNvPr id="772" name="Google Shape;772;p57"/>
          <p:cNvSpPr txBox="1"/>
          <p:nvPr>
            <p:ph type="title"/>
          </p:nvPr>
        </p:nvSpPr>
        <p:spPr>
          <a:xfrm>
            <a:off x="548640" y="411480"/>
            <a:ext cx="8138100" cy="68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3600"/>
              <a:buFont typeface="Raleway Light"/>
              <a:buNone/>
            </a:pPr>
            <a:r>
              <a:rPr lang="en-US" sz="3600">
                <a:solidFill>
                  <a:schemeClr val="dk1"/>
                </a:solidFill>
                <a:latin typeface="Raleway Light"/>
                <a:ea typeface="Raleway Light"/>
                <a:cs typeface="Raleway Light"/>
                <a:sym typeface="Raleway Light"/>
              </a:rPr>
              <a:t>Three layers of understanding</a:t>
            </a:r>
            <a:endParaRPr sz="3600"/>
          </a:p>
        </p:txBody>
      </p:sp>
      <p:sp>
        <p:nvSpPr>
          <p:cNvPr id="773" name="Google Shape;773;p57"/>
          <p:cNvSpPr txBox="1"/>
          <p:nvPr>
            <p:ph idx="1" type="body"/>
          </p:nvPr>
        </p:nvSpPr>
        <p:spPr>
          <a:xfrm>
            <a:off x="548640" y="1115568"/>
            <a:ext cx="11094300" cy="4116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800"/>
              <a:buNone/>
            </a:pPr>
            <a:r>
              <a:rPr lang="en-US" sz="1800">
                <a:solidFill>
                  <a:schemeClr val="dk1"/>
                </a:solidFill>
                <a:latin typeface="Raleway Light"/>
                <a:ea typeface="Raleway Light"/>
                <a:cs typeface="Raleway Light"/>
                <a:sym typeface="Raleway Light"/>
              </a:rPr>
              <a:t>More understanding for organisers, without turning vineyards into public competitors.</a:t>
            </a:r>
            <a:endParaRPr sz="1800"/>
          </a:p>
        </p:txBody>
      </p:sp>
      <p:sp>
        <p:nvSpPr>
          <p:cNvPr id="774" name="Google Shape;774;p57"/>
          <p:cNvSpPr/>
          <p:nvPr/>
        </p:nvSpPr>
        <p:spPr>
          <a:xfrm>
            <a:off x="9265615" y="457200"/>
            <a:ext cx="2377500" cy="384000"/>
          </a:xfrm>
          <a:prstGeom prst="roundRect">
            <a:avLst>
              <a:gd fmla="val 50000" name="adj"/>
            </a:avLst>
          </a:prstGeom>
          <a:solidFill>
            <a:schemeClr val="accent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1400"/>
              <a:buFont typeface="Raleway SemiBold"/>
              <a:buNone/>
            </a:pPr>
            <a:r>
              <a:rPr b="1" i="0" lang="en-US" spc="0" sz="1400" u="none" cap="none" strike="noStrike">
                <a:solidFill>
                  <a:schemeClr val="dk1"/>
                </a:solidFill>
                <a:latin typeface="Raleway SemiBold"/>
                <a:ea typeface="Raleway SemiBold"/>
                <a:cs typeface="Raleway SemiBold"/>
                <a:sym typeface="Raleway SemiBold"/>
              </a:rPr>
              <a:t>EVENT MODE</a:t>
            </a:r>
            <a:endParaRPr b="0" i="0" spc="0" sz="1400" u="none" cap="none" strike="noStrike">
              <a:solidFill>
                <a:schemeClr val="dk1"/>
              </a:solidFill>
              <a:latin typeface="Raleway Light"/>
              <a:ea typeface="Raleway Light"/>
              <a:cs typeface="Raleway Light"/>
              <a:sym typeface="Raleway Light"/>
            </a:endParaRPr>
          </a:p>
        </p:txBody>
      </p:sp>
      <p:sp>
        <p:nvSpPr>
          <p:cNvPr id="775" name="Google Shape;775;p57"/>
          <p:cNvSpPr/>
          <p:nvPr/>
        </p:nvSpPr>
        <p:spPr>
          <a:xfrm>
            <a:off x="548640" y="1783080"/>
            <a:ext cx="6949500" cy="896100"/>
          </a:xfrm>
          <a:prstGeom prst="roundRect">
            <a:avLst>
              <a:gd fmla="val 12245" name="adj"/>
            </a:avLst>
          </a:prstGeom>
          <a:solidFill>
            <a:schemeClr val="lt1"/>
          </a:solidFill>
          <a:ln cap="flat" cmpd="sng" w="12700">
            <a:solidFill>
              <a:schemeClr val="lt1"/>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76" name="Google Shape;776;p57"/>
          <p:cNvSpPr/>
          <p:nvPr/>
        </p:nvSpPr>
        <p:spPr>
          <a:xfrm>
            <a:off x="777240" y="1938528"/>
            <a:ext cx="585300" cy="585300"/>
          </a:xfrm>
          <a:prstGeom prst="ellipse">
            <a:avLst/>
          </a:prstGeom>
          <a:solidFill>
            <a:schemeClr val="dk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2"/>
              </a:buClr>
              <a:buSzPts val="1600"/>
              <a:buFont typeface="Raleway SemiBold"/>
              <a:buNone/>
            </a:pPr>
            <a:r>
              <a:rPr b="1" i="0" lang="en-US" spc="0" sz="1600" u="none" cap="none" strike="noStrike">
                <a:solidFill>
                  <a:schemeClr val="lt2"/>
                </a:solidFill>
                <a:latin typeface="Raleway SemiBold"/>
                <a:ea typeface="Raleway SemiBold"/>
                <a:cs typeface="Raleway SemiBold"/>
                <a:sym typeface="Raleway SemiBold"/>
              </a:rPr>
              <a:t>1</a:t>
            </a:r>
            <a:endParaRPr b="0" i="0" spc="0" sz="1600" u="none" cap="none" strike="noStrike">
              <a:solidFill>
                <a:schemeClr val="dk1"/>
              </a:solidFill>
              <a:latin typeface="Raleway Light"/>
              <a:ea typeface="Raleway Light"/>
              <a:cs typeface="Raleway Light"/>
              <a:sym typeface="Raleway Light"/>
            </a:endParaRPr>
          </a:p>
        </p:txBody>
      </p:sp>
      <p:sp>
        <p:nvSpPr>
          <p:cNvPr id="777" name="Google Shape;777;p57"/>
          <p:cNvSpPr txBox="1"/>
          <p:nvPr/>
        </p:nvSpPr>
        <p:spPr>
          <a:xfrm>
            <a:off x="1554480" y="1783080"/>
            <a:ext cx="5760600" cy="896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Raleway SemiBold"/>
              <a:buNone/>
            </a:pPr>
            <a:r>
              <a:rPr b="1" i="0" lang="en-US" spc="0" sz="1400" u="none" cap="none" strike="noStrike">
                <a:solidFill>
                  <a:schemeClr val="dk1"/>
                </a:solidFill>
                <a:latin typeface="Raleway SemiBold"/>
                <a:ea typeface="Raleway SemiBold"/>
                <a:cs typeface="Raleway SemiBold"/>
                <a:sym typeface="Raleway SemiBold"/>
              </a:rPr>
              <a:t>Your event  </a:t>
            </a:r>
            <a:r>
              <a:rPr b="0" i="0" lang="en-US" spc="0" sz="1400" u="none" cap="none" strike="noStrike">
                <a:solidFill>
                  <a:schemeClr val="dk1"/>
                </a:solidFill>
                <a:latin typeface="Raleway Light"/>
                <a:ea typeface="Raleway Light"/>
                <a:cs typeface="Raleway Light"/>
                <a:sym typeface="Raleway Light"/>
              </a:rPr>
              <a:t>Combined discoveries, favourites, crown patterns, polls, quiz responses and content engagement.</a:t>
            </a:r>
            <a:endParaRPr b="0" i="0" spc="0" sz="1400" u="none" cap="none" strike="noStrike">
              <a:solidFill>
                <a:schemeClr val="dk1"/>
              </a:solidFill>
              <a:latin typeface="Raleway Light"/>
              <a:ea typeface="Raleway Light"/>
              <a:cs typeface="Raleway Light"/>
              <a:sym typeface="Raleway Light"/>
            </a:endParaRPr>
          </a:p>
        </p:txBody>
      </p:sp>
      <p:sp>
        <p:nvSpPr>
          <p:cNvPr id="778" name="Google Shape;778;p57"/>
          <p:cNvSpPr/>
          <p:nvPr/>
        </p:nvSpPr>
        <p:spPr>
          <a:xfrm>
            <a:off x="548640" y="2807208"/>
            <a:ext cx="6949500" cy="896100"/>
          </a:xfrm>
          <a:prstGeom prst="roundRect">
            <a:avLst>
              <a:gd fmla="val 12245" name="adj"/>
            </a:avLst>
          </a:prstGeom>
          <a:solidFill>
            <a:schemeClr val="lt1"/>
          </a:solidFill>
          <a:ln cap="flat" cmpd="sng" w="12700">
            <a:solidFill>
              <a:schemeClr val="lt1"/>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79" name="Google Shape;779;p57"/>
          <p:cNvSpPr/>
          <p:nvPr/>
        </p:nvSpPr>
        <p:spPr>
          <a:xfrm>
            <a:off x="777240" y="2962656"/>
            <a:ext cx="585300" cy="585300"/>
          </a:xfrm>
          <a:prstGeom prst="ellipse">
            <a:avLst/>
          </a:prstGeom>
          <a:solidFill>
            <a:schemeClr val="dk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2"/>
              </a:buClr>
              <a:buSzPts val="1600"/>
              <a:buFont typeface="Raleway SemiBold"/>
              <a:buNone/>
            </a:pPr>
            <a:r>
              <a:rPr b="1" i="0" lang="en-US" spc="0" sz="1600" u="none" cap="none" strike="noStrike">
                <a:solidFill>
                  <a:schemeClr val="lt2"/>
                </a:solidFill>
                <a:latin typeface="Raleway SemiBold"/>
                <a:ea typeface="Raleway SemiBold"/>
                <a:cs typeface="Raleway SemiBold"/>
                <a:sym typeface="Raleway SemiBold"/>
              </a:rPr>
              <a:t>2</a:t>
            </a:r>
            <a:endParaRPr b="0" i="0" spc="0" sz="1600" u="none" cap="none" strike="noStrike">
              <a:solidFill>
                <a:schemeClr val="dk1"/>
              </a:solidFill>
              <a:latin typeface="Raleway Light"/>
              <a:ea typeface="Raleway Light"/>
              <a:cs typeface="Raleway Light"/>
              <a:sym typeface="Raleway Light"/>
            </a:endParaRPr>
          </a:p>
        </p:txBody>
      </p:sp>
      <p:sp>
        <p:nvSpPr>
          <p:cNvPr id="780" name="Google Shape;780;p57"/>
          <p:cNvSpPr txBox="1"/>
          <p:nvPr/>
        </p:nvSpPr>
        <p:spPr>
          <a:xfrm>
            <a:off x="1554480" y="2807208"/>
            <a:ext cx="5760600" cy="896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Raleway SemiBold"/>
              <a:buNone/>
            </a:pPr>
            <a:r>
              <a:rPr b="1" i="0" lang="en-US" spc="0" sz="1400" u="none" cap="none" strike="noStrike">
                <a:solidFill>
                  <a:schemeClr val="dk1"/>
                </a:solidFill>
                <a:latin typeface="Raleway SemiBold"/>
                <a:ea typeface="Raleway SemiBold"/>
                <a:cs typeface="Raleway SemiBold"/>
                <a:sym typeface="Raleway SemiBold"/>
              </a:rPr>
              <a:t>Visitor contacts  </a:t>
            </a:r>
            <a:r>
              <a:rPr b="0" i="0" lang="en-US" spc="0" sz="1400" u="none" cap="none" strike="noStrike">
                <a:solidFill>
                  <a:schemeClr val="dk1"/>
                </a:solidFill>
                <a:latin typeface="Raleway Light"/>
                <a:ea typeface="Raleway Light"/>
                <a:cs typeface="Raleway Light"/>
                <a:sym typeface="Raleway Light"/>
              </a:rPr>
              <a:t>New relationships with individual attendees who expressly opt in to hearing from you.</a:t>
            </a:r>
            <a:endParaRPr b="0" i="0" spc="0" sz="1400" u="none" cap="none" strike="noStrike">
              <a:solidFill>
                <a:schemeClr val="dk1"/>
              </a:solidFill>
              <a:latin typeface="Raleway Light"/>
              <a:ea typeface="Raleway Light"/>
              <a:cs typeface="Raleway Light"/>
              <a:sym typeface="Raleway Light"/>
            </a:endParaRPr>
          </a:p>
        </p:txBody>
      </p:sp>
      <p:sp>
        <p:nvSpPr>
          <p:cNvPr id="781" name="Google Shape;781;p57"/>
          <p:cNvSpPr/>
          <p:nvPr/>
        </p:nvSpPr>
        <p:spPr>
          <a:xfrm>
            <a:off x="548640" y="3831336"/>
            <a:ext cx="6949500" cy="896100"/>
          </a:xfrm>
          <a:prstGeom prst="roundRect">
            <a:avLst>
              <a:gd fmla="val 12245" name="adj"/>
            </a:avLst>
          </a:prstGeom>
          <a:solidFill>
            <a:schemeClr val="lt1"/>
          </a:solidFill>
          <a:ln cap="flat" cmpd="sng" w="12700">
            <a:solidFill>
              <a:schemeClr val="lt1"/>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82" name="Google Shape;782;p57"/>
          <p:cNvSpPr/>
          <p:nvPr/>
        </p:nvSpPr>
        <p:spPr>
          <a:xfrm>
            <a:off x="777240" y="3986784"/>
            <a:ext cx="585300" cy="585300"/>
          </a:xfrm>
          <a:prstGeom prst="ellipse">
            <a:avLst/>
          </a:prstGeom>
          <a:solidFill>
            <a:schemeClr val="dk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2"/>
              </a:buClr>
              <a:buSzPts val="1600"/>
              <a:buFont typeface="Raleway SemiBold"/>
              <a:buNone/>
            </a:pPr>
            <a:r>
              <a:rPr b="1" i="0" lang="en-US" spc="0" sz="1600" u="none" cap="none" strike="noStrike">
                <a:solidFill>
                  <a:schemeClr val="lt2"/>
                </a:solidFill>
                <a:latin typeface="Raleway SemiBold"/>
                <a:ea typeface="Raleway SemiBold"/>
                <a:cs typeface="Raleway SemiBold"/>
                <a:sym typeface="Raleway SemiBold"/>
              </a:rPr>
              <a:t>3</a:t>
            </a:r>
            <a:endParaRPr b="0" i="0" spc="0" sz="1600" u="none" cap="none" strike="noStrike">
              <a:solidFill>
                <a:schemeClr val="dk1"/>
              </a:solidFill>
              <a:latin typeface="Raleway Light"/>
              <a:ea typeface="Raleway Light"/>
              <a:cs typeface="Raleway Light"/>
              <a:sym typeface="Raleway Light"/>
            </a:endParaRPr>
          </a:p>
        </p:txBody>
      </p:sp>
      <p:sp>
        <p:nvSpPr>
          <p:cNvPr id="783" name="Google Shape;783;p57"/>
          <p:cNvSpPr txBox="1"/>
          <p:nvPr/>
        </p:nvSpPr>
        <p:spPr>
          <a:xfrm>
            <a:off x="1554480" y="3831336"/>
            <a:ext cx="5760600" cy="896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Raleway SemiBold"/>
              <a:buNone/>
            </a:pPr>
            <a:r>
              <a:rPr b="1" i="0" lang="en-US" spc="0" sz="1400" u="none" cap="none" strike="noStrike">
                <a:solidFill>
                  <a:schemeClr val="dk1"/>
                </a:solidFill>
                <a:latin typeface="Raleway SemiBold"/>
                <a:ea typeface="Raleway SemiBold"/>
                <a:cs typeface="Raleway SemiBold"/>
                <a:sym typeface="Raleway SemiBold"/>
              </a:rPr>
              <a:t>Wider trends  </a:t>
            </a:r>
            <a:r>
              <a:rPr b="0" i="0" lang="en-US" spc="0" sz="1400" u="none" cap="none" strike="noStrike">
                <a:solidFill>
                  <a:schemeClr val="dk1"/>
                </a:solidFill>
                <a:latin typeface="Raleway Light"/>
                <a:ea typeface="Raleway Light"/>
                <a:cs typeface="Raleway Light"/>
                <a:sym typeface="Raleway Light"/>
              </a:rPr>
              <a:t>Carefully anonymised, combined Entre Amis trends, where sample size and permissions support them.</a:t>
            </a:r>
            <a:endParaRPr b="0" i="0" spc="0" sz="1400" u="none" cap="none" strike="noStrike">
              <a:solidFill>
                <a:schemeClr val="dk1"/>
              </a:solidFill>
              <a:latin typeface="Raleway Light"/>
              <a:ea typeface="Raleway Light"/>
              <a:cs typeface="Raleway Light"/>
              <a:sym typeface="Raleway Light"/>
            </a:endParaRPr>
          </a:p>
        </p:txBody>
      </p:sp>
      <p:sp>
        <p:nvSpPr>
          <p:cNvPr id="784" name="Google Shape;784;p57"/>
          <p:cNvSpPr/>
          <p:nvPr/>
        </p:nvSpPr>
        <p:spPr>
          <a:xfrm>
            <a:off x="7772400" y="1783080"/>
            <a:ext cx="3870600" cy="2944500"/>
          </a:xfrm>
          <a:prstGeom prst="roundRect">
            <a:avLst>
              <a:gd fmla="val 3727" name="adj"/>
            </a:avLst>
          </a:prstGeom>
          <a:solidFill>
            <a:schemeClr val="dk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85" name="Google Shape;785;p57"/>
          <p:cNvSpPr txBox="1"/>
          <p:nvPr/>
        </p:nvSpPr>
        <p:spPr>
          <a:xfrm>
            <a:off x="8046720" y="2011680"/>
            <a:ext cx="3321900" cy="2560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lt2"/>
              </a:buClr>
              <a:buSzPts val="1300"/>
              <a:buFont typeface="Raleway SemiBold"/>
              <a:buNone/>
            </a:pPr>
            <a:r>
              <a:rPr b="1" i="0" lang="en-US" spc="0" sz="1300" u="none" cap="none" strike="noStrike">
                <a:solidFill>
                  <a:schemeClr val="lt2"/>
                </a:solidFill>
                <a:latin typeface="Raleway SemiBold"/>
                <a:ea typeface="Raleway SemiBold"/>
                <a:cs typeface="Raleway SemiBold"/>
                <a:sym typeface="Raleway SemiBold"/>
              </a:rPr>
              <a:t>OUR PROMISES</a:t>
            </a:r>
            <a:endParaRPr b="0" i="0" spc="0" sz="1500" u="none" cap="none" strike="noStrike">
              <a:solidFill>
                <a:schemeClr val="dk1"/>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chemeClr val="lt2"/>
              </a:buClr>
              <a:buSzPts val="600"/>
              <a:buFont typeface="Raleway Light"/>
              <a:buNone/>
            </a:pPr>
            <a:r>
              <a:rPr b="0" i="0" lang="en-US" spc="0" sz="600" u="none" cap="none" strike="noStrike">
                <a:solidFill>
                  <a:schemeClr val="lt2"/>
                </a:solidFill>
                <a:latin typeface="Raleway Light"/>
                <a:ea typeface="Raleway Light"/>
                <a:cs typeface="Raleway Light"/>
                <a:sym typeface="Raleway Light"/>
              </a:rPr>
              <a:t> </a:t>
            </a:r>
            <a:endParaRPr b="0" i="0" spc="0" sz="1500" u="none" cap="none" strike="noStrike">
              <a:solidFill>
                <a:schemeClr val="dk1"/>
              </a:solidFill>
              <a:latin typeface="Raleway Light"/>
              <a:ea typeface="Raleway Light"/>
              <a:cs typeface="Raleway Light"/>
              <a:sym typeface="Raleway Light"/>
            </a:endParaRPr>
          </a:p>
          <a:p>
            <a:pPr indent="-203200" lvl="0" marL="203200" marR="0" rtl="0" algn="l">
              <a:lnSpc>
                <a:spcPct val="100000"/>
              </a:lnSpc>
              <a:spcBef>
                <a:spcPts val="400"/>
              </a:spcBef>
              <a:spcAft>
                <a:spcPts val="0"/>
              </a:spcAft>
              <a:buClr>
                <a:schemeClr val="lt2"/>
              </a:buClr>
              <a:buSzPts val="1500"/>
              <a:buFont typeface="Raleway Light"/>
              <a:buChar char="•"/>
            </a:pPr>
            <a:r>
              <a:rPr b="0" i="0" lang="en-US" spc="0" sz="1500" u="none" cap="none" strike="noStrike">
                <a:solidFill>
                  <a:schemeClr val="lt2"/>
                </a:solidFill>
                <a:latin typeface="Raleway Light"/>
                <a:ea typeface="Raleway Light"/>
                <a:cs typeface="Raleway Light"/>
                <a:sym typeface="Raleway Light"/>
              </a:rPr>
              <a:t>Personal crowns stay personal.</a:t>
            </a:r>
            <a:endParaRPr b="0" i="0" spc="0" sz="1500" u="none" cap="none" strike="noStrike">
              <a:solidFill>
                <a:schemeClr val="dk1"/>
              </a:solidFill>
              <a:latin typeface="Raleway Light"/>
              <a:ea typeface="Raleway Light"/>
              <a:cs typeface="Raleway Light"/>
              <a:sym typeface="Raleway Light"/>
            </a:endParaRPr>
          </a:p>
          <a:p>
            <a:pPr indent="-203200" lvl="0" marL="203200" marR="0" rtl="0" algn="l">
              <a:lnSpc>
                <a:spcPct val="100000"/>
              </a:lnSpc>
              <a:spcBef>
                <a:spcPts val="800"/>
              </a:spcBef>
              <a:spcAft>
                <a:spcPts val="0"/>
              </a:spcAft>
              <a:buClr>
                <a:schemeClr val="lt2"/>
              </a:buClr>
              <a:buSzPts val="1500"/>
              <a:buFont typeface="Raleway Light"/>
              <a:buChar char="•"/>
            </a:pPr>
            <a:r>
              <a:rPr b="0" i="0" lang="en-US" spc="0" sz="1500" u="none" cap="none" strike="noStrike">
                <a:solidFill>
                  <a:schemeClr val="lt2"/>
                </a:solidFill>
                <a:latin typeface="Raleway Light"/>
                <a:ea typeface="Raleway Light"/>
                <a:cs typeface="Raleway Light"/>
                <a:sym typeface="Raleway Light"/>
              </a:rPr>
              <a:t>No public ranking.</a:t>
            </a:r>
            <a:endParaRPr b="0" i="0" spc="0" sz="1500" u="none" cap="none" strike="noStrike">
              <a:solidFill>
                <a:schemeClr val="dk1"/>
              </a:solidFill>
              <a:latin typeface="Raleway Light"/>
              <a:ea typeface="Raleway Light"/>
              <a:cs typeface="Raleway Light"/>
              <a:sym typeface="Raleway Light"/>
            </a:endParaRPr>
          </a:p>
          <a:p>
            <a:pPr indent="-203200" lvl="0" marL="203200" marR="0" rtl="0" algn="l">
              <a:lnSpc>
                <a:spcPct val="100000"/>
              </a:lnSpc>
              <a:spcBef>
                <a:spcPts val="800"/>
              </a:spcBef>
              <a:spcAft>
                <a:spcPts val="0"/>
              </a:spcAft>
              <a:buClr>
                <a:schemeClr val="lt2"/>
              </a:buClr>
              <a:buSzPts val="1500"/>
              <a:buFont typeface="Raleway Light"/>
              <a:buChar char="•"/>
            </a:pPr>
            <a:r>
              <a:rPr b="0" i="0" lang="en-US" spc="0" sz="1500" u="none" cap="none" strike="noStrike">
                <a:solidFill>
                  <a:schemeClr val="lt2"/>
                </a:solidFill>
                <a:latin typeface="Raleway Light"/>
                <a:ea typeface="Raleway Light"/>
                <a:cs typeface="Raleway Light"/>
                <a:sym typeface="Raleway Light"/>
              </a:rPr>
              <a:t>No risk of identifying anyone.</a:t>
            </a:r>
            <a:endParaRPr b="0" i="0" spc="0" sz="1500" u="none" cap="none" strike="noStrike">
              <a:solidFill>
                <a:schemeClr val="dk1"/>
              </a:solidFill>
              <a:latin typeface="Raleway Light"/>
              <a:ea typeface="Raleway Light"/>
              <a:cs typeface="Raleway Light"/>
              <a:sym typeface="Raleway Light"/>
            </a:endParaRPr>
          </a:p>
          <a:p>
            <a:pPr indent="-203200" lvl="0" marL="203200" marR="0" rtl="0" algn="l">
              <a:lnSpc>
                <a:spcPct val="100000"/>
              </a:lnSpc>
              <a:spcBef>
                <a:spcPts val="800"/>
              </a:spcBef>
              <a:spcAft>
                <a:spcPts val="0"/>
              </a:spcAft>
              <a:buClr>
                <a:schemeClr val="lt2"/>
              </a:buClr>
              <a:buSzPts val="1500"/>
              <a:buFont typeface="Raleway Light"/>
              <a:buChar char="•"/>
            </a:pPr>
            <a:r>
              <a:rPr b="0" i="0" lang="en-US" spc="0" sz="1500" u="none" cap="none" strike="noStrike">
                <a:solidFill>
                  <a:schemeClr val="lt2"/>
                </a:solidFill>
                <a:latin typeface="Raleway Light"/>
                <a:ea typeface="Raleway Light"/>
                <a:cs typeface="Raleway Light"/>
                <a:sym typeface="Raleway Light"/>
              </a:rPr>
              <a:t>No data sharing across platforms.</a:t>
            </a:r>
            <a:endParaRPr b="0" i="0" spc="0" sz="1500" u="none" cap="none" strike="noStrike">
              <a:solidFill>
                <a:schemeClr val="dk1"/>
              </a:solidFill>
              <a:latin typeface="Raleway Light"/>
              <a:ea typeface="Raleway Light"/>
              <a:cs typeface="Raleway Light"/>
              <a:sym typeface="Raleway Light"/>
            </a:endParaRPr>
          </a:p>
        </p:txBody>
      </p:sp>
      <p:sp>
        <p:nvSpPr>
          <p:cNvPr id="786" name="Google Shape;786;p57"/>
          <p:cNvSpPr txBox="1"/>
          <p:nvPr/>
        </p:nvSpPr>
        <p:spPr>
          <a:xfrm>
            <a:off x="548640" y="4983480"/>
            <a:ext cx="11091672" cy="731400"/>
          </a:xfrm>
          <a:prstGeom prst="rect">
            <a:avLst/>
          </a:prstGeom>
          <a:solidFill>
            <a:schemeClr val="lt1"/>
          </a:solidFill>
          <a:ln cap="flat" cmpd="sng" w="25400">
            <a:solidFill>
              <a:schemeClr val="accent4"/>
            </a:solidFill>
            <a:prstDash val="solid"/>
            <a:round/>
            <a:headEnd len="sm" w="sm" type="none"/>
            <a:tailEnd len="sm" w="sm" type="none"/>
          </a:ln>
        </p:spPr>
        <p:txBody>
          <a:bodyPr anchorCtr="0" anchor="ctr" bIns="38100" lIns="38100" spcFirstLastPara="1" rIns="76200" wrap="square" tIns="76200">
            <a:noAutofit/>
          </a:bodyPr>
          <a:lstStyle/>
          <a:p>
            <a:pPr indent="0" lvl="0" marL="0" marR="0" rtl="0" algn="l">
              <a:lnSpc>
                <a:spcPct val="100000"/>
              </a:lnSpc>
              <a:spcBef>
                <a:spcPts val="0"/>
              </a:spcBef>
              <a:spcAft>
                <a:spcPts val="0"/>
              </a:spcAft>
              <a:buClr>
                <a:schemeClr val="dk1"/>
              </a:buClr>
              <a:buSzPts val="1100"/>
              <a:buFont typeface="Raleway SemiBold"/>
              <a:buNone/>
            </a:pPr>
            <a:r>
              <a:rPr b="1" i="0" lang="en-US" spc="0" sz="1100" u="none" cap="none" strike="noStrike">
                <a:solidFill>
                  <a:schemeClr val="dk1"/>
                </a:solidFill>
                <a:latin typeface="Raleway SemiBold"/>
                <a:ea typeface="Raleway SemiBold"/>
                <a:cs typeface="Raleway SemiBold"/>
                <a:sym typeface="Raleway SemiBold"/>
              </a:rPr>
              <a:t>TO CONFIRM  </a:t>
            </a:r>
            <a:r>
              <a:rPr b="0" i="0" lang="en-US" spc="0" sz="1100" u="none" cap="none" strike="noStrike">
                <a:solidFill>
                  <a:schemeClr val="dk1"/>
                </a:solidFill>
                <a:latin typeface="Raleway Light"/>
                <a:ea typeface="Raleway Light"/>
                <a:cs typeface="Raleway Light"/>
                <a:sym typeface="Raleway Light"/>
              </a:rPr>
              <a:t>Layer 2 depends on the proposed contact rule and legal review. Layer names now match their descriptions (they were swapped).</a:t>
            </a:r>
            <a:endParaRPr b="0" i="0" spc="0" sz="1100" u="none" cap="none" strike="noStrike">
              <a:solidFill>
                <a:schemeClr val="dk1"/>
              </a:solidFill>
              <a:latin typeface="Raleway Light"/>
              <a:ea typeface="Raleway Light"/>
              <a:cs typeface="Raleway Light"/>
              <a:sym typeface="Raleway Light"/>
            </a:endParaRPr>
          </a:p>
        </p:txBody>
      </p:sp>
      <p:sp>
        <p:nvSpPr>
          <p:cNvPr id="787" name="Google Shape;787;p57"/>
          <p:cNvSpPr txBox="1"/>
          <p:nvPr>
            <p:ph idx="4294967295" type="sldNum"/>
          </p:nvPr>
        </p:nvSpPr>
        <p:spPr>
          <a:xfrm>
            <a:off x="10180015" y="6355080"/>
            <a:ext cx="365700" cy="274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000"/>
              <a:buNone/>
            </a:pPr>
            <a:fld id="{00000000-1234-1234-1234-123412341234}" type="slidenum">
              <a:rPr b="0" i="0" lang="en-US" sz="1000" u="none" cap="none" strike="noStrike">
                <a:solidFill>
                  <a:schemeClr val="dk1"/>
                </a:solidFill>
                <a:latin typeface="Raleway Light"/>
                <a:ea typeface="Raleway Light"/>
                <a:cs typeface="Raleway Light"/>
                <a:sym typeface="Raleway Light"/>
              </a:rPr>
              <a:t>‹#›</a:t>
            </a:fld>
            <a:endParaRPr b="0" i="0" sz="1000" u="none" cap="none" strike="noStrike">
              <a:solidFill>
                <a:schemeClr val="dk1"/>
              </a:solidFill>
              <a:latin typeface="Raleway Light"/>
              <a:ea typeface="Raleway Light"/>
              <a:cs typeface="Raleway Light"/>
              <a:sym typeface="Raleway Light"/>
            </a:endParaRPr>
          </a:p>
        </p:txBody>
      </p:sp>
      <p:sp>
        <p:nvSpPr>
          <p:cNvPr id="788" name="Google Shape;788;p57"/>
          <p:cNvSpPr/>
          <p:nvPr/>
        </p:nvSpPr>
        <p:spPr>
          <a:xfrm>
            <a:off x="0" y="0"/>
            <a:ext cx="12191700" cy="329100"/>
          </a:xfrm>
          <a:prstGeom prst="rect">
            <a:avLst/>
          </a:prstGeom>
          <a:solidFill>
            <a:srgbClr val="565A32"/>
          </a:solidFill>
          <a:ln cap="flat" cmpd="sng" w="12700">
            <a:solidFill>
              <a:srgbClr val="565A3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3" name="Shape 793"/>
        <p:cNvGrpSpPr/>
        <p:nvPr/>
      </p:nvGrpSpPr>
      <p:grpSpPr>
        <a:xfrm>
          <a:off x="0" y="0"/>
          <a:ext cx="0" cy="0"/>
          <a:chOff x="0" y="0"/>
          <a:chExt cx="0" cy="0"/>
        </a:xfrm>
      </p:grpSpPr>
      <p:sp>
        <p:nvSpPr>
          <p:cNvPr id="794" name="Google Shape;794;p58"/>
          <p:cNvSpPr txBox="1"/>
          <p:nvPr>
            <p:ph type="title"/>
          </p:nvPr>
        </p:nvSpPr>
        <p:spPr>
          <a:xfrm>
            <a:off x="548652" y="411475"/>
            <a:ext cx="8138160" cy="68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3600"/>
              <a:buFont typeface="Raleway Light"/>
              <a:buNone/>
            </a:pPr>
            <a:r>
              <a:rPr lang="en-US"/>
              <a:t>Value for every vineyard</a:t>
            </a:r>
            <a:endParaRPr sz="3600"/>
          </a:p>
        </p:txBody>
      </p:sp>
      <p:sp>
        <p:nvSpPr>
          <p:cNvPr id="795" name="Google Shape;795;p58"/>
          <p:cNvSpPr txBox="1"/>
          <p:nvPr>
            <p:ph idx="1" type="body"/>
          </p:nvPr>
        </p:nvSpPr>
        <p:spPr>
          <a:xfrm>
            <a:off x="548640" y="1115568"/>
            <a:ext cx="11094300" cy="4116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800"/>
              <a:buNone/>
            </a:pPr>
            <a:r>
              <a:rPr lang="en-US" sz="1800">
                <a:solidFill>
                  <a:schemeClr val="dk1"/>
                </a:solidFill>
                <a:latin typeface="Raleway Light"/>
                <a:ea typeface="Raleway Light"/>
                <a:cs typeface="Raleway Light"/>
                <a:sym typeface="Raleway Light"/>
              </a:rPr>
              <a:t>Beyond being tasted. Being remembered.</a:t>
            </a:r>
            <a:endParaRPr sz="1800"/>
          </a:p>
        </p:txBody>
      </p:sp>
      <p:sp>
        <p:nvSpPr>
          <p:cNvPr id="796" name="Google Shape;796;p58"/>
          <p:cNvSpPr/>
          <p:nvPr/>
        </p:nvSpPr>
        <p:spPr>
          <a:xfrm>
            <a:off x="6695261" y="2232366"/>
            <a:ext cx="2423100" cy="3063300"/>
          </a:xfrm>
          <a:prstGeom prst="roundRect">
            <a:avLst>
              <a:gd fmla="val 3774" name="adj"/>
            </a:avLst>
          </a:prstGeom>
          <a:solidFill>
            <a:schemeClr val="lt1"/>
          </a:solidFill>
          <a:ln cap="flat" cmpd="sng" w="12700">
            <a:solidFill>
              <a:schemeClr val="lt1"/>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
        <p:nvSpPr>
          <p:cNvPr id="797" name="Google Shape;797;p58"/>
          <p:cNvSpPr txBox="1"/>
          <p:nvPr/>
        </p:nvSpPr>
        <p:spPr>
          <a:xfrm>
            <a:off x="6923861" y="2415246"/>
            <a:ext cx="1965900" cy="502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000"/>
              <a:buFont typeface="Raleway SemiBold"/>
              <a:buNone/>
            </a:pPr>
            <a:r>
              <a:rPr b="1" i="0" lang="en-US" spc="0" sz="1000" u="none" cap="none" strike="noStrike">
                <a:solidFill>
                  <a:schemeClr val="dk1"/>
                </a:solidFill>
                <a:latin typeface="Raleway SemiBold"/>
                <a:ea typeface="Raleway SemiBold"/>
                <a:cs typeface="Raleway SemiBold"/>
                <a:sym typeface="Raleway SemiBold"/>
              </a:rPr>
              <a:t>PRODUCER SUMMARY</a:t>
            </a:r>
            <a:endParaRPr b="0" i="0" spc="0" sz="1500" u="none" cap="none" strike="noStrike">
              <a:solidFill>
                <a:schemeClr val="dk1"/>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chemeClr val="dk1"/>
              </a:buClr>
              <a:buSzPts val="1100"/>
              <a:buFont typeface="Raleway Light"/>
              <a:buNone/>
            </a:pPr>
            <a:r>
              <a:rPr b="0" i="1" lang="en-US" spc="0" sz="1100" u="none" cap="none" strike="noStrike">
                <a:solidFill>
                  <a:schemeClr val="dk1"/>
                </a:solidFill>
                <a:latin typeface="Raleway Light"/>
                <a:ea typeface="Raleway Light"/>
                <a:cs typeface="Raleway Light"/>
                <a:sym typeface="Raleway Light"/>
              </a:rPr>
              <a:t>Illustrative example</a:t>
            </a:r>
            <a:endParaRPr b="0" i="0" spc="0" sz="1500" u="none" cap="none" strike="noStrike">
              <a:solidFill>
                <a:schemeClr val="dk1"/>
              </a:solidFill>
              <a:latin typeface="Raleway Light"/>
              <a:ea typeface="Raleway Light"/>
              <a:cs typeface="Raleway Light"/>
              <a:sym typeface="Raleway Light"/>
            </a:endParaRPr>
          </a:p>
        </p:txBody>
      </p:sp>
      <p:sp>
        <p:nvSpPr>
          <p:cNvPr id="798" name="Google Shape;798;p58"/>
          <p:cNvSpPr txBox="1"/>
          <p:nvPr/>
        </p:nvSpPr>
        <p:spPr>
          <a:xfrm>
            <a:off x="6923861" y="3101046"/>
            <a:ext cx="196590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100"/>
              <a:buFont typeface="Raleway Light"/>
              <a:buNone/>
            </a:pPr>
            <a:r>
              <a:rPr b="0" i="0" lang="en-US" spc="0" sz="1100" u="none" cap="none" strike="noStrike">
                <a:solidFill>
                  <a:schemeClr val="dk1"/>
                </a:solidFill>
                <a:latin typeface="Raleway Light"/>
                <a:ea typeface="Raleway Light"/>
                <a:cs typeface="Raleway Light"/>
                <a:sym typeface="Raleway Light"/>
              </a:rPr>
              <a:t>Saved as a favourite</a:t>
            </a:r>
            <a:endParaRPr b="0" i="0" spc="0" sz="1100" u="none" cap="none" strike="noStrike">
              <a:solidFill>
                <a:schemeClr val="dk1"/>
              </a:solidFill>
              <a:latin typeface="Raleway Light"/>
              <a:ea typeface="Raleway Light"/>
              <a:cs typeface="Raleway Light"/>
              <a:sym typeface="Raleway Light"/>
            </a:endParaRPr>
          </a:p>
        </p:txBody>
      </p:sp>
      <p:sp>
        <p:nvSpPr>
          <p:cNvPr id="799" name="Google Shape;799;p58"/>
          <p:cNvSpPr/>
          <p:nvPr/>
        </p:nvSpPr>
        <p:spPr>
          <a:xfrm>
            <a:off x="6923861" y="3375366"/>
            <a:ext cx="1376100" cy="109800"/>
          </a:xfrm>
          <a:prstGeom prst="rect">
            <a:avLst/>
          </a:prstGeom>
          <a:solidFill>
            <a:schemeClr val="accent2"/>
          </a:solidFill>
          <a:ln cap="flat" cmpd="sng" w="127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
        <p:nvSpPr>
          <p:cNvPr id="800" name="Google Shape;800;p58"/>
          <p:cNvSpPr txBox="1"/>
          <p:nvPr/>
        </p:nvSpPr>
        <p:spPr>
          <a:xfrm>
            <a:off x="6923861" y="3667974"/>
            <a:ext cx="196590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100"/>
              <a:buFont typeface="Raleway Light"/>
              <a:buNone/>
            </a:pPr>
            <a:r>
              <a:rPr b="0" i="0" lang="en-US" spc="0" sz="1100" u="none" cap="none" strike="noStrike">
                <a:solidFill>
                  <a:schemeClr val="dk1"/>
                </a:solidFill>
                <a:latin typeface="Raleway Light"/>
                <a:ea typeface="Raleway Light"/>
                <a:cs typeface="Raleway Light"/>
                <a:sym typeface="Raleway Light"/>
              </a:rPr>
              <a:t>Crowned Wine of the Day</a:t>
            </a:r>
            <a:endParaRPr b="0" i="0" spc="0" sz="1100" u="none" cap="none" strike="noStrike">
              <a:solidFill>
                <a:schemeClr val="dk1"/>
              </a:solidFill>
              <a:latin typeface="Raleway Light"/>
              <a:ea typeface="Raleway Light"/>
              <a:cs typeface="Raleway Light"/>
              <a:sym typeface="Raleway Light"/>
            </a:endParaRPr>
          </a:p>
        </p:txBody>
      </p:sp>
      <p:sp>
        <p:nvSpPr>
          <p:cNvPr id="801" name="Google Shape;801;p58"/>
          <p:cNvSpPr/>
          <p:nvPr/>
        </p:nvSpPr>
        <p:spPr>
          <a:xfrm>
            <a:off x="6923861" y="3942294"/>
            <a:ext cx="688200" cy="109800"/>
          </a:xfrm>
          <a:prstGeom prst="rect">
            <a:avLst/>
          </a:prstGeom>
          <a:solidFill>
            <a:schemeClr val="accent4"/>
          </a:solidFill>
          <a:ln cap="flat" cmpd="sng" w="127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
        <p:nvSpPr>
          <p:cNvPr id="802" name="Google Shape;802;p58"/>
          <p:cNvSpPr txBox="1"/>
          <p:nvPr/>
        </p:nvSpPr>
        <p:spPr>
          <a:xfrm>
            <a:off x="6923861" y="4234902"/>
            <a:ext cx="196590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100"/>
              <a:buFont typeface="Raleway Light"/>
              <a:buNone/>
            </a:pPr>
            <a:r>
              <a:rPr b="0" i="0" lang="en-US" spc="0" sz="1100" u="none" cap="none" strike="noStrike">
                <a:solidFill>
                  <a:schemeClr val="dk1"/>
                </a:solidFill>
                <a:latin typeface="Raleway Light"/>
                <a:ea typeface="Raleway Light"/>
                <a:cs typeface="Raleway Light"/>
                <a:sym typeface="Raleway Light"/>
              </a:rPr>
              <a:t>Answered your question</a:t>
            </a:r>
            <a:endParaRPr b="0" i="0" spc="0" sz="1100" u="none" cap="none" strike="noStrike">
              <a:solidFill>
                <a:schemeClr val="dk1"/>
              </a:solidFill>
              <a:latin typeface="Raleway Light"/>
              <a:ea typeface="Raleway Light"/>
              <a:cs typeface="Raleway Light"/>
              <a:sym typeface="Raleway Light"/>
            </a:endParaRPr>
          </a:p>
        </p:txBody>
      </p:sp>
      <p:sp>
        <p:nvSpPr>
          <p:cNvPr id="803" name="Google Shape;803;p58"/>
          <p:cNvSpPr/>
          <p:nvPr/>
        </p:nvSpPr>
        <p:spPr>
          <a:xfrm>
            <a:off x="6923861" y="4509222"/>
            <a:ext cx="1081200" cy="109800"/>
          </a:xfrm>
          <a:prstGeom prst="rect">
            <a:avLst/>
          </a:prstGeom>
          <a:solidFill>
            <a:schemeClr val="accent2"/>
          </a:solidFill>
          <a:ln cap="flat" cmpd="sng" w="127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
        <p:nvSpPr>
          <p:cNvPr id="804" name="Google Shape;804;p58"/>
          <p:cNvSpPr txBox="1"/>
          <p:nvPr/>
        </p:nvSpPr>
        <p:spPr>
          <a:xfrm>
            <a:off x="6923861" y="4701246"/>
            <a:ext cx="1965900" cy="411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000"/>
              <a:buFont typeface="Raleway Light"/>
              <a:buNone/>
            </a:pPr>
            <a:r>
              <a:rPr b="0" i="1" lang="en-US" spc="0" sz="1000" u="none" cap="none" strike="noStrike">
                <a:solidFill>
                  <a:schemeClr val="dk1"/>
                </a:solidFill>
                <a:latin typeface="Raleway Light"/>
                <a:ea typeface="Raleway Light"/>
                <a:cs typeface="Raleway Light"/>
                <a:sym typeface="Raleway Light"/>
              </a:rPr>
              <a:t>Every result shows how many people it's based on. Nothing under five.</a:t>
            </a:r>
            <a:endParaRPr b="0" i="0" spc="0" sz="1000" u="none" cap="none" strike="noStrike">
              <a:solidFill>
                <a:schemeClr val="dk1"/>
              </a:solidFill>
              <a:latin typeface="Raleway Light"/>
              <a:ea typeface="Raleway Light"/>
              <a:cs typeface="Raleway Light"/>
              <a:sym typeface="Raleway Light"/>
            </a:endParaRPr>
          </a:p>
        </p:txBody>
      </p:sp>
      <p:sp>
        <p:nvSpPr>
          <p:cNvPr id="805" name="Google Shape;805;p58"/>
          <p:cNvSpPr txBox="1"/>
          <p:nvPr/>
        </p:nvSpPr>
        <p:spPr>
          <a:xfrm>
            <a:off x="9432013" y="2288168"/>
            <a:ext cx="274320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000"/>
              <a:buFont typeface="Raleway SemiBold"/>
              <a:buNone/>
            </a:pPr>
            <a:r>
              <a:rPr b="1" i="0" lang="en-US" spc="0" sz="1000" u="none" cap="none" strike="noStrike">
                <a:solidFill>
                  <a:schemeClr val="dk1"/>
                </a:solidFill>
                <a:latin typeface="Raleway SemiBold"/>
                <a:ea typeface="Raleway SemiBold"/>
                <a:cs typeface="Raleway SemiBold"/>
                <a:sym typeface="Raleway SemiBold"/>
              </a:rPr>
              <a:t>WHAT VISITORS SAID (ILLUSTRATIVE)</a:t>
            </a:r>
            <a:endParaRPr b="0" i="0" spc="0" sz="1500" u="none" cap="none" strike="noStrike">
              <a:solidFill>
                <a:schemeClr val="dk1"/>
              </a:solidFill>
              <a:latin typeface="Raleway Light"/>
              <a:ea typeface="Raleway Light"/>
              <a:cs typeface="Raleway Light"/>
              <a:sym typeface="Raleway Light"/>
            </a:endParaRPr>
          </a:p>
        </p:txBody>
      </p:sp>
      <p:sp>
        <p:nvSpPr>
          <p:cNvPr id="806" name="Google Shape;806;p58"/>
          <p:cNvSpPr/>
          <p:nvPr/>
        </p:nvSpPr>
        <p:spPr>
          <a:xfrm>
            <a:off x="9267438" y="3440308"/>
            <a:ext cx="2407800" cy="640200"/>
          </a:xfrm>
          <a:prstGeom prst="roundRect">
            <a:avLst>
              <a:gd fmla="val 14286" name="adj"/>
            </a:avLst>
          </a:prstGeom>
          <a:solidFill>
            <a:schemeClr val="lt1"/>
          </a:solidFill>
          <a:ln cap="flat" cmpd="sng" w="12700">
            <a:solidFill>
              <a:schemeClr val="lt1"/>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
        <p:nvSpPr>
          <p:cNvPr id="807" name="Google Shape;807;p58"/>
          <p:cNvSpPr txBox="1"/>
          <p:nvPr/>
        </p:nvSpPr>
        <p:spPr>
          <a:xfrm>
            <a:off x="9432030" y="3440308"/>
            <a:ext cx="20787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Raleway Light"/>
              <a:buNone/>
            </a:pPr>
            <a:r>
              <a:rPr b="0" i="1" lang="en-US" spc="0" sz="1200" u="none" cap="none" strike="noStrike">
                <a:solidFill>
                  <a:schemeClr val="dk1"/>
                </a:solidFill>
                <a:latin typeface="Raleway Light"/>
                <a:ea typeface="Raleway Light"/>
                <a:cs typeface="Raleway Light"/>
                <a:sym typeface="Raleway Light"/>
              </a:rPr>
              <a:t>“Delicious. My first time with English sparkling.”</a:t>
            </a:r>
            <a:endParaRPr b="0" i="0" spc="0" sz="1200" u="none" cap="none" strike="noStrike">
              <a:solidFill>
                <a:schemeClr val="dk1"/>
              </a:solidFill>
              <a:latin typeface="Raleway Light"/>
              <a:ea typeface="Raleway Light"/>
              <a:cs typeface="Raleway Light"/>
              <a:sym typeface="Raleway Light"/>
            </a:endParaRPr>
          </a:p>
        </p:txBody>
      </p:sp>
      <p:sp>
        <p:nvSpPr>
          <p:cNvPr id="808" name="Google Shape;808;p58"/>
          <p:cNvSpPr/>
          <p:nvPr/>
        </p:nvSpPr>
        <p:spPr>
          <a:xfrm>
            <a:off x="9267438" y="2644783"/>
            <a:ext cx="2407800" cy="640200"/>
          </a:xfrm>
          <a:prstGeom prst="roundRect">
            <a:avLst>
              <a:gd fmla="val 14286" name="adj"/>
            </a:avLst>
          </a:prstGeom>
          <a:solidFill>
            <a:schemeClr val="lt1"/>
          </a:solidFill>
          <a:ln cap="flat" cmpd="sng" w="12700">
            <a:solidFill>
              <a:schemeClr val="lt1"/>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
        <p:nvSpPr>
          <p:cNvPr id="809" name="Google Shape;809;p58"/>
          <p:cNvSpPr txBox="1"/>
          <p:nvPr/>
        </p:nvSpPr>
        <p:spPr>
          <a:xfrm>
            <a:off x="9432030" y="2644783"/>
            <a:ext cx="20787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Raleway Light"/>
              <a:buNone/>
            </a:pPr>
            <a:r>
              <a:rPr b="0" i="1" lang="en-US" spc="0" sz="1200" u="none" cap="none" strike="noStrike">
                <a:solidFill>
                  <a:schemeClr val="dk1"/>
                </a:solidFill>
                <a:latin typeface="Raleway Light"/>
                <a:ea typeface="Raleway Light"/>
                <a:cs typeface="Raleway Light"/>
                <a:sym typeface="Raleway Light"/>
              </a:rPr>
              <a:t>“Surprising, in the best way.”</a:t>
            </a:r>
            <a:endParaRPr b="0" i="0" spc="0" sz="1200" u="none" cap="none" strike="noStrike">
              <a:solidFill>
                <a:schemeClr val="dk1"/>
              </a:solidFill>
              <a:latin typeface="Raleway Light"/>
              <a:ea typeface="Raleway Light"/>
              <a:cs typeface="Raleway Light"/>
              <a:sym typeface="Raleway Light"/>
            </a:endParaRPr>
          </a:p>
        </p:txBody>
      </p:sp>
      <p:sp>
        <p:nvSpPr>
          <p:cNvPr id="810" name="Google Shape;810;p58"/>
          <p:cNvSpPr/>
          <p:nvPr/>
        </p:nvSpPr>
        <p:spPr>
          <a:xfrm>
            <a:off x="9267463" y="4235833"/>
            <a:ext cx="2407800" cy="640200"/>
          </a:xfrm>
          <a:prstGeom prst="roundRect">
            <a:avLst>
              <a:gd fmla="val 14286" name="adj"/>
            </a:avLst>
          </a:prstGeom>
          <a:solidFill>
            <a:schemeClr val="lt1"/>
          </a:solidFill>
          <a:ln cap="flat" cmpd="sng" w="12700">
            <a:solidFill>
              <a:schemeClr val="lt1"/>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
        <p:nvSpPr>
          <p:cNvPr id="811" name="Google Shape;811;p58"/>
          <p:cNvSpPr txBox="1"/>
          <p:nvPr/>
        </p:nvSpPr>
        <p:spPr>
          <a:xfrm>
            <a:off x="9432055" y="4235833"/>
            <a:ext cx="20787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Raleway Light"/>
              <a:buNone/>
            </a:pPr>
            <a:r>
              <a:rPr b="0" i="1" lang="en-US" spc="0" sz="1200" u="none" cap="none" strike="noStrike">
                <a:solidFill>
                  <a:schemeClr val="dk1"/>
                </a:solidFill>
                <a:latin typeface="Raleway Light"/>
                <a:ea typeface="Raleway Light"/>
                <a:cs typeface="Raleway Light"/>
                <a:sym typeface="Raleway Light"/>
              </a:rPr>
              <a:t>“A new favourite. I’ll look for it again.”</a:t>
            </a:r>
            <a:endParaRPr b="0" i="0" spc="0" sz="1200" u="none" cap="none" strike="noStrike">
              <a:solidFill>
                <a:schemeClr val="dk1"/>
              </a:solidFill>
              <a:latin typeface="Raleway Light"/>
              <a:ea typeface="Raleway Light"/>
              <a:cs typeface="Raleway Light"/>
              <a:sym typeface="Raleway Light"/>
            </a:endParaRPr>
          </a:p>
        </p:txBody>
      </p:sp>
      <p:sp>
        <p:nvSpPr>
          <p:cNvPr id="812" name="Google Shape;812;p58"/>
          <p:cNvSpPr txBox="1"/>
          <p:nvPr>
            <p:ph idx="4294967295" type="sldNum"/>
          </p:nvPr>
        </p:nvSpPr>
        <p:spPr>
          <a:xfrm>
            <a:off x="10040112" y="6355080"/>
            <a:ext cx="50292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Raleway Light"/>
                <a:ea typeface="Raleway Light"/>
                <a:cs typeface="Raleway Light"/>
                <a:sym typeface="Raleway Light"/>
              </a:rPr>
              <a:t>‹#›</a:t>
            </a:fld>
            <a:endParaRPr b="0" i="0" sz="1200" u="none" cap="none" strike="noStrike">
              <a:solidFill>
                <a:schemeClr val="dk1"/>
              </a:solidFill>
              <a:latin typeface="Raleway Light"/>
              <a:ea typeface="Raleway Light"/>
              <a:cs typeface="Raleway Light"/>
              <a:sym typeface="Raleway Light"/>
            </a:endParaRPr>
          </a:p>
        </p:txBody>
      </p:sp>
      <p:sp>
        <p:nvSpPr>
          <p:cNvPr id="813" name="Google Shape;813;p58"/>
          <p:cNvSpPr/>
          <p:nvPr/>
        </p:nvSpPr>
        <p:spPr>
          <a:xfrm>
            <a:off x="548650" y="1655075"/>
            <a:ext cx="5997600" cy="4206300"/>
          </a:xfrm>
          <a:prstGeom prst="roundRect">
            <a:avLst>
              <a:gd fmla="val 2174" name="adj"/>
            </a:avLst>
          </a:prstGeom>
          <a:solidFill>
            <a:srgbClr val="FFFFFF"/>
          </a:solidFill>
          <a:ln cap="flat" cmpd="sng" w="12700">
            <a:solidFill>
              <a:srgbClr val="FFFFFF"/>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14" name="Google Shape;814;p58"/>
          <p:cNvSpPr txBox="1"/>
          <p:nvPr/>
        </p:nvSpPr>
        <p:spPr>
          <a:xfrm>
            <a:off x="822975" y="1883680"/>
            <a:ext cx="341340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65A32"/>
              </a:buClr>
              <a:buSzPts val="1100"/>
              <a:buFont typeface="Raleway SemiBold"/>
              <a:buNone/>
            </a:pPr>
            <a:r>
              <a:rPr b="1" i="0" lang="en-US" spc="0" sz="1100" u="none" cap="none" strike="noStrike">
                <a:solidFill>
                  <a:srgbClr val="565A32"/>
                </a:solidFill>
                <a:latin typeface="Raleway SemiBold"/>
                <a:ea typeface="Raleway SemiBold"/>
                <a:cs typeface="Raleway SemiBold"/>
                <a:sym typeface="Raleway SemiBold"/>
              </a:rPr>
              <a:t>THE DAY AT A GLANCE</a:t>
            </a:r>
            <a:endParaRPr b="0" i="0" spc="0" sz="1500" u="none" cap="none" strike="noStrike">
              <a:solidFill>
                <a:srgbClr val="565A32"/>
              </a:solidFill>
              <a:latin typeface="Raleway Light"/>
              <a:ea typeface="Raleway Light"/>
              <a:cs typeface="Raleway Light"/>
              <a:sym typeface="Raleway Light"/>
            </a:endParaRPr>
          </a:p>
        </p:txBody>
      </p:sp>
      <p:sp>
        <p:nvSpPr>
          <p:cNvPr id="815" name="Google Shape;815;p58"/>
          <p:cNvSpPr/>
          <p:nvPr/>
        </p:nvSpPr>
        <p:spPr>
          <a:xfrm>
            <a:off x="4419310" y="1837960"/>
            <a:ext cx="1828800" cy="274200"/>
          </a:xfrm>
          <a:prstGeom prst="roundRect">
            <a:avLst>
              <a:gd fmla="val 50000" name="adj"/>
            </a:avLst>
          </a:prstGeom>
          <a:solidFill>
            <a:srgbClr val="EFEAE0"/>
          </a:solidFill>
          <a:ln cap="flat" cmpd="sng" w="12700">
            <a:solidFill>
              <a:srgbClr val="565A32"/>
            </a:solidFill>
            <a:prstDash val="dash"/>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65A32"/>
              </a:buClr>
              <a:buSzPts val="1000"/>
              <a:buFont typeface="Raleway SemiBold"/>
              <a:buNone/>
            </a:pPr>
            <a:r>
              <a:rPr b="1" i="0" lang="en-US" spc="0" sz="1000" u="none" cap="none" strike="noStrike">
                <a:solidFill>
                  <a:srgbClr val="565A32"/>
                </a:solidFill>
                <a:latin typeface="Raleway SemiBold"/>
                <a:ea typeface="Raleway SemiBold"/>
                <a:cs typeface="Raleway SemiBold"/>
                <a:sym typeface="Raleway SemiBold"/>
              </a:rPr>
              <a:t>ILLUSTRATIVE EXAMPLE</a:t>
            </a:r>
            <a:endParaRPr b="0" i="0" spc="0" sz="1000" u="none" cap="none" strike="noStrike">
              <a:solidFill>
                <a:srgbClr val="565A32"/>
              </a:solidFill>
              <a:latin typeface="Raleway Light"/>
              <a:ea typeface="Raleway Light"/>
              <a:cs typeface="Raleway Light"/>
              <a:sym typeface="Raleway Light"/>
            </a:endParaRPr>
          </a:p>
        </p:txBody>
      </p:sp>
      <p:sp>
        <p:nvSpPr>
          <p:cNvPr id="816" name="Google Shape;816;p58"/>
          <p:cNvSpPr/>
          <p:nvPr/>
        </p:nvSpPr>
        <p:spPr>
          <a:xfrm>
            <a:off x="822975" y="2295160"/>
            <a:ext cx="1686600" cy="731400"/>
          </a:xfrm>
          <a:prstGeom prst="roundRect">
            <a:avLst>
              <a:gd fmla="val 10000" name="adj"/>
            </a:avLst>
          </a:prstGeom>
          <a:solidFill>
            <a:srgbClr val="EFEAE0"/>
          </a:solidFill>
          <a:ln cap="flat" cmpd="sng" w="12700">
            <a:solidFill>
              <a:srgbClr val="EFEAE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17" name="Google Shape;817;p58"/>
          <p:cNvSpPr txBox="1"/>
          <p:nvPr/>
        </p:nvSpPr>
        <p:spPr>
          <a:xfrm>
            <a:off x="987567" y="2368312"/>
            <a:ext cx="1357200" cy="640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65A32"/>
              </a:buClr>
              <a:buSzPts val="2400"/>
              <a:buFont typeface="Raleway Light"/>
              <a:buNone/>
            </a:pPr>
            <a:r>
              <a:rPr b="0" i="0" lang="en-US" spc="0" sz="2400" u="none" cap="none" strike="noStrike">
                <a:solidFill>
                  <a:srgbClr val="565A32"/>
                </a:solidFill>
                <a:latin typeface="Raleway Light"/>
                <a:ea typeface="Raleway Light"/>
                <a:cs typeface="Raleway Light"/>
                <a:sym typeface="Raleway Light"/>
              </a:rPr>
              <a:t>1,240</a:t>
            </a:r>
            <a:endParaRPr b="0" i="0" spc="0" sz="1500" u="none" cap="none" strike="noStrike">
              <a:solidFill>
                <a:srgbClr val="565A32"/>
              </a:solidFill>
              <a:latin typeface="Raleway Light"/>
              <a:ea typeface="Raleway Light"/>
              <a:cs typeface="Raleway Light"/>
              <a:sym typeface="Raleway Light"/>
            </a:endParaRPr>
          </a:p>
          <a:p>
            <a:pPr indent="0" lvl="0" marL="0" marR="0" rtl="0" algn="l">
              <a:lnSpc>
                <a:spcPct val="100000"/>
              </a:lnSpc>
              <a:spcBef>
                <a:spcPts val="0"/>
              </a:spcBef>
              <a:spcAft>
                <a:spcPts val="0"/>
              </a:spcAft>
              <a:buClr>
                <a:srgbClr val="565A32"/>
              </a:buClr>
              <a:buSzPts val="1100"/>
              <a:buFont typeface="Raleway Light"/>
              <a:buNone/>
            </a:pPr>
            <a:r>
              <a:rPr b="0" i="0" lang="en-US" spc="0" sz="1100" u="none" cap="none" strike="noStrike">
                <a:solidFill>
                  <a:srgbClr val="565A32"/>
                </a:solidFill>
                <a:latin typeface="Raleway Light"/>
                <a:ea typeface="Raleway Light"/>
                <a:cs typeface="Raleway Light"/>
                <a:sym typeface="Raleway Light"/>
              </a:rPr>
              <a:t>wines tasted</a:t>
            </a:r>
            <a:endParaRPr b="0" i="0" spc="0" sz="1500" u="none" cap="none" strike="noStrike">
              <a:solidFill>
                <a:srgbClr val="565A32"/>
              </a:solidFill>
              <a:latin typeface="Raleway Light"/>
              <a:ea typeface="Raleway Light"/>
              <a:cs typeface="Raleway Light"/>
              <a:sym typeface="Raleway Light"/>
            </a:endParaRPr>
          </a:p>
        </p:txBody>
      </p:sp>
      <p:sp>
        <p:nvSpPr>
          <p:cNvPr id="818" name="Google Shape;818;p58"/>
          <p:cNvSpPr/>
          <p:nvPr/>
        </p:nvSpPr>
        <p:spPr>
          <a:xfrm>
            <a:off x="2692313" y="2295160"/>
            <a:ext cx="1686600" cy="731400"/>
          </a:xfrm>
          <a:prstGeom prst="roundRect">
            <a:avLst>
              <a:gd fmla="val 10000" name="adj"/>
            </a:avLst>
          </a:prstGeom>
          <a:solidFill>
            <a:srgbClr val="EFEAE0"/>
          </a:solidFill>
          <a:ln cap="flat" cmpd="sng" w="12700">
            <a:solidFill>
              <a:srgbClr val="EFEAE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19" name="Google Shape;819;p58"/>
          <p:cNvSpPr txBox="1"/>
          <p:nvPr/>
        </p:nvSpPr>
        <p:spPr>
          <a:xfrm>
            <a:off x="2856905" y="2368312"/>
            <a:ext cx="1357200" cy="640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65A32"/>
              </a:buClr>
              <a:buSzPts val="2400"/>
              <a:buFont typeface="Raleway Light"/>
              <a:buNone/>
            </a:pPr>
            <a:r>
              <a:rPr b="0" i="0" lang="en-US" spc="0" sz="2400" u="none" cap="none" strike="noStrike">
                <a:solidFill>
                  <a:srgbClr val="565A32"/>
                </a:solidFill>
                <a:latin typeface="Raleway Light"/>
                <a:ea typeface="Raleway Light"/>
                <a:cs typeface="Raleway Light"/>
                <a:sym typeface="Raleway Light"/>
              </a:rPr>
              <a:t>386</a:t>
            </a:r>
            <a:endParaRPr b="0" i="0" spc="0" sz="1500" u="none" cap="none" strike="noStrike">
              <a:solidFill>
                <a:srgbClr val="565A32"/>
              </a:solidFill>
              <a:latin typeface="Raleway Light"/>
              <a:ea typeface="Raleway Light"/>
              <a:cs typeface="Raleway Light"/>
              <a:sym typeface="Raleway Light"/>
            </a:endParaRPr>
          </a:p>
          <a:p>
            <a:pPr indent="0" lvl="0" marL="0" marR="0" rtl="0" algn="l">
              <a:lnSpc>
                <a:spcPct val="100000"/>
              </a:lnSpc>
              <a:spcBef>
                <a:spcPts val="0"/>
              </a:spcBef>
              <a:spcAft>
                <a:spcPts val="0"/>
              </a:spcAft>
              <a:buClr>
                <a:srgbClr val="565A32"/>
              </a:buClr>
              <a:buSzPts val="1100"/>
              <a:buFont typeface="Raleway Light"/>
              <a:buNone/>
            </a:pPr>
            <a:r>
              <a:rPr b="0" i="0" lang="en-US" spc="0" sz="1100" u="none" cap="none" strike="noStrike">
                <a:solidFill>
                  <a:srgbClr val="565A32"/>
                </a:solidFill>
                <a:latin typeface="Raleway Light"/>
                <a:ea typeface="Raleway Light"/>
                <a:cs typeface="Raleway Light"/>
                <a:sym typeface="Raleway Light"/>
              </a:rPr>
              <a:t>favourites saved</a:t>
            </a:r>
            <a:endParaRPr b="0" i="0" spc="0" sz="1500" u="none" cap="none" strike="noStrike">
              <a:solidFill>
                <a:srgbClr val="565A32"/>
              </a:solidFill>
              <a:latin typeface="Raleway Light"/>
              <a:ea typeface="Raleway Light"/>
              <a:cs typeface="Raleway Light"/>
              <a:sym typeface="Raleway Light"/>
            </a:endParaRPr>
          </a:p>
        </p:txBody>
      </p:sp>
      <p:sp>
        <p:nvSpPr>
          <p:cNvPr id="820" name="Google Shape;820;p58"/>
          <p:cNvSpPr/>
          <p:nvPr/>
        </p:nvSpPr>
        <p:spPr>
          <a:xfrm>
            <a:off x="4561652" y="2295160"/>
            <a:ext cx="1686600" cy="731400"/>
          </a:xfrm>
          <a:prstGeom prst="roundRect">
            <a:avLst>
              <a:gd fmla="val 10000" name="adj"/>
            </a:avLst>
          </a:prstGeom>
          <a:solidFill>
            <a:srgbClr val="EFEAE0"/>
          </a:solidFill>
          <a:ln cap="flat" cmpd="sng" w="12700">
            <a:solidFill>
              <a:srgbClr val="EFEAE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21" name="Google Shape;821;p58"/>
          <p:cNvSpPr txBox="1"/>
          <p:nvPr/>
        </p:nvSpPr>
        <p:spPr>
          <a:xfrm>
            <a:off x="4726244" y="2368312"/>
            <a:ext cx="1357200" cy="640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65A32"/>
              </a:buClr>
              <a:buSzPts val="2400"/>
              <a:buFont typeface="Raleway Light"/>
              <a:buNone/>
            </a:pPr>
            <a:r>
              <a:rPr b="0" i="0" lang="en-US" spc="0" sz="2400" u="none" cap="none" strike="noStrike">
                <a:solidFill>
                  <a:srgbClr val="565A32"/>
                </a:solidFill>
                <a:latin typeface="Raleway Light"/>
                <a:ea typeface="Raleway Light"/>
                <a:cs typeface="Raleway Light"/>
                <a:sym typeface="Raleway Light"/>
              </a:rPr>
              <a:t>212</a:t>
            </a:r>
            <a:endParaRPr b="0" i="0" spc="0" sz="1500" u="none" cap="none" strike="noStrike">
              <a:solidFill>
                <a:srgbClr val="565A32"/>
              </a:solidFill>
              <a:latin typeface="Raleway Light"/>
              <a:ea typeface="Raleway Light"/>
              <a:cs typeface="Raleway Light"/>
              <a:sym typeface="Raleway Light"/>
            </a:endParaRPr>
          </a:p>
          <a:p>
            <a:pPr indent="0" lvl="0" marL="0" marR="0" rtl="0" algn="l">
              <a:lnSpc>
                <a:spcPct val="100000"/>
              </a:lnSpc>
              <a:spcBef>
                <a:spcPts val="0"/>
              </a:spcBef>
              <a:spcAft>
                <a:spcPts val="0"/>
              </a:spcAft>
              <a:buClr>
                <a:srgbClr val="565A32"/>
              </a:buClr>
              <a:buSzPts val="1100"/>
              <a:buFont typeface="Raleway Light"/>
              <a:buNone/>
            </a:pPr>
            <a:r>
              <a:rPr b="0" i="0" lang="en-US" spc="0" sz="1100" u="none" cap="none" strike="noStrike">
                <a:solidFill>
                  <a:srgbClr val="565A32"/>
                </a:solidFill>
                <a:latin typeface="Raleway Light"/>
                <a:ea typeface="Raleway Light"/>
                <a:cs typeface="Raleway Light"/>
                <a:sym typeface="Raleway Light"/>
              </a:rPr>
              <a:t>comments</a:t>
            </a:r>
            <a:endParaRPr b="0" i="0" spc="0" sz="1500" u="none" cap="none" strike="noStrike">
              <a:solidFill>
                <a:srgbClr val="565A32"/>
              </a:solidFill>
              <a:latin typeface="Raleway Light"/>
              <a:ea typeface="Raleway Light"/>
              <a:cs typeface="Raleway Light"/>
              <a:sym typeface="Raleway Light"/>
            </a:endParaRPr>
          </a:p>
        </p:txBody>
      </p:sp>
      <p:sp>
        <p:nvSpPr>
          <p:cNvPr id="822" name="Google Shape;822;p58"/>
          <p:cNvSpPr/>
          <p:nvPr/>
        </p:nvSpPr>
        <p:spPr>
          <a:xfrm>
            <a:off x="822975" y="3163840"/>
            <a:ext cx="2621100" cy="1280100"/>
          </a:xfrm>
          <a:prstGeom prst="roundRect">
            <a:avLst>
              <a:gd fmla="val 5714" name="adj"/>
            </a:avLst>
          </a:prstGeom>
          <a:solidFill>
            <a:srgbClr val="EFEAE0"/>
          </a:solidFill>
          <a:ln cap="flat" cmpd="sng" w="12700">
            <a:solidFill>
              <a:srgbClr val="EFEAE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23" name="Google Shape;823;p58"/>
          <p:cNvSpPr txBox="1"/>
          <p:nvPr/>
        </p:nvSpPr>
        <p:spPr>
          <a:xfrm>
            <a:off x="987567" y="3273568"/>
            <a:ext cx="229200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65A32"/>
              </a:buClr>
              <a:buSzPts val="1200"/>
              <a:buFont typeface="Raleway SemiBold"/>
              <a:buNone/>
            </a:pPr>
            <a:r>
              <a:rPr b="1" i="0" lang="en-US" spc="0" sz="1200" u="none" cap="none" strike="noStrike">
                <a:solidFill>
                  <a:srgbClr val="565A32"/>
                </a:solidFill>
                <a:latin typeface="Raleway SemiBold"/>
                <a:ea typeface="Raleway SemiBold"/>
                <a:cs typeface="Raleway SemiBold"/>
                <a:sym typeface="Raleway SemiBold"/>
              </a:rPr>
              <a:t>Votes by wine type</a:t>
            </a:r>
            <a:endParaRPr b="0" i="0" spc="0" sz="1200" u="none" cap="none" strike="noStrike">
              <a:solidFill>
                <a:srgbClr val="565A32"/>
              </a:solidFill>
              <a:latin typeface="Raleway Light"/>
              <a:ea typeface="Raleway Light"/>
              <a:cs typeface="Raleway Light"/>
              <a:sym typeface="Raleway Light"/>
            </a:endParaRPr>
          </a:p>
        </p:txBody>
      </p:sp>
      <p:sp>
        <p:nvSpPr>
          <p:cNvPr id="824" name="Google Shape;824;p58"/>
          <p:cNvSpPr txBox="1"/>
          <p:nvPr/>
        </p:nvSpPr>
        <p:spPr>
          <a:xfrm>
            <a:off x="987567" y="3602752"/>
            <a:ext cx="7773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65A32"/>
              </a:buClr>
              <a:buSzPts val="1000"/>
              <a:buFont typeface="Raleway Light"/>
              <a:buNone/>
            </a:pPr>
            <a:r>
              <a:rPr b="0" i="0" lang="en-US" spc="0" sz="1000" u="none" cap="none" strike="noStrike">
                <a:solidFill>
                  <a:srgbClr val="565A32"/>
                </a:solidFill>
                <a:latin typeface="Raleway Light"/>
                <a:ea typeface="Raleway Light"/>
                <a:cs typeface="Raleway Light"/>
                <a:sym typeface="Raleway Light"/>
              </a:rPr>
              <a:t>Sparkling</a:t>
            </a:r>
            <a:endParaRPr b="0" i="0" spc="0" sz="1000" u="none" cap="none" strike="noStrike">
              <a:solidFill>
                <a:srgbClr val="565A32"/>
              </a:solidFill>
              <a:latin typeface="Raleway Light"/>
              <a:ea typeface="Raleway Light"/>
              <a:cs typeface="Raleway Light"/>
              <a:sym typeface="Raleway Light"/>
            </a:endParaRPr>
          </a:p>
        </p:txBody>
      </p:sp>
      <p:sp>
        <p:nvSpPr>
          <p:cNvPr id="825" name="Google Shape;825;p58"/>
          <p:cNvSpPr/>
          <p:nvPr/>
        </p:nvSpPr>
        <p:spPr>
          <a:xfrm>
            <a:off x="1783095" y="3639328"/>
            <a:ext cx="1001100" cy="146400"/>
          </a:xfrm>
          <a:prstGeom prst="rect">
            <a:avLst/>
          </a:prstGeom>
          <a:solidFill>
            <a:srgbClr val="E3AC9A"/>
          </a:solidFill>
          <a:ln cap="flat" cmpd="sng" w="12700">
            <a:solidFill>
              <a:srgbClr val="8B8B5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26" name="Google Shape;826;p58"/>
          <p:cNvSpPr txBox="1"/>
          <p:nvPr/>
        </p:nvSpPr>
        <p:spPr>
          <a:xfrm>
            <a:off x="2839090" y="3602752"/>
            <a:ext cx="4572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65A32"/>
              </a:buClr>
              <a:buSzPts val="1000"/>
              <a:buFont typeface="Raleway Light"/>
              <a:buNone/>
            </a:pPr>
            <a:r>
              <a:rPr b="0" i="0" lang="en-US" spc="0" sz="1000" u="none" cap="none" strike="noStrike">
                <a:solidFill>
                  <a:srgbClr val="565A32"/>
                </a:solidFill>
                <a:latin typeface="Raleway Light"/>
                <a:ea typeface="Raleway Light"/>
                <a:cs typeface="Raleway Light"/>
                <a:sym typeface="Raleway Light"/>
              </a:rPr>
              <a:t>48%</a:t>
            </a:r>
            <a:endParaRPr b="0" i="0" spc="0" sz="1000" u="none" cap="none" strike="noStrike">
              <a:solidFill>
                <a:srgbClr val="565A32"/>
              </a:solidFill>
              <a:latin typeface="Raleway Light"/>
              <a:ea typeface="Raleway Light"/>
              <a:cs typeface="Raleway Light"/>
              <a:sym typeface="Raleway Light"/>
            </a:endParaRPr>
          </a:p>
        </p:txBody>
      </p:sp>
      <p:sp>
        <p:nvSpPr>
          <p:cNvPr id="827" name="Google Shape;827;p58"/>
          <p:cNvSpPr txBox="1"/>
          <p:nvPr/>
        </p:nvSpPr>
        <p:spPr>
          <a:xfrm>
            <a:off x="987567" y="3877072"/>
            <a:ext cx="7773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65A32"/>
              </a:buClr>
              <a:buSzPts val="1000"/>
              <a:buFont typeface="Raleway Light"/>
              <a:buNone/>
            </a:pPr>
            <a:r>
              <a:rPr b="0" i="0" lang="en-US" spc="0" sz="1000" u="none" cap="none" strike="noStrike">
                <a:solidFill>
                  <a:srgbClr val="565A32"/>
                </a:solidFill>
                <a:latin typeface="Raleway Light"/>
                <a:ea typeface="Raleway Light"/>
                <a:cs typeface="Raleway Light"/>
                <a:sym typeface="Raleway Light"/>
              </a:rPr>
              <a:t>White</a:t>
            </a:r>
            <a:endParaRPr b="0" i="0" spc="0" sz="1000" u="none" cap="none" strike="noStrike">
              <a:solidFill>
                <a:srgbClr val="565A32"/>
              </a:solidFill>
              <a:latin typeface="Raleway Light"/>
              <a:ea typeface="Raleway Light"/>
              <a:cs typeface="Raleway Light"/>
              <a:sym typeface="Raleway Light"/>
            </a:endParaRPr>
          </a:p>
        </p:txBody>
      </p:sp>
      <p:sp>
        <p:nvSpPr>
          <p:cNvPr id="828" name="Google Shape;828;p58"/>
          <p:cNvSpPr/>
          <p:nvPr/>
        </p:nvSpPr>
        <p:spPr>
          <a:xfrm>
            <a:off x="1783095" y="3913648"/>
            <a:ext cx="689700" cy="146400"/>
          </a:xfrm>
          <a:prstGeom prst="rect">
            <a:avLst/>
          </a:prstGeom>
          <a:solidFill>
            <a:srgbClr val="8B8B5C"/>
          </a:solidFill>
          <a:ln cap="flat" cmpd="sng" w="12700">
            <a:solidFill>
              <a:srgbClr val="8B8B5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29" name="Google Shape;829;p58"/>
          <p:cNvSpPr txBox="1"/>
          <p:nvPr/>
        </p:nvSpPr>
        <p:spPr>
          <a:xfrm>
            <a:off x="2527627" y="3877072"/>
            <a:ext cx="4572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65A32"/>
              </a:buClr>
              <a:buSzPts val="1000"/>
              <a:buFont typeface="Raleway Light"/>
              <a:buNone/>
            </a:pPr>
            <a:r>
              <a:rPr b="0" i="0" lang="en-US" spc="0" sz="1000" u="none" cap="none" strike="noStrike">
                <a:solidFill>
                  <a:srgbClr val="565A32"/>
                </a:solidFill>
                <a:latin typeface="Raleway Light"/>
                <a:ea typeface="Raleway Light"/>
                <a:cs typeface="Raleway Light"/>
                <a:sym typeface="Raleway Light"/>
              </a:rPr>
              <a:t>33%</a:t>
            </a:r>
            <a:endParaRPr b="0" i="0" spc="0" sz="1000" u="none" cap="none" strike="noStrike">
              <a:solidFill>
                <a:srgbClr val="565A32"/>
              </a:solidFill>
              <a:latin typeface="Raleway Light"/>
              <a:ea typeface="Raleway Light"/>
              <a:cs typeface="Raleway Light"/>
              <a:sym typeface="Raleway Light"/>
            </a:endParaRPr>
          </a:p>
        </p:txBody>
      </p:sp>
      <p:sp>
        <p:nvSpPr>
          <p:cNvPr id="830" name="Google Shape;830;p58"/>
          <p:cNvSpPr txBox="1"/>
          <p:nvPr/>
        </p:nvSpPr>
        <p:spPr>
          <a:xfrm>
            <a:off x="987567" y="4151392"/>
            <a:ext cx="7773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65A32"/>
              </a:buClr>
              <a:buSzPts val="1000"/>
              <a:buFont typeface="Raleway Light"/>
              <a:buNone/>
            </a:pPr>
            <a:r>
              <a:rPr b="0" i="0" lang="en-US" spc="0" sz="1000" u="none" cap="none" strike="noStrike">
                <a:solidFill>
                  <a:srgbClr val="565A32"/>
                </a:solidFill>
                <a:latin typeface="Raleway Light"/>
                <a:ea typeface="Raleway Light"/>
                <a:cs typeface="Raleway Light"/>
                <a:sym typeface="Raleway Light"/>
              </a:rPr>
              <a:t>Red</a:t>
            </a:r>
            <a:endParaRPr b="0" i="0" spc="0" sz="1000" u="none" cap="none" strike="noStrike">
              <a:solidFill>
                <a:srgbClr val="565A32"/>
              </a:solidFill>
              <a:latin typeface="Raleway Light"/>
              <a:ea typeface="Raleway Light"/>
              <a:cs typeface="Raleway Light"/>
              <a:sym typeface="Raleway Light"/>
            </a:endParaRPr>
          </a:p>
        </p:txBody>
      </p:sp>
      <p:sp>
        <p:nvSpPr>
          <p:cNvPr id="831" name="Google Shape;831;p58"/>
          <p:cNvSpPr/>
          <p:nvPr/>
        </p:nvSpPr>
        <p:spPr>
          <a:xfrm>
            <a:off x="1783095" y="4187968"/>
            <a:ext cx="400500" cy="146400"/>
          </a:xfrm>
          <a:prstGeom prst="rect">
            <a:avLst/>
          </a:prstGeom>
          <a:solidFill>
            <a:srgbClr val="8B8B5C"/>
          </a:solidFill>
          <a:ln cap="flat" cmpd="sng" w="12700">
            <a:solidFill>
              <a:srgbClr val="8B8B5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32" name="Google Shape;832;p58"/>
          <p:cNvSpPr txBox="1"/>
          <p:nvPr/>
        </p:nvSpPr>
        <p:spPr>
          <a:xfrm>
            <a:off x="2238411" y="4151392"/>
            <a:ext cx="4572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65A32"/>
              </a:buClr>
              <a:buSzPts val="1000"/>
              <a:buFont typeface="Raleway Light"/>
              <a:buNone/>
            </a:pPr>
            <a:r>
              <a:rPr b="0" i="0" lang="en-US" spc="0" sz="1000" u="none" cap="none" strike="noStrike">
                <a:solidFill>
                  <a:srgbClr val="565A32"/>
                </a:solidFill>
                <a:latin typeface="Raleway Light"/>
                <a:ea typeface="Raleway Light"/>
                <a:cs typeface="Raleway Light"/>
                <a:sym typeface="Raleway Light"/>
              </a:rPr>
              <a:t>19%</a:t>
            </a:r>
            <a:endParaRPr b="0" i="0" spc="0" sz="1000" u="none" cap="none" strike="noStrike">
              <a:solidFill>
                <a:srgbClr val="565A32"/>
              </a:solidFill>
              <a:latin typeface="Raleway Light"/>
              <a:ea typeface="Raleway Light"/>
              <a:cs typeface="Raleway Light"/>
              <a:sym typeface="Raleway Light"/>
            </a:endParaRPr>
          </a:p>
        </p:txBody>
      </p:sp>
      <p:sp>
        <p:nvSpPr>
          <p:cNvPr id="833" name="Google Shape;833;p58"/>
          <p:cNvSpPr/>
          <p:nvPr/>
        </p:nvSpPr>
        <p:spPr>
          <a:xfrm>
            <a:off x="3626983" y="3163840"/>
            <a:ext cx="2621100" cy="1280100"/>
          </a:xfrm>
          <a:prstGeom prst="roundRect">
            <a:avLst>
              <a:gd fmla="val 5714" name="adj"/>
            </a:avLst>
          </a:prstGeom>
          <a:solidFill>
            <a:srgbClr val="EFEAE0"/>
          </a:solidFill>
          <a:ln cap="flat" cmpd="sng" w="12700">
            <a:solidFill>
              <a:srgbClr val="EFEAE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34" name="Google Shape;834;p58"/>
          <p:cNvSpPr txBox="1"/>
          <p:nvPr/>
        </p:nvSpPr>
        <p:spPr>
          <a:xfrm>
            <a:off x="3791575" y="3273568"/>
            <a:ext cx="229200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65A32"/>
              </a:buClr>
              <a:buSzPts val="1200"/>
              <a:buFont typeface="Raleway SemiBold"/>
              <a:buNone/>
            </a:pPr>
            <a:r>
              <a:rPr b="1" i="0" lang="en-US" spc="0" sz="1200" u="none" cap="none" strike="noStrike">
                <a:solidFill>
                  <a:srgbClr val="565A32"/>
                </a:solidFill>
                <a:latin typeface="Raleway SemiBold"/>
                <a:ea typeface="Raleway SemiBold"/>
                <a:cs typeface="Raleway SemiBold"/>
                <a:sym typeface="Raleway SemiBold"/>
              </a:rPr>
              <a:t>How results are shared</a:t>
            </a:r>
            <a:endParaRPr b="0" i="0" spc="0" sz="1200" u="none" cap="none" strike="noStrike">
              <a:solidFill>
                <a:srgbClr val="565A32"/>
              </a:solidFill>
              <a:latin typeface="Raleway Light"/>
              <a:ea typeface="Raleway Light"/>
              <a:cs typeface="Raleway Light"/>
              <a:sym typeface="Raleway Light"/>
            </a:endParaRPr>
          </a:p>
        </p:txBody>
      </p:sp>
      <p:sp>
        <p:nvSpPr>
          <p:cNvPr id="835" name="Google Shape;835;p58"/>
          <p:cNvSpPr txBox="1"/>
          <p:nvPr/>
        </p:nvSpPr>
        <p:spPr>
          <a:xfrm>
            <a:off x="3791575" y="3575320"/>
            <a:ext cx="2292000" cy="822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65A32"/>
              </a:buClr>
              <a:buSzPts val="1050"/>
              <a:buFont typeface="Raleway Light"/>
              <a:buNone/>
            </a:pPr>
            <a:r>
              <a:rPr b="0" i="0" lang="en-US" spc="0" sz="1050" u="none" cap="none" strike="noStrike">
                <a:solidFill>
                  <a:srgbClr val="565A32"/>
                </a:solidFill>
                <a:latin typeface="Raleway Light"/>
                <a:ea typeface="Raleway Light"/>
                <a:cs typeface="Raleway Light"/>
                <a:sym typeface="Raleway Light"/>
              </a:rPr>
              <a:t>Your own wines only</a:t>
            </a:r>
            <a:endParaRPr b="0" i="0" spc="0" sz="1050" u="none" cap="none" strike="noStrike">
              <a:solidFill>
                <a:srgbClr val="565A32"/>
              </a:solidFill>
              <a:latin typeface="Raleway Light"/>
              <a:ea typeface="Raleway Light"/>
              <a:cs typeface="Raleway Light"/>
              <a:sym typeface="Raleway Light"/>
            </a:endParaRPr>
          </a:p>
          <a:p>
            <a:pPr indent="0" lvl="0" marL="0" marR="0" rtl="0" algn="l">
              <a:lnSpc>
                <a:spcPct val="100000"/>
              </a:lnSpc>
              <a:spcBef>
                <a:spcPts val="300"/>
              </a:spcBef>
              <a:spcAft>
                <a:spcPts val="0"/>
              </a:spcAft>
              <a:buClr>
                <a:srgbClr val="565A32"/>
              </a:buClr>
              <a:buSzPts val="1050"/>
              <a:buFont typeface="Raleway Light"/>
              <a:buNone/>
            </a:pPr>
            <a:r>
              <a:rPr b="0" i="0" lang="en-US" spc="0" sz="1050" u="none" cap="none" strike="noStrike">
                <a:solidFill>
                  <a:srgbClr val="565A32"/>
                </a:solidFill>
                <a:latin typeface="Raleway Light"/>
                <a:ea typeface="Raleway Light"/>
                <a:cs typeface="Raleway Light"/>
                <a:sym typeface="Raleway Light"/>
              </a:rPr>
              <a:t>Never ranked against others</a:t>
            </a:r>
            <a:endParaRPr b="0" i="0" spc="0" sz="1050" u="none" cap="none" strike="noStrike">
              <a:solidFill>
                <a:srgbClr val="565A32"/>
              </a:solidFill>
              <a:latin typeface="Raleway Light"/>
              <a:ea typeface="Raleway Light"/>
              <a:cs typeface="Raleway Light"/>
              <a:sym typeface="Raleway Light"/>
            </a:endParaRPr>
          </a:p>
          <a:p>
            <a:pPr indent="0" lvl="0" marL="0" marR="0" rtl="0" algn="l">
              <a:lnSpc>
                <a:spcPct val="100000"/>
              </a:lnSpc>
              <a:spcBef>
                <a:spcPts val="300"/>
              </a:spcBef>
              <a:spcAft>
                <a:spcPts val="0"/>
              </a:spcAft>
              <a:buClr>
                <a:srgbClr val="565A32"/>
              </a:buClr>
              <a:buSzPts val="1050"/>
              <a:buFont typeface="Raleway Light"/>
              <a:buNone/>
            </a:pPr>
            <a:r>
              <a:rPr b="0" i="0" lang="en-US" spc="0" sz="1050" u="none" cap="none" strike="noStrike">
                <a:solidFill>
                  <a:srgbClr val="565A32"/>
                </a:solidFill>
                <a:latin typeface="Raleway Light"/>
                <a:ea typeface="Raleway Light"/>
                <a:cs typeface="Raleway Light"/>
                <a:sym typeface="Raleway Light"/>
              </a:rPr>
              <a:t>Shown once 5 or more took part</a:t>
            </a:r>
            <a:endParaRPr b="0" i="0" spc="0" sz="1050" u="none" cap="none" strike="noStrike">
              <a:solidFill>
                <a:srgbClr val="565A32"/>
              </a:solidFill>
              <a:latin typeface="Raleway Light"/>
              <a:ea typeface="Raleway Light"/>
              <a:cs typeface="Raleway Light"/>
              <a:sym typeface="Raleway Light"/>
            </a:endParaRPr>
          </a:p>
          <a:p>
            <a:pPr indent="0" lvl="0" marL="0" marR="0" rtl="0" algn="l">
              <a:lnSpc>
                <a:spcPct val="100000"/>
              </a:lnSpc>
              <a:spcBef>
                <a:spcPts val="300"/>
              </a:spcBef>
              <a:spcAft>
                <a:spcPts val="0"/>
              </a:spcAft>
              <a:buClr>
                <a:srgbClr val="565A32"/>
              </a:buClr>
              <a:buSzPts val="1050"/>
              <a:buFont typeface="Raleway SemiBold"/>
              <a:buNone/>
            </a:pPr>
            <a:r>
              <a:rPr b="1" i="0" lang="en-US" spc="0" sz="1050" u="none" cap="none" strike="noStrike">
                <a:solidFill>
                  <a:srgbClr val="565A32"/>
                </a:solidFill>
                <a:latin typeface="Raleway SemiBold"/>
                <a:ea typeface="Raleway SemiBold"/>
                <a:cs typeface="Raleway SemiBold"/>
                <a:sym typeface="Raleway SemiBold"/>
              </a:rPr>
              <a:t>No names, ever</a:t>
            </a:r>
            <a:endParaRPr b="0" i="0" spc="0" sz="1050" u="none" cap="none" strike="noStrike">
              <a:solidFill>
                <a:srgbClr val="565A32"/>
              </a:solidFill>
              <a:latin typeface="Raleway Light"/>
              <a:ea typeface="Raleway Light"/>
              <a:cs typeface="Raleway Light"/>
              <a:sym typeface="Raleway Light"/>
            </a:endParaRPr>
          </a:p>
        </p:txBody>
      </p:sp>
      <p:sp>
        <p:nvSpPr>
          <p:cNvPr id="836" name="Google Shape;836;p58"/>
          <p:cNvSpPr/>
          <p:nvPr/>
        </p:nvSpPr>
        <p:spPr>
          <a:xfrm>
            <a:off x="822975" y="4581160"/>
            <a:ext cx="5425200" cy="1005900"/>
          </a:xfrm>
          <a:prstGeom prst="roundRect">
            <a:avLst>
              <a:gd fmla="val 7273" name="adj"/>
            </a:avLst>
          </a:prstGeom>
          <a:solidFill>
            <a:srgbClr val="EFEAE0"/>
          </a:solidFill>
          <a:ln cap="flat" cmpd="sng" w="12700">
            <a:solidFill>
              <a:srgbClr val="EFEAE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37" name="Google Shape;837;p58"/>
          <p:cNvSpPr txBox="1"/>
          <p:nvPr/>
        </p:nvSpPr>
        <p:spPr>
          <a:xfrm>
            <a:off x="987567" y="4672600"/>
            <a:ext cx="228600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65A32"/>
              </a:buClr>
              <a:buSzPts val="1200"/>
              <a:buFont typeface="Raleway SemiBold"/>
              <a:buNone/>
            </a:pPr>
            <a:r>
              <a:rPr b="1" i="0" lang="en-US" spc="0" sz="1200" u="none" cap="none" strike="noStrike">
                <a:solidFill>
                  <a:srgbClr val="565A32"/>
                </a:solidFill>
                <a:latin typeface="Raleway SemiBold"/>
                <a:ea typeface="Raleway SemiBold"/>
                <a:cs typeface="Raleway SemiBold"/>
                <a:sym typeface="Raleway SemiBold"/>
              </a:rPr>
              <a:t>What visitors said</a:t>
            </a:r>
            <a:endParaRPr b="0" i="0" spc="0" sz="1200" u="none" cap="none" strike="noStrike">
              <a:solidFill>
                <a:srgbClr val="565A32"/>
              </a:solidFill>
              <a:latin typeface="Raleway Light"/>
              <a:ea typeface="Raleway Light"/>
              <a:cs typeface="Raleway Light"/>
              <a:sym typeface="Raleway Light"/>
            </a:endParaRPr>
          </a:p>
        </p:txBody>
      </p:sp>
      <p:sp>
        <p:nvSpPr>
          <p:cNvPr id="838" name="Google Shape;838;p58"/>
          <p:cNvSpPr txBox="1"/>
          <p:nvPr/>
        </p:nvSpPr>
        <p:spPr>
          <a:xfrm>
            <a:off x="987567" y="4910344"/>
            <a:ext cx="5096100" cy="640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565A32"/>
              </a:buClr>
              <a:buSzPts val="2000"/>
              <a:buFont typeface="Raleway SemiBold"/>
              <a:buNone/>
            </a:pPr>
            <a:r>
              <a:rPr b="1" i="0" lang="en-US" spc="0" sz="2000" u="none" cap="none" strike="noStrike">
                <a:solidFill>
                  <a:srgbClr val="565A32"/>
                </a:solidFill>
                <a:latin typeface="Raleway SemiBold"/>
                <a:ea typeface="Raleway SemiBold"/>
                <a:cs typeface="Raleway SemiBold"/>
                <a:sym typeface="Raleway SemiBold"/>
              </a:rPr>
              <a:t>delicious  </a:t>
            </a:r>
            <a:r>
              <a:rPr b="0" i="0" lang="en-US" spc="0" sz="1300" u="none" cap="none" strike="noStrike">
                <a:solidFill>
                  <a:srgbClr val="8B8B5C"/>
                </a:solidFill>
                <a:latin typeface="Raleway Light"/>
                <a:ea typeface="Raleway Light"/>
                <a:cs typeface="Raleway Light"/>
                <a:sym typeface="Raleway Light"/>
              </a:rPr>
              <a:t>fresh  </a:t>
            </a:r>
            <a:r>
              <a:rPr b="0" i="0" lang="en-US" spc="0" sz="1600" u="none" cap="none" strike="noStrike">
                <a:solidFill>
                  <a:srgbClr val="565A32"/>
                </a:solidFill>
                <a:latin typeface="Raleway Light"/>
                <a:ea typeface="Raleway Light"/>
                <a:cs typeface="Raleway Light"/>
                <a:sym typeface="Raleway Light"/>
              </a:rPr>
              <a:t>surprising  </a:t>
            </a:r>
            <a:r>
              <a:rPr b="0" i="0" lang="en-US" spc="0" sz="1100" u="none" cap="none" strike="noStrike">
                <a:solidFill>
                  <a:srgbClr val="8B8B5C"/>
                </a:solidFill>
                <a:latin typeface="Raleway Light"/>
                <a:ea typeface="Raleway Light"/>
                <a:cs typeface="Raleway Light"/>
                <a:sym typeface="Raleway Light"/>
              </a:rPr>
              <a:t>elegant</a:t>
            </a:r>
            <a:endParaRPr b="0" i="0" spc="0" sz="1500" u="none" cap="none" strike="noStrike">
              <a:solidFill>
                <a:srgbClr val="565A32"/>
              </a:solidFill>
              <a:latin typeface="Raleway Light"/>
              <a:ea typeface="Raleway Light"/>
              <a:cs typeface="Raleway Light"/>
              <a:sym typeface="Raleway Light"/>
            </a:endParaRPr>
          </a:p>
          <a:p>
            <a:pPr indent="0" lvl="0" marL="0" marR="0" rtl="0" algn="ctr">
              <a:lnSpc>
                <a:spcPct val="100000"/>
              </a:lnSpc>
              <a:spcBef>
                <a:spcPts val="0"/>
              </a:spcBef>
              <a:spcAft>
                <a:spcPts val="0"/>
              </a:spcAft>
              <a:buClr>
                <a:srgbClr val="8B8B5C"/>
              </a:buClr>
              <a:buSzPts val="1400"/>
              <a:buFont typeface="Raleway SemiBold"/>
              <a:buNone/>
            </a:pPr>
            <a:r>
              <a:rPr b="1" i="0" lang="en-US" spc="0" sz="1400" u="none" cap="none" strike="noStrike">
                <a:solidFill>
                  <a:srgbClr val="8B8B5C"/>
                </a:solidFill>
                <a:latin typeface="Raleway SemiBold"/>
                <a:ea typeface="Raleway SemiBold"/>
                <a:cs typeface="Raleway SemiBold"/>
                <a:sym typeface="Raleway SemiBold"/>
              </a:rPr>
              <a:t>first time with English wine  </a:t>
            </a:r>
            <a:r>
              <a:rPr b="0" i="0" lang="en-US" spc="0" sz="1200" u="none" cap="none" strike="noStrike">
                <a:solidFill>
                  <a:srgbClr val="565A32"/>
                </a:solidFill>
                <a:latin typeface="Raleway Light"/>
                <a:ea typeface="Raleway Light"/>
                <a:cs typeface="Raleway Light"/>
                <a:sym typeface="Raleway Light"/>
              </a:rPr>
              <a:t>crisp  </a:t>
            </a:r>
            <a:r>
              <a:rPr b="0" i="0" lang="en-US" spc="0" sz="1400" u="none" cap="none" strike="noStrike">
                <a:solidFill>
                  <a:srgbClr val="565A32"/>
                </a:solidFill>
                <a:latin typeface="Raleway Light"/>
                <a:ea typeface="Raleway Light"/>
                <a:cs typeface="Raleway Light"/>
                <a:sym typeface="Raleway Light"/>
              </a:rPr>
              <a:t>new favourite</a:t>
            </a:r>
            <a:endParaRPr b="0" i="0" spc="0" sz="1500" u="none" cap="none" strike="noStrike">
              <a:solidFill>
                <a:srgbClr val="565A32"/>
              </a:solidFill>
              <a:latin typeface="Raleway Light"/>
              <a:ea typeface="Raleway Light"/>
              <a:cs typeface="Raleway Light"/>
              <a:sym typeface="Raleway Light"/>
            </a:endParaRPr>
          </a:p>
        </p:txBody>
      </p:sp>
      <p:sp>
        <p:nvSpPr>
          <p:cNvPr id="839" name="Google Shape;839;p58"/>
          <p:cNvSpPr/>
          <p:nvPr/>
        </p:nvSpPr>
        <p:spPr>
          <a:xfrm>
            <a:off x="9262872" y="457200"/>
            <a:ext cx="2377440" cy="384048"/>
          </a:xfrm>
          <a:prstGeom prst="roundRect">
            <a:avLst>
              <a:gd fmla="val 50000" name="adj"/>
            </a:avLst>
          </a:prstGeom>
          <a:solidFill>
            <a:srgbClr val="E3AC9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1" i="0" lang="en-US" spc="0" sz="1400" u="none" cap="none" strike="noStrike">
                <a:solidFill>
                  <a:srgbClr val="565A32"/>
                </a:solidFill>
                <a:latin typeface="Raleway SemiBold"/>
                <a:ea typeface="Raleway SemiBold"/>
                <a:cs typeface="Raleway SemiBold"/>
                <a:sym typeface="Raleway SemiBold"/>
              </a:rPr>
              <a:t>EVENT MODE</a:t>
            </a:r>
            <a:endParaRPr b="0" i="0" spc="0" sz="1400" u="none" cap="none" strike="noStrike">
              <a:solidFill>
                <a:srgbClr val="000000"/>
              </a:solidFill>
              <a:latin typeface="Arial"/>
              <a:ea typeface="Arial"/>
              <a:cs typeface="Arial"/>
              <a:sym typeface="Arial"/>
            </a:endParaRPr>
          </a:p>
        </p:txBody>
      </p:sp>
      <p:sp>
        <p:nvSpPr>
          <p:cNvPr id="840" name="Google Shape;840;p58"/>
          <p:cNvSpPr/>
          <p:nvPr/>
        </p:nvSpPr>
        <p:spPr>
          <a:xfrm>
            <a:off x="548640" y="5943600"/>
            <a:ext cx="9418320" cy="420624"/>
          </a:xfrm>
          <a:prstGeom prst="roundRect">
            <a:avLst>
              <a:gd fmla="val 30000" name="adj"/>
            </a:avLst>
          </a:prstGeom>
          <a:solidFill>
            <a:srgbClr val="565A32"/>
          </a:solidFill>
          <a:ln>
            <a:noFill/>
          </a:ln>
        </p:spPr>
        <p:txBody>
          <a:bodyPr anchorCtr="0" anchor="ctr" bIns="18275" lIns="182875" spcFirstLastPara="1" rIns="182875" wrap="square" tIns="18275">
            <a:noAutofit/>
          </a:bodyPr>
          <a:lstStyle/>
          <a:p>
            <a:pPr indent="0" lvl="0" marL="0" marR="0" rtl="0" algn="ctr">
              <a:lnSpc>
                <a:spcPct val="100000"/>
              </a:lnSpc>
              <a:spcBef>
                <a:spcPts val="0"/>
              </a:spcBef>
              <a:spcAft>
                <a:spcPts val="0"/>
              </a:spcAft>
              <a:buNone/>
            </a:pPr>
            <a:r>
              <a:rPr b="1" i="0" lang="en-US" spc="0" sz="1800" u="none" cap="none" strike="noStrike">
                <a:solidFill>
                  <a:srgbClr val="EFEAE0"/>
                </a:solidFill>
                <a:latin typeface="Raleway SemiBold"/>
                <a:ea typeface="Raleway SemiBold"/>
                <a:cs typeface="Raleway SemiBold"/>
                <a:sym typeface="Raleway SemiBold"/>
              </a:rPr>
              <a:t>BE DISCOVERED  ·  BE REMEMBERED  ·  UNDERSTAND</a:t>
            </a:r>
            <a:endParaRPr/>
          </a:p>
        </p:txBody>
      </p:sp>
      <p:sp>
        <p:nvSpPr>
          <p:cNvPr id="841" name="Google Shape;841;p58"/>
          <p:cNvSpPr/>
          <p:nvPr/>
        </p:nvSpPr>
        <p:spPr>
          <a:xfrm>
            <a:off x="0" y="0"/>
            <a:ext cx="12191700" cy="329100"/>
          </a:xfrm>
          <a:prstGeom prst="rect">
            <a:avLst/>
          </a:prstGeom>
          <a:solidFill>
            <a:srgbClr val="565A32"/>
          </a:solidFill>
          <a:ln cap="flat" cmpd="sng" w="12700">
            <a:solidFill>
              <a:srgbClr val="565A3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6" name="Shape 846"/>
        <p:cNvGrpSpPr/>
        <p:nvPr/>
      </p:nvGrpSpPr>
      <p:grpSpPr>
        <a:xfrm>
          <a:off x="0" y="0"/>
          <a:ext cx="0" cy="0"/>
          <a:chOff x="0" y="0"/>
          <a:chExt cx="0" cy="0"/>
        </a:xfrm>
      </p:grpSpPr>
      <p:sp>
        <p:nvSpPr>
          <p:cNvPr id="847" name="Google Shape;847;p59"/>
          <p:cNvSpPr txBox="1"/>
          <p:nvPr>
            <p:ph type="title"/>
          </p:nvPr>
        </p:nvSpPr>
        <p:spPr>
          <a:xfrm>
            <a:off x="548640" y="411480"/>
            <a:ext cx="8138100" cy="68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3600"/>
              <a:buFont typeface="Raleway Light"/>
              <a:buNone/>
            </a:pPr>
            <a:r>
              <a:rPr lang="en-US" sz="3600">
                <a:solidFill>
                  <a:schemeClr val="dk1"/>
                </a:solidFill>
                <a:latin typeface="Raleway Light"/>
                <a:ea typeface="Raleway Light"/>
                <a:cs typeface="Raleway Light"/>
                <a:sym typeface="Raleway Light"/>
              </a:rPr>
              <a:t>What your visitors get. What you get.</a:t>
            </a:r>
            <a:endParaRPr sz="3600"/>
          </a:p>
        </p:txBody>
      </p:sp>
      <p:sp>
        <p:nvSpPr>
          <p:cNvPr id="848" name="Google Shape;848;p59"/>
          <p:cNvSpPr txBox="1"/>
          <p:nvPr>
            <p:ph idx="1" type="body"/>
          </p:nvPr>
        </p:nvSpPr>
        <p:spPr>
          <a:xfrm>
            <a:off x="548640" y="1115568"/>
            <a:ext cx="11094300" cy="4116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800"/>
              <a:buNone/>
            </a:pPr>
            <a:r>
              <a:rPr lang="en-US" sz="1800">
                <a:solidFill>
                  <a:schemeClr val="dk1"/>
                </a:solidFill>
                <a:latin typeface="Raleway Light"/>
                <a:ea typeface="Raleway Light"/>
                <a:cs typeface="Raleway Light"/>
                <a:sym typeface="Raleway Light"/>
              </a:rPr>
              <a:t>One experience, two sets of benefits.</a:t>
            </a:r>
            <a:endParaRPr sz="1800"/>
          </a:p>
        </p:txBody>
      </p:sp>
      <p:sp>
        <p:nvSpPr>
          <p:cNvPr id="849" name="Google Shape;849;p59"/>
          <p:cNvSpPr/>
          <p:nvPr/>
        </p:nvSpPr>
        <p:spPr>
          <a:xfrm>
            <a:off x="9265615" y="457200"/>
            <a:ext cx="2377500" cy="384000"/>
          </a:xfrm>
          <a:prstGeom prst="roundRect">
            <a:avLst>
              <a:gd fmla="val 50000" name="adj"/>
            </a:avLst>
          </a:prstGeom>
          <a:solidFill>
            <a:schemeClr val="accent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1400"/>
              <a:buFont typeface="Raleway SemiBold"/>
              <a:buNone/>
            </a:pPr>
            <a:r>
              <a:rPr b="1" i="0" lang="en-US" spc="0" sz="1400" u="none" cap="none" strike="noStrike">
                <a:solidFill>
                  <a:schemeClr val="dk1"/>
                </a:solidFill>
                <a:latin typeface="Raleway SemiBold"/>
                <a:ea typeface="Raleway SemiBold"/>
                <a:cs typeface="Raleway SemiBold"/>
                <a:sym typeface="Raleway SemiBold"/>
              </a:rPr>
              <a:t>EVENT MODE</a:t>
            </a:r>
            <a:endParaRPr b="0" i="0" spc="0" sz="1400" u="none" cap="none" strike="noStrike">
              <a:solidFill>
                <a:schemeClr val="dk1"/>
              </a:solidFill>
              <a:latin typeface="Raleway Light"/>
              <a:ea typeface="Raleway Light"/>
              <a:cs typeface="Raleway Light"/>
              <a:sym typeface="Raleway Light"/>
            </a:endParaRPr>
          </a:p>
        </p:txBody>
      </p:sp>
      <p:sp>
        <p:nvSpPr>
          <p:cNvPr id="850" name="Google Shape;850;p59"/>
          <p:cNvSpPr/>
          <p:nvPr/>
        </p:nvSpPr>
        <p:spPr>
          <a:xfrm>
            <a:off x="548640" y="1783080"/>
            <a:ext cx="5409900" cy="3657600"/>
          </a:xfrm>
          <a:prstGeom prst="roundRect">
            <a:avLst>
              <a:gd fmla="val 3000" name="adj"/>
            </a:avLst>
          </a:prstGeom>
          <a:solidFill>
            <a:schemeClr val="lt1"/>
          </a:solidFill>
          <a:ln cap="flat" cmpd="sng" w="12700">
            <a:solidFill>
              <a:schemeClr val="lt1"/>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51" name="Google Shape;851;p59"/>
          <p:cNvSpPr txBox="1"/>
          <p:nvPr/>
        </p:nvSpPr>
        <p:spPr>
          <a:xfrm>
            <a:off x="868680" y="2057400"/>
            <a:ext cx="4770000" cy="3200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400"/>
              <a:buFont typeface="Raleway SemiBold"/>
              <a:buNone/>
            </a:pPr>
            <a:r>
              <a:rPr b="1" i="0" lang="en-US" spc="0" sz="1400" u="none" cap="none" strike="noStrike">
                <a:solidFill>
                  <a:schemeClr val="dk1"/>
                </a:solidFill>
                <a:latin typeface="Raleway SemiBold"/>
                <a:ea typeface="Raleway SemiBold"/>
                <a:cs typeface="Raleway SemiBold"/>
                <a:sym typeface="Raleway SemiBold"/>
              </a:rPr>
              <a:t>YOUR VISITORS GET</a:t>
            </a:r>
            <a:endParaRPr b="0" i="0" spc="0" sz="1600" u="none" cap="none" strike="noStrike">
              <a:solidFill>
                <a:schemeClr val="dk1"/>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chemeClr val="dk1"/>
              </a:buClr>
              <a:buSzPts val="800"/>
              <a:buFont typeface="Raleway Light"/>
              <a:buNone/>
            </a:pPr>
            <a:r>
              <a:rPr b="0" i="0" lang="en-US" spc="0" sz="800" u="none" cap="none" strike="noStrike">
                <a:solidFill>
                  <a:schemeClr val="dk1"/>
                </a:solidFill>
                <a:latin typeface="Raleway Light"/>
                <a:ea typeface="Raleway Light"/>
                <a:cs typeface="Raleway Light"/>
                <a:sym typeface="Raleway Light"/>
              </a:rPr>
              <a:t> </a:t>
            </a:r>
            <a:endParaRPr b="0" i="0" spc="0" sz="1600" u="none" cap="none" strike="noStrike">
              <a:solidFill>
                <a:schemeClr val="dk1"/>
              </a:solidFill>
              <a:latin typeface="Raleway Light"/>
              <a:ea typeface="Raleway Light"/>
              <a:cs typeface="Raleway Light"/>
              <a:sym typeface="Raleway Light"/>
            </a:endParaRPr>
          </a:p>
          <a:p>
            <a:pPr indent="-203200" lvl="0" marL="203200" marR="0" rtl="0" algn="l">
              <a:lnSpc>
                <a:spcPct val="100000"/>
              </a:lnSpc>
              <a:spcBef>
                <a:spcPts val="400"/>
              </a:spcBef>
              <a:spcAft>
                <a:spcPts val="0"/>
              </a:spcAft>
              <a:buClr>
                <a:schemeClr val="dk1"/>
              </a:buClr>
              <a:buSzPts val="1600"/>
              <a:buFont typeface="Raleway Light"/>
              <a:buChar char="•"/>
            </a:pPr>
            <a:r>
              <a:rPr b="0" i="0" lang="en-US" spc="0" sz="1600" u="none" cap="none" strike="noStrike">
                <a:solidFill>
                  <a:schemeClr val="dk1"/>
                </a:solidFill>
                <a:latin typeface="Raleway Light"/>
                <a:ea typeface="Raleway Light"/>
                <a:cs typeface="Raleway Light"/>
                <a:sym typeface="Raleway Light"/>
              </a:rPr>
              <a:t>Meet the Maker: producer stories, with videos to come.</a:t>
            </a:r>
            <a:endParaRPr b="0" i="0" spc="0" sz="1600" u="none" cap="none" strike="noStrike">
              <a:solidFill>
                <a:schemeClr val="dk1"/>
              </a:solidFill>
              <a:latin typeface="Raleway Light"/>
              <a:ea typeface="Raleway Light"/>
              <a:cs typeface="Raleway Light"/>
              <a:sym typeface="Raleway Light"/>
            </a:endParaRPr>
          </a:p>
          <a:p>
            <a:pPr indent="-203200" lvl="0" marL="203200" marR="0" rtl="0" algn="l">
              <a:lnSpc>
                <a:spcPct val="100000"/>
              </a:lnSpc>
              <a:spcBef>
                <a:spcPts val="800"/>
              </a:spcBef>
              <a:spcAft>
                <a:spcPts val="0"/>
              </a:spcAft>
              <a:buClr>
                <a:schemeClr val="dk1"/>
              </a:buClr>
              <a:buSzPts val="1600"/>
              <a:buFont typeface="Raleway Light"/>
              <a:buChar char="•"/>
            </a:pPr>
            <a:r>
              <a:rPr b="0" i="0" lang="en-US" spc="0" sz="1600" u="none" cap="none" strike="noStrike">
                <a:solidFill>
                  <a:schemeClr val="dk1"/>
                </a:solidFill>
                <a:latin typeface="Raleway Light"/>
                <a:ea typeface="Raleway Light"/>
                <a:cs typeface="Raleway Light"/>
                <a:sym typeface="Raleway Light"/>
              </a:rPr>
              <a:t>Tasting prompts, polls, questions and quizzes, with no wrong answers.</a:t>
            </a:r>
            <a:endParaRPr b="0" i="0" spc="0" sz="1600" u="none" cap="none" strike="noStrike">
              <a:solidFill>
                <a:schemeClr val="dk1"/>
              </a:solidFill>
              <a:latin typeface="Raleway Light"/>
              <a:ea typeface="Raleway Light"/>
              <a:cs typeface="Raleway Light"/>
              <a:sym typeface="Raleway Light"/>
            </a:endParaRPr>
          </a:p>
          <a:p>
            <a:pPr indent="-203200" lvl="0" marL="203200" marR="0" rtl="0" algn="l">
              <a:lnSpc>
                <a:spcPct val="100000"/>
              </a:lnSpc>
              <a:spcBef>
                <a:spcPts val="800"/>
              </a:spcBef>
              <a:spcAft>
                <a:spcPts val="0"/>
              </a:spcAft>
              <a:buClr>
                <a:schemeClr val="dk1"/>
              </a:buClr>
              <a:buSzPts val="1600"/>
              <a:buFont typeface="Raleway Light"/>
              <a:buChar char="•"/>
            </a:pPr>
            <a:r>
              <a:rPr b="0" i="0" lang="en-US" spc="0" sz="1600" u="none" cap="none" strike="noStrike">
                <a:solidFill>
                  <a:schemeClr val="dk1"/>
                </a:solidFill>
                <a:latin typeface="Raleway Light"/>
                <a:ea typeface="Raleway Light"/>
                <a:cs typeface="Raleway Light"/>
                <a:sym typeface="Raleway Light"/>
              </a:rPr>
              <a:t>Their wines and notes saved as they go.</a:t>
            </a:r>
            <a:endParaRPr b="0" i="0" spc="0" sz="1600" u="none" cap="none" strike="noStrike">
              <a:solidFill>
                <a:schemeClr val="dk1"/>
              </a:solidFill>
              <a:latin typeface="Raleway Light"/>
              <a:ea typeface="Raleway Light"/>
              <a:cs typeface="Raleway Light"/>
              <a:sym typeface="Raleway Light"/>
            </a:endParaRPr>
          </a:p>
          <a:p>
            <a:pPr indent="-203200" lvl="0" marL="203200" marR="0" rtl="0" algn="l">
              <a:lnSpc>
                <a:spcPct val="100000"/>
              </a:lnSpc>
              <a:spcBef>
                <a:spcPts val="800"/>
              </a:spcBef>
              <a:spcAft>
                <a:spcPts val="0"/>
              </a:spcAft>
              <a:buClr>
                <a:schemeClr val="dk1"/>
              </a:buClr>
              <a:buSzPts val="1600"/>
              <a:buFont typeface="Raleway Light"/>
              <a:buChar char="•"/>
            </a:pPr>
            <a:r>
              <a:rPr b="0" i="0" lang="en-US" spc="0" sz="1600" u="none" cap="none" strike="noStrike">
                <a:solidFill>
                  <a:schemeClr val="dk1"/>
                </a:solidFill>
                <a:latin typeface="Raleway Light"/>
                <a:ea typeface="Raleway Light"/>
                <a:cs typeface="Raleway Light"/>
                <a:sym typeface="Raleway Light"/>
              </a:rPr>
              <a:t>Their own Wine of the Day, crowned.</a:t>
            </a:r>
            <a:endParaRPr b="0" i="0" spc="0" sz="1600" u="none" cap="none" strike="noStrike">
              <a:solidFill>
                <a:schemeClr val="dk1"/>
              </a:solidFill>
              <a:latin typeface="Raleway Light"/>
              <a:ea typeface="Raleway Light"/>
              <a:cs typeface="Raleway Light"/>
              <a:sym typeface="Raleway Light"/>
            </a:endParaRPr>
          </a:p>
          <a:p>
            <a:pPr indent="-203200" lvl="0" marL="203200" marR="0" rtl="0" algn="l">
              <a:lnSpc>
                <a:spcPct val="100000"/>
              </a:lnSpc>
              <a:spcBef>
                <a:spcPts val="800"/>
              </a:spcBef>
              <a:spcAft>
                <a:spcPts val="0"/>
              </a:spcAft>
              <a:buClr>
                <a:schemeClr val="dk1"/>
              </a:buClr>
              <a:buSzPts val="1600"/>
              <a:buFont typeface="Raleway Light"/>
              <a:buChar char="•"/>
            </a:pPr>
            <a:r>
              <a:rPr b="0" i="0" lang="en-US" spc="0" sz="1600" u="none" cap="none" strike="noStrike">
                <a:solidFill>
                  <a:schemeClr val="dk1"/>
                </a:solidFill>
                <a:latin typeface="Raleway Light"/>
                <a:ea typeface="Raleway Light"/>
                <a:cs typeface="Raleway Light"/>
                <a:sym typeface="Raleway Light"/>
              </a:rPr>
              <a:t>A personal record in My wines, to revisit after the event.</a:t>
            </a:r>
            <a:endParaRPr b="0" i="0" spc="0" sz="1600" u="none" cap="none" strike="noStrike">
              <a:solidFill>
                <a:schemeClr val="dk1"/>
              </a:solidFill>
              <a:latin typeface="Raleway Light"/>
              <a:ea typeface="Raleway Light"/>
              <a:cs typeface="Raleway Light"/>
              <a:sym typeface="Raleway Light"/>
            </a:endParaRPr>
          </a:p>
        </p:txBody>
      </p:sp>
      <p:sp>
        <p:nvSpPr>
          <p:cNvPr id="852" name="Google Shape;852;p59"/>
          <p:cNvSpPr/>
          <p:nvPr/>
        </p:nvSpPr>
        <p:spPr>
          <a:xfrm>
            <a:off x="6233008" y="1783080"/>
            <a:ext cx="5409900" cy="3657600"/>
          </a:xfrm>
          <a:prstGeom prst="roundRect">
            <a:avLst>
              <a:gd fmla="val 3000" name="adj"/>
            </a:avLst>
          </a:prstGeom>
          <a:solidFill>
            <a:schemeClr val="dk1"/>
          </a:solidFill>
          <a:ln cap="flat" cmpd="sng" w="127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53" name="Google Shape;853;p59"/>
          <p:cNvSpPr txBox="1"/>
          <p:nvPr/>
        </p:nvSpPr>
        <p:spPr>
          <a:xfrm>
            <a:off x="6553048" y="2057400"/>
            <a:ext cx="4770000" cy="3200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lt2"/>
              </a:buClr>
              <a:buSzPts val="1400"/>
              <a:buFont typeface="Raleway SemiBold"/>
              <a:buNone/>
            </a:pPr>
            <a:r>
              <a:rPr b="1" i="0" lang="en-US" spc="0" sz="1400" u="none" cap="none" strike="noStrike">
                <a:solidFill>
                  <a:schemeClr val="lt2"/>
                </a:solidFill>
                <a:latin typeface="Raleway SemiBold"/>
                <a:ea typeface="Raleway SemiBold"/>
                <a:cs typeface="Raleway SemiBold"/>
                <a:sym typeface="Raleway SemiBold"/>
              </a:rPr>
              <a:t>YOU GET</a:t>
            </a:r>
            <a:endParaRPr b="0" i="0" spc="0" sz="1600" u="none" cap="none" strike="noStrike">
              <a:solidFill>
                <a:schemeClr val="dk1"/>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chemeClr val="lt2"/>
              </a:buClr>
              <a:buSzPts val="800"/>
              <a:buFont typeface="Raleway Light"/>
              <a:buNone/>
            </a:pPr>
            <a:r>
              <a:rPr b="0" i="0" lang="en-US" spc="0" sz="800" u="none" cap="none" strike="noStrike">
                <a:solidFill>
                  <a:schemeClr val="lt2"/>
                </a:solidFill>
                <a:latin typeface="Raleway Light"/>
                <a:ea typeface="Raleway Light"/>
                <a:cs typeface="Raleway Light"/>
                <a:sym typeface="Raleway Light"/>
              </a:rPr>
              <a:t> </a:t>
            </a:r>
            <a:endParaRPr b="0" i="0" spc="0" sz="1600" u="none" cap="none" strike="noStrike">
              <a:solidFill>
                <a:schemeClr val="dk1"/>
              </a:solidFill>
              <a:latin typeface="Raleway Light"/>
              <a:ea typeface="Raleway Light"/>
              <a:cs typeface="Raleway Light"/>
              <a:sym typeface="Raleway Light"/>
            </a:endParaRPr>
          </a:p>
          <a:p>
            <a:pPr indent="-203200" lvl="0" marL="203200" marR="0" rtl="0" algn="l">
              <a:lnSpc>
                <a:spcPct val="100000"/>
              </a:lnSpc>
              <a:spcBef>
                <a:spcPts val="400"/>
              </a:spcBef>
              <a:spcAft>
                <a:spcPts val="0"/>
              </a:spcAft>
              <a:buClr>
                <a:schemeClr val="lt2"/>
              </a:buClr>
              <a:buSzPts val="1600"/>
              <a:buFont typeface="Raleway Light"/>
              <a:buChar char="•"/>
            </a:pPr>
            <a:r>
              <a:rPr b="0" i="0" lang="en-US" spc="0" sz="1600" u="none" cap="none" strike="noStrike">
                <a:solidFill>
                  <a:schemeClr val="lt2"/>
                </a:solidFill>
                <a:latin typeface="Raleway Light"/>
                <a:ea typeface="Raleway Light"/>
                <a:cs typeface="Raleway Light"/>
                <a:sym typeface="Raleway Light"/>
              </a:rPr>
              <a:t>Insight into what visitors really think, in their own words.</a:t>
            </a:r>
            <a:endParaRPr b="0" i="0" spc="0" sz="1600" u="none" cap="none" strike="noStrike">
              <a:solidFill>
                <a:schemeClr val="dk1"/>
              </a:solidFill>
              <a:latin typeface="Raleway Light"/>
              <a:ea typeface="Raleway Light"/>
              <a:cs typeface="Raleway Light"/>
              <a:sym typeface="Raleway Light"/>
            </a:endParaRPr>
          </a:p>
          <a:p>
            <a:pPr indent="-203200" lvl="0" marL="203200" marR="0" rtl="0" algn="l">
              <a:lnSpc>
                <a:spcPct val="100000"/>
              </a:lnSpc>
              <a:spcBef>
                <a:spcPts val="800"/>
              </a:spcBef>
              <a:spcAft>
                <a:spcPts val="0"/>
              </a:spcAft>
              <a:buClr>
                <a:schemeClr val="lt2"/>
              </a:buClr>
              <a:buSzPts val="1600"/>
              <a:buFont typeface="Raleway Light"/>
              <a:buChar char="•"/>
            </a:pPr>
            <a:r>
              <a:rPr b="0" i="0" lang="en-US" spc="0" sz="1600" u="none" cap="none" strike="noStrike">
                <a:solidFill>
                  <a:schemeClr val="lt2"/>
                </a:solidFill>
                <a:latin typeface="Raleway Light"/>
                <a:ea typeface="Raleway Light"/>
                <a:cs typeface="Raleway Light"/>
                <a:sym typeface="Raleway Light"/>
              </a:rPr>
              <a:t>Combined, anonymised reporting on saved wines, crowns, polls and tasting responses.</a:t>
            </a:r>
            <a:endParaRPr b="0" i="0" spc="0" sz="1600" u="none" cap="none" strike="noStrike">
              <a:solidFill>
                <a:schemeClr val="dk1"/>
              </a:solidFill>
              <a:latin typeface="Raleway Light"/>
              <a:ea typeface="Raleway Light"/>
              <a:cs typeface="Raleway Light"/>
              <a:sym typeface="Raleway Light"/>
            </a:endParaRPr>
          </a:p>
          <a:p>
            <a:pPr indent="-203200" lvl="0" marL="203200" marR="0" rtl="0" algn="l">
              <a:lnSpc>
                <a:spcPct val="100000"/>
              </a:lnSpc>
              <a:spcBef>
                <a:spcPts val="800"/>
              </a:spcBef>
              <a:spcAft>
                <a:spcPts val="0"/>
              </a:spcAft>
              <a:buClr>
                <a:schemeClr val="lt2"/>
              </a:buClr>
              <a:buSzPts val="1600"/>
              <a:buFont typeface="Raleway Light"/>
              <a:buChar char="•"/>
            </a:pPr>
            <a:r>
              <a:rPr b="0" i="0" lang="en-US" spc="0" sz="1600" u="none" cap="none" strike="noStrike">
                <a:solidFill>
                  <a:schemeClr val="lt2"/>
                </a:solidFill>
                <a:latin typeface="Raleway Light"/>
                <a:ea typeface="Raleway Light"/>
                <a:cs typeface="Raleway Light"/>
                <a:sym typeface="Raleway Light"/>
              </a:rPr>
              <a:t>A home for your producers' stories, and a view of how visitors use them.</a:t>
            </a:r>
            <a:endParaRPr b="0" i="0" spc="0" sz="1600" u="none" cap="none" strike="noStrike">
              <a:solidFill>
                <a:schemeClr val="dk1"/>
              </a:solidFill>
              <a:latin typeface="Raleway Light"/>
              <a:ea typeface="Raleway Light"/>
              <a:cs typeface="Raleway Light"/>
              <a:sym typeface="Raleway Light"/>
            </a:endParaRPr>
          </a:p>
          <a:p>
            <a:pPr indent="-203200" lvl="0" marL="203200" marR="0" rtl="0" algn="l">
              <a:lnSpc>
                <a:spcPct val="100000"/>
              </a:lnSpc>
              <a:spcBef>
                <a:spcPts val="800"/>
              </a:spcBef>
              <a:spcAft>
                <a:spcPts val="0"/>
              </a:spcAft>
              <a:buClr>
                <a:schemeClr val="lt2"/>
              </a:buClr>
              <a:buSzPts val="1600"/>
              <a:buFont typeface="Raleway Light"/>
              <a:buChar char="•"/>
            </a:pPr>
            <a:r>
              <a:rPr b="0" i="0" lang="en-US" spc="0" sz="1600" u="none" cap="none" strike="noStrike">
                <a:solidFill>
                  <a:schemeClr val="lt2"/>
                </a:solidFill>
                <a:latin typeface="Raleway Light"/>
                <a:ea typeface="Raleway Light"/>
                <a:cs typeface="Raleway Light"/>
                <a:sym typeface="Raleway Light"/>
              </a:rPr>
              <a:t>New contacts, where visitors choose to hear from you.</a:t>
            </a:r>
            <a:endParaRPr b="0" i="0" spc="0" sz="1600" u="none" cap="none" strike="noStrike">
              <a:solidFill>
                <a:schemeClr val="dk1"/>
              </a:solidFill>
              <a:latin typeface="Raleway Light"/>
              <a:ea typeface="Raleway Light"/>
              <a:cs typeface="Raleway Light"/>
              <a:sym typeface="Raleway Light"/>
            </a:endParaRPr>
          </a:p>
          <a:p>
            <a:pPr indent="-203200" lvl="0" marL="203200" marR="0" rtl="0" algn="l">
              <a:lnSpc>
                <a:spcPct val="100000"/>
              </a:lnSpc>
              <a:spcBef>
                <a:spcPts val="800"/>
              </a:spcBef>
              <a:spcAft>
                <a:spcPts val="0"/>
              </a:spcAft>
              <a:buClr>
                <a:schemeClr val="lt2"/>
              </a:buClr>
              <a:buSzPts val="1600"/>
              <a:buFont typeface="Raleway Light"/>
              <a:buChar char="•"/>
            </a:pPr>
            <a:r>
              <a:rPr b="0" i="0" lang="en-US" spc="0" sz="1600" u="none" cap="none" strike="noStrike">
                <a:solidFill>
                  <a:schemeClr val="lt2"/>
                </a:solidFill>
                <a:latin typeface="Raleway Light"/>
                <a:ea typeface="Raleway Light"/>
                <a:cs typeface="Raleway Light"/>
                <a:sym typeface="Raleway Light"/>
              </a:rPr>
              <a:t>A reason to reconnect after the event.</a:t>
            </a:r>
            <a:endParaRPr b="0" i="0" spc="0" sz="1600" u="none" cap="none" strike="noStrike">
              <a:solidFill>
                <a:schemeClr val="dk1"/>
              </a:solidFill>
              <a:latin typeface="Raleway Light"/>
              <a:ea typeface="Raleway Light"/>
              <a:cs typeface="Raleway Light"/>
              <a:sym typeface="Raleway Light"/>
            </a:endParaRPr>
          </a:p>
        </p:txBody>
      </p:sp>
      <p:sp>
        <p:nvSpPr>
          <p:cNvPr id="854" name="Google Shape;854;p59"/>
          <p:cNvSpPr txBox="1"/>
          <p:nvPr/>
        </p:nvSpPr>
        <p:spPr>
          <a:xfrm>
            <a:off x="548640" y="5577840"/>
            <a:ext cx="5409900" cy="502800"/>
          </a:xfrm>
          <a:prstGeom prst="rect">
            <a:avLst/>
          </a:prstGeom>
          <a:solidFill>
            <a:schemeClr val="lt1"/>
          </a:solidFill>
          <a:ln cap="flat" cmpd="sng" w="25400">
            <a:solidFill>
              <a:schemeClr val="accent4"/>
            </a:solidFill>
            <a:prstDash val="solid"/>
            <a:round/>
            <a:headEnd len="sm" w="sm" type="none"/>
            <a:tailEnd len="sm" w="sm" type="none"/>
          </a:ln>
        </p:spPr>
        <p:txBody>
          <a:bodyPr anchorCtr="0" anchor="ctr" bIns="38100" lIns="38100" spcFirstLastPara="1" rIns="76200" wrap="square" tIns="76200">
            <a:noAutofit/>
          </a:bodyPr>
          <a:lstStyle/>
          <a:p>
            <a:pPr indent="0" lvl="0" marL="0" marR="0" rtl="0" algn="l">
              <a:lnSpc>
                <a:spcPct val="100000"/>
              </a:lnSpc>
              <a:spcBef>
                <a:spcPts val="0"/>
              </a:spcBef>
              <a:spcAft>
                <a:spcPts val="0"/>
              </a:spcAft>
              <a:buClr>
                <a:schemeClr val="dk1"/>
              </a:buClr>
              <a:buSzPts val="1100"/>
              <a:buFont typeface="Raleway SemiBold"/>
              <a:buNone/>
            </a:pPr>
            <a:r>
              <a:rPr b="1" i="0" lang="en-US" spc="0" sz="1100" u="none" cap="none" strike="noStrike">
                <a:solidFill>
                  <a:schemeClr val="dk1"/>
                </a:solidFill>
                <a:latin typeface="Raleway SemiBold"/>
                <a:ea typeface="Raleway SemiBold"/>
                <a:cs typeface="Raleway SemiBold"/>
                <a:sym typeface="Raleway SemiBold"/>
              </a:rPr>
              <a:t>TO CONFIRM  </a:t>
            </a:r>
            <a:r>
              <a:rPr b="0" i="0" lang="en-US" spc="0" sz="1100" u="none" cap="none" strike="noStrike">
                <a:solidFill>
                  <a:schemeClr val="dk1"/>
                </a:solidFill>
                <a:latin typeface="Raleway Light"/>
                <a:ea typeface="Raleway Light"/>
                <a:cs typeface="Raleway Light"/>
                <a:sym typeface="Raleway Light"/>
              </a:rPr>
              <a:t>Quizzes are in both Partner Mode and Event Mode (28 October). The prize draw still awaits the legal check (slide 22).</a:t>
            </a:r>
            <a:endParaRPr b="0" i="0" spc="0" sz="1100" u="none" cap="none" strike="noStrike">
              <a:solidFill>
                <a:schemeClr val="dk1"/>
              </a:solidFill>
              <a:latin typeface="Raleway Light"/>
              <a:ea typeface="Raleway Light"/>
              <a:cs typeface="Raleway Light"/>
              <a:sym typeface="Raleway Light"/>
            </a:endParaRPr>
          </a:p>
        </p:txBody>
      </p:sp>
      <p:sp>
        <p:nvSpPr>
          <p:cNvPr id="855" name="Google Shape;855;p59"/>
          <p:cNvSpPr txBox="1"/>
          <p:nvPr/>
        </p:nvSpPr>
        <p:spPr>
          <a:xfrm>
            <a:off x="6233008" y="5577840"/>
            <a:ext cx="5409900" cy="502800"/>
          </a:xfrm>
          <a:prstGeom prst="rect">
            <a:avLst/>
          </a:prstGeom>
          <a:solidFill>
            <a:schemeClr val="lt1"/>
          </a:solidFill>
          <a:ln cap="flat" cmpd="sng" w="25400">
            <a:solidFill>
              <a:schemeClr val="accent4"/>
            </a:solidFill>
            <a:prstDash val="solid"/>
            <a:round/>
            <a:headEnd len="sm" w="sm" type="none"/>
            <a:tailEnd len="sm" w="sm" type="none"/>
          </a:ln>
        </p:spPr>
        <p:txBody>
          <a:bodyPr anchorCtr="0" anchor="ctr" bIns="38100" lIns="38100" spcFirstLastPara="1" rIns="76200" wrap="square" tIns="76200">
            <a:noAutofit/>
          </a:bodyPr>
          <a:lstStyle/>
          <a:p>
            <a:pPr indent="0" lvl="0" marL="0" marR="0" rtl="0" algn="l">
              <a:lnSpc>
                <a:spcPct val="100000"/>
              </a:lnSpc>
              <a:spcBef>
                <a:spcPts val="0"/>
              </a:spcBef>
              <a:spcAft>
                <a:spcPts val="0"/>
              </a:spcAft>
              <a:buClr>
                <a:schemeClr val="dk1"/>
              </a:buClr>
              <a:buSzPts val="1100"/>
              <a:buFont typeface="Raleway SemiBold"/>
              <a:buNone/>
            </a:pPr>
            <a:r>
              <a:rPr b="1" i="0" lang="en-US" spc="0" sz="1100" u="none" cap="none" strike="noStrike">
                <a:solidFill>
                  <a:schemeClr val="dk1"/>
                </a:solidFill>
                <a:latin typeface="Raleway SemiBold"/>
                <a:ea typeface="Raleway SemiBold"/>
                <a:cs typeface="Raleway SemiBold"/>
                <a:sym typeface="Raleway SemiBold"/>
              </a:rPr>
              <a:t>TO CONFIRM  </a:t>
            </a:r>
            <a:r>
              <a:rPr b="0" i="0" lang="en-US" spc="0" sz="1100" u="none" cap="none" strike="noStrike">
                <a:solidFill>
                  <a:schemeClr val="dk1"/>
                </a:solidFill>
                <a:latin typeface="Raleway Light"/>
                <a:ea typeface="Raleway Light"/>
                <a:cs typeface="Raleway Light"/>
                <a:sym typeface="Raleway Light"/>
              </a:rPr>
              <a:t>Contacts: proposed rule, needs legal review.</a:t>
            </a:r>
            <a:endParaRPr b="0" i="0" spc="0" sz="1100" u="none" cap="none" strike="noStrike">
              <a:solidFill>
                <a:schemeClr val="dk1"/>
              </a:solidFill>
              <a:latin typeface="Raleway Light"/>
              <a:ea typeface="Raleway Light"/>
              <a:cs typeface="Raleway Light"/>
              <a:sym typeface="Raleway Light"/>
            </a:endParaRPr>
          </a:p>
        </p:txBody>
      </p:sp>
      <p:sp>
        <p:nvSpPr>
          <p:cNvPr id="856" name="Google Shape;856;p59"/>
          <p:cNvSpPr txBox="1"/>
          <p:nvPr>
            <p:ph idx="4294967295" type="sldNum"/>
          </p:nvPr>
        </p:nvSpPr>
        <p:spPr>
          <a:xfrm>
            <a:off x="10180015" y="6355080"/>
            <a:ext cx="365700" cy="274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000"/>
              <a:buNone/>
            </a:pPr>
            <a:fld id="{00000000-1234-1234-1234-123412341234}" type="slidenum">
              <a:rPr b="0" i="0" lang="en-US" sz="1000" u="none" cap="none" strike="noStrike">
                <a:solidFill>
                  <a:schemeClr val="dk1"/>
                </a:solidFill>
                <a:latin typeface="Raleway Light"/>
                <a:ea typeface="Raleway Light"/>
                <a:cs typeface="Raleway Light"/>
                <a:sym typeface="Raleway Light"/>
              </a:rPr>
              <a:t>‹#›</a:t>
            </a:fld>
            <a:endParaRPr b="0" i="0" sz="1000" u="none" cap="none" strike="noStrike">
              <a:solidFill>
                <a:schemeClr val="dk1"/>
              </a:solidFill>
              <a:latin typeface="Raleway Light"/>
              <a:ea typeface="Raleway Light"/>
              <a:cs typeface="Raleway Light"/>
              <a:sym typeface="Raleway Light"/>
            </a:endParaRPr>
          </a:p>
        </p:txBody>
      </p:sp>
      <p:sp>
        <p:nvSpPr>
          <p:cNvPr id="857" name="Google Shape;857;p59"/>
          <p:cNvSpPr/>
          <p:nvPr/>
        </p:nvSpPr>
        <p:spPr>
          <a:xfrm>
            <a:off x="0" y="0"/>
            <a:ext cx="12191700" cy="329100"/>
          </a:xfrm>
          <a:prstGeom prst="rect">
            <a:avLst/>
          </a:prstGeom>
          <a:solidFill>
            <a:srgbClr val="565A32"/>
          </a:solidFill>
          <a:ln cap="flat" cmpd="sng" w="12700">
            <a:solidFill>
              <a:srgbClr val="565A3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2" name="Shape 862"/>
        <p:cNvGrpSpPr/>
        <p:nvPr/>
      </p:nvGrpSpPr>
      <p:grpSpPr>
        <a:xfrm>
          <a:off x="0" y="0"/>
          <a:ext cx="0" cy="0"/>
          <a:chOff x="0" y="0"/>
          <a:chExt cx="0" cy="0"/>
        </a:xfrm>
      </p:grpSpPr>
      <p:sp>
        <p:nvSpPr>
          <p:cNvPr id="863" name="Google Shape;863;p60"/>
          <p:cNvSpPr txBox="1"/>
          <p:nvPr>
            <p:ph type="title"/>
          </p:nvPr>
        </p:nvSpPr>
        <p:spPr>
          <a:xfrm>
            <a:off x="548640" y="411480"/>
            <a:ext cx="8138160" cy="68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3600"/>
              <a:buFont typeface="Raleway Light"/>
              <a:buNone/>
            </a:pPr>
            <a:r>
              <a:rPr lang="en-US" sz="3600">
                <a:solidFill>
                  <a:schemeClr val="dk1"/>
                </a:solidFill>
                <a:latin typeface="Raleway Light"/>
                <a:ea typeface="Raleway Light"/>
                <a:cs typeface="Raleway Light"/>
                <a:sym typeface="Raleway Light"/>
              </a:rPr>
              <a:t>What a partnership might include</a:t>
            </a:r>
            <a:endParaRPr sz="3600"/>
          </a:p>
        </p:txBody>
      </p:sp>
      <p:sp>
        <p:nvSpPr>
          <p:cNvPr id="864" name="Google Shape;864;p60"/>
          <p:cNvSpPr txBox="1"/>
          <p:nvPr>
            <p:ph idx="1" type="body"/>
          </p:nvPr>
        </p:nvSpPr>
        <p:spPr>
          <a:xfrm>
            <a:off x="548640" y="1115568"/>
            <a:ext cx="11094415" cy="4114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800"/>
              <a:buNone/>
            </a:pPr>
            <a:r>
              <a:rPr lang="en-US" sz="1800">
                <a:solidFill>
                  <a:schemeClr val="dk1"/>
                </a:solidFill>
                <a:latin typeface="Raleway Light"/>
                <a:ea typeface="Raleway Light"/>
                <a:cs typeface="Raleway Light"/>
                <a:sym typeface="Raleway Light"/>
              </a:rPr>
              <a:t>A possible year-round relationship across your events.</a:t>
            </a:r>
            <a:endParaRPr sz="1800"/>
          </a:p>
        </p:txBody>
      </p:sp>
      <p:sp>
        <p:nvSpPr>
          <p:cNvPr id="865" name="Google Shape;865;p60"/>
          <p:cNvSpPr/>
          <p:nvPr/>
        </p:nvSpPr>
        <p:spPr>
          <a:xfrm>
            <a:off x="9265615" y="457200"/>
            <a:ext cx="2377440" cy="384048"/>
          </a:xfrm>
          <a:prstGeom prst="roundRect">
            <a:avLst>
              <a:gd fmla="val 50000" name="adj"/>
            </a:avLst>
          </a:prstGeom>
          <a:solidFill>
            <a:schemeClr val="accent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1400"/>
              <a:buFont typeface="Raleway SemiBold"/>
              <a:buNone/>
            </a:pPr>
            <a:r>
              <a:rPr b="1" i="0" lang="en-US" spc="0" sz="1400" u="none" cap="none" strike="noStrike">
                <a:solidFill>
                  <a:schemeClr val="dk1"/>
                </a:solidFill>
                <a:latin typeface="Raleway SemiBold"/>
                <a:ea typeface="Raleway SemiBold"/>
                <a:cs typeface="Raleway SemiBold"/>
                <a:sym typeface="Raleway SemiBold"/>
              </a:rPr>
              <a:t>EVENT MODE</a:t>
            </a:r>
            <a:endParaRPr b="0" i="0" spc="0" sz="1400" u="none" cap="none" strike="noStrike">
              <a:solidFill>
                <a:schemeClr val="dk1"/>
              </a:solidFill>
              <a:latin typeface="Raleway Light"/>
              <a:ea typeface="Raleway Light"/>
              <a:cs typeface="Raleway Light"/>
              <a:sym typeface="Raleway Light"/>
            </a:endParaRPr>
          </a:p>
        </p:txBody>
      </p:sp>
      <p:sp>
        <p:nvSpPr>
          <p:cNvPr id="866" name="Google Shape;866;p60"/>
          <p:cNvSpPr/>
          <p:nvPr/>
        </p:nvSpPr>
        <p:spPr>
          <a:xfrm>
            <a:off x="548640" y="1783080"/>
            <a:ext cx="3515258" cy="2194560"/>
          </a:xfrm>
          <a:prstGeom prst="roundRect">
            <a:avLst>
              <a:gd fmla="val 5000" name="adj"/>
            </a:avLst>
          </a:prstGeom>
          <a:solidFill>
            <a:schemeClr val="lt1"/>
          </a:solidFill>
          <a:ln cap="flat" cmpd="sng" w="12700">
            <a:solidFill>
              <a:schemeClr val="lt1"/>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67" name="Google Shape;867;p60"/>
          <p:cNvSpPr txBox="1"/>
          <p:nvPr/>
        </p:nvSpPr>
        <p:spPr>
          <a:xfrm>
            <a:off x="777240" y="2011680"/>
            <a:ext cx="3058058" cy="1828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Raleway SemiBold"/>
              <a:buNone/>
            </a:pPr>
            <a:r>
              <a:rPr b="1" i="0" lang="en-US" spc="0" sz="1200" u="none" cap="none" strike="noStrike">
                <a:solidFill>
                  <a:schemeClr val="dk1"/>
                </a:solidFill>
                <a:latin typeface="Raleway SemiBold"/>
                <a:ea typeface="Raleway SemiBold"/>
                <a:cs typeface="Raleway SemiBold"/>
                <a:sym typeface="Raleway SemiBold"/>
              </a:rPr>
              <a:t>DIGITAL</a:t>
            </a:r>
            <a:endParaRPr b="0" i="0" spc="0" sz="1500" u="none" cap="none" strike="noStrike">
              <a:solidFill>
                <a:schemeClr val="dk1"/>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chemeClr val="dk1"/>
              </a:buClr>
              <a:buSzPts val="600"/>
              <a:buFont typeface="Raleway Light"/>
              <a:buNone/>
            </a:pPr>
            <a:r>
              <a:rPr b="0" i="0" lang="en-US" spc="0" sz="600" u="none" cap="none" strike="noStrike">
                <a:solidFill>
                  <a:schemeClr val="dk1"/>
                </a:solidFill>
                <a:latin typeface="Raleway Light"/>
                <a:ea typeface="Raleway Light"/>
                <a:cs typeface="Raleway Light"/>
                <a:sym typeface="Raleway Light"/>
              </a:rPr>
              <a:t> </a:t>
            </a:r>
            <a:endParaRPr b="0" i="0" spc="0" sz="1500" u="none" cap="none" strike="noStrike">
              <a:solidFill>
                <a:schemeClr val="dk1"/>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chemeClr val="dk1"/>
              </a:buClr>
              <a:buSzPts val="1500"/>
              <a:buFont typeface="Raleway Light"/>
              <a:buNone/>
            </a:pPr>
            <a:r>
              <a:rPr b="0" i="0" lang="en-US" spc="0" sz="1500" u="none" cap="none" strike="noStrike">
                <a:solidFill>
                  <a:schemeClr val="dk1"/>
                </a:solidFill>
                <a:latin typeface="Raleway Light"/>
                <a:ea typeface="Raleway Light"/>
                <a:cs typeface="Raleway Light"/>
                <a:sym typeface="Raleway Light"/>
              </a:rPr>
              <a:t>The visitor experience, your producers' content, saved discoveries, polls, consent journeys and reporting.</a:t>
            </a:r>
            <a:endParaRPr b="0" i="0" spc="0" sz="1500" u="none" cap="none" strike="noStrike">
              <a:solidFill>
                <a:schemeClr val="dk1"/>
              </a:solidFill>
              <a:latin typeface="Raleway Light"/>
              <a:ea typeface="Raleway Light"/>
              <a:cs typeface="Raleway Light"/>
              <a:sym typeface="Raleway Light"/>
            </a:endParaRPr>
          </a:p>
        </p:txBody>
      </p:sp>
      <p:sp>
        <p:nvSpPr>
          <p:cNvPr id="868" name="Google Shape;868;p60"/>
          <p:cNvSpPr/>
          <p:nvPr/>
        </p:nvSpPr>
        <p:spPr>
          <a:xfrm>
            <a:off x="4338218" y="1783080"/>
            <a:ext cx="3515258" cy="2194560"/>
          </a:xfrm>
          <a:prstGeom prst="roundRect">
            <a:avLst>
              <a:gd fmla="val 5000" name="adj"/>
            </a:avLst>
          </a:prstGeom>
          <a:solidFill>
            <a:schemeClr val="lt1"/>
          </a:solidFill>
          <a:ln cap="flat" cmpd="sng" w="12700">
            <a:solidFill>
              <a:schemeClr val="lt1"/>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69" name="Google Shape;869;p60"/>
          <p:cNvSpPr txBox="1"/>
          <p:nvPr/>
        </p:nvSpPr>
        <p:spPr>
          <a:xfrm>
            <a:off x="4566818" y="2011680"/>
            <a:ext cx="3058058" cy="1828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Raleway SemiBold"/>
              <a:buNone/>
            </a:pPr>
            <a:r>
              <a:rPr b="1" i="0" lang="en-US" spc="0" sz="1200" u="none" cap="none" strike="noStrike">
                <a:solidFill>
                  <a:schemeClr val="dk1"/>
                </a:solidFill>
                <a:latin typeface="Raleway SemiBold"/>
                <a:ea typeface="Raleway SemiBold"/>
                <a:cs typeface="Raleway SemiBold"/>
                <a:sym typeface="Raleway SemiBold"/>
              </a:rPr>
              <a:t>AT THE EVENT</a:t>
            </a:r>
            <a:endParaRPr b="0" i="0" spc="0" sz="1500" u="none" cap="none" strike="noStrike">
              <a:solidFill>
                <a:schemeClr val="dk1"/>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chemeClr val="dk1"/>
              </a:buClr>
              <a:buSzPts val="600"/>
              <a:buFont typeface="Raleway Light"/>
              <a:buNone/>
            </a:pPr>
            <a:r>
              <a:rPr b="0" i="0" lang="en-US" spc="0" sz="600" u="none" cap="none" strike="noStrike">
                <a:solidFill>
                  <a:schemeClr val="dk1"/>
                </a:solidFill>
                <a:latin typeface="Raleway Light"/>
                <a:ea typeface="Raleway Light"/>
                <a:cs typeface="Raleway Light"/>
                <a:sym typeface="Raleway Light"/>
              </a:rPr>
              <a:t> </a:t>
            </a:r>
            <a:endParaRPr b="0" i="0" spc="0" sz="1500" u="none" cap="none" strike="noStrike">
              <a:solidFill>
                <a:schemeClr val="dk1"/>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chemeClr val="dk1"/>
              </a:buClr>
              <a:buSzPts val="1500"/>
              <a:buFont typeface="Raleway Light"/>
              <a:buNone/>
            </a:pPr>
            <a:r>
              <a:rPr b="0" i="0" lang="en-US" spc="0" sz="1500" u="none" cap="none" strike="noStrike">
                <a:solidFill>
                  <a:schemeClr val="dk1"/>
                </a:solidFill>
                <a:latin typeface="Raleway Light"/>
                <a:ea typeface="Raleway Light"/>
                <a:cs typeface="Raleway Light"/>
                <a:sym typeface="Raleway Light"/>
              </a:rPr>
              <a:t>A small Entre Amis corner and scheduled moments on your main screen, fully costed.</a:t>
            </a:r>
            <a:endParaRPr b="0" i="0" spc="0" sz="1500" u="none" cap="none" strike="noStrike">
              <a:solidFill>
                <a:schemeClr val="dk1"/>
              </a:solidFill>
              <a:latin typeface="Raleway Light"/>
              <a:ea typeface="Raleway Light"/>
              <a:cs typeface="Raleway Light"/>
              <a:sym typeface="Raleway Light"/>
            </a:endParaRPr>
          </a:p>
        </p:txBody>
      </p:sp>
      <p:sp>
        <p:nvSpPr>
          <p:cNvPr id="870" name="Google Shape;870;p60"/>
          <p:cNvSpPr/>
          <p:nvPr/>
        </p:nvSpPr>
        <p:spPr>
          <a:xfrm>
            <a:off x="8127797" y="1783080"/>
            <a:ext cx="3515258" cy="2194560"/>
          </a:xfrm>
          <a:prstGeom prst="roundRect">
            <a:avLst>
              <a:gd fmla="val 5000" name="adj"/>
            </a:avLst>
          </a:prstGeom>
          <a:solidFill>
            <a:schemeClr val="lt1"/>
          </a:solidFill>
          <a:ln cap="flat" cmpd="sng" w="12700">
            <a:solidFill>
              <a:schemeClr val="lt1"/>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71" name="Google Shape;871;p60"/>
          <p:cNvSpPr txBox="1"/>
          <p:nvPr/>
        </p:nvSpPr>
        <p:spPr>
          <a:xfrm>
            <a:off x="8356397" y="2011680"/>
            <a:ext cx="3058058" cy="1828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Raleway SemiBold"/>
              <a:buNone/>
            </a:pPr>
            <a:r>
              <a:rPr b="1" i="0" lang="en-US" spc="0" sz="1200" u="none" cap="none" strike="noStrike">
                <a:solidFill>
                  <a:schemeClr val="dk1"/>
                </a:solidFill>
                <a:latin typeface="Raleway SemiBold"/>
                <a:ea typeface="Raleway SemiBold"/>
                <a:cs typeface="Raleway SemiBold"/>
                <a:sym typeface="Raleway SemiBold"/>
              </a:rPr>
              <a:t>AFTER THE EVENT</a:t>
            </a:r>
            <a:endParaRPr b="0" i="0" spc="0" sz="1500" u="none" cap="none" strike="noStrike">
              <a:solidFill>
                <a:schemeClr val="dk1"/>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chemeClr val="dk1"/>
              </a:buClr>
              <a:buSzPts val="600"/>
              <a:buFont typeface="Raleway Light"/>
              <a:buNone/>
            </a:pPr>
            <a:r>
              <a:rPr b="0" i="0" lang="en-US" spc="0" sz="600" u="none" cap="none" strike="noStrike">
                <a:solidFill>
                  <a:schemeClr val="dk1"/>
                </a:solidFill>
                <a:latin typeface="Raleway Light"/>
                <a:ea typeface="Raleway Light"/>
                <a:cs typeface="Raleway Light"/>
                <a:sym typeface="Raleway Light"/>
              </a:rPr>
              <a:t> </a:t>
            </a:r>
            <a:endParaRPr b="0" i="0" spc="0" sz="1500" u="none" cap="none" strike="noStrike">
              <a:solidFill>
                <a:schemeClr val="dk1"/>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chemeClr val="dk1"/>
              </a:buClr>
              <a:buSzPts val="1500"/>
              <a:buFont typeface="Raleway Light"/>
              <a:buNone/>
            </a:pPr>
            <a:r>
              <a:rPr b="0" i="0" lang="en-US" spc="0" sz="1500" u="none" cap="none" strike="noStrike">
                <a:solidFill>
                  <a:schemeClr val="dk1"/>
                </a:solidFill>
                <a:latin typeface="Raleway Light"/>
                <a:ea typeface="Raleway Light"/>
                <a:cs typeface="Raleway Light"/>
                <a:sym typeface="Raleway Light"/>
              </a:rPr>
              <a:t>The post-event visitor experience, combined insight reports, a partner review and a potential Christmas activation.</a:t>
            </a:r>
            <a:endParaRPr b="0" i="0" spc="0" sz="1500" u="none" cap="none" strike="noStrike">
              <a:solidFill>
                <a:schemeClr val="dk1"/>
              </a:solidFill>
              <a:latin typeface="Raleway Light"/>
              <a:ea typeface="Raleway Light"/>
              <a:cs typeface="Raleway Light"/>
              <a:sym typeface="Raleway Light"/>
            </a:endParaRPr>
          </a:p>
        </p:txBody>
      </p:sp>
      <p:sp>
        <p:nvSpPr>
          <p:cNvPr id="872" name="Google Shape;872;p60"/>
          <p:cNvSpPr txBox="1"/>
          <p:nvPr/>
        </p:nvSpPr>
        <p:spPr>
          <a:xfrm>
            <a:off x="548640" y="4251960"/>
            <a:ext cx="11094415" cy="640080"/>
          </a:xfrm>
          <a:prstGeom prst="rect">
            <a:avLst/>
          </a:prstGeom>
          <a:solidFill>
            <a:schemeClr val="lt1"/>
          </a:solidFill>
          <a:ln cap="flat" cmpd="sng" w="25400">
            <a:solidFill>
              <a:schemeClr val="accent4"/>
            </a:solidFill>
            <a:prstDash val="solid"/>
            <a:round/>
            <a:headEnd len="sm" w="sm" type="none"/>
            <a:tailEnd len="sm" w="sm" type="none"/>
          </a:ln>
        </p:spPr>
        <p:txBody>
          <a:bodyPr anchorCtr="0" anchor="ctr" bIns="38100" lIns="38100" spcFirstLastPara="1" rIns="76200" wrap="square" tIns="76200">
            <a:noAutofit/>
          </a:bodyPr>
          <a:lstStyle/>
          <a:p>
            <a:pPr indent="0" lvl="0" marL="0" marR="0" rtl="0" algn="l">
              <a:lnSpc>
                <a:spcPct val="100000"/>
              </a:lnSpc>
              <a:spcBef>
                <a:spcPts val="0"/>
              </a:spcBef>
              <a:spcAft>
                <a:spcPts val="0"/>
              </a:spcAft>
              <a:buClr>
                <a:schemeClr val="dk1"/>
              </a:buClr>
              <a:buSzPts val="1100"/>
              <a:buFont typeface="Raleway SemiBold"/>
              <a:buNone/>
            </a:pPr>
            <a:r>
              <a:rPr b="1" i="0" lang="en-US" spc="0" sz="1100" u="none" cap="none" strike="noStrike">
                <a:solidFill>
                  <a:schemeClr val="dk1"/>
                </a:solidFill>
                <a:latin typeface="Raleway SemiBold"/>
                <a:ea typeface="Raleway SemiBold"/>
                <a:cs typeface="Raleway SemiBold"/>
                <a:sym typeface="Raleway SemiBold"/>
              </a:rPr>
              <a:t>TO DECIDE  </a:t>
            </a:r>
            <a:r>
              <a:rPr b="0" i="0" lang="en-US" spc="0" sz="1100" u="none" cap="none" strike="noStrike">
                <a:solidFill>
                  <a:schemeClr val="dk1"/>
                </a:solidFill>
                <a:latin typeface="Raleway Light"/>
                <a:ea typeface="Raleway Light"/>
                <a:cs typeface="Raleway Light"/>
                <a:sym typeface="Raleway Light"/>
              </a:rPr>
              <a:t>The indicative price line is removed: nothing may be priced until confirmed. Pricing belongs in each organiser's proposal.</a:t>
            </a:r>
            <a:endParaRPr b="0" i="0" spc="0" sz="1100" u="none" cap="none" strike="noStrike">
              <a:solidFill>
                <a:schemeClr val="dk1"/>
              </a:solidFill>
              <a:latin typeface="Raleway Light"/>
              <a:ea typeface="Raleway Light"/>
              <a:cs typeface="Raleway Light"/>
              <a:sym typeface="Raleway Light"/>
            </a:endParaRPr>
          </a:p>
        </p:txBody>
      </p:sp>
      <p:sp>
        <p:nvSpPr>
          <p:cNvPr id="873" name="Google Shape;873;p60"/>
          <p:cNvSpPr txBox="1"/>
          <p:nvPr>
            <p:ph idx="4294967295" type="sldNum"/>
          </p:nvPr>
        </p:nvSpPr>
        <p:spPr>
          <a:xfrm>
            <a:off x="10180015" y="6355080"/>
            <a:ext cx="365760" cy="2743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000"/>
              <a:buNone/>
            </a:pPr>
            <a:fld id="{00000000-1234-1234-1234-123412341234}" type="slidenum">
              <a:rPr b="0" i="0" lang="en-US" sz="1000" u="none" cap="none" strike="noStrike">
                <a:solidFill>
                  <a:schemeClr val="dk1"/>
                </a:solidFill>
                <a:latin typeface="Raleway Light"/>
                <a:ea typeface="Raleway Light"/>
                <a:cs typeface="Raleway Light"/>
                <a:sym typeface="Raleway Light"/>
              </a:rPr>
              <a:t>‹#›</a:t>
            </a:fld>
            <a:endParaRPr b="0" i="0" sz="1000" u="none" cap="none" strike="noStrike">
              <a:solidFill>
                <a:schemeClr val="dk1"/>
              </a:solidFill>
              <a:latin typeface="Raleway Light"/>
              <a:ea typeface="Raleway Light"/>
              <a:cs typeface="Raleway Light"/>
              <a:sym typeface="Raleway Light"/>
            </a:endParaRPr>
          </a:p>
        </p:txBody>
      </p:sp>
      <p:sp>
        <p:nvSpPr>
          <p:cNvPr id="874" name="Google Shape;874;p60"/>
          <p:cNvSpPr/>
          <p:nvPr/>
        </p:nvSpPr>
        <p:spPr>
          <a:xfrm>
            <a:off x="0" y="0"/>
            <a:ext cx="12191700" cy="329100"/>
          </a:xfrm>
          <a:prstGeom prst="rect">
            <a:avLst/>
          </a:prstGeom>
          <a:solidFill>
            <a:srgbClr val="565A32"/>
          </a:solidFill>
          <a:ln cap="flat" cmpd="sng" w="12700">
            <a:solidFill>
              <a:srgbClr val="565A3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9" name="Shape 879"/>
        <p:cNvGrpSpPr/>
        <p:nvPr/>
      </p:nvGrpSpPr>
      <p:grpSpPr>
        <a:xfrm>
          <a:off x="0" y="0"/>
          <a:ext cx="0" cy="0"/>
          <a:chOff x="0" y="0"/>
          <a:chExt cx="0" cy="0"/>
        </a:xfrm>
      </p:grpSpPr>
      <p:sp>
        <p:nvSpPr>
          <p:cNvPr id="880" name="Google Shape;880;p61"/>
          <p:cNvSpPr txBox="1"/>
          <p:nvPr>
            <p:ph type="title"/>
          </p:nvPr>
        </p:nvSpPr>
        <p:spPr>
          <a:xfrm>
            <a:off x="548640" y="411480"/>
            <a:ext cx="8138160" cy="68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3600"/>
              <a:buFont typeface="Raleway Light"/>
              <a:buNone/>
            </a:pPr>
            <a:r>
              <a:rPr lang="en-US" sz="3600">
                <a:solidFill>
                  <a:schemeClr val="dk1"/>
                </a:solidFill>
                <a:latin typeface="Raleway Light"/>
                <a:ea typeface="Raleway Light"/>
                <a:cs typeface="Raleway Light"/>
                <a:sym typeface="Raleway Light"/>
              </a:rPr>
              <a:t>How we'll show it working</a:t>
            </a:r>
            <a:endParaRPr sz="3600"/>
          </a:p>
        </p:txBody>
      </p:sp>
      <p:sp>
        <p:nvSpPr>
          <p:cNvPr id="881" name="Google Shape;881;p61"/>
          <p:cNvSpPr txBox="1"/>
          <p:nvPr>
            <p:ph idx="1" type="body"/>
          </p:nvPr>
        </p:nvSpPr>
        <p:spPr>
          <a:xfrm>
            <a:off x="548640" y="1115568"/>
            <a:ext cx="11094415" cy="4114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800"/>
              <a:buNone/>
            </a:pPr>
            <a:r>
              <a:rPr lang="en-US" sz="1800">
                <a:solidFill>
                  <a:schemeClr val="dk1"/>
                </a:solidFill>
                <a:latin typeface="Raleway Light"/>
                <a:ea typeface="Raleway Light"/>
                <a:cs typeface="Raleway Light"/>
                <a:sym typeface="Raleway Light"/>
              </a:rPr>
              <a:t>The experience and evidence first.</a:t>
            </a:r>
            <a:endParaRPr sz="1800"/>
          </a:p>
        </p:txBody>
      </p:sp>
      <p:sp>
        <p:nvSpPr>
          <p:cNvPr id="882" name="Google Shape;882;p61"/>
          <p:cNvSpPr/>
          <p:nvPr/>
        </p:nvSpPr>
        <p:spPr>
          <a:xfrm>
            <a:off x="9265615" y="457200"/>
            <a:ext cx="2377440" cy="384048"/>
          </a:xfrm>
          <a:prstGeom prst="roundRect">
            <a:avLst>
              <a:gd fmla="val 50000" name="adj"/>
            </a:avLst>
          </a:prstGeom>
          <a:solidFill>
            <a:schemeClr val="accent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1400"/>
              <a:buFont typeface="Raleway SemiBold"/>
              <a:buNone/>
            </a:pPr>
            <a:r>
              <a:rPr b="1" i="0" lang="en-US" spc="0" sz="1400" u="none" cap="none" strike="noStrike">
                <a:solidFill>
                  <a:schemeClr val="dk1"/>
                </a:solidFill>
                <a:latin typeface="Raleway SemiBold"/>
                <a:ea typeface="Raleway SemiBold"/>
                <a:cs typeface="Raleway SemiBold"/>
                <a:sym typeface="Raleway SemiBold"/>
              </a:rPr>
              <a:t>EVENT MODE</a:t>
            </a:r>
            <a:endParaRPr b="0" i="0" spc="0" sz="1400" u="none" cap="none" strike="noStrike">
              <a:solidFill>
                <a:schemeClr val="dk1"/>
              </a:solidFill>
              <a:latin typeface="Raleway Light"/>
              <a:ea typeface="Raleway Light"/>
              <a:cs typeface="Raleway Light"/>
              <a:sym typeface="Raleway Light"/>
            </a:endParaRPr>
          </a:p>
        </p:txBody>
      </p:sp>
      <p:sp>
        <p:nvSpPr>
          <p:cNvPr id="883" name="Google Shape;883;p61"/>
          <p:cNvSpPr/>
          <p:nvPr/>
        </p:nvSpPr>
        <p:spPr>
          <a:xfrm>
            <a:off x="548640" y="1783080"/>
            <a:ext cx="3515258" cy="2377440"/>
          </a:xfrm>
          <a:prstGeom prst="roundRect">
            <a:avLst>
              <a:gd fmla="val 4615" name="adj"/>
            </a:avLst>
          </a:prstGeom>
          <a:solidFill>
            <a:schemeClr val="lt1"/>
          </a:solidFill>
          <a:ln cap="flat" cmpd="sng" w="12700">
            <a:solidFill>
              <a:schemeClr val="lt1"/>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84" name="Google Shape;884;p61"/>
          <p:cNvSpPr txBox="1"/>
          <p:nvPr/>
        </p:nvSpPr>
        <p:spPr>
          <a:xfrm>
            <a:off x="777240" y="2011680"/>
            <a:ext cx="3058058" cy="2011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Raleway SemiBold"/>
              <a:buNone/>
            </a:pPr>
            <a:r>
              <a:rPr b="1" i="0" lang="en-US" spc="0" sz="1200" u="none" cap="none" strike="noStrike">
                <a:solidFill>
                  <a:schemeClr val="dk1"/>
                </a:solidFill>
                <a:latin typeface="Raleway SemiBold"/>
                <a:ea typeface="Raleway SemiBold"/>
                <a:cs typeface="Raleway SemiBold"/>
                <a:sym typeface="Raleway SemiBold"/>
              </a:rPr>
              <a:t>CLICKABLE PROTOTYPE</a:t>
            </a:r>
            <a:endParaRPr b="0" i="0" spc="0" sz="1500" u="none" cap="none" strike="noStrike">
              <a:solidFill>
                <a:schemeClr val="dk1"/>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chemeClr val="dk1"/>
              </a:buClr>
              <a:buSzPts val="600"/>
              <a:buFont typeface="Raleway Light"/>
              <a:buNone/>
            </a:pPr>
            <a:r>
              <a:rPr b="0" i="0" lang="en-US" spc="0" sz="600" u="none" cap="none" strike="noStrike">
                <a:solidFill>
                  <a:schemeClr val="dk1"/>
                </a:solidFill>
                <a:latin typeface="Raleway Light"/>
                <a:ea typeface="Raleway Light"/>
                <a:cs typeface="Raleway Light"/>
                <a:sym typeface="Raleway Light"/>
              </a:rPr>
              <a:t> </a:t>
            </a:r>
            <a:endParaRPr b="0" i="0" spc="0" sz="1500" u="none" cap="none" strike="noStrike">
              <a:solidFill>
                <a:schemeClr val="dk1"/>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chemeClr val="dk1"/>
              </a:buClr>
              <a:buSzPts val="1500"/>
              <a:buFont typeface="Raleway Light"/>
              <a:buNone/>
            </a:pPr>
            <a:r>
              <a:rPr b="0" i="0" lang="en-US" spc="0" sz="1500" u="none" cap="none" strike="noStrike">
                <a:solidFill>
                  <a:schemeClr val="dk1"/>
                </a:solidFill>
                <a:latin typeface="Raleway Light"/>
                <a:ea typeface="Raleway Light"/>
                <a:cs typeface="Raleway Light"/>
                <a:sym typeface="Raleway Light"/>
              </a:rPr>
              <a:t>Your visitors' screens: discover, Meet the Maker, tasting prompts, save, crown, join in, memories and consent.</a:t>
            </a:r>
            <a:endParaRPr b="0" i="0" spc="0" sz="1500" u="none" cap="none" strike="noStrike">
              <a:solidFill>
                <a:schemeClr val="dk1"/>
              </a:solidFill>
              <a:latin typeface="Raleway Light"/>
              <a:ea typeface="Raleway Light"/>
              <a:cs typeface="Raleway Light"/>
              <a:sym typeface="Raleway Light"/>
            </a:endParaRPr>
          </a:p>
        </p:txBody>
      </p:sp>
      <p:sp>
        <p:nvSpPr>
          <p:cNvPr id="885" name="Google Shape;885;p61"/>
          <p:cNvSpPr/>
          <p:nvPr/>
        </p:nvSpPr>
        <p:spPr>
          <a:xfrm>
            <a:off x="4338218" y="1783080"/>
            <a:ext cx="3515258" cy="2377440"/>
          </a:xfrm>
          <a:prstGeom prst="roundRect">
            <a:avLst>
              <a:gd fmla="val 4615" name="adj"/>
            </a:avLst>
          </a:prstGeom>
          <a:solidFill>
            <a:schemeClr val="lt1"/>
          </a:solidFill>
          <a:ln cap="flat" cmpd="sng" w="12700">
            <a:solidFill>
              <a:schemeClr val="lt1"/>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86" name="Google Shape;886;p61"/>
          <p:cNvSpPr txBox="1"/>
          <p:nvPr/>
        </p:nvSpPr>
        <p:spPr>
          <a:xfrm>
            <a:off x="4566818" y="2011680"/>
            <a:ext cx="3058058" cy="2011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Raleway SemiBold"/>
              <a:buNone/>
            </a:pPr>
            <a:r>
              <a:rPr b="1" i="0" lang="en-US" spc="0" sz="1200" u="none" cap="none" strike="noStrike">
                <a:solidFill>
                  <a:schemeClr val="dk1"/>
                </a:solidFill>
                <a:latin typeface="Raleway SemiBold"/>
                <a:ea typeface="Raleway SemiBold"/>
                <a:cs typeface="Raleway SemiBold"/>
                <a:sym typeface="Raleway SemiBold"/>
              </a:rPr>
              <a:t>EXAMPLE INSIGHT REPORT</a:t>
            </a:r>
            <a:endParaRPr b="0" i="0" spc="0" sz="1500" u="none" cap="none" strike="noStrike">
              <a:solidFill>
                <a:schemeClr val="dk1"/>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chemeClr val="dk1"/>
              </a:buClr>
              <a:buSzPts val="600"/>
              <a:buFont typeface="Raleway Light"/>
              <a:buNone/>
            </a:pPr>
            <a:r>
              <a:rPr b="0" i="0" lang="en-US" spc="0" sz="600" u="none" cap="none" strike="noStrike">
                <a:solidFill>
                  <a:schemeClr val="dk1"/>
                </a:solidFill>
                <a:latin typeface="Raleway Light"/>
                <a:ea typeface="Raleway Light"/>
                <a:cs typeface="Raleway Light"/>
                <a:sym typeface="Raleway Light"/>
              </a:rPr>
              <a:t> </a:t>
            </a:r>
            <a:endParaRPr b="0" i="0" spc="0" sz="1500" u="none" cap="none" strike="noStrike">
              <a:solidFill>
                <a:schemeClr val="dk1"/>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chemeClr val="dk1"/>
              </a:buClr>
              <a:buSzPts val="1500"/>
              <a:buFont typeface="Raleway Light"/>
              <a:buNone/>
            </a:pPr>
            <a:r>
              <a:rPr b="0" i="0" lang="en-US" spc="0" sz="1500" u="none" cap="none" strike="noStrike">
                <a:solidFill>
                  <a:schemeClr val="dk1"/>
                </a:solidFill>
                <a:latin typeface="Raleway Light"/>
                <a:ea typeface="Raleway Light"/>
                <a:cs typeface="Raleway Light"/>
                <a:sym typeface="Raleway Light"/>
              </a:rPr>
              <a:t>An illustrative dashboard and post-event report. Every number tied to a real interaction.</a:t>
            </a:r>
            <a:endParaRPr b="0" i="0" spc="0" sz="1500" u="none" cap="none" strike="noStrike">
              <a:solidFill>
                <a:schemeClr val="dk1"/>
              </a:solidFill>
              <a:latin typeface="Raleway Light"/>
              <a:ea typeface="Raleway Light"/>
              <a:cs typeface="Raleway Light"/>
              <a:sym typeface="Raleway Light"/>
            </a:endParaRPr>
          </a:p>
        </p:txBody>
      </p:sp>
      <p:sp>
        <p:nvSpPr>
          <p:cNvPr id="887" name="Google Shape;887;p61"/>
          <p:cNvSpPr/>
          <p:nvPr/>
        </p:nvSpPr>
        <p:spPr>
          <a:xfrm>
            <a:off x="8127797" y="1783080"/>
            <a:ext cx="3515258" cy="2377440"/>
          </a:xfrm>
          <a:prstGeom prst="roundRect">
            <a:avLst>
              <a:gd fmla="val 4615" name="adj"/>
            </a:avLst>
          </a:prstGeom>
          <a:solidFill>
            <a:schemeClr val="lt1"/>
          </a:solidFill>
          <a:ln cap="flat" cmpd="sng" w="12700">
            <a:solidFill>
              <a:schemeClr val="lt1"/>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888" name="Google Shape;888;p61"/>
          <p:cNvSpPr txBox="1"/>
          <p:nvPr/>
        </p:nvSpPr>
        <p:spPr>
          <a:xfrm>
            <a:off x="8356397" y="2011680"/>
            <a:ext cx="3058058" cy="2011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200"/>
              <a:buFont typeface="Raleway SemiBold"/>
              <a:buNone/>
            </a:pPr>
            <a:r>
              <a:rPr b="1" i="0" lang="en-US" spc="0" sz="1200" u="none" cap="none" strike="noStrike">
                <a:solidFill>
                  <a:schemeClr val="dk1"/>
                </a:solidFill>
                <a:latin typeface="Raleway SemiBold"/>
                <a:ea typeface="Raleway SemiBold"/>
                <a:cs typeface="Raleway SemiBold"/>
                <a:sym typeface="Raleway SemiBold"/>
              </a:rPr>
              <a:t>FIRST EVENT PILOT</a:t>
            </a:r>
            <a:endParaRPr b="0" i="0" spc="0" sz="1500" u="none" cap="none" strike="noStrike">
              <a:solidFill>
                <a:schemeClr val="dk1"/>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chemeClr val="dk1"/>
              </a:buClr>
              <a:buSzPts val="600"/>
              <a:buFont typeface="Raleway Light"/>
              <a:buNone/>
            </a:pPr>
            <a:r>
              <a:rPr b="0" i="0" lang="en-US" spc="0" sz="600" u="none" cap="none" strike="noStrike">
                <a:solidFill>
                  <a:schemeClr val="dk1"/>
                </a:solidFill>
                <a:latin typeface="Raleway Light"/>
                <a:ea typeface="Raleway Light"/>
                <a:cs typeface="Raleway Light"/>
                <a:sym typeface="Raleway Light"/>
              </a:rPr>
              <a:t> </a:t>
            </a:r>
            <a:endParaRPr b="0" i="0" spc="0" sz="1500" u="none" cap="none" strike="noStrike">
              <a:solidFill>
                <a:schemeClr val="dk1"/>
              </a:solidFill>
              <a:latin typeface="Raleway Light"/>
              <a:ea typeface="Raleway Light"/>
              <a:cs typeface="Raleway Light"/>
              <a:sym typeface="Raleway Light"/>
            </a:endParaRPr>
          </a:p>
          <a:p>
            <a:pPr indent="0" lvl="0" marL="0" marR="0" rtl="0" algn="l">
              <a:lnSpc>
                <a:spcPct val="100000"/>
              </a:lnSpc>
              <a:spcBef>
                <a:spcPts val="400"/>
              </a:spcBef>
              <a:spcAft>
                <a:spcPts val="0"/>
              </a:spcAft>
              <a:buClr>
                <a:schemeClr val="dk1"/>
              </a:buClr>
              <a:buSzPts val="1500"/>
              <a:buFont typeface="Raleway Light"/>
              <a:buNone/>
            </a:pPr>
            <a:r>
              <a:rPr b="0" i="0" lang="en-US" spc="0" sz="1500" u="none" cap="none" strike="noStrike">
                <a:solidFill>
                  <a:schemeClr val="dk1"/>
                </a:solidFill>
                <a:latin typeface="Raleway Light"/>
                <a:ea typeface="Raleway Light"/>
                <a:cs typeface="Raleway Light"/>
                <a:sym typeface="Raleway Light"/>
              </a:rPr>
              <a:t>Defined scope, costs, responsibilities, no exclusivity, and measures of success for your first event.</a:t>
            </a:r>
            <a:endParaRPr b="0" i="0" spc="0" sz="1500" u="none" cap="none" strike="noStrike">
              <a:solidFill>
                <a:schemeClr val="dk1"/>
              </a:solidFill>
              <a:latin typeface="Raleway Light"/>
              <a:ea typeface="Raleway Light"/>
              <a:cs typeface="Raleway Light"/>
              <a:sym typeface="Raleway Light"/>
            </a:endParaRPr>
          </a:p>
        </p:txBody>
      </p:sp>
      <p:sp>
        <p:nvSpPr>
          <p:cNvPr id="889" name="Google Shape;889;p61"/>
          <p:cNvSpPr txBox="1"/>
          <p:nvPr/>
        </p:nvSpPr>
        <p:spPr>
          <a:xfrm>
            <a:off x="548640" y="4434840"/>
            <a:ext cx="11094415" cy="777240"/>
          </a:xfrm>
          <a:prstGeom prst="rect">
            <a:avLst/>
          </a:prstGeom>
          <a:solidFill>
            <a:schemeClr val="lt1"/>
          </a:solidFill>
          <a:ln cap="flat" cmpd="sng" w="25400">
            <a:solidFill>
              <a:schemeClr val="accent4"/>
            </a:solidFill>
            <a:prstDash val="solid"/>
            <a:round/>
            <a:headEnd len="sm" w="sm" type="none"/>
            <a:tailEnd len="sm" w="sm" type="none"/>
          </a:ln>
        </p:spPr>
        <p:txBody>
          <a:bodyPr anchorCtr="0" anchor="ctr" bIns="38100" lIns="38100" spcFirstLastPara="1" rIns="76200" wrap="square" tIns="76200">
            <a:noAutofit/>
          </a:bodyPr>
          <a:lstStyle/>
          <a:p>
            <a:pPr indent="0" lvl="0" marL="0" marR="0" rtl="0" algn="l">
              <a:lnSpc>
                <a:spcPct val="100000"/>
              </a:lnSpc>
              <a:spcBef>
                <a:spcPts val="0"/>
              </a:spcBef>
              <a:spcAft>
                <a:spcPts val="0"/>
              </a:spcAft>
              <a:buClr>
                <a:schemeClr val="dk1"/>
              </a:buClr>
              <a:buSzPts val="1100"/>
              <a:buFont typeface="Raleway SemiBold"/>
              <a:buNone/>
            </a:pPr>
            <a:r>
              <a:rPr b="1" i="0" lang="en-US" spc="0" sz="1100" u="none" cap="none" strike="noStrike">
                <a:solidFill>
                  <a:schemeClr val="dk1"/>
                </a:solidFill>
                <a:latin typeface="Raleway SemiBold"/>
                <a:ea typeface="Raleway SemiBold"/>
                <a:cs typeface="Raleway SemiBold"/>
                <a:sym typeface="Raleway SemiBold"/>
              </a:rPr>
              <a:t>TO CONFIRM  </a:t>
            </a:r>
            <a:r>
              <a:rPr b="0" i="0" lang="en-US" spc="0" sz="1100" u="none" cap="none" strike="noStrike">
                <a:solidFill>
                  <a:schemeClr val="dk1"/>
                </a:solidFill>
                <a:latin typeface="Raleway Light"/>
                <a:ea typeface="Raleway Light"/>
                <a:cs typeface="Raleway Light"/>
                <a:sym typeface="Raleway Light"/>
              </a:rPr>
              <a:t>Where each is today: prototype built and working (15 October), with visitor and organiser screens and stand QR cards. Report screens built (16 October), not yet seen by a partner. First pilot: planned.</a:t>
            </a:r>
            <a:endParaRPr b="0" i="0" spc="0" sz="1100" u="none" cap="none" strike="noStrike">
              <a:solidFill>
                <a:schemeClr val="dk1"/>
              </a:solidFill>
              <a:latin typeface="Raleway Light"/>
              <a:ea typeface="Raleway Light"/>
              <a:cs typeface="Raleway Light"/>
              <a:sym typeface="Raleway Light"/>
            </a:endParaRPr>
          </a:p>
        </p:txBody>
      </p:sp>
      <p:sp>
        <p:nvSpPr>
          <p:cNvPr id="890" name="Google Shape;890;p61"/>
          <p:cNvSpPr txBox="1"/>
          <p:nvPr>
            <p:ph idx="4294967295" type="sldNum"/>
          </p:nvPr>
        </p:nvSpPr>
        <p:spPr>
          <a:xfrm>
            <a:off x="10180015" y="6355080"/>
            <a:ext cx="365760" cy="2743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000"/>
              <a:buNone/>
            </a:pPr>
            <a:fld id="{00000000-1234-1234-1234-123412341234}" type="slidenum">
              <a:rPr b="0" i="0" lang="en-US" sz="1000" u="none" cap="none" strike="noStrike">
                <a:solidFill>
                  <a:schemeClr val="dk1"/>
                </a:solidFill>
                <a:latin typeface="Raleway Light"/>
                <a:ea typeface="Raleway Light"/>
                <a:cs typeface="Raleway Light"/>
                <a:sym typeface="Raleway Light"/>
              </a:rPr>
              <a:t>‹#›</a:t>
            </a:fld>
            <a:endParaRPr b="0" i="0" sz="1000" u="none" cap="none" strike="noStrike">
              <a:solidFill>
                <a:schemeClr val="dk1"/>
              </a:solidFill>
              <a:latin typeface="Raleway Light"/>
              <a:ea typeface="Raleway Light"/>
              <a:cs typeface="Raleway Light"/>
              <a:sym typeface="Raleway Light"/>
            </a:endParaRPr>
          </a:p>
        </p:txBody>
      </p:sp>
      <p:sp>
        <p:nvSpPr>
          <p:cNvPr id="891" name="Google Shape;891;p61"/>
          <p:cNvSpPr/>
          <p:nvPr/>
        </p:nvSpPr>
        <p:spPr>
          <a:xfrm>
            <a:off x="0" y="0"/>
            <a:ext cx="12191700" cy="329100"/>
          </a:xfrm>
          <a:prstGeom prst="rect">
            <a:avLst/>
          </a:prstGeom>
          <a:solidFill>
            <a:srgbClr val="565A32"/>
          </a:solidFill>
          <a:ln cap="flat" cmpd="sng" w="12700">
            <a:solidFill>
              <a:srgbClr val="565A3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AE0"/>
        </a:solidFill>
      </p:bgPr>
    </p:bg>
    <p:spTree>
      <p:nvGrpSpPr>
        <p:cNvPr id="896" name="Shape 896"/>
        <p:cNvGrpSpPr/>
        <p:nvPr/>
      </p:nvGrpSpPr>
      <p:grpSpPr>
        <a:xfrm>
          <a:off x="0" y="0"/>
          <a:ext cx="0" cy="0"/>
          <a:chOff x="0" y="0"/>
          <a:chExt cx="0" cy="0"/>
        </a:xfrm>
      </p:grpSpPr>
      <p:sp>
        <p:nvSpPr>
          <p:cNvPr id="897" name="Google Shape;897;p62"/>
          <p:cNvSpPr txBox="1"/>
          <p:nvPr/>
        </p:nvSpPr>
        <p:spPr>
          <a:xfrm>
            <a:off x="685800" y="475488"/>
            <a:ext cx="8229600" cy="530400"/>
          </a:xfrm>
          <a:prstGeom prst="rect">
            <a:avLst/>
          </a:prstGeom>
          <a:noFill/>
          <a:ln>
            <a:noFill/>
          </a:ln>
        </p:spPr>
        <p:txBody>
          <a:bodyPr anchorCtr="0" anchor="t" bIns="0" lIns="0" spcFirstLastPara="1" rIns="0" wrap="square" tIns="0">
            <a:normAutofit fontScale="92500" lnSpcReduction="10000"/>
          </a:bodyPr>
          <a:lstStyle/>
          <a:p>
            <a:pPr indent="0" lvl="0" marL="0" marR="0" rtl="0" algn="l">
              <a:lnSpc>
                <a:spcPct val="100000"/>
              </a:lnSpc>
              <a:spcBef>
                <a:spcPts val="0"/>
              </a:spcBef>
              <a:spcAft>
                <a:spcPts val="0"/>
              </a:spcAft>
              <a:buClr>
                <a:srgbClr val="565A32"/>
              </a:buClr>
              <a:buSzPct val="100000"/>
              <a:buFont typeface="Raleway Light"/>
              <a:buNone/>
            </a:pPr>
            <a:r>
              <a:rPr b="0" i="0" lang="en-US" spc="0" sz="3800" u="none" cap="none" strike="noStrike">
                <a:solidFill>
                  <a:srgbClr val="565A32"/>
                </a:solidFill>
                <a:latin typeface="Raleway Light"/>
                <a:ea typeface="Raleway Light"/>
                <a:cs typeface="Raleway Light"/>
                <a:sym typeface="Raleway Light"/>
              </a:rPr>
              <a:t>A founding partnership, not exclusivity</a:t>
            </a:r>
            <a:endParaRPr b="0" i="0" spc="0" sz="3800" u="none" cap="none" strike="noStrike">
              <a:solidFill>
                <a:schemeClr val="dk1"/>
              </a:solidFill>
              <a:latin typeface="Raleway Light"/>
              <a:ea typeface="Raleway Light"/>
              <a:cs typeface="Raleway Light"/>
              <a:sym typeface="Raleway Light"/>
            </a:endParaRPr>
          </a:p>
        </p:txBody>
      </p:sp>
      <p:sp>
        <p:nvSpPr>
          <p:cNvPr id="898" name="Google Shape;898;p62"/>
          <p:cNvSpPr txBox="1"/>
          <p:nvPr/>
        </p:nvSpPr>
        <p:spPr>
          <a:xfrm>
            <a:off x="685800" y="1042416"/>
            <a:ext cx="8503800" cy="3840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565A32"/>
              </a:buClr>
              <a:buSzPts val="1900"/>
              <a:buFont typeface="Raleway Light"/>
              <a:buNone/>
            </a:pPr>
            <a:r>
              <a:rPr b="0" i="0" lang="en-US" spc="0" sz="1900" u="none" cap="none" strike="noStrike">
                <a:solidFill>
                  <a:srgbClr val="565A32"/>
                </a:solidFill>
                <a:latin typeface="Raleway Light"/>
                <a:ea typeface="Raleway Light"/>
                <a:cs typeface="Raleway Light"/>
                <a:sym typeface="Raleway Light"/>
              </a:rPr>
              <a:t>Help shape the Entre Amis event experience.</a:t>
            </a:r>
            <a:endParaRPr b="0" i="0" spc="0" sz="2600" u="none" cap="none" strike="noStrike">
              <a:solidFill>
                <a:schemeClr val="dk1"/>
              </a:solidFill>
              <a:latin typeface="Raleway Light"/>
              <a:ea typeface="Raleway Light"/>
              <a:cs typeface="Raleway Light"/>
              <a:sym typeface="Raleway Light"/>
            </a:endParaRPr>
          </a:p>
        </p:txBody>
      </p:sp>
      <p:sp>
        <p:nvSpPr>
          <p:cNvPr id="899" name="Google Shape;899;p62"/>
          <p:cNvSpPr txBox="1"/>
          <p:nvPr/>
        </p:nvSpPr>
        <p:spPr>
          <a:xfrm>
            <a:off x="685800" y="6355080"/>
            <a:ext cx="4114800" cy="2376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565A32"/>
              </a:buClr>
              <a:buSzPts val="1300"/>
              <a:buFont typeface="Raleway Light"/>
              <a:buNone/>
            </a:pPr>
            <a:r>
              <a:rPr b="0" i="0" lang="en-US" spc="0" sz="1300" u="none" cap="none" strike="noStrike">
                <a:solidFill>
                  <a:srgbClr val="565A32"/>
                </a:solidFill>
                <a:latin typeface="Raleway Light"/>
                <a:ea typeface="Raleway Light"/>
                <a:cs typeface="Raleway Light"/>
                <a:sym typeface="Raleway Light"/>
              </a:rPr>
              <a:t>Say what you really think.</a:t>
            </a:r>
            <a:endParaRPr b="0" i="0" spc="0" sz="1300" u="none" cap="none" strike="noStrike">
              <a:solidFill>
                <a:schemeClr val="dk1"/>
              </a:solidFill>
              <a:latin typeface="Raleway Light"/>
              <a:ea typeface="Raleway Light"/>
              <a:cs typeface="Raleway Light"/>
              <a:sym typeface="Raleway Light"/>
            </a:endParaRPr>
          </a:p>
        </p:txBody>
      </p:sp>
      <p:pic>
        <p:nvPicPr>
          <p:cNvPr id="900" name="Google Shape;900;p62" title="Copy_of_Untitled-removebg-preview.png"/>
          <p:cNvPicPr preferRelativeResize="0"/>
          <p:nvPr/>
        </p:nvPicPr>
        <p:blipFill rotWithShape="1">
          <a:blip r:embed="rId3">
            <a:alphaModFix/>
          </a:blip>
          <a:srcRect b="0" l="0" r="0" t="0"/>
          <a:stretch/>
        </p:blipFill>
        <p:spPr>
          <a:xfrm>
            <a:off x="9834990" y="5349262"/>
            <a:ext cx="1508730" cy="1508730"/>
          </a:xfrm>
          <a:prstGeom prst="rect">
            <a:avLst/>
          </a:prstGeom>
          <a:noFill/>
          <a:ln>
            <a:noFill/>
          </a:ln>
        </p:spPr>
      </p:pic>
      <p:sp>
        <p:nvSpPr>
          <p:cNvPr id="901" name="Google Shape;901;p62"/>
          <p:cNvSpPr txBox="1"/>
          <p:nvPr/>
        </p:nvSpPr>
        <p:spPr>
          <a:xfrm>
            <a:off x="685800" y="2249350"/>
            <a:ext cx="10142400" cy="2462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US" spc="0" sz="1800" u="none" cap="none" strike="noStrike">
                <a:solidFill>
                  <a:srgbClr val="565A32"/>
                </a:solidFill>
                <a:latin typeface="Raleway"/>
                <a:ea typeface="Raleway"/>
                <a:cs typeface="Raleway"/>
                <a:sym typeface="Raleway"/>
              </a:rPr>
              <a:t>Founding experience partner</a:t>
            </a:r>
            <a:endParaRPr b="1" i="0" spc="0" sz="1800" u="none" cap="none" strike="noStrike">
              <a:solidFill>
                <a:srgbClr val="565A32"/>
              </a:solidFill>
              <a:latin typeface="Raleway"/>
              <a:ea typeface="Raleway"/>
              <a:cs typeface="Raleway"/>
              <a:sym typeface="Raleway"/>
            </a:endParaRPr>
          </a:p>
          <a:p>
            <a:pPr indent="0" lvl="0" marL="0" marR="0" rtl="0" algn="l">
              <a:lnSpc>
                <a:spcPct val="100000"/>
              </a:lnSpc>
              <a:spcBef>
                <a:spcPts val="0"/>
              </a:spcBef>
              <a:spcAft>
                <a:spcPts val="0"/>
              </a:spcAft>
              <a:buClr>
                <a:schemeClr val="dk1"/>
              </a:buClr>
              <a:buSzPts val="1500"/>
              <a:buFont typeface="Arial"/>
              <a:buNone/>
            </a:pPr>
            <a:r>
              <a:rPr b="0" i="0" lang="en-US" spc="0" sz="1500" u="none" cap="none" strike="noStrike">
                <a:solidFill>
                  <a:srgbClr val="565A32"/>
                </a:solidFill>
                <a:latin typeface="Raleway Light"/>
                <a:ea typeface="Raleway Light"/>
                <a:cs typeface="Raleway Light"/>
                <a:sym typeface="Raleway Light"/>
              </a:rPr>
              <a:t>Co-design input, launch recognition, tailored event configuration and a shared post-event learning review.</a:t>
            </a:r>
            <a:endParaRPr b="0" i="0" spc="0" sz="1800" u="none" cap="none" strike="noStrike">
              <a:solidFill>
                <a:srgbClr val="565A32"/>
              </a:solidFill>
              <a:latin typeface="Raleway Light"/>
              <a:ea typeface="Raleway Light"/>
              <a:cs typeface="Raleway Light"/>
              <a:sym typeface="Raleway Light"/>
            </a:endParaRPr>
          </a:p>
          <a:p>
            <a:pPr indent="0" lvl="0" marL="0" marR="0" rtl="0" algn="l">
              <a:lnSpc>
                <a:spcPct val="100000"/>
              </a:lnSpc>
              <a:spcBef>
                <a:spcPts val="0"/>
              </a:spcBef>
              <a:spcAft>
                <a:spcPts val="0"/>
              </a:spcAft>
              <a:buClr>
                <a:srgbClr val="000000"/>
              </a:buClr>
              <a:buSzPts val="1800"/>
              <a:buFont typeface="Arial"/>
              <a:buNone/>
            </a:pPr>
            <a:r>
              <a:t/>
            </a:r>
            <a:endParaRPr b="0" i="0" spc="0" sz="1800" u="none" cap="none" strike="noStrike">
              <a:solidFill>
                <a:srgbClr val="565A32"/>
              </a:solidFill>
              <a:latin typeface="Raleway Light"/>
              <a:ea typeface="Raleway Light"/>
              <a:cs typeface="Raleway Light"/>
              <a:sym typeface="Raleway Light"/>
            </a:endParaRPr>
          </a:p>
          <a:p>
            <a:pPr indent="0" lvl="0" marL="0" marR="0" rtl="0" algn="l">
              <a:lnSpc>
                <a:spcPct val="100000"/>
              </a:lnSpc>
              <a:spcBef>
                <a:spcPts val="0"/>
              </a:spcBef>
              <a:spcAft>
                <a:spcPts val="0"/>
              </a:spcAft>
              <a:buClr>
                <a:srgbClr val="000000"/>
              </a:buClr>
              <a:buSzPts val="1800"/>
              <a:buFont typeface="Arial"/>
              <a:buNone/>
            </a:pPr>
            <a:r>
              <a:rPr b="1" i="0" lang="en-US" spc="0" sz="1800" u="none" cap="none" strike="noStrike">
                <a:solidFill>
                  <a:srgbClr val="565A32"/>
                </a:solidFill>
                <a:latin typeface="Raleway"/>
                <a:ea typeface="Raleway"/>
                <a:cs typeface="Raleway"/>
                <a:sym typeface="Raleway"/>
              </a:rPr>
              <a:t>Two-year insight benefit</a:t>
            </a:r>
            <a:endParaRPr b="1" i="0" spc="0" sz="1800" u="none" cap="none" strike="noStrike">
              <a:solidFill>
                <a:srgbClr val="565A32"/>
              </a:solidFill>
              <a:latin typeface="Raleway"/>
              <a:ea typeface="Raleway"/>
              <a:cs typeface="Raleway"/>
              <a:sym typeface="Raleway"/>
            </a:endParaRPr>
          </a:p>
          <a:p>
            <a:pPr indent="0" lvl="0" marL="0" marR="0" rtl="0" algn="l">
              <a:lnSpc>
                <a:spcPct val="100000"/>
              </a:lnSpc>
              <a:spcBef>
                <a:spcPts val="0"/>
              </a:spcBef>
              <a:spcAft>
                <a:spcPts val="0"/>
              </a:spcAft>
              <a:buClr>
                <a:schemeClr val="dk1"/>
              </a:buClr>
              <a:buSzPts val="1500"/>
              <a:buFont typeface="Arial"/>
              <a:buNone/>
            </a:pPr>
            <a:r>
              <a:rPr b="0" i="0" lang="en-US" spc="0" sz="1500" u="none" cap="none" strike="noStrike">
                <a:solidFill>
                  <a:srgbClr val="565A32"/>
                </a:solidFill>
                <a:latin typeface="Raleway Light"/>
                <a:ea typeface="Raleway Light"/>
                <a:cs typeface="Raleway Light"/>
                <a:sym typeface="Raleway Light"/>
              </a:rPr>
              <a:t>Enhanced reporting and strategic insight conversations, within defined deliverables and data-quality thresholds.</a:t>
            </a:r>
            <a:endParaRPr b="0" i="0" spc="0" sz="1800" u="none" cap="none" strike="noStrike">
              <a:solidFill>
                <a:srgbClr val="565A32"/>
              </a:solidFill>
              <a:latin typeface="Raleway Light"/>
              <a:ea typeface="Raleway Light"/>
              <a:cs typeface="Raleway Light"/>
              <a:sym typeface="Raleway Light"/>
            </a:endParaRPr>
          </a:p>
          <a:p>
            <a:pPr indent="0" lvl="0" marL="0" marR="0" rtl="0" algn="l">
              <a:lnSpc>
                <a:spcPct val="100000"/>
              </a:lnSpc>
              <a:spcBef>
                <a:spcPts val="0"/>
              </a:spcBef>
              <a:spcAft>
                <a:spcPts val="0"/>
              </a:spcAft>
              <a:buClr>
                <a:srgbClr val="000000"/>
              </a:buClr>
              <a:buSzPts val="1800"/>
              <a:buFont typeface="Arial"/>
              <a:buNone/>
            </a:pPr>
            <a:r>
              <a:t/>
            </a:r>
            <a:endParaRPr b="0" i="0" spc="0" sz="1800" u="none" cap="none" strike="noStrike">
              <a:solidFill>
                <a:srgbClr val="565A32"/>
              </a:solidFill>
              <a:latin typeface="Raleway Light"/>
              <a:ea typeface="Raleway Light"/>
              <a:cs typeface="Raleway Light"/>
              <a:sym typeface="Raleway Light"/>
            </a:endParaRPr>
          </a:p>
          <a:p>
            <a:pPr indent="0" lvl="0" marL="0" marR="0" rtl="0" algn="l">
              <a:lnSpc>
                <a:spcPct val="100000"/>
              </a:lnSpc>
              <a:spcBef>
                <a:spcPts val="0"/>
              </a:spcBef>
              <a:spcAft>
                <a:spcPts val="0"/>
              </a:spcAft>
              <a:buClr>
                <a:srgbClr val="000000"/>
              </a:buClr>
              <a:buSzPts val="1800"/>
              <a:buFont typeface="Arial"/>
              <a:buNone/>
            </a:pPr>
            <a:r>
              <a:rPr b="1" i="0" lang="en-US" spc="0" sz="1800" u="none" cap="none" strike="noStrike">
                <a:solidFill>
                  <a:srgbClr val="565A32"/>
                </a:solidFill>
                <a:latin typeface="Raleway"/>
                <a:ea typeface="Raleway"/>
                <a:cs typeface="Raleway"/>
                <a:sym typeface="Raleway"/>
              </a:rPr>
              <a:t>Enduring preferential rates</a:t>
            </a:r>
            <a:endParaRPr b="1" i="0" spc="0" sz="1800" u="none" cap="none" strike="noStrike">
              <a:solidFill>
                <a:srgbClr val="565A32"/>
              </a:solidFill>
              <a:latin typeface="Raleway"/>
              <a:ea typeface="Raleway"/>
              <a:cs typeface="Raleway"/>
              <a:sym typeface="Raleway"/>
            </a:endParaRPr>
          </a:p>
          <a:p>
            <a:pPr indent="0" lvl="0" marL="0" marR="0" rtl="0" algn="l">
              <a:lnSpc>
                <a:spcPct val="100000"/>
              </a:lnSpc>
              <a:spcBef>
                <a:spcPts val="0"/>
              </a:spcBef>
              <a:spcAft>
                <a:spcPts val="0"/>
              </a:spcAft>
              <a:buClr>
                <a:schemeClr val="dk1"/>
              </a:buClr>
              <a:buSzPts val="1500"/>
              <a:buFont typeface="Arial"/>
              <a:buNone/>
            </a:pPr>
            <a:r>
              <a:rPr b="0" i="0" lang="en-US" spc="0" sz="1500" u="none" cap="none" strike="noStrike">
                <a:solidFill>
                  <a:srgbClr val="565A32"/>
                </a:solidFill>
                <a:latin typeface="Raleway Light"/>
                <a:ea typeface="Raleway Light"/>
                <a:cs typeface="Raleway Light"/>
                <a:sym typeface="Raleway Light"/>
              </a:rPr>
              <a:t>Preferential rate for comparable future events; annual adjustments and expanded scope agreed separately. No exclusivity.</a:t>
            </a:r>
            <a:endParaRPr b="0" i="0" spc="0" sz="1800" u="none" cap="none" strike="noStrike">
              <a:solidFill>
                <a:srgbClr val="565A32"/>
              </a:solidFill>
              <a:latin typeface="Raleway Light"/>
              <a:ea typeface="Raleway Light"/>
              <a:cs typeface="Raleway Light"/>
              <a:sym typeface="Raleway Light"/>
            </a:endParaRPr>
          </a:p>
          <a:p>
            <a:pPr indent="0" lvl="0" marL="0" marR="0" rtl="0" algn="l">
              <a:lnSpc>
                <a:spcPct val="100000"/>
              </a:lnSpc>
              <a:spcBef>
                <a:spcPts val="0"/>
              </a:spcBef>
              <a:spcAft>
                <a:spcPts val="0"/>
              </a:spcAft>
              <a:buClr>
                <a:srgbClr val="000000"/>
              </a:buClr>
              <a:buSzPts val="1800"/>
              <a:buFont typeface="Arial"/>
              <a:buNone/>
            </a:pPr>
            <a:r>
              <a:t/>
            </a:r>
            <a:endParaRPr b="0" i="0" spc="0" sz="1800" u="none" cap="none" strike="noStrike">
              <a:solidFill>
                <a:srgbClr val="565A32"/>
              </a:solidFill>
              <a:latin typeface="Raleway Light"/>
              <a:ea typeface="Raleway Light"/>
              <a:cs typeface="Raleway Light"/>
              <a:sym typeface="Raleway Light"/>
            </a:endParaRPr>
          </a:p>
        </p:txBody>
      </p:sp>
      <p:sp>
        <p:nvSpPr>
          <p:cNvPr id="902" name="Google Shape;902;p62"/>
          <p:cNvSpPr/>
          <p:nvPr/>
        </p:nvSpPr>
        <p:spPr>
          <a:xfrm>
            <a:off x="9262872" y="457200"/>
            <a:ext cx="2377440" cy="384048"/>
          </a:xfrm>
          <a:prstGeom prst="roundRect">
            <a:avLst>
              <a:gd fmla="val 50000" name="adj"/>
            </a:avLst>
          </a:prstGeom>
          <a:solidFill>
            <a:srgbClr val="E3AC9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1" i="0" lang="en-US" spc="0" sz="1400" u="none" cap="none" strike="noStrike">
                <a:solidFill>
                  <a:srgbClr val="565A32"/>
                </a:solidFill>
                <a:latin typeface="Raleway SemiBold"/>
                <a:ea typeface="Raleway SemiBold"/>
                <a:cs typeface="Raleway SemiBold"/>
                <a:sym typeface="Raleway SemiBold"/>
              </a:rPr>
              <a:t>EVENT MODE</a:t>
            </a:r>
            <a:endParaRPr b="0" i="0" spc="0" sz="1400" u="none" cap="none" strike="noStrike">
              <a:solidFill>
                <a:srgbClr val="000000"/>
              </a:solidFill>
              <a:latin typeface="Arial"/>
              <a:ea typeface="Arial"/>
              <a:cs typeface="Arial"/>
              <a:sym typeface="Arial"/>
            </a:endParaRPr>
          </a:p>
        </p:txBody>
      </p:sp>
      <p:sp>
        <p:nvSpPr>
          <p:cNvPr id="903" name="Google Shape;903;p62"/>
          <p:cNvSpPr/>
          <p:nvPr/>
        </p:nvSpPr>
        <p:spPr>
          <a:xfrm>
            <a:off x="0" y="0"/>
            <a:ext cx="12191700" cy="329100"/>
          </a:xfrm>
          <a:prstGeom prst="rect">
            <a:avLst/>
          </a:prstGeom>
          <a:solidFill>
            <a:srgbClr val="565A32"/>
          </a:solidFill>
          <a:ln cap="flat" cmpd="sng" w="12700">
            <a:solidFill>
              <a:srgbClr val="565A3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
        <p:nvSpPr>
          <p:cNvPr id="904" name="Slide number"/>
          <p:cNvSpPr txBox="1"/>
          <p:nvPr>
            <p:ph idx="4294967295" type="sldNum"/>
          </p:nvPr>
        </p:nvSpPr>
        <p:spPr>
          <a:xfrm>
            <a:off x="9372600" y="5971032"/>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chemeClr val="dk1"/>
                </a:solidFill>
                <a:latin typeface="Raleway Light"/>
                <a:ea typeface="Raleway Light"/>
                <a:cs typeface="Raleway Light"/>
                <a:sym typeface="Raleway Light"/>
              </a:rPr>
              <a:t>‹#›</a:t>
            </a:fld>
            <a:endParaRPr b="0" i="0" sz="1000" u="none" cap="none" strike="noStrike">
              <a:solidFill>
                <a:schemeClr val="dk1"/>
              </a:solidFill>
              <a:latin typeface="Raleway Light"/>
              <a:ea typeface="Raleway Light"/>
              <a:cs typeface="Raleway Light"/>
              <a:sym typeface="Raleway Light"/>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65A32"/>
        </a:solidFill>
      </p:bgPr>
    </p:bg>
    <p:spTree>
      <p:nvGrpSpPr>
        <p:cNvPr id="908" name="Shape 908"/>
        <p:cNvGrpSpPr/>
        <p:nvPr/>
      </p:nvGrpSpPr>
      <p:grpSpPr>
        <a:xfrm>
          <a:off x="0" y="0"/>
          <a:ext cx="0" cy="0"/>
          <a:chOff x="0" y="0"/>
          <a:chExt cx="0" cy="0"/>
        </a:xfrm>
      </p:grpSpPr>
      <p:sp>
        <p:nvSpPr>
          <p:cNvPr id="909" name="Google Shape;909;p63"/>
          <p:cNvSpPr/>
          <p:nvPr/>
        </p:nvSpPr>
        <p:spPr>
          <a:xfrm>
            <a:off x="594360" y="475488"/>
            <a:ext cx="100584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65A32"/>
              </a:buClr>
              <a:buSzPts val="1200"/>
              <a:buFont typeface="Arial"/>
              <a:buNone/>
            </a:pPr>
            <a:r>
              <a:rPr b="1" i="0" lang="en-US" spc="0" sz="1200" u="none" cap="none" strike="noStrike">
                <a:solidFill>
                  <a:srgbClr val="E3AC9A"/>
                </a:solidFill>
                <a:latin typeface="Raleway"/>
                <a:ea typeface="Raleway"/>
                <a:cs typeface="Raleway"/>
                <a:sym typeface="Raleway"/>
              </a:rPr>
              <a:t>ENTRE AMIS  /  WORKING MASTER</a:t>
            </a:r>
            <a:endParaRPr b="0" i="0" spc="0" sz="1200" u="none" cap="none" strike="noStrike">
              <a:solidFill>
                <a:schemeClr val="dk1"/>
              </a:solidFill>
              <a:latin typeface="Raleway Light"/>
              <a:ea typeface="Raleway Light"/>
              <a:cs typeface="Raleway Light"/>
              <a:sym typeface="Raleway Light"/>
            </a:endParaRPr>
          </a:p>
        </p:txBody>
      </p:sp>
      <p:sp>
        <p:nvSpPr>
          <p:cNvPr id="910" name="Google Shape;910;p63"/>
          <p:cNvSpPr/>
          <p:nvPr/>
        </p:nvSpPr>
        <p:spPr>
          <a:xfrm>
            <a:off x="594360" y="1325880"/>
            <a:ext cx="10972800" cy="118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65A32"/>
              </a:buClr>
              <a:buSzPts val="3400"/>
              <a:buFont typeface="Arial"/>
              <a:buNone/>
            </a:pPr>
            <a:r>
              <a:rPr b="1" i="0" lang="en-US" spc="0" sz="3400" u="none" cap="none" strike="noStrike">
                <a:solidFill>
                  <a:srgbClr val="EFEAE0"/>
                </a:solidFill>
                <a:latin typeface="Raleway"/>
                <a:ea typeface="Raleway"/>
                <a:cs typeface="Raleway"/>
                <a:sym typeface="Raleway"/>
              </a:rPr>
              <a:t>06  Commercial opportunities and routes to market</a:t>
            </a:r>
            <a:endParaRPr b="0" i="0" spc="0" sz="3400" u="none" cap="none" strike="noStrike">
              <a:solidFill>
                <a:schemeClr val="dk1"/>
              </a:solidFill>
              <a:latin typeface="Raleway Light"/>
              <a:ea typeface="Raleway Light"/>
              <a:cs typeface="Raleway Light"/>
              <a:sym typeface="Raleway Light"/>
            </a:endParaRPr>
          </a:p>
        </p:txBody>
      </p:sp>
      <p:sp>
        <p:nvSpPr>
          <p:cNvPr id="911" name="Google Shape;911;p63"/>
          <p:cNvSpPr/>
          <p:nvPr/>
        </p:nvSpPr>
        <p:spPr>
          <a:xfrm>
            <a:off x="621792" y="2743200"/>
            <a:ext cx="1088130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65A32"/>
              </a:buClr>
              <a:buSzPts val="1900"/>
              <a:buFont typeface="Arial"/>
              <a:buNone/>
            </a:pPr>
            <a:r>
              <a:rPr b="0" i="0" lang="en-US" spc="0" sz="1900" u="none" cap="none" strike="noStrike">
                <a:solidFill>
                  <a:srgbClr val="EFEAE0"/>
                </a:solidFill>
                <a:latin typeface="Raleway Light"/>
                <a:ea typeface="Raleway Light"/>
                <a:cs typeface="Raleway Light"/>
                <a:sym typeface="Raleway Light"/>
              </a:rPr>
              <a:t>The existing routes to value. Commercial figures are assumptions unless confirmed in the commercial decision log.</a:t>
            </a:r>
            <a:endParaRPr b="0" i="0" spc="0" sz="1900" u="none" cap="none" strike="noStrike">
              <a:solidFill>
                <a:schemeClr val="dk1"/>
              </a:solidFill>
              <a:latin typeface="Raleway Light"/>
              <a:ea typeface="Raleway Light"/>
              <a:cs typeface="Raleway Light"/>
              <a:sym typeface="Raleway Light"/>
            </a:endParaRPr>
          </a:p>
        </p:txBody>
      </p:sp>
      <p:sp>
        <p:nvSpPr>
          <p:cNvPr id="912" name="Google Shape;912;p63"/>
          <p:cNvSpPr/>
          <p:nvPr/>
        </p:nvSpPr>
        <p:spPr>
          <a:xfrm>
            <a:off x="9262872" y="457200"/>
            <a:ext cx="2377440" cy="384048"/>
          </a:xfrm>
          <a:prstGeom prst="roundRect">
            <a:avLst>
              <a:gd fmla="val 50000" name="adj"/>
            </a:avLst>
          </a:prstGeom>
          <a:solidFill>
            <a:srgbClr val="EFEAE0"/>
          </a:solidFill>
          <a:ln cap="flat" cmpd="sng" w="12700">
            <a:solidFill>
              <a:srgbClr val="565A32"/>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1" i="0" lang="en-US" spc="0" sz="1400" u="none" cap="none" strike="noStrike">
                <a:solidFill>
                  <a:srgbClr val="565A32"/>
                </a:solidFill>
                <a:latin typeface="Raleway SemiBold"/>
                <a:ea typeface="Raleway SemiBold"/>
                <a:cs typeface="Raleway SemiBold"/>
                <a:sym typeface="Raleway SemiBold"/>
              </a:rPr>
              <a:t>INTERNAL</a:t>
            </a:r>
            <a:endParaRPr b="0" i="0" spc="0" sz="1400" u="none" cap="none" strike="noStrike">
              <a:solidFill>
                <a:srgbClr val="000000"/>
              </a:solidFill>
              <a:latin typeface="Arial"/>
              <a:ea typeface="Arial"/>
              <a:cs typeface="Arial"/>
              <a:sym typeface="Arial"/>
            </a:endParaRPr>
          </a:p>
        </p:txBody>
      </p:sp>
      <p:sp>
        <p:nvSpPr>
          <p:cNvPr id="913" name="Slide number"/>
          <p:cNvSpPr txBox="1"/>
          <p:nvPr>
            <p:ph idx="4294967295" type="sldNum"/>
          </p:nvPr>
        </p:nvSpPr>
        <p:spPr>
          <a:xfrm>
            <a:off x="10180015" y="6355080"/>
            <a:ext cx="365760" cy="2743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000"/>
              <a:buNone/>
            </a:pPr>
            <a:fld id="{00000000-1234-1234-1234-123412341234}" type="slidenum">
              <a:rPr b="0" i="0" lang="en-US" sz="1000" u="none" cap="none" strike="noStrike">
                <a:solidFill>
                  <a:srgbClr val="EFEAE0"/>
                </a:solidFill>
                <a:latin typeface="Raleway Light"/>
                <a:ea typeface="Raleway Light"/>
                <a:cs typeface="Raleway Light"/>
                <a:sym typeface="Raleway Light"/>
              </a:rPr>
              <a:t>‹#›</a:t>
            </a:fld>
            <a:endParaRPr b="0" i="0" sz="1000" u="none" cap="none" strike="noStrike">
              <a:solidFill>
                <a:srgbClr val="EFEAE0"/>
              </a:solidFill>
              <a:latin typeface="Raleway Light"/>
              <a:ea typeface="Raleway Light"/>
              <a:cs typeface="Raleway Light"/>
              <a:sym typeface="Raleway Light"/>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6" name="Shape 916"/>
        <p:cNvGrpSpPr/>
        <p:nvPr/>
      </p:nvGrpSpPr>
      <p:grpSpPr>
        <a:xfrm>
          <a:off x="0" y="0"/>
          <a:ext cx="0" cy="0"/>
          <a:chOff x="0" y="0"/>
          <a:chExt cx="0" cy="0"/>
        </a:xfrm>
      </p:grpSpPr>
      <p:sp>
        <p:nvSpPr>
          <p:cNvPr id="917" name="Google Shape;917;p64"/>
          <p:cNvSpPr/>
          <p:nvPr/>
        </p:nvSpPr>
        <p:spPr>
          <a:xfrm>
            <a:off x="0" y="0"/>
            <a:ext cx="12191700" cy="6858000"/>
          </a:xfrm>
          <a:prstGeom prst="rect">
            <a:avLst/>
          </a:prstGeom>
          <a:solidFill>
            <a:srgbClr val="EFEAE0"/>
          </a:solidFill>
          <a:ln cap="flat" cmpd="sng" w="12700">
            <a:solidFill>
              <a:srgbClr val="EFEAE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
        <p:nvSpPr>
          <p:cNvPr id="918" name="Google Shape;918;p64"/>
          <p:cNvSpPr txBox="1"/>
          <p:nvPr/>
        </p:nvSpPr>
        <p:spPr>
          <a:xfrm>
            <a:off x="685800" y="475488"/>
            <a:ext cx="8229600" cy="530400"/>
          </a:xfrm>
          <a:prstGeom prst="rect">
            <a:avLst/>
          </a:prstGeom>
          <a:noFill/>
          <a:ln>
            <a:noFill/>
          </a:ln>
        </p:spPr>
        <p:txBody>
          <a:bodyPr anchorCtr="0" anchor="t" bIns="0" lIns="0" spcFirstLastPara="1" rIns="0" wrap="square" tIns="0">
            <a:normAutofit lnSpcReduction="10000"/>
          </a:bodyPr>
          <a:lstStyle/>
          <a:p>
            <a:pPr indent="0" lvl="0" marL="0" marR="0" rtl="0" algn="l">
              <a:lnSpc>
                <a:spcPct val="100000"/>
              </a:lnSpc>
              <a:spcBef>
                <a:spcPts val="0"/>
              </a:spcBef>
              <a:spcAft>
                <a:spcPts val="0"/>
              </a:spcAft>
              <a:buClr>
                <a:srgbClr val="565A32"/>
              </a:buClr>
              <a:buSzPts val="3800"/>
              <a:buFont typeface="Raleway Light"/>
              <a:buNone/>
            </a:pPr>
            <a:r>
              <a:rPr b="0" i="0" lang="en-US" spc="0" sz="3800" u="none" cap="none" strike="noStrike">
                <a:solidFill>
                  <a:srgbClr val="565A32"/>
                </a:solidFill>
                <a:latin typeface="Raleway Light"/>
                <a:ea typeface="Raleway Light"/>
                <a:cs typeface="Raleway Light"/>
                <a:sym typeface="Raleway Light"/>
              </a:rPr>
              <a:t>Why now</a:t>
            </a:r>
            <a:endParaRPr b="0" i="0" spc="0" sz="3800" u="none" cap="none" strike="noStrike">
              <a:solidFill>
                <a:schemeClr val="dk1"/>
              </a:solidFill>
              <a:latin typeface="Raleway Light"/>
              <a:ea typeface="Raleway Light"/>
              <a:cs typeface="Raleway Light"/>
              <a:sym typeface="Raleway Light"/>
            </a:endParaRPr>
          </a:p>
        </p:txBody>
      </p:sp>
      <p:sp>
        <p:nvSpPr>
          <p:cNvPr id="919" name="Google Shape;919;p64"/>
          <p:cNvSpPr txBox="1"/>
          <p:nvPr/>
        </p:nvSpPr>
        <p:spPr>
          <a:xfrm>
            <a:off x="685800" y="1042416"/>
            <a:ext cx="8503800" cy="3840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565A32"/>
              </a:buClr>
              <a:buSzPts val="1900"/>
              <a:buFont typeface="Raleway Light"/>
              <a:buNone/>
            </a:pPr>
            <a:r>
              <a:rPr b="0" i="0" lang="en-US" spc="0" sz="1900" u="none" cap="none" strike="noStrike">
                <a:solidFill>
                  <a:srgbClr val="565A32"/>
                </a:solidFill>
                <a:latin typeface="Raleway Light"/>
                <a:ea typeface="Raleway Light"/>
                <a:cs typeface="Raleway Light"/>
                <a:sym typeface="Raleway Light"/>
              </a:rPr>
              <a:t>Today’s world is more connected than ever, but not always closer.</a:t>
            </a:r>
            <a:endParaRPr b="0" i="0" spc="0" sz="1900" u="none" cap="none" strike="noStrike">
              <a:solidFill>
                <a:schemeClr val="dk1"/>
              </a:solidFill>
              <a:latin typeface="Raleway Light"/>
              <a:ea typeface="Raleway Light"/>
              <a:cs typeface="Raleway Light"/>
              <a:sym typeface="Raleway Light"/>
            </a:endParaRPr>
          </a:p>
        </p:txBody>
      </p:sp>
      <p:sp>
        <p:nvSpPr>
          <p:cNvPr id="920" name="Google Shape;920;p64"/>
          <p:cNvSpPr txBox="1"/>
          <p:nvPr/>
        </p:nvSpPr>
        <p:spPr>
          <a:xfrm>
            <a:off x="709075" y="1924450"/>
            <a:ext cx="10634700" cy="11430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565A32"/>
              </a:buClr>
              <a:buSzPts val="2400"/>
              <a:buFont typeface="Raleway Light"/>
              <a:buNone/>
            </a:pPr>
            <a:r>
              <a:rPr b="0" i="0" lang="en-US" spc="0" sz="2000" u="none" cap="none" strike="noStrike">
                <a:solidFill>
                  <a:srgbClr val="565A32"/>
                </a:solidFill>
                <a:latin typeface="Raleway Light"/>
                <a:ea typeface="Raleway Light"/>
                <a:cs typeface="Raleway Light"/>
                <a:sym typeface="Raleway Light"/>
              </a:rPr>
              <a:t>Digital communication is part of everyday life. Yet being in touch is not the same as feeling connected. Real-world experiences, relaxed conversation and shared moments have a different kind of value.</a:t>
            </a:r>
            <a:endParaRPr b="0" i="0" spc="0" sz="2000" u="none" cap="none" strike="noStrike">
              <a:solidFill>
                <a:schemeClr val="dk1"/>
              </a:solidFill>
              <a:latin typeface="Raleway Light"/>
              <a:ea typeface="Raleway Light"/>
              <a:cs typeface="Raleway Light"/>
              <a:sym typeface="Raleway Light"/>
            </a:endParaRPr>
          </a:p>
        </p:txBody>
      </p:sp>
      <p:sp>
        <p:nvSpPr>
          <p:cNvPr id="921" name="Google Shape;921;p64"/>
          <p:cNvSpPr txBox="1"/>
          <p:nvPr/>
        </p:nvSpPr>
        <p:spPr>
          <a:xfrm>
            <a:off x="685800" y="6355080"/>
            <a:ext cx="4114800" cy="2376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565A32"/>
              </a:buClr>
              <a:buSzPts val="1300"/>
              <a:buFont typeface="Raleway Light"/>
              <a:buNone/>
            </a:pPr>
            <a:r>
              <a:rPr b="0" i="0" lang="en-US" spc="0" sz="1300" u="none" cap="none" strike="noStrike">
                <a:solidFill>
                  <a:srgbClr val="565A32"/>
                </a:solidFill>
                <a:latin typeface="Raleway Light"/>
                <a:ea typeface="Raleway Light"/>
                <a:cs typeface="Raleway Light"/>
                <a:sym typeface="Raleway Light"/>
              </a:rPr>
              <a:t>Say what you really think.</a:t>
            </a:r>
            <a:endParaRPr b="0" i="0" spc="0" sz="1300" u="none" cap="none" strike="noStrike">
              <a:solidFill>
                <a:schemeClr val="dk1"/>
              </a:solidFill>
              <a:latin typeface="Raleway Light"/>
              <a:ea typeface="Raleway Light"/>
              <a:cs typeface="Raleway Light"/>
              <a:sym typeface="Raleway Light"/>
            </a:endParaRPr>
          </a:p>
        </p:txBody>
      </p:sp>
      <p:sp>
        <p:nvSpPr>
          <p:cNvPr id="922" name="Google Shape;922;p64"/>
          <p:cNvSpPr/>
          <p:nvPr/>
        </p:nvSpPr>
        <p:spPr>
          <a:xfrm>
            <a:off x="708679" y="3443653"/>
            <a:ext cx="3432000" cy="2218800"/>
          </a:xfrm>
          <a:prstGeom prst="roundRect">
            <a:avLst>
              <a:gd fmla="val 16667" name="adj"/>
            </a:avLst>
          </a:prstGeom>
          <a:solidFill>
            <a:srgbClr val="EFEAE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pc="0" sz="1800" u="none" cap="none" strike="noStrike">
              <a:solidFill>
                <a:srgbClr val="565A32"/>
              </a:solidFill>
              <a:latin typeface="Raleway Light"/>
              <a:ea typeface="Raleway Light"/>
              <a:cs typeface="Raleway Light"/>
              <a:sym typeface="Raleway Light"/>
            </a:endParaRPr>
          </a:p>
        </p:txBody>
      </p:sp>
      <p:sp>
        <p:nvSpPr>
          <p:cNvPr id="923" name="Google Shape;923;p64"/>
          <p:cNvSpPr/>
          <p:nvPr/>
        </p:nvSpPr>
        <p:spPr>
          <a:xfrm>
            <a:off x="708679" y="3364286"/>
            <a:ext cx="3432000" cy="73200"/>
          </a:xfrm>
          <a:prstGeom prst="rect">
            <a:avLst/>
          </a:prstGeom>
          <a:solidFill>
            <a:srgbClr val="565A3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pc="0" sz="1800" u="none" cap="none" strike="noStrike">
              <a:solidFill>
                <a:srgbClr val="565A32"/>
              </a:solidFill>
              <a:latin typeface="Raleway Light"/>
              <a:ea typeface="Raleway Light"/>
              <a:cs typeface="Raleway Light"/>
              <a:sym typeface="Raleway Light"/>
            </a:endParaRPr>
          </a:p>
        </p:txBody>
      </p:sp>
      <p:sp>
        <p:nvSpPr>
          <p:cNvPr id="924" name="Google Shape;924;p64"/>
          <p:cNvSpPr txBox="1"/>
          <p:nvPr/>
        </p:nvSpPr>
        <p:spPr>
          <a:xfrm>
            <a:off x="909829" y="4355963"/>
            <a:ext cx="3029700" cy="1015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500"/>
              <a:buFont typeface="Arial"/>
              <a:buNone/>
            </a:pPr>
            <a:r>
              <a:rPr b="0" i="0" lang="en-US" spc="0" sz="1500" u="none" cap="none" strike="noStrike">
                <a:solidFill>
                  <a:srgbClr val="565A32"/>
                </a:solidFill>
                <a:latin typeface="Raleway Light"/>
                <a:ea typeface="Raleway Light"/>
                <a:cs typeface="Raleway Light"/>
                <a:sym typeface="Raleway Light"/>
              </a:rPr>
              <a:t>We communicate and discover through screens, but technology alone cannot create closeness.</a:t>
            </a:r>
            <a:endParaRPr b="0" i="0" spc="0" sz="1400" u="none" cap="none" strike="noStrike">
              <a:solidFill>
                <a:srgbClr val="565A32"/>
              </a:solidFill>
              <a:latin typeface="Raleway Light"/>
              <a:ea typeface="Raleway Light"/>
              <a:cs typeface="Raleway Light"/>
              <a:sym typeface="Raleway Light"/>
            </a:endParaRPr>
          </a:p>
        </p:txBody>
      </p:sp>
      <p:sp>
        <p:nvSpPr>
          <p:cNvPr id="925" name="Google Shape;925;p64"/>
          <p:cNvSpPr txBox="1"/>
          <p:nvPr/>
        </p:nvSpPr>
        <p:spPr>
          <a:xfrm>
            <a:off x="909829" y="3654999"/>
            <a:ext cx="3029700" cy="384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900"/>
              <a:buFont typeface="Arial"/>
              <a:buNone/>
            </a:pPr>
            <a:r>
              <a:rPr b="1" i="0" lang="en-US" spc="0" sz="1900" u="none" cap="none" strike="noStrike">
                <a:solidFill>
                  <a:srgbClr val="565A32"/>
                </a:solidFill>
                <a:latin typeface="Raleway"/>
                <a:ea typeface="Raleway"/>
                <a:cs typeface="Raleway"/>
                <a:sym typeface="Raleway"/>
              </a:rPr>
              <a:t>DIGITAL EVERYWHERE</a:t>
            </a:r>
            <a:endParaRPr b="0" i="0" spc="0" sz="1400" u="none" cap="none" strike="noStrike">
              <a:solidFill>
                <a:srgbClr val="565A32"/>
              </a:solidFill>
              <a:latin typeface="Raleway Light"/>
              <a:ea typeface="Raleway Light"/>
              <a:cs typeface="Raleway Light"/>
              <a:sym typeface="Raleway Light"/>
            </a:endParaRPr>
          </a:p>
        </p:txBody>
      </p:sp>
      <p:sp>
        <p:nvSpPr>
          <p:cNvPr id="926" name="Google Shape;926;p64"/>
          <p:cNvSpPr/>
          <p:nvPr/>
        </p:nvSpPr>
        <p:spPr>
          <a:xfrm>
            <a:off x="4402575" y="3443653"/>
            <a:ext cx="3432000" cy="2218800"/>
          </a:xfrm>
          <a:prstGeom prst="roundRect">
            <a:avLst>
              <a:gd fmla="val 16667" name="adj"/>
            </a:avLst>
          </a:prstGeom>
          <a:solidFill>
            <a:srgbClr val="EFEAE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pc="0" sz="1800" u="none" cap="none" strike="noStrike">
              <a:solidFill>
                <a:srgbClr val="565A32"/>
              </a:solidFill>
              <a:latin typeface="Raleway Light"/>
              <a:ea typeface="Raleway Light"/>
              <a:cs typeface="Raleway Light"/>
              <a:sym typeface="Raleway Light"/>
            </a:endParaRPr>
          </a:p>
        </p:txBody>
      </p:sp>
      <p:sp>
        <p:nvSpPr>
          <p:cNvPr id="927" name="Google Shape;927;p64"/>
          <p:cNvSpPr/>
          <p:nvPr/>
        </p:nvSpPr>
        <p:spPr>
          <a:xfrm>
            <a:off x="4402575" y="3364286"/>
            <a:ext cx="3432000" cy="73200"/>
          </a:xfrm>
          <a:prstGeom prst="rect">
            <a:avLst/>
          </a:prstGeom>
          <a:solidFill>
            <a:srgbClr val="E3AC9A"/>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pc="0" sz="1800" u="none" cap="none" strike="noStrike">
              <a:solidFill>
                <a:srgbClr val="565A32"/>
              </a:solidFill>
              <a:latin typeface="Raleway Light"/>
              <a:ea typeface="Raleway Light"/>
              <a:cs typeface="Raleway Light"/>
              <a:sym typeface="Raleway Light"/>
            </a:endParaRPr>
          </a:p>
        </p:txBody>
      </p:sp>
      <p:sp>
        <p:nvSpPr>
          <p:cNvPr id="928" name="Google Shape;928;p64"/>
          <p:cNvSpPr txBox="1"/>
          <p:nvPr/>
        </p:nvSpPr>
        <p:spPr>
          <a:xfrm>
            <a:off x="4603725" y="3654999"/>
            <a:ext cx="3029700" cy="384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900"/>
              <a:buFont typeface="Arial"/>
              <a:buNone/>
            </a:pPr>
            <a:r>
              <a:rPr b="1" i="0" lang="en-US" spc="0" sz="1900" u="none" cap="none" strike="noStrike">
                <a:solidFill>
                  <a:srgbClr val="565A32"/>
                </a:solidFill>
                <a:latin typeface="Raleway"/>
                <a:ea typeface="Raleway"/>
                <a:cs typeface="Raleway"/>
                <a:sym typeface="Raleway"/>
              </a:rPr>
              <a:t>TIME TOGETHER</a:t>
            </a:r>
            <a:endParaRPr b="0" i="0" spc="0" sz="1400" u="none" cap="none" strike="noStrike">
              <a:solidFill>
                <a:srgbClr val="565A32"/>
              </a:solidFill>
              <a:latin typeface="Raleway Light"/>
              <a:ea typeface="Raleway Light"/>
              <a:cs typeface="Raleway Light"/>
              <a:sym typeface="Raleway Light"/>
            </a:endParaRPr>
          </a:p>
        </p:txBody>
      </p:sp>
      <p:sp>
        <p:nvSpPr>
          <p:cNvPr id="929" name="Google Shape;929;p64"/>
          <p:cNvSpPr txBox="1"/>
          <p:nvPr/>
        </p:nvSpPr>
        <p:spPr>
          <a:xfrm>
            <a:off x="4603725" y="4355963"/>
            <a:ext cx="3029700" cy="1015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500"/>
              <a:buFont typeface="Arial"/>
              <a:buNone/>
            </a:pPr>
            <a:r>
              <a:rPr b="0" i="0" lang="en-US" spc="0" sz="1500" u="none" cap="none" strike="noStrike">
                <a:solidFill>
                  <a:srgbClr val="565A32"/>
                </a:solidFill>
                <a:latin typeface="Raleway Light"/>
                <a:ea typeface="Raleway Light"/>
                <a:cs typeface="Raleway Light"/>
                <a:sym typeface="Raleway Light"/>
              </a:rPr>
              <a:t>Shared tables and real-world experiences offer space to be present, curious and open-minded.</a:t>
            </a:r>
            <a:endParaRPr b="0" i="0" spc="0" sz="1400" u="none" cap="none" strike="noStrike">
              <a:solidFill>
                <a:srgbClr val="565A32"/>
              </a:solidFill>
              <a:latin typeface="Raleway Light"/>
              <a:ea typeface="Raleway Light"/>
              <a:cs typeface="Raleway Light"/>
              <a:sym typeface="Raleway Light"/>
            </a:endParaRPr>
          </a:p>
        </p:txBody>
      </p:sp>
      <p:sp>
        <p:nvSpPr>
          <p:cNvPr id="930" name="Google Shape;930;p64"/>
          <p:cNvSpPr/>
          <p:nvPr/>
        </p:nvSpPr>
        <p:spPr>
          <a:xfrm>
            <a:off x="8016245" y="3425325"/>
            <a:ext cx="3432000" cy="2218800"/>
          </a:xfrm>
          <a:prstGeom prst="roundRect">
            <a:avLst>
              <a:gd fmla="val 16667" name="adj"/>
            </a:avLst>
          </a:prstGeom>
          <a:solidFill>
            <a:srgbClr val="EFEAE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pc="0" sz="1800" u="none" cap="none" strike="noStrike">
              <a:solidFill>
                <a:srgbClr val="565A32"/>
              </a:solidFill>
              <a:latin typeface="Raleway Light"/>
              <a:ea typeface="Raleway Light"/>
              <a:cs typeface="Raleway Light"/>
              <a:sym typeface="Raleway Light"/>
            </a:endParaRPr>
          </a:p>
        </p:txBody>
      </p:sp>
      <p:sp>
        <p:nvSpPr>
          <p:cNvPr id="931" name="Google Shape;931;p64"/>
          <p:cNvSpPr/>
          <p:nvPr/>
        </p:nvSpPr>
        <p:spPr>
          <a:xfrm>
            <a:off x="8016245" y="3364286"/>
            <a:ext cx="3432000" cy="73200"/>
          </a:xfrm>
          <a:prstGeom prst="rect">
            <a:avLst/>
          </a:prstGeom>
          <a:solidFill>
            <a:srgbClr val="B9BC9A"/>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pc="0" sz="1800" u="none" cap="none" strike="noStrike">
              <a:solidFill>
                <a:srgbClr val="565A32"/>
              </a:solidFill>
              <a:latin typeface="Raleway Light"/>
              <a:ea typeface="Raleway Light"/>
              <a:cs typeface="Raleway Light"/>
              <a:sym typeface="Raleway Light"/>
            </a:endParaRPr>
          </a:p>
        </p:txBody>
      </p:sp>
      <p:sp>
        <p:nvSpPr>
          <p:cNvPr id="932" name="Google Shape;932;p64"/>
          <p:cNvSpPr txBox="1"/>
          <p:nvPr/>
        </p:nvSpPr>
        <p:spPr>
          <a:xfrm>
            <a:off x="8217395" y="3654999"/>
            <a:ext cx="3029700" cy="384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900"/>
              <a:buFont typeface="Arial"/>
              <a:buNone/>
            </a:pPr>
            <a:r>
              <a:rPr b="1" i="0" lang="en-US" spc="0" sz="1900" u="none" cap="none" strike="noStrike">
                <a:solidFill>
                  <a:srgbClr val="565A32"/>
                </a:solidFill>
                <a:latin typeface="Raleway"/>
                <a:ea typeface="Raleway"/>
                <a:cs typeface="Raleway"/>
                <a:sym typeface="Raleway"/>
              </a:rPr>
              <a:t>MEMORIES THAT LAST</a:t>
            </a:r>
            <a:endParaRPr b="0" i="0" spc="0" sz="1400" u="none" cap="none" strike="noStrike">
              <a:solidFill>
                <a:srgbClr val="565A32"/>
              </a:solidFill>
              <a:latin typeface="Raleway Light"/>
              <a:ea typeface="Raleway Light"/>
              <a:cs typeface="Raleway Light"/>
              <a:sym typeface="Raleway Light"/>
            </a:endParaRPr>
          </a:p>
        </p:txBody>
      </p:sp>
      <p:sp>
        <p:nvSpPr>
          <p:cNvPr id="933" name="Google Shape;933;p64"/>
          <p:cNvSpPr txBox="1"/>
          <p:nvPr/>
        </p:nvSpPr>
        <p:spPr>
          <a:xfrm>
            <a:off x="8217395" y="4355963"/>
            <a:ext cx="3029700" cy="1015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500"/>
              <a:buFont typeface="Arial"/>
              <a:buNone/>
            </a:pPr>
            <a:r>
              <a:rPr b="0" i="0" lang="en-US" spc="0" sz="1500" u="none" cap="none" strike="noStrike">
                <a:solidFill>
                  <a:srgbClr val="565A32"/>
                </a:solidFill>
                <a:latin typeface="Raleway Light"/>
                <a:ea typeface="Raleway Light"/>
                <a:cs typeface="Raleway Light"/>
                <a:sym typeface="Raleway Light"/>
              </a:rPr>
              <a:t>The moments that stay with us are often conversations, discoveries and stories shared with others.</a:t>
            </a:r>
            <a:endParaRPr b="0" i="0" spc="0" sz="1400" u="none" cap="none" strike="noStrike">
              <a:solidFill>
                <a:srgbClr val="565A32"/>
              </a:solidFill>
              <a:latin typeface="Raleway Light"/>
              <a:ea typeface="Raleway Light"/>
              <a:cs typeface="Raleway Light"/>
              <a:sym typeface="Raleway Light"/>
            </a:endParaRPr>
          </a:p>
        </p:txBody>
      </p:sp>
      <p:pic>
        <p:nvPicPr>
          <p:cNvPr id="934" name="Google Shape;934;p64" title="Copy_of_Untitled-removebg-preview.png"/>
          <p:cNvPicPr preferRelativeResize="0"/>
          <p:nvPr/>
        </p:nvPicPr>
        <p:blipFill rotWithShape="1">
          <a:blip r:embed="rId3">
            <a:alphaModFix/>
          </a:blip>
          <a:srcRect b="0" l="0" r="0" t="0"/>
          <a:stretch/>
        </p:blipFill>
        <p:spPr>
          <a:xfrm>
            <a:off x="9834990" y="5349262"/>
            <a:ext cx="1508730" cy="1508730"/>
          </a:xfrm>
          <a:prstGeom prst="rect">
            <a:avLst/>
          </a:prstGeom>
          <a:noFill/>
          <a:ln>
            <a:noFill/>
          </a:ln>
        </p:spPr>
      </p:pic>
      <p:sp>
        <p:nvSpPr>
          <p:cNvPr id="935" name="Google Shape;935;p64"/>
          <p:cNvSpPr/>
          <p:nvPr/>
        </p:nvSpPr>
        <p:spPr>
          <a:xfrm>
            <a:off x="0" y="0"/>
            <a:ext cx="12191700" cy="329100"/>
          </a:xfrm>
          <a:prstGeom prst="rect">
            <a:avLst/>
          </a:prstGeom>
          <a:solidFill>
            <a:srgbClr val="565A32"/>
          </a:solidFill>
          <a:ln cap="flat" cmpd="sng" w="12700">
            <a:solidFill>
              <a:srgbClr val="565A3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
        <p:nvSpPr>
          <p:cNvPr id="936" name="Slide number"/>
          <p:cNvSpPr txBox="1"/>
          <p:nvPr>
            <p:ph idx="4294967295" type="sldNum"/>
          </p:nvPr>
        </p:nvSpPr>
        <p:spPr>
          <a:xfrm>
            <a:off x="9372600" y="5971032"/>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chemeClr val="dk1"/>
                </a:solidFill>
                <a:latin typeface="Raleway Light"/>
                <a:ea typeface="Raleway Light"/>
                <a:cs typeface="Raleway Light"/>
                <a:sym typeface="Raleway Light"/>
              </a:rPr>
              <a:t>‹#›</a:t>
            </a:fld>
            <a:endParaRPr b="0" i="0" sz="1000" u="none" cap="none" strike="noStrike">
              <a:solidFill>
                <a:schemeClr val="dk1"/>
              </a:solidFill>
              <a:latin typeface="Raleway Light"/>
              <a:ea typeface="Raleway Light"/>
              <a:cs typeface="Raleway Light"/>
              <a:sym typeface="Raleway Light"/>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AE0"/>
        </a:solidFill>
      </p:bgPr>
    </p:bg>
    <p:spTree>
      <p:nvGrpSpPr>
        <p:cNvPr id="939" name="Shape 939"/>
        <p:cNvGrpSpPr/>
        <p:nvPr/>
      </p:nvGrpSpPr>
      <p:grpSpPr>
        <a:xfrm>
          <a:off x="0" y="0"/>
          <a:ext cx="0" cy="0"/>
          <a:chOff x="0" y="0"/>
          <a:chExt cx="0" cy="0"/>
        </a:xfrm>
      </p:grpSpPr>
      <p:sp>
        <p:nvSpPr>
          <p:cNvPr id="940" name="Google Shape;940;p65"/>
          <p:cNvSpPr txBox="1"/>
          <p:nvPr/>
        </p:nvSpPr>
        <p:spPr>
          <a:xfrm>
            <a:off x="685800" y="475488"/>
            <a:ext cx="8229600" cy="530400"/>
          </a:xfrm>
          <a:prstGeom prst="rect">
            <a:avLst/>
          </a:prstGeom>
          <a:noFill/>
          <a:ln>
            <a:noFill/>
          </a:ln>
        </p:spPr>
        <p:txBody>
          <a:bodyPr anchorCtr="0" anchor="t" bIns="0" lIns="0" spcFirstLastPara="1" rIns="0" wrap="square" tIns="0">
            <a:normAutofit lnSpcReduction="10000"/>
          </a:bodyPr>
          <a:lstStyle/>
          <a:p>
            <a:pPr indent="0" lvl="0" marL="0" marR="0" rtl="0" algn="l">
              <a:lnSpc>
                <a:spcPct val="100000"/>
              </a:lnSpc>
              <a:spcBef>
                <a:spcPts val="0"/>
              </a:spcBef>
              <a:spcAft>
                <a:spcPts val="0"/>
              </a:spcAft>
              <a:buClr>
                <a:srgbClr val="565A32"/>
              </a:buClr>
              <a:buSzPts val="3800"/>
              <a:buFont typeface="Raleway Light"/>
              <a:buNone/>
            </a:pPr>
            <a:r>
              <a:rPr b="0" i="0" lang="en-US" spc="0" sz="3800" u="none" cap="none" strike="noStrike">
                <a:solidFill>
                  <a:srgbClr val="565A32"/>
                </a:solidFill>
                <a:latin typeface="Raleway Light"/>
                <a:ea typeface="Raleway Light"/>
                <a:cs typeface="Raleway Light"/>
                <a:sym typeface="Raleway Light"/>
              </a:rPr>
              <a:t>The physical game market</a:t>
            </a:r>
            <a:endParaRPr b="0" i="0" spc="0" sz="3800" u="none" cap="none" strike="noStrike">
              <a:solidFill>
                <a:schemeClr val="dk1"/>
              </a:solidFill>
              <a:latin typeface="Raleway Light"/>
              <a:ea typeface="Raleway Light"/>
              <a:cs typeface="Raleway Light"/>
              <a:sym typeface="Raleway Light"/>
            </a:endParaRPr>
          </a:p>
        </p:txBody>
      </p:sp>
      <p:sp>
        <p:nvSpPr>
          <p:cNvPr id="941" name="Google Shape;941;p65"/>
          <p:cNvSpPr txBox="1"/>
          <p:nvPr/>
        </p:nvSpPr>
        <p:spPr>
          <a:xfrm>
            <a:off x="685800" y="1042416"/>
            <a:ext cx="10058400" cy="384000"/>
          </a:xfrm>
          <a:prstGeom prst="rect">
            <a:avLst/>
          </a:prstGeom>
          <a:noFill/>
          <a:ln>
            <a:noFill/>
          </a:ln>
        </p:spPr>
        <p:txBody>
          <a:bodyPr anchorCtr="0" anchor="t" bIns="0" lIns="0" spcFirstLastPara="1" rIns="0" wrap="square" tIns="0">
            <a:noAutofit/>
          </a:bodyPr>
          <a:lstStyle/>
          <a:p>
            <a:pPr indent="0" lvl="0" marL="0" marR="0" rtl="0" algn="l">
              <a:lnSpc>
                <a:spcPct val="95000"/>
              </a:lnSpc>
              <a:spcBef>
                <a:spcPts val="1200"/>
              </a:spcBef>
              <a:spcAft>
                <a:spcPts val="0"/>
              </a:spcAft>
              <a:buClr>
                <a:schemeClr val="dk1"/>
              </a:buClr>
              <a:buSzPts val="605"/>
              <a:buFont typeface="Arial"/>
              <a:buNone/>
            </a:pPr>
            <a:r>
              <a:rPr b="0" i="0" lang="en-US" spc="0" sz="1700" u="none" cap="none" strike="noStrike">
                <a:solidFill>
                  <a:srgbClr val="565A32"/>
                </a:solidFill>
                <a:latin typeface="Raleway Light"/>
                <a:ea typeface="Raleway Light"/>
                <a:cs typeface="Raleway Light"/>
                <a:sym typeface="Raleway Light"/>
              </a:rPr>
              <a:t>An established market with opportunities for distinctive social experiences.</a:t>
            </a:r>
            <a:endParaRPr b="0" i="0" spc="0" sz="1600" u="none" cap="none" strike="noStrike">
              <a:solidFill>
                <a:srgbClr val="8B8B5C"/>
              </a:solidFill>
              <a:latin typeface="Raleway Light"/>
              <a:ea typeface="Raleway Light"/>
              <a:cs typeface="Raleway Light"/>
              <a:sym typeface="Raleway Light"/>
            </a:endParaRPr>
          </a:p>
          <a:p>
            <a:pPr indent="0" lvl="0" marL="0" marR="0" rtl="0" algn="l">
              <a:lnSpc>
                <a:spcPct val="80000"/>
              </a:lnSpc>
              <a:spcBef>
                <a:spcPts val="1200"/>
              </a:spcBef>
              <a:spcAft>
                <a:spcPts val="0"/>
              </a:spcAft>
              <a:buClr>
                <a:srgbClr val="565A32"/>
              </a:buClr>
              <a:buSzPts val="1045"/>
              <a:buFont typeface="Raleway Light"/>
              <a:buNone/>
            </a:pPr>
            <a:r>
              <a:t/>
            </a:r>
            <a:endParaRPr b="0" i="0" spc="0" sz="1600" u="none" cap="none" strike="noStrike">
              <a:solidFill>
                <a:srgbClr val="8B8B5C"/>
              </a:solidFill>
              <a:latin typeface="Raleway Light"/>
              <a:ea typeface="Raleway Light"/>
              <a:cs typeface="Raleway Light"/>
              <a:sym typeface="Raleway Light"/>
            </a:endParaRPr>
          </a:p>
        </p:txBody>
      </p:sp>
      <p:sp>
        <p:nvSpPr>
          <p:cNvPr id="942" name="Google Shape;942;p65"/>
          <p:cNvSpPr txBox="1"/>
          <p:nvPr/>
        </p:nvSpPr>
        <p:spPr>
          <a:xfrm>
            <a:off x="709075" y="1828800"/>
            <a:ext cx="9006840" cy="11430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0"/>
              </a:spcAft>
              <a:buClr>
                <a:schemeClr val="dk1"/>
              </a:buClr>
              <a:buSzPts val="1100"/>
              <a:buFont typeface="Arial"/>
              <a:buNone/>
            </a:pPr>
            <a:r>
              <a:rPr b="0" i="0" lang="en-US" spc="0" sz="1350" u="none" cap="none" strike="noStrike">
                <a:solidFill>
                  <a:srgbClr val="565A32"/>
                </a:solidFill>
                <a:latin typeface="Raleway Light"/>
                <a:ea typeface="Raleway Light"/>
                <a:cs typeface="Raleway Light"/>
                <a:sym typeface="Raleway Light"/>
              </a:rPr>
              <a:t>A large, active market</a:t>
            </a:r>
            <a:endParaRPr b="0" i="0" spc="0" sz="1500" u="none" cap="none" strike="noStrike">
              <a:solidFill>
                <a:srgbClr val="8B8B5C"/>
              </a:solidFill>
              <a:latin typeface="Raleway Light"/>
              <a:ea typeface="Raleway Light"/>
              <a:cs typeface="Raleway Light"/>
              <a:sym typeface="Raleway Light"/>
            </a:endParaRPr>
          </a:p>
          <a:p>
            <a:pPr indent="-323850" lvl="0" marL="457200" marR="0" rtl="0" algn="l">
              <a:lnSpc>
                <a:spcPct val="115000"/>
              </a:lnSpc>
              <a:spcBef>
                <a:spcPts val="1200"/>
              </a:spcBef>
              <a:spcAft>
                <a:spcPts val="0"/>
              </a:spcAft>
              <a:buClr>
                <a:srgbClr val="8B8B5C"/>
              </a:buClr>
              <a:buSzPts val="1500"/>
              <a:buFont typeface="Raleway Light"/>
              <a:buChar char="●"/>
            </a:pPr>
            <a:r>
              <a:rPr b="0" i="0" lang="en-US" spc="0" sz="1350" u="none" cap="none" strike="noStrike">
                <a:solidFill>
                  <a:srgbClr val="565A32"/>
                </a:solidFill>
                <a:latin typeface="Raleway Light"/>
                <a:ea typeface="Raleway Light"/>
                <a:cs typeface="Raleway Light"/>
                <a:sym typeface="Raleway Light"/>
              </a:rPr>
              <a:t>SPIEL Essen 2026 attracted a reported 230,000 visitors, with approximately 1,900 new games.</a:t>
            </a:r>
            <a:endParaRPr b="0" i="0" spc="0" sz="1500" u="none" cap="none" strike="noStrike">
              <a:solidFill>
                <a:srgbClr val="8B8B5C"/>
              </a:solidFill>
              <a:latin typeface="Raleway Light"/>
              <a:ea typeface="Raleway Light"/>
              <a:cs typeface="Raleway Light"/>
              <a:sym typeface="Raleway Light"/>
            </a:endParaRPr>
          </a:p>
          <a:p>
            <a:pPr indent="-323850" lvl="0" marL="457200" marR="0" rtl="0" algn="l">
              <a:lnSpc>
                <a:spcPct val="115000"/>
              </a:lnSpc>
              <a:spcBef>
                <a:spcPts val="0"/>
              </a:spcBef>
              <a:spcAft>
                <a:spcPts val="0"/>
              </a:spcAft>
              <a:buClr>
                <a:srgbClr val="8B8B5C"/>
              </a:buClr>
              <a:buSzPts val="1500"/>
              <a:buFont typeface="Raleway Light"/>
              <a:buChar char="●"/>
            </a:pPr>
            <a:r>
              <a:rPr b="0" i="0" lang="en-US" spc="0" sz="1350" u="none" cap="none" strike="noStrike">
                <a:solidFill>
                  <a:srgbClr val="565A32"/>
                </a:solidFill>
                <a:latin typeface="Raleway Light"/>
                <a:ea typeface="Raleway Light"/>
                <a:cs typeface="Raleway Light"/>
                <a:sym typeface="Raleway Light"/>
              </a:rPr>
              <a:t>Social, accessible and design-led games offer opportunities beyond traditional board-game enthusiasts.</a:t>
            </a:r>
            <a:endParaRPr b="0" i="0" spc="0" sz="1500" u="none" cap="none" strike="noStrike">
              <a:solidFill>
                <a:srgbClr val="8B8B5C"/>
              </a:solidFill>
              <a:latin typeface="Raleway Light"/>
              <a:ea typeface="Raleway Light"/>
              <a:cs typeface="Raleway Light"/>
              <a:sym typeface="Raleway Light"/>
            </a:endParaRPr>
          </a:p>
          <a:p>
            <a:pPr indent="0" lvl="0" marL="0" marR="0" rtl="0" algn="l">
              <a:lnSpc>
                <a:spcPct val="115000"/>
              </a:lnSpc>
              <a:spcBef>
                <a:spcPts val="1200"/>
              </a:spcBef>
              <a:spcAft>
                <a:spcPts val="0"/>
              </a:spcAft>
              <a:buClr>
                <a:schemeClr val="dk1"/>
              </a:buClr>
              <a:buSzPts val="1100"/>
              <a:buFont typeface="Arial"/>
              <a:buNone/>
            </a:pPr>
            <a:r>
              <a:rPr b="0" i="0" lang="en-US" spc="0" sz="1350" u="none" cap="none" strike="noStrike">
                <a:solidFill>
                  <a:srgbClr val="565A32"/>
                </a:solidFill>
                <a:latin typeface="Raleway Light"/>
                <a:ea typeface="Raleway Light"/>
                <a:cs typeface="Raleway Light"/>
                <a:sym typeface="Raleway Light"/>
              </a:rPr>
              <a:t>A different kind of experience</a:t>
            </a:r>
            <a:endParaRPr b="0" i="0" spc="0" sz="1500" u="none" cap="none" strike="noStrike">
              <a:solidFill>
                <a:srgbClr val="8B8B5C"/>
              </a:solidFill>
              <a:latin typeface="Raleway Light"/>
              <a:ea typeface="Raleway Light"/>
              <a:cs typeface="Raleway Light"/>
              <a:sym typeface="Raleway Light"/>
            </a:endParaRPr>
          </a:p>
          <a:p>
            <a:pPr indent="-323850" lvl="0" marL="457200" marR="0" rtl="0" algn="l">
              <a:lnSpc>
                <a:spcPct val="115000"/>
              </a:lnSpc>
              <a:spcBef>
                <a:spcPts val="1200"/>
              </a:spcBef>
              <a:spcAft>
                <a:spcPts val="0"/>
              </a:spcAft>
              <a:buClr>
                <a:srgbClr val="8B8B5C"/>
              </a:buClr>
              <a:buSzPts val="1500"/>
              <a:buFont typeface="Raleway Light"/>
              <a:buChar char="●"/>
            </a:pPr>
            <a:r>
              <a:rPr b="0" i="0" lang="en-US" spc="0" sz="1350" u="none" cap="none" strike="noStrike">
                <a:solidFill>
                  <a:srgbClr val="565A32"/>
                </a:solidFill>
                <a:latin typeface="Raleway Light"/>
                <a:ea typeface="Raleway Light"/>
                <a:cs typeface="Raleway Light"/>
                <a:sym typeface="Raleway Light"/>
              </a:rPr>
              <a:t>Existing wine games often emphasise knowledge, trivia or getting the answer right.</a:t>
            </a:r>
            <a:endParaRPr b="0" i="0" spc="0" sz="1500" u="none" cap="none" strike="noStrike">
              <a:solidFill>
                <a:srgbClr val="8B8B5C"/>
              </a:solidFill>
              <a:latin typeface="Raleway Light"/>
              <a:ea typeface="Raleway Light"/>
              <a:cs typeface="Raleway Light"/>
              <a:sym typeface="Raleway Light"/>
            </a:endParaRPr>
          </a:p>
          <a:p>
            <a:pPr indent="-323850" lvl="0" marL="457200" marR="0" rtl="0" algn="l">
              <a:lnSpc>
                <a:spcPct val="115000"/>
              </a:lnSpc>
              <a:spcBef>
                <a:spcPts val="0"/>
              </a:spcBef>
              <a:spcAft>
                <a:spcPts val="0"/>
              </a:spcAft>
              <a:buClr>
                <a:srgbClr val="8B8B5C"/>
              </a:buClr>
              <a:buSzPts val="1500"/>
              <a:buFont typeface="Raleway Light"/>
              <a:buChar char="●"/>
            </a:pPr>
            <a:r>
              <a:rPr b="0" i="0" lang="en-US" spc="0" sz="1350" u="none" cap="none" strike="noStrike">
                <a:solidFill>
                  <a:srgbClr val="565A32"/>
                </a:solidFill>
                <a:latin typeface="Raleway Light"/>
                <a:ea typeface="Raleway Light"/>
                <a:cs typeface="Raleway Light"/>
                <a:sym typeface="Raleway Light"/>
              </a:rPr>
              <a:t>Entre Amis puts conversation, participation and shared discovery at the centre.</a:t>
            </a:r>
            <a:endParaRPr b="0" i="0" spc="0" sz="1500" u="none" cap="none" strike="noStrike">
              <a:solidFill>
                <a:srgbClr val="8B8B5C"/>
              </a:solidFill>
              <a:latin typeface="Raleway Light"/>
              <a:ea typeface="Raleway Light"/>
              <a:cs typeface="Raleway Light"/>
              <a:sym typeface="Raleway Light"/>
            </a:endParaRPr>
          </a:p>
          <a:p>
            <a:pPr indent="-323850" lvl="0" marL="457200" marR="0" rtl="0" algn="l">
              <a:lnSpc>
                <a:spcPct val="115000"/>
              </a:lnSpc>
              <a:spcBef>
                <a:spcPts val="0"/>
              </a:spcBef>
              <a:spcAft>
                <a:spcPts val="0"/>
              </a:spcAft>
              <a:buClr>
                <a:srgbClr val="8B8B5C"/>
              </a:buClr>
              <a:buSzPts val="1500"/>
              <a:buFont typeface="Raleway Light"/>
              <a:buChar char="●"/>
            </a:pPr>
            <a:r>
              <a:rPr b="0" i="0" lang="en-US" spc="0" sz="1350" u="none" cap="none" strike="noStrike">
                <a:solidFill>
                  <a:srgbClr val="565A32"/>
                </a:solidFill>
                <a:latin typeface="Raleway Light"/>
                <a:ea typeface="Raleway Light"/>
                <a:cs typeface="Raleway Light"/>
                <a:sym typeface="Raleway Light"/>
              </a:rPr>
              <a:t>Premium presentation and gifting are important parts of the proposition.</a:t>
            </a:r>
            <a:endParaRPr b="0" i="0" spc="0" sz="1500" u="none" cap="none" strike="noStrike">
              <a:solidFill>
                <a:srgbClr val="8B8B5C"/>
              </a:solidFill>
              <a:latin typeface="Raleway Light"/>
              <a:ea typeface="Raleway Light"/>
              <a:cs typeface="Raleway Light"/>
              <a:sym typeface="Raleway Light"/>
            </a:endParaRPr>
          </a:p>
          <a:p>
            <a:pPr indent="0" lvl="0" marL="0" marR="0" rtl="0" algn="l">
              <a:lnSpc>
                <a:spcPct val="115000"/>
              </a:lnSpc>
              <a:spcBef>
                <a:spcPts val="1200"/>
              </a:spcBef>
              <a:spcAft>
                <a:spcPts val="0"/>
              </a:spcAft>
              <a:buClr>
                <a:schemeClr val="dk1"/>
              </a:buClr>
              <a:buSzPts val="1100"/>
              <a:buFont typeface="Arial"/>
              <a:buNone/>
            </a:pPr>
            <a:r>
              <a:rPr b="0" i="0" lang="en-US" spc="0" sz="1350" u="none" cap="none" strike="noStrike">
                <a:solidFill>
                  <a:srgbClr val="565A32"/>
                </a:solidFill>
                <a:latin typeface="Raleway Light"/>
                <a:ea typeface="Raleway Light"/>
                <a:cs typeface="Raleway Light"/>
                <a:sym typeface="Raleway Light"/>
              </a:rPr>
              <a:t>More than one route to market</a:t>
            </a:r>
            <a:endParaRPr b="0" i="0" spc="0" sz="1500" u="none" cap="none" strike="noStrike">
              <a:solidFill>
                <a:srgbClr val="8B8B5C"/>
              </a:solidFill>
              <a:latin typeface="Raleway Light"/>
              <a:ea typeface="Raleway Light"/>
              <a:cs typeface="Raleway Light"/>
              <a:sym typeface="Raleway Light"/>
            </a:endParaRPr>
          </a:p>
          <a:p>
            <a:pPr indent="-323850" lvl="0" marL="457200" marR="0" rtl="0" algn="l">
              <a:lnSpc>
                <a:spcPct val="115000"/>
              </a:lnSpc>
              <a:spcBef>
                <a:spcPts val="1200"/>
              </a:spcBef>
              <a:spcAft>
                <a:spcPts val="0"/>
              </a:spcAft>
              <a:buClr>
                <a:srgbClr val="8B8B5C"/>
              </a:buClr>
              <a:buSzPts val="1500"/>
              <a:buFont typeface="Raleway Light"/>
              <a:buChar char="●"/>
            </a:pPr>
            <a:r>
              <a:rPr b="0" i="0" lang="en-US" spc="0" sz="1350" u="none" cap="none" strike="noStrike">
                <a:solidFill>
                  <a:srgbClr val="565A32"/>
                </a:solidFill>
                <a:latin typeface="Raleway Light"/>
                <a:ea typeface="Raleway Light"/>
                <a:cs typeface="Raleway Light"/>
                <a:sym typeface="Raleway Light"/>
              </a:rPr>
              <a:t>Specialist games retailers and premium gifting.</a:t>
            </a:r>
            <a:endParaRPr b="0" i="0" spc="0" sz="1500" u="none" cap="none" strike="noStrike">
              <a:solidFill>
                <a:srgbClr val="8B8B5C"/>
              </a:solidFill>
              <a:latin typeface="Raleway Light"/>
              <a:ea typeface="Raleway Light"/>
              <a:cs typeface="Raleway Light"/>
              <a:sym typeface="Raleway Light"/>
            </a:endParaRPr>
          </a:p>
          <a:p>
            <a:pPr indent="-323850" lvl="0" marL="457200" marR="0" rtl="0" algn="l">
              <a:lnSpc>
                <a:spcPct val="115000"/>
              </a:lnSpc>
              <a:spcBef>
                <a:spcPts val="0"/>
              </a:spcBef>
              <a:spcAft>
                <a:spcPts val="0"/>
              </a:spcAft>
              <a:buClr>
                <a:srgbClr val="8B8B5C"/>
              </a:buClr>
              <a:buSzPts val="1500"/>
              <a:buFont typeface="Raleway Light"/>
              <a:buChar char="●"/>
            </a:pPr>
            <a:r>
              <a:rPr b="0" i="0" lang="en-US" spc="0" sz="1350" u="none" cap="none" strike="noStrike">
                <a:solidFill>
                  <a:srgbClr val="565A32"/>
                </a:solidFill>
                <a:latin typeface="Raleway Light"/>
                <a:ea typeface="Raleway Light"/>
                <a:cs typeface="Raleway Light"/>
                <a:sym typeface="Raleway Light"/>
              </a:rPr>
              <a:t>Vineyards, hospitality, events and experience-led retail.</a:t>
            </a:r>
            <a:endParaRPr b="0" i="0" spc="0" sz="1500" u="none" cap="none" strike="noStrike">
              <a:solidFill>
                <a:srgbClr val="8B8B5C"/>
              </a:solidFill>
              <a:latin typeface="Raleway Light"/>
              <a:ea typeface="Raleway Light"/>
              <a:cs typeface="Raleway Light"/>
              <a:sym typeface="Raleway Light"/>
            </a:endParaRPr>
          </a:p>
          <a:p>
            <a:pPr indent="-323850" lvl="0" marL="457200" marR="0" rtl="0" algn="l">
              <a:lnSpc>
                <a:spcPct val="115000"/>
              </a:lnSpc>
              <a:spcBef>
                <a:spcPts val="0"/>
              </a:spcBef>
              <a:spcAft>
                <a:spcPts val="0"/>
              </a:spcAft>
              <a:buClr>
                <a:srgbClr val="8B8B5C"/>
              </a:buClr>
              <a:buSzPts val="1500"/>
              <a:buFont typeface="Raleway Light"/>
              <a:buChar char="●"/>
            </a:pPr>
            <a:r>
              <a:rPr b="0" i="0" lang="en-US" spc="0" sz="1350" u="none" cap="none" strike="noStrike">
                <a:solidFill>
                  <a:srgbClr val="565A32"/>
                </a:solidFill>
                <a:latin typeface="Raleway Light"/>
                <a:ea typeface="Raleway Light"/>
                <a:cs typeface="Raleway Light"/>
                <a:sym typeface="Raleway Light"/>
              </a:rPr>
              <a:t>Potential publisher, distributor or licensing partnerships.</a:t>
            </a:r>
            <a:endParaRPr b="0" i="0" spc="0" sz="1500" u="none" cap="none" strike="noStrike">
              <a:solidFill>
                <a:srgbClr val="8B8B5C"/>
              </a:solidFill>
              <a:latin typeface="Raleway Light"/>
              <a:ea typeface="Raleway Light"/>
              <a:cs typeface="Raleway Light"/>
              <a:sym typeface="Raleway Light"/>
            </a:endParaRPr>
          </a:p>
          <a:p>
            <a:pPr indent="0" lvl="0" marL="0" marR="0" rtl="0" algn="l">
              <a:lnSpc>
                <a:spcPct val="100000"/>
              </a:lnSpc>
              <a:spcBef>
                <a:spcPts val="1200"/>
              </a:spcBef>
              <a:spcAft>
                <a:spcPts val="0"/>
              </a:spcAft>
              <a:buClr>
                <a:srgbClr val="565A32"/>
              </a:buClr>
              <a:buSzPts val="2400"/>
              <a:buFont typeface="Raleway Light"/>
              <a:buNone/>
            </a:pPr>
            <a:r>
              <a:t/>
            </a:r>
            <a:endParaRPr b="0" i="0" spc="0" sz="1500" u="none" cap="none" strike="noStrike">
              <a:solidFill>
                <a:srgbClr val="8B8B5C"/>
              </a:solidFill>
              <a:latin typeface="Raleway Light"/>
              <a:ea typeface="Raleway Light"/>
              <a:cs typeface="Raleway Light"/>
              <a:sym typeface="Raleway Light"/>
            </a:endParaRPr>
          </a:p>
        </p:txBody>
      </p:sp>
      <p:sp>
        <p:nvSpPr>
          <p:cNvPr id="943" name="Google Shape;943;p65"/>
          <p:cNvSpPr txBox="1"/>
          <p:nvPr/>
        </p:nvSpPr>
        <p:spPr>
          <a:xfrm>
            <a:off x="685800" y="6355080"/>
            <a:ext cx="4114800" cy="2376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565A32"/>
              </a:buClr>
              <a:buSzPts val="1300"/>
              <a:buFont typeface="Raleway Light"/>
              <a:buNone/>
            </a:pPr>
            <a:r>
              <a:rPr b="0" i="0" lang="en-US" spc="0" sz="1300" u="none" cap="none" strike="noStrike">
                <a:solidFill>
                  <a:srgbClr val="565A32"/>
                </a:solidFill>
                <a:latin typeface="Raleway Light"/>
                <a:ea typeface="Raleway Light"/>
                <a:cs typeface="Raleway Light"/>
                <a:sym typeface="Raleway Light"/>
              </a:rPr>
              <a:t>Say what you really think.</a:t>
            </a:r>
            <a:endParaRPr b="0" i="0" spc="0" sz="1300" u="none" cap="none" strike="noStrike">
              <a:solidFill>
                <a:schemeClr val="dk1"/>
              </a:solidFill>
              <a:latin typeface="Raleway Light"/>
              <a:ea typeface="Raleway Light"/>
              <a:cs typeface="Raleway Light"/>
              <a:sym typeface="Raleway Light"/>
            </a:endParaRPr>
          </a:p>
        </p:txBody>
      </p:sp>
      <p:pic>
        <p:nvPicPr>
          <p:cNvPr id="944" name="Google Shape;944;p65" title="Copy_of_Untitled-removebg-preview.png"/>
          <p:cNvPicPr preferRelativeResize="0"/>
          <p:nvPr/>
        </p:nvPicPr>
        <p:blipFill rotWithShape="1">
          <a:blip r:embed="rId3">
            <a:alphaModFix/>
          </a:blip>
          <a:srcRect b="0" l="0" r="0" t="0"/>
          <a:stretch/>
        </p:blipFill>
        <p:spPr>
          <a:xfrm>
            <a:off x="9834990" y="5349262"/>
            <a:ext cx="1508730" cy="1508730"/>
          </a:xfrm>
          <a:prstGeom prst="rect">
            <a:avLst/>
          </a:prstGeom>
          <a:noFill/>
          <a:ln>
            <a:noFill/>
          </a:ln>
        </p:spPr>
      </p:pic>
      <p:sp>
        <p:nvSpPr>
          <p:cNvPr id="945" name="Google Shape;945;p65"/>
          <p:cNvSpPr/>
          <p:nvPr/>
        </p:nvSpPr>
        <p:spPr>
          <a:xfrm>
            <a:off x="9262872" y="457200"/>
            <a:ext cx="2377440" cy="384048"/>
          </a:xfrm>
          <a:prstGeom prst="roundRect">
            <a:avLst>
              <a:gd fmla="val 50000" name="adj"/>
            </a:avLst>
          </a:prstGeom>
          <a:solidFill>
            <a:srgbClr val="EFEAE0"/>
          </a:solidFill>
          <a:ln cap="flat" cmpd="sng" w="12700">
            <a:solidFill>
              <a:srgbClr val="565A32"/>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1" i="0" lang="en-US" spc="0" sz="1400" u="none" cap="none" strike="noStrike">
                <a:solidFill>
                  <a:srgbClr val="565A32"/>
                </a:solidFill>
                <a:latin typeface="Raleway SemiBold"/>
                <a:ea typeface="Raleway SemiBold"/>
                <a:cs typeface="Raleway SemiBold"/>
                <a:sym typeface="Raleway SemiBold"/>
              </a:rPr>
              <a:t>INTERNAL</a:t>
            </a:r>
            <a:endParaRPr b="0" i="0" spc="0" sz="1400" u="none" cap="none" strike="noStrike">
              <a:solidFill>
                <a:srgbClr val="000000"/>
              </a:solidFill>
              <a:latin typeface="Arial"/>
              <a:ea typeface="Arial"/>
              <a:cs typeface="Arial"/>
              <a:sym typeface="Arial"/>
            </a:endParaRPr>
          </a:p>
        </p:txBody>
      </p:sp>
      <p:sp>
        <p:nvSpPr>
          <p:cNvPr id="946" name="Google Shape;946;p65"/>
          <p:cNvSpPr/>
          <p:nvPr/>
        </p:nvSpPr>
        <p:spPr>
          <a:xfrm>
            <a:off x="685800" y="5715000"/>
            <a:ext cx="9052560" cy="502920"/>
          </a:xfrm>
          <a:prstGeom prst="roundRect">
            <a:avLst>
              <a:gd fmla="val 30000" name="adj"/>
            </a:avLst>
          </a:prstGeom>
          <a:solidFill>
            <a:srgbClr val="565A32"/>
          </a:solidFill>
          <a:ln>
            <a:noFill/>
          </a:ln>
        </p:spPr>
        <p:txBody>
          <a:bodyPr anchorCtr="0" anchor="ctr" bIns="18275" lIns="182875" spcFirstLastPara="1" rIns="182875" wrap="square" tIns="18275">
            <a:noAutofit/>
          </a:bodyPr>
          <a:lstStyle/>
          <a:p>
            <a:pPr indent="0" lvl="0" marL="0" marR="0" rtl="0" algn="ctr">
              <a:lnSpc>
                <a:spcPct val="100000"/>
              </a:lnSpc>
              <a:spcBef>
                <a:spcPts val="0"/>
              </a:spcBef>
              <a:spcAft>
                <a:spcPts val="0"/>
              </a:spcAft>
              <a:buNone/>
            </a:pPr>
            <a:r>
              <a:rPr b="1" i="0" lang="en-US" spc="0" sz="1400" u="none" cap="none" strike="noStrike">
                <a:solidFill>
                  <a:srgbClr val="EFEAE0"/>
                </a:solidFill>
                <a:latin typeface="Raleway SemiBold"/>
                <a:ea typeface="Raleway SemiBold"/>
                <a:cs typeface="Raleway SemiBold"/>
                <a:sym typeface="Raleway SemiBold"/>
              </a:rPr>
              <a:t>The opportunity: A premium social game people choose for the experience it creates, not the knowledge it tests.</a:t>
            </a:r>
            <a:endParaRPr/>
          </a:p>
        </p:txBody>
      </p:sp>
      <p:sp>
        <p:nvSpPr>
          <p:cNvPr id="947" name="Google Shape;947;p65"/>
          <p:cNvSpPr/>
          <p:nvPr/>
        </p:nvSpPr>
        <p:spPr>
          <a:xfrm>
            <a:off x="0" y="0"/>
            <a:ext cx="12191700" cy="329100"/>
          </a:xfrm>
          <a:prstGeom prst="rect">
            <a:avLst/>
          </a:prstGeom>
          <a:solidFill>
            <a:srgbClr val="565A32"/>
          </a:solidFill>
          <a:ln cap="flat" cmpd="sng" w="12700">
            <a:solidFill>
              <a:srgbClr val="565A3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
        <p:nvSpPr>
          <p:cNvPr id="948" name="Slide number"/>
          <p:cNvSpPr txBox="1"/>
          <p:nvPr>
            <p:ph idx="4294967295" type="sldNum"/>
          </p:nvPr>
        </p:nvSpPr>
        <p:spPr>
          <a:xfrm>
            <a:off x="9372600" y="5971032"/>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chemeClr val="dk1"/>
                </a:solidFill>
                <a:latin typeface="Raleway Light"/>
                <a:ea typeface="Raleway Light"/>
                <a:cs typeface="Raleway Light"/>
                <a:sym typeface="Raleway Light"/>
              </a:rPr>
              <a:t>‹#›</a:t>
            </a:fld>
            <a:endParaRPr b="0" i="0" sz="1000" u="none" cap="none" strike="noStrike">
              <a:solidFill>
                <a:schemeClr val="dk1"/>
              </a:solidFill>
              <a:latin typeface="Raleway Light"/>
              <a:ea typeface="Raleway Light"/>
              <a:cs typeface="Raleway Light"/>
              <a:sym typeface="Raleway Light"/>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AE0"/>
        </a:solidFill>
      </p:bgPr>
    </p:bg>
    <p:spTree>
      <p:nvGrpSpPr>
        <p:cNvPr id="951" name="Shape 951"/>
        <p:cNvGrpSpPr/>
        <p:nvPr/>
      </p:nvGrpSpPr>
      <p:grpSpPr>
        <a:xfrm>
          <a:off x="0" y="0"/>
          <a:ext cx="0" cy="0"/>
          <a:chOff x="0" y="0"/>
          <a:chExt cx="0" cy="0"/>
        </a:xfrm>
      </p:grpSpPr>
      <p:sp>
        <p:nvSpPr>
          <p:cNvPr id="952" name="Google Shape;952;p66"/>
          <p:cNvSpPr txBox="1"/>
          <p:nvPr/>
        </p:nvSpPr>
        <p:spPr>
          <a:xfrm>
            <a:off x="685800" y="475488"/>
            <a:ext cx="8229600" cy="530400"/>
          </a:xfrm>
          <a:prstGeom prst="rect">
            <a:avLst/>
          </a:prstGeom>
          <a:noFill/>
          <a:ln>
            <a:noFill/>
          </a:ln>
        </p:spPr>
        <p:txBody>
          <a:bodyPr anchorCtr="0" anchor="t" bIns="0" lIns="0" spcFirstLastPara="1" rIns="0" wrap="square" tIns="0">
            <a:noAutofit/>
          </a:bodyPr>
          <a:lstStyle/>
          <a:p>
            <a:pPr indent="0" lvl="0" marL="0" marR="0" rtl="0" algn="l">
              <a:lnSpc>
                <a:spcPct val="95000"/>
              </a:lnSpc>
              <a:spcBef>
                <a:spcPts val="1800"/>
              </a:spcBef>
              <a:spcAft>
                <a:spcPts val="0"/>
              </a:spcAft>
              <a:buClr>
                <a:schemeClr val="dk1"/>
              </a:buClr>
              <a:buSzPts val="688"/>
              <a:buFont typeface="Arial"/>
              <a:buNone/>
            </a:pPr>
            <a:r>
              <a:rPr b="0" i="0" lang="en-US" spc="0" sz="3800" u="none" cap="none" strike="noStrike">
                <a:solidFill>
                  <a:srgbClr val="565A32"/>
                </a:solidFill>
                <a:latin typeface="Raleway Light"/>
                <a:ea typeface="Raleway Light"/>
                <a:cs typeface="Raleway Light"/>
                <a:sym typeface="Raleway Light"/>
              </a:rPr>
              <a:t>The digital experience market</a:t>
            </a:r>
            <a:endParaRPr b="1" i="0" spc="0" sz="2363" u="none" cap="none" strike="noStrike">
              <a:solidFill>
                <a:srgbClr val="565A32"/>
              </a:solidFill>
              <a:latin typeface="Raleway"/>
              <a:ea typeface="Raleway"/>
              <a:cs typeface="Raleway"/>
              <a:sym typeface="Raleway"/>
            </a:endParaRPr>
          </a:p>
          <a:p>
            <a:pPr indent="0" lvl="0" marL="0" marR="0" rtl="0" algn="l">
              <a:lnSpc>
                <a:spcPct val="80000"/>
              </a:lnSpc>
              <a:spcBef>
                <a:spcPts val="400"/>
              </a:spcBef>
              <a:spcAft>
                <a:spcPts val="0"/>
              </a:spcAft>
              <a:buClr>
                <a:srgbClr val="565A32"/>
              </a:buClr>
              <a:buSzPts val="2375"/>
              <a:buFont typeface="Raleway Light"/>
              <a:buNone/>
            </a:pPr>
            <a:r>
              <a:t/>
            </a:r>
            <a:endParaRPr b="1" i="0" spc="0" sz="3675" u="none" cap="none" strike="noStrike">
              <a:solidFill>
                <a:srgbClr val="565A32"/>
              </a:solidFill>
              <a:latin typeface="Raleway"/>
              <a:ea typeface="Raleway"/>
              <a:cs typeface="Raleway"/>
              <a:sym typeface="Raleway"/>
            </a:endParaRPr>
          </a:p>
        </p:txBody>
      </p:sp>
      <p:sp>
        <p:nvSpPr>
          <p:cNvPr id="953" name="Google Shape;953;p66"/>
          <p:cNvSpPr txBox="1"/>
          <p:nvPr/>
        </p:nvSpPr>
        <p:spPr>
          <a:xfrm>
            <a:off x="685800" y="1042416"/>
            <a:ext cx="10058400" cy="3840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0"/>
              </a:spcAft>
              <a:buClr>
                <a:schemeClr val="dk1"/>
              </a:buClr>
              <a:buSzPts val="1100"/>
              <a:buFont typeface="Arial"/>
              <a:buNone/>
            </a:pPr>
            <a:r>
              <a:rPr b="0" i="0" lang="en-US" spc="0" sz="1700" u="none" cap="none" strike="noStrike">
                <a:solidFill>
                  <a:srgbClr val="565A32"/>
                </a:solidFill>
                <a:latin typeface="Raleway Light"/>
                <a:ea typeface="Raleway Light"/>
                <a:cs typeface="Raleway Light"/>
                <a:sym typeface="Raleway Light"/>
              </a:rPr>
              <a:t>Established wine apps serve different needs, leaving an opportunity to test a more connected experience.</a:t>
            </a:r>
            <a:endParaRPr b="0" i="0" spc="0" sz="1400" u="none" cap="none" strike="noStrike">
              <a:solidFill>
                <a:srgbClr val="565A32"/>
              </a:solidFill>
              <a:latin typeface="Raleway Light"/>
              <a:ea typeface="Raleway Light"/>
              <a:cs typeface="Raleway Light"/>
              <a:sym typeface="Raleway Light"/>
            </a:endParaRPr>
          </a:p>
          <a:p>
            <a:pPr indent="0" lvl="0" marL="0" marR="0" rtl="0" algn="l">
              <a:lnSpc>
                <a:spcPct val="95000"/>
              </a:lnSpc>
              <a:spcBef>
                <a:spcPts val="1200"/>
              </a:spcBef>
              <a:spcAft>
                <a:spcPts val="0"/>
              </a:spcAft>
              <a:buClr>
                <a:schemeClr val="dk1"/>
              </a:buClr>
              <a:buSzPts val="605"/>
              <a:buFont typeface="Arial"/>
              <a:buNone/>
            </a:pPr>
            <a:r>
              <a:t/>
            </a:r>
            <a:endParaRPr b="0" i="0" spc="0" sz="1900" u="none" cap="none" strike="noStrike">
              <a:solidFill>
                <a:srgbClr val="565A32"/>
              </a:solidFill>
              <a:latin typeface="Raleway Light"/>
              <a:ea typeface="Raleway Light"/>
              <a:cs typeface="Raleway Light"/>
              <a:sym typeface="Raleway Light"/>
            </a:endParaRPr>
          </a:p>
          <a:p>
            <a:pPr indent="0" lvl="0" marL="0" marR="0" rtl="0" algn="l">
              <a:lnSpc>
                <a:spcPct val="80000"/>
              </a:lnSpc>
              <a:spcBef>
                <a:spcPts val="1200"/>
              </a:spcBef>
              <a:spcAft>
                <a:spcPts val="0"/>
              </a:spcAft>
              <a:buClr>
                <a:srgbClr val="565A32"/>
              </a:buClr>
              <a:buSzPts val="1045"/>
              <a:buFont typeface="Raleway Light"/>
              <a:buNone/>
            </a:pPr>
            <a:r>
              <a:t/>
            </a:r>
            <a:endParaRPr b="0" i="0" spc="0" sz="1900" u="none" cap="none" strike="noStrike">
              <a:solidFill>
                <a:srgbClr val="565A32"/>
              </a:solidFill>
              <a:latin typeface="Raleway Light"/>
              <a:ea typeface="Raleway Light"/>
              <a:cs typeface="Raleway Light"/>
              <a:sym typeface="Raleway Light"/>
            </a:endParaRPr>
          </a:p>
        </p:txBody>
      </p:sp>
      <p:sp>
        <p:nvSpPr>
          <p:cNvPr id="954" name="Google Shape;954;p66"/>
          <p:cNvSpPr txBox="1"/>
          <p:nvPr/>
        </p:nvSpPr>
        <p:spPr>
          <a:xfrm>
            <a:off x="709075" y="1828800"/>
            <a:ext cx="9006840" cy="11430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0"/>
              </a:spcAft>
              <a:buClr>
                <a:schemeClr val="dk1"/>
              </a:buClr>
              <a:buSzPts val="1100"/>
              <a:buFont typeface="Arial"/>
              <a:buNone/>
            </a:pPr>
            <a:r>
              <a:rPr b="0" i="0" lang="en-US" spc="0" sz="1260" u="none" cap="none" strike="noStrike">
                <a:solidFill>
                  <a:srgbClr val="565A32"/>
                </a:solidFill>
                <a:latin typeface="Raleway Light"/>
                <a:ea typeface="Raleway Light"/>
                <a:cs typeface="Raleway Light"/>
                <a:sym typeface="Raleway Light"/>
              </a:rPr>
              <a:t>A fragmented competitive landscape</a:t>
            </a:r>
            <a:endParaRPr b="0" i="0" spc="0" sz="1400" u="none" cap="none" strike="noStrike">
              <a:solidFill>
                <a:srgbClr val="565A32"/>
              </a:solidFill>
              <a:latin typeface="Raleway Light"/>
              <a:ea typeface="Raleway Light"/>
              <a:cs typeface="Raleway Light"/>
              <a:sym typeface="Raleway Light"/>
            </a:endParaRPr>
          </a:p>
          <a:p>
            <a:pPr indent="-317500" lvl="0" marL="457200" marR="0" rtl="0" algn="l">
              <a:lnSpc>
                <a:spcPct val="115000"/>
              </a:lnSpc>
              <a:spcBef>
                <a:spcPts val="1200"/>
              </a:spcBef>
              <a:spcAft>
                <a:spcPts val="0"/>
              </a:spcAft>
              <a:buClr>
                <a:srgbClr val="565A32"/>
              </a:buClr>
              <a:buSzPts val="1400"/>
              <a:buFont typeface="Arial"/>
              <a:buChar char="●"/>
            </a:pPr>
            <a:r>
              <a:rPr b="0" i="0" lang="en-US" spc="0" sz="1260" u="none" cap="none" strike="noStrike">
                <a:solidFill>
                  <a:srgbClr val="565A32"/>
                </a:solidFill>
                <a:latin typeface="Raleway Light"/>
                <a:ea typeface="Raleway Light"/>
                <a:cs typeface="Raleway Light"/>
                <a:sym typeface="Raleway Light"/>
              </a:rPr>
              <a:t>Vivino: Wine discovery, ratings and purchasing.</a:t>
            </a:r>
            <a:endParaRPr b="0" i="0" spc="0" sz="1400" u="none" cap="none" strike="noStrike">
              <a:solidFill>
                <a:srgbClr val="565A32"/>
              </a:solidFill>
              <a:latin typeface="Raleway Light"/>
              <a:ea typeface="Raleway Light"/>
              <a:cs typeface="Raleway Light"/>
              <a:sym typeface="Raleway Light"/>
            </a:endParaRPr>
          </a:p>
          <a:p>
            <a:pPr indent="-317500" lvl="0" marL="457200" marR="0" rtl="0" algn="l">
              <a:lnSpc>
                <a:spcPct val="115000"/>
              </a:lnSpc>
              <a:spcBef>
                <a:spcPts val="0"/>
              </a:spcBef>
              <a:spcAft>
                <a:spcPts val="0"/>
              </a:spcAft>
              <a:buClr>
                <a:srgbClr val="565A32"/>
              </a:buClr>
              <a:buSzPts val="1400"/>
              <a:buFont typeface="Arial"/>
              <a:buChar char="●"/>
            </a:pPr>
            <a:r>
              <a:rPr b="0" i="0" lang="en-US" spc="0" sz="1260" u="none" cap="none" strike="noStrike">
                <a:solidFill>
                  <a:srgbClr val="565A32"/>
                </a:solidFill>
                <a:latin typeface="Raleway Light"/>
                <a:ea typeface="Raleway Light"/>
                <a:cs typeface="Raleway Light"/>
                <a:sym typeface="Raleway Light"/>
              </a:rPr>
              <a:t>CellarTracker / InVintory: Collections and cellar management.</a:t>
            </a:r>
            <a:endParaRPr b="0" i="0" spc="0" sz="1400" u="none" cap="none" strike="noStrike">
              <a:solidFill>
                <a:srgbClr val="565A32"/>
              </a:solidFill>
              <a:latin typeface="Raleway Light"/>
              <a:ea typeface="Raleway Light"/>
              <a:cs typeface="Raleway Light"/>
              <a:sym typeface="Raleway Light"/>
            </a:endParaRPr>
          </a:p>
          <a:p>
            <a:pPr indent="-317500" lvl="0" marL="457200" marR="0" rtl="0" algn="l">
              <a:lnSpc>
                <a:spcPct val="115000"/>
              </a:lnSpc>
              <a:spcBef>
                <a:spcPts val="0"/>
              </a:spcBef>
              <a:spcAft>
                <a:spcPts val="0"/>
              </a:spcAft>
              <a:buClr>
                <a:srgbClr val="565A32"/>
              </a:buClr>
              <a:buSzPts val="1400"/>
              <a:buFont typeface="Arial"/>
              <a:buChar char="●"/>
            </a:pPr>
            <a:r>
              <a:rPr b="0" i="0" lang="en-US" spc="0" sz="1260" u="none" cap="none" strike="noStrike">
                <a:solidFill>
                  <a:srgbClr val="565A32"/>
                </a:solidFill>
                <a:latin typeface="Raleway Light"/>
                <a:ea typeface="Raleway Light"/>
                <a:cs typeface="Raleway Light"/>
                <a:sym typeface="Raleway Light"/>
              </a:rPr>
              <a:t>WineGame / TasteWine: Gaming and guided tasting.</a:t>
            </a:r>
            <a:endParaRPr b="0" i="0" spc="0" sz="1400" u="none" cap="none" strike="noStrike">
              <a:solidFill>
                <a:srgbClr val="565A32"/>
              </a:solidFill>
              <a:latin typeface="Raleway Light"/>
              <a:ea typeface="Raleway Light"/>
              <a:cs typeface="Raleway Light"/>
              <a:sym typeface="Raleway Light"/>
            </a:endParaRPr>
          </a:p>
          <a:p>
            <a:pPr indent="-317500" lvl="0" marL="457200" marR="0" rtl="0" algn="l">
              <a:lnSpc>
                <a:spcPct val="115000"/>
              </a:lnSpc>
              <a:spcBef>
                <a:spcPts val="0"/>
              </a:spcBef>
              <a:spcAft>
                <a:spcPts val="0"/>
              </a:spcAft>
              <a:buClr>
                <a:srgbClr val="565A32"/>
              </a:buClr>
              <a:buSzPts val="1400"/>
              <a:buFont typeface="Arial"/>
              <a:buChar char="●"/>
            </a:pPr>
            <a:r>
              <a:rPr b="0" i="0" lang="en-US" spc="0" sz="1260" u="none" cap="none" strike="noStrike">
                <a:solidFill>
                  <a:srgbClr val="565A32"/>
                </a:solidFill>
                <a:latin typeface="Raleway Light"/>
                <a:ea typeface="Raleway Light"/>
                <a:cs typeface="Raleway Light"/>
                <a:sym typeface="Raleway Light"/>
              </a:rPr>
              <a:t>Rewine: Digital engagement for individual wine venues.</a:t>
            </a:r>
            <a:endParaRPr b="0" i="0" spc="0" sz="1400" u="none" cap="none" strike="noStrike">
              <a:solidFill>
                <a:srgbClr val="565A32"/>
              </a:solidFill>
              <a:latin typeface="Raleway Light"/>
              <a:ea typeface="Raleway Light"/>
              <a:cs typeface="Raleway Light"/>
              <a:sym typeface="Raleway Light"/>
            </a:endParaRPr>
          </a:p>
          <a:p>
            <a:pPr indent="-317500" lvl="0" marL="457200" marR="0" rtl="0" algn="l">
              <a:lnSpc>
                <a:spcPct val="115000"/>
              </a:lnSpc>
              <a:spcBef>
                <a:spcPts val="0"/>
              </a:spcBef>
              <a:spcAft>
                <a:spcPts val="0"/>
              </a:spcAft>
              <a:buClr>
                <a:srgbClr val="565A32"/>
              </a:buClr>
              <a:buSzPts val="1400"/>
              <a:buFont typeface="Arial"/>
              <a:buChar char="●"/>
            </a:pPr>
            <a:r>
              <a:rPr b="0" i="0" lang="en-US" spc="0" sz="1260" u="none" cap="none" strike="noStrike">
                <a:solidFill>
                  <a:srgbClr val="565A32"/>
                </a:solidFill>
                <a:latin typeface="Raleway Light"/>
                <a:ea typeface="Raleway Light"/>
                <a:cs typeface="Raleway Light"/>
                <a:sym typeface="Raleway Light"/>
              </a:rPr>
              <a:t>UK Vineyard Guide: Vineyard and experience discovery.</a:t>
            </a:r>
            <a:endParaRPr b="0" i="0" spc="0" sz="1400" u="none" cap="none" strike="noStrike">
              <a:solidFill>
                <a:srgbClr val="565A32"/>
              </a:solidFill>
              <a:latin typeface="Raleway Light"/>
              <a:ea typeface="Raleway Light"/>
              <a:cs typeface="Raleway Light"/>
              <a:sym typeface="Raleway Light"/>
            </a:endParaRPr>
          </a:p>
          <a:p>
            <a:pPr indent="0" lvl="0" marL="0" marR="0" rtl="0" algn="l">
              <a:lnSpc>
                <a:spcPct val="115000"/>
              </a:lnSpc>
              <a:spcBef>
                <a:spcPts val="1200"/>
              </a:spcBef>
              <a:spcAft>
                <a:spcPts val="0"/>
              </a:spcAft>
              <a:buClr>
                <a:schemeClr val="dk1"/>
              </a:buClr>
              <a:buSzPts val="1100"/>
              <a:buFont typeface="Arial"/>
              <a:buNone/>
            </a:pPr>
            <a:r>
              <a:rPr b="0" i="0" lang="en-US" spc="0" sz="1260" u="none" cap="none" strike="noStrike">
                <a:solidFill>
                  <a:srgbClr val="565A32"/>
                </a:solidFill>
                <a:latin typeface="Raleway Light"/>
                <a:ea typeface="Raleway Light"/>
                <a:cs typeface="Raleway Light"/>
                <a:sym typeface="Raleway Light"/>
              </a:rPr>
              <a:t>Where Entre Amis is different</a:t>
            </a:r>
            <a:endParaRPr b="0" i="0" spc="0" sz="1400" u="none" cap="none" strike="noStrike">
              <a:solidFill>
                <a:srgbClr val="565A32"/>
              </a:solidFill>
              <a:latin typeface="Raleway Light"/>
              <a:ea typeface="Raleway Light"/>
              <a:cs typeface="Raleway Light"/>
              <a:sym typeface="Raleway Light"/>
            </a:endParaRPr>
          </a:p>
          <a:p>
            <a:pPr indent="-317500" lvl="0" marL="457200" marR="0" rtl="0" algn="l">
              <a:lnSpc>
                <a:spcPct val="115000"/>
              </a:lnSpc>
              <a:spcBef>
                <a:spcPts val="1200"/>
              </a:spcBef>
              <a:spcAft>
                <a:spcPts val="0"/>
              </a:spcAft>
              <a:buClr>
                <a:srgbClr val="565A32"/>
              </a:buClr>
              <a:buSzPts val="1400"/>
              <a:buFont typeface="Raleway Light"/>
              <a:buChar char="●"/>
            </a:pPr>
            <a:r>
              <a:rPr b="0" i="0" lang="en-US" spc="0" sz="1260" u="none" cap="none" strike="noStrike">
                <a:solidFill>
                  <a:srgbClr val="565A32"/>
                </a:solidFill>
                <a:latin typeface="Raleway Light"/>
                <a:ea typeface="Raleway Light"/>
                <a:cs typeface="Raleway Light"/>
                <a:sym typeface="Raleway Light"/>
              </a:rPr>
              <a:t>Social play and shared experiences rather than individual wine expertise.</a:t>
            </a:r>
            <a:endParaRPr b="0" i="0" spc="0" sz="1400" u="none" cap="none" strike="noStrike">
              <a:solidFill>
                <a:srgbClr val="565A32"/>
              </a:solidFill>
              <a:latin typeface="Raleway Light"/>
              <a:ea typeface="Raleway Light"/>
              <a:cs typeface="Raleway Light"/>
              <a:sym typeface="Raleway Light"/>
            </a:endParaRPr>
          </a:p>
          <a:p>
            <a:pPr indent="-317500" lvl="0" marL="457200" marR="0" rtl="0" algn="l">
              <a:lnSpc>
                <a:spcPct val="115000"/>
              </a:lnSpc>
              <a:spcBef>
                <a:spcPts val="0"/>
              </a:spcBef>
              <a:spcAft>
                <a:spcPts val="0"/>
              </a:spcAft>
              <a:buClr>
                <a:srgbClr val="565A32"/>
              </a:buClr>
              <a:buSzPts val="1400"/>
              <a:buFont typeface="Raleway Light"/>
              <a:buChar char="●"/>
            </a:pPr>
            <a:r>
              <a:rPr b="0" i="0" lang="en-US" spc="0" sz="1260" u="none" cap="none" strike="noStrike">
                <a:solidFill>
                  <a:srgbClr val="565A32"/>
                </a:solidFill>
                <a:latin typeface="Raleway Light"/>
                <a:ea typeface="Raleway Light"/>
                <a:cs typeface="Raleway Light"/>
                <a:sym typeface="Raleway Light"/>
              </a:rPr>
              <a:t>A personal record of discoveries, favourites, people and occasions.</a:t>
            </a:r>
            <a:endParaRPr b="0" i="0" spc="0" sz="1400" u="none" cap="none" strike="noStrike">
              <a:solidFill>
                <a:srgbClr val="565A32"/>
              </a:solidFill>
              <a:latin typeface="Raleway Light"/>
              <a:ea typeface="Raleway Light"/>
              <a:cs typeface="Raleway Light"/>
              <a:sym typeface="Raleway Light"/>
            </a:endParaRPr>
          </a:p>
          <a:p>
            <a:pPr indent="-317500" lvl="0" marL="457200" marR="0" rtl="0" algn="l">
              <a:lnSpc>
                <a:spcPct val="115000"/>
              </a:lnSpc>
              <a:spcBef>
                <a:spcPts val="0"/>
              </a:spcBef>
              <a:spcAft>
                <a:spcPts val="0"/>
              </a:spcAft>
              <a:buClr>
                <a:srgbClr val="565A32"/>
              </a:buClr>
              <a:buSzPts val="1400"/>
              <a:buFont typeface="Raleway Light"/>
              <a:buChar char="●"/>
            </a:pPr>
            <a:r>
              <a:rPr b="0" i="0" lang="en-US" spc="0" sz="1260" u="none" cap="none" strike="noStrike">
                <a:solidFill>
                  <a:srgbClr val="565A32"/>
                </a:solidFill>
                <a:latin typeface="Raleway Light"/>
                <a:ea typeface="Raleway Light"/>
                <a:cs typeface="Raleway Light"/>
                <a:sym typeface="Raleway Light"/>
              </a:rPr>
              <a:t>Connections between consumer experiences, venues and events.</a:t>
            </a:r>
            <a:endParaRPr b="0" i="0" spc="0" sz="1400" u="none" cap="none" strike="noStrike">
              <a:solidFill>
                <a:srgbClr val="565A32"/>
              </a:solidFill>
              <a:latin typeface="Raleway Light"/>
              <a:ea typeface="Raleway Light"/>
              <a:cs typeface="Raleway Light"/>
              <a:sym typeface="Raleway Light"/>
            </a:endParaRPr>
          </a:p>
          <a:p>
            <a:pPr indent="0" lvl="0" marL="0" marR="0" rtl="0" algn="l">
              <a:lnSpc>
                <a:spcPct val="115000"/>
              </a:lnSpc>
              <a:spcBef>
                <a:spcPts val="1200"/>
              </a:spcBef>
              <a:spcAft>
                <a:spcPts val="0"/>
              </a:spcAft>
              <a:buClr>
                <a:schemeClr val="dk1"/>
              </a:buClr>
              <a:buSzPts val="1100"/>
              <a:buFont typeface="Arial"/>
              <a:buNone/>
            </a:pPr>
            <a:r>
              <a:rPr b="0" i="0" lang="en-US" spc="0" sz="1260" u="none" cap="none" strike="noStrike">
                <a:solidFill>
                  <a:srgbClr val="565A32"/>
                </a:solidFill>
                <a:latin typeface="Raleway Light"/>
                <a:ea typeface="Raleway Light"/>
                <a:cs typeface="Raleway Light"/>
                <a:sym typeface="Raleway Light"/>
              </a:rPr>
              <a:t>What still needs validating</a:t>
            </a:r>
            <a:endParaRPr b="0" i="0" spc="0" sz="1400" u="none" cap="none" strike="noStrike">
              <a:solidFill>
                <a:srgbClr val="565A32"/>
              </a:solidFill>
              <a:latin typeface="Raleway Light"/>
              <a:ea typeface="Raleway Light"/>
              <a:cs typeface="Raleway Light"/>
              <a:sym typeface="Raleway Light"/>
            </a:endParaRPr>
          </a:p>
          <a:p>
            <a:pPr indent="-317500" lvl="0" marL="457200" marR="0" rtl="0" algn="l">
              <a:lnSpc>
                <a:spcPct val="115000"/>
              </a:lnSpc>
              <a:spcBef>
                <a:spcPts val="1200"/>
              </a:spcBef>
              <a:spcAft>
                <a:spcPts val="0"/>
              </a:spcAft>
              <a:buClr>
                <a:srgbClr val="565A32"/>
              </a:buClr>
              <a:buSzPts val="1400"/>
              <a:buFont typeface="Raleway Light"/>
              <a:buChar char="●"/>
            </a:pPr>
            <a:r>
              <a:rPr b="0" i="0" lang="en-US" spc="0" sz="1260" u="none" cap="none" strike="noStrike">
                <a:solidFill>
                  <a:srgbClr val="565A32"/>
                </a:solidFill>
                <a:latin typeface="Raleway Light"/>
                <a:ea typeface="Raleway Light"/>
                <a:cs typeface="Raleway Light"/>
                <a:sym typeface="Raleway Light"/>
              </a:rPr>
              <a:t>Whether customers value the combined experience enough to pay for it.</a:t>
            </a:r>
            <a:endParaRPr b="0" i="0" spc="0" sz="1400" u="none" cap="none" strike="noStrike">
              <a:solidFill>
                <a:srgbClr val="565A32"/>
              </a:solidFill>
              <a:latin typeface="Raleway Light"/>
              <a:ea typeface="Raleway Light"/>
              <a:cs typeface="Raleway Light"/>
              <a:sym typeface="Raleway Light"/>
            </a:endParaRPr>
          </a:p>
          <a:p>
            <a:pPr indent="-317500" lvl="0" marL="457200" marR="0" rtl="0" algn="l">
              <a:lnSpc>
                <a:spcPct val="115000"/>
              </a:lnSpc>
              <a:spcBef>
                <a:spcPts val="0"/>
              </a:spcBef>
              <a:spcAft>
                <a:spcPts val="0"/>
              </a:spcAft>
              <a:buClr>
                <a:srgbClr val="565A32"/>
              </a:buClr>
              <a:buSzPts val="1400"/>
              <a:buFont typeface="Raleway Light"/>
              <a:buChar char="●"/>
            </a:pPr>
            <a:r>
              <a:rPr b="0" i="0" lang="en-US" spc="0" sz="1260" u="none" cap="none" strike="noStrike">
                <a:solidFill>
                  <a:srgbClr val="565A32"/>
                </a:solidFill>
                <a:latin typeface="Raleway Light"/>
                <a:ea typeface="Raleway Light"/>
                <a:cs typeface="Raleway Light"/>
                <a:sym typeface="Raleway Light"/>
              </a:rPr>
              <a:t>Whether partners see sufficient value in engagement, insights and ongoing relationships.</a:t>
            </a:r>
            <a:endParaRPr b="0" i="0" spc="0" sz="1400" u="none" cap="none" strike="noStrike">
              <a:solidFill>
                <a:srgbClr val="565A32"/>
              </a:solidFill>
              <a:latin typeface="Raleway Light"/>
              <a:ea typeface="Raleway Light"/>
              <a:cs typeface="Raleway Light"/>
              <a:sym typeface="Raleway Light"/>
            </a:endParaRPr>
          </a:p>
          <a:p>
            <a:pPr indent="0" lvl="0" marL="0" marR="0" rtl="0" algn="l">
              <a:lnSpc>
                <a:spcPct val="115000"/>
              </a:lnSpc>
              <a:spcBef>
                <a:spcPts val="1200"/>
              </a:spcBef>
              <a:spcAft>
                <a:spcPts val="0"/>
              </a:spcAft>
              <a:buClr>
                <a:schemeClr val="dk1"/>
              </a:buClr>
              <a:buSzPts val="1100"/>
              <a:buFont typeface="Arial"/>
              <a:buNone/>
            </a:pPr>
            <a:r>
              <a:t/>
            </a:r>
            <a:endParaRPr b="0" i="0" spc="0" sz="1800" u="none" cap="none" strike="noStrike">
              <a:solidFill>
                <a:srgbClr val="565A32"/>
              </a:solidFill>
              <a:latin typeface="Raleway Light"/>
              <a:ea typeface="Raleway Light"/>
              <a:cs typeface="Raleway Light"/>
              <a:sym typeface="Raleway Light"/>
            </a:endParaRPr>
          </a:p>
          <a:p>
            <a:pPr indent="0" lvl="0" marL="0" marR="0" rtl="0" algn="l">
              <a:lnSpc>
                <a:spcPct val="100000"/>
              </a:lnSpc>
              <a:spcBef>
                <a:spcPts val="1200"/>
              </a:spcBef>
              <a:spcAft>
                <a:spcPts val="0"/>
              </a:spcAft>
              <a:buClr>
                <a:srgbClr val="565A32"/>
              </a:buClr>
              <a:buSzPts val="2400"/>
              <a:buFont typeface="Raleway Light"/>
              <a:buNone/>
            </a:pPr>
            <a:r>
              <a:t/>
            </a:r>
            <a:endParaRPr b="0" i="0" spc="0" sz="1800" u="none" cap="none" strike="noStrike">
              <a:solidFill>
                <a:srgbClr val="565A32"/>
              </a:solidFill>
              <a:latin typeface="Raleway Light"/>
              <a:ea typeface="Raleway Light"/>
              <a:cs typeface="Raleway Light"/>
              <a:sym typeface="Raleway Light"/>
            </a:endParaRPr>
          </a:p>
        </p:txBody>
      </p:sp>
      <p:sp>
        <p:nvSpPr>
          <p:cNvPr id="955" name="Google Shape;955;p66"/>
          <p:cNvSpPr txBox="1"/>
          <p:nvPr/>
        </p:nvSpPr>
        <p:spPr>
          <a:xfrm>
            <a:off x="685800" y="6355080"/>
            <a:ext cx="4114800" cy="2376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565A32"/>
              </a:buClr>
              <a:buSzPts val="1300"/>
              <a:buFont typeface="Raleway Light"/>
              <a:buNone/>
            </a:pPr>
            <a:r>
              <a:rPr b="0" i="0" lang="en-US" spc="0" sz="1300" u="none" cap="none" strike="noStrike">
                <a:solidFill>
                  <a:srgbClr val="565A32"/>
                </a:solidFill>
                <a:latin typeface="Raleway Light"/>
                <a:ea typeface="Raleway Light"/>
                <a:cs typeface="Raleway Light"/>
                <a:sym typeface="Raleway Light"/>
              </a:rPr>
              <a:t>Say what you really think.</a:t>
            </a:r>
            <a:endParaRPr b="0" i="0" spc="0" sz="1300" u="none" cap="none" strike="noStrike">
              <a:solidFill>
                <a:schemeClr val="dk1"/>
              </a:solidFill>
              <a:latin typeface="Raleway Light"/>
              <a:ea typeface="Raleway Light"/>
              <a:cs typeface="Raleway Light"/>
              <a:sym typeface="Raleway Light"/>
            </a:endParaRPr>
          </a:p>
        </p:txBody>
      </p:sp>
      <p:pic>
        <p:nvPicPr>
          <p:cNvPr id="956" name="Google Shape;956;p66" title="Copy_of_Untitled-removebg-preview.png"/>
          <p:cNvPicPr preferRelativeResize="0"/>
          <p:nvPr/>
        </p:nvPicPr>
        <p:blipFill rotWithShape="1">
          <a:blip r:embed="rId3">
            <a:alphaModFix/>
          </a:blip>
          <a:srcRect b="0" l="0" r="0" t="0"/>
          <a:stretch/>
        </p:blipFill>
        <p:spPr>
          <a:xfrm>
            <a:off x="9834990" y="5349262"/>
            <a:ext cx="1508730" cy="1508730"/>
          </a:xfrm>
          <a:prstGeom prst="rect">
            <a:avLst/>
          </a:prstGeom>
          <a:noFill/>
          <a:ln>
            <a:noFill/>
          </a:ln>
        </p:spPr>
      </p:pic>
      <p:sp>
        <p:nvSpPr>
          <p:cNvPr id="957" name="Google Shape;957;p66"/>
          <p:cNvSpPr/>
          <p:nvPr/>
        </p:nvSpPr>
        <p:spPr>
          <a:xfrm>
            <a:off x="9262872" y="457200"/>
            <a:ext cx="2377440" cy="384048"/>
          </a:xfrm>
          <a:prstGeom prst="roundRect">
            <a:avLst>
              <a:gd fmla="val 50000" name="adj"/>
            </a:avLst>
          </a:prstGeom>
          <a:solidFill>
            <a:srgbClr val="EFEAE0"/>
          </a:solidFill>
          <a:ln cap="flat" cmpd="sng" w="12700">
            <a:solidFill>
              <a:srgbClr val="565A32"/>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1" i="0" lang="en-US" spc="0" sz="1400" u="none" cap="none" strike="noStrike">
                <a:solidFill>
                  <a:srgbClr val="565A32"/>
                </a:solidFill>
                <a:latin typeface="Raleway SemiBold"/>
                <a:ea typeface="Raleway SemiBold"/>
                <a:cs typeface="Raleway SemiBold"/>
                <a:sym typeface="Raleway SemiBold"/>
              </a:rPr>
              <a:t>INTERNAL</a:t>
            </a:r>
            <a:endParaRPr b="0" i="0" spc="0" sz="1400" u="none" cap="none" strike="noStrike">
              <a:solidFill>
                <a:srgbClr val="000000"/>
              </a:solidFill>
              <a:latin typeface="Arial"/>
              <a:ea typeface="Arial"/>
              <a:cs typeface="Arial"/>
              <a:sym typeface="Arial"/>
            </a:endParaRPr>
          </a:p>
        </p:txBody>
      </p:sp>
      <p:sp>
        <p:nvSpPr>
          <p:cNvPr id="958" name="Google Shape;958;p66"/>
          <p:cNvSpPr/>
          <p:nvPr/>
        </p:nvSpPr>
        <p:spPr>
          <a:xfrm>
            <a:off x="685800" y="5715000"/>
            <a:ext cx="9052560" cy="502920"/>
          </a:xfrm>
          <a:prstGeom prst="roundRect">
            <a:avLst>
              <a:gd fmla="val 30000" name="adj"/>
            </a:avLst>
          </a:prstGeom>
          <a:solidFill>
            <a:srgbClr val="565A32"/>
          </a:solidFill>
          <a:ln>
            <a:noFill/>
          </a:ln>
        </p:spPr>
        <p:txBody>
          <a:bodyPr anchorCtr="0" anchor="ctr" bIns="18275" lIns="182875" spcFirstLastPara="1" rIns="182875" wrap="square" tIns="18275">
            <a:noAutofit/>
          </a:bodyPr>
          <a:lstStyle/>
          <a:p>
            <a:pPr indent="0" lvl="0" marL="0" marR="0" rtl="0" algn="ctr">
              <a:lnSpc>
                <a:spcPct val="100000"/>
              </a:lnSpc>
              <a:spcBef>
                <a:spcPts val="0"/>
              </a:spcBef>
              <a:spcAft>
                <a:spcPts val="0"/>
              </a:spcAft>
              <a:buNone/>
            </a:pPr>
            <a:r>
              <a:rPr b="1" i="0" lang="en-US" spc="0" sz="1400" u="none" cap="none" strike="noStrike">
                <a:solidFill>
                  <a:srgbClr val="EFEAE0"/>
                </a:solidFill>
                <a:latin typeface="Raleway SemiBold"/>
                <a:ea typeface="Raleway SemiBold"/>
                <a:cs typeface="Raleway SemiBold"/>
                <a:sym typeface="Raleway SemiBold"/>
              </a:rPr>
              <a:t>The opportunity: To turn an enjoyable shared occasion into something people remember, revisit and build upon.</a:t>
            </a:r>
            <a:endParaRPr/>
          </a:p>
        </p:txBody>
      </p:sp>
      <p:sp>
        <p:nvSpPr>
          <p:cNvPr id="959" name="Google Shape;959;p66"/>
          <p:cNvSpPr/>
          <p:nvPr/>
        </p:nvSpPr>
        <p:spPr>
          <a:xfrm>
            <a:off x="0" y="0"/>
            <a:ext cx="12191700" cy="329100"/>
          </a:xfrm>
          <a:prstGeom prst="rect">
            <a:avLst/>
          </a:prstGeom>
          <a:solidFill>
            <a:srgbClr val="565A32"/>
          </a:solidFill>
          <a:ln cap="flat" cmpd="sng" w="12700">
            <a:solidFill>
              <a:srgbClr val="565A3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
        <p:nvSpPr>
          <p:cNvPr id="960" name="Slide number"/>
          <p:cNvSpPr txBox="1"/>
          <p:nvPr>
            <p:ph idx="4294967295" type="sldNum"/>
          </p:nvPr>
        </p:nvSpPr>
        <p:spPr>
          <a:xfrm>
            <a:off x="9372600" y="5971032"/>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chemeClr val="dk1"/>
                </a:solidFill>
                <a:latin typeface="Raleway Light"/>
                <a:ea typeface="Raleway Light"/>
                <a:cs typeface="Raleway Light"/>
                <a:sym typeface="Raleway Light"/>
              </a:rPr>
              <a:t>‹#›</a:t>
            </a:fld>
            <a:endParaRPr b="0" i="0" sz="1000" u="none" cap="none" strike="noStrike">
              <a:solidFill>
                <a:schemeClr val="dk1"/>
              </a:solidFill>
              <a:latin typeface="Raleway Light"/>
              <a:ea typeface="Raleway Light"/>
              <a:cs typeface="Raleway Light"/>
              <a:sym typeface="Raleway Light"/>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AE0"/>
        </a:solidFill>
      </p:bgPr>
    </p:bg>
    <p:spTree>
      <p:nvGrpSpPr>
        <p:cNvPr id="964" name="Shape 964"/>
        <p:cNvGrpSpPr/>
        <p:nvPr/>
      </p:nvGrpSpPr>
      <p:grpSpPr>
        <a:xfrm>
          <a:off x="0" y="0"/>
          <a:ext cx="0" cy="0"/>
          <a:chOff x="0" y="0"/>
          <a:chExt cx="0" cy="0"/>
        </a:xfrm>
      </p:grpSpPr>
      <p:sp>
        <p:nvSpPr>
          <p:cNvPr id="965" name="Google Shape;965;p67"/>
          <p:cNvSpPr txBox="1"/>
          <p:nvPr/>
        </p:nvSpPr>
        <p:spPr>
          <a:xfrm>
            <a:off x="685800" y="475501"/>
            <a:ext cx="8229600" cy="618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65A32"/>
              </a:buClr>
              <a:buSzPts val="3800"/>
              <a:buFont typeface="Raleway Light"/>
              <a:buNone/>
            </a:pPr>
            <a:r>
              <a:rPr b="0" i="0" lang="en-US" spc="0" sz="3800" u="none" cap="none" strike="noStrike">
                <a:solidFill>
                  <a:srgbClr val="565A32"/>
                </a:solidFill>
                <a:latin typeface="Raleway Light"/>
                <a:ea typeface="Raleway Light"/>
                <a:cs typeface="Raleway Light"/>
                <a:sym typeface="Raleway Light"/>
              </a:rPr>
              <a:t>Revenue streams</a:t>
            </a:r>
            <a:endParaRPr b="1" i="0" spc="0" sz="2700" u="none" cap="none" strike="noStrike">
              <a:solidFill>
                <a:srgbClr val="565A32"/>
              </a:solidFill>
              <a:latin typeface="Raleway SemiBold"/>
              <a:ea typeface="Raleway SemiBold"/>
              <a:cs typeface="Raleway SemiBold"/>
              <a:sym typeface="Raleway SemiBold"/>
            </a:endParaRPr>
          </a:p>
        </p:txBody>
      </p:sp>
      <p:pic>
        <p:nvPicPr>
          <p:cNvPr id="966" name="Google Shape;966;p67" title="Copy_of_Untitled-removebg-preview.png"/>
          <p:cNvPicPr preferRelativeResize="0"/>
          <p:nvPr/>
        </p:nvPicPr>
        <p:blipFill rotWithShape="1">
          <a:blip r:embed="rId3">
            <a:alphaModFix/>
          </a:blip>
          <a:srcRect b="0" l="0" r="0" t="0"/>
          <a:stretch/>
        </p:blipFill>
        <p:spPr>
          <a:xfrm>
            <a:off x="9834990" y="5349262"/>
            <a:ext cx="1508730" cy="1508730"/>
          </a:xfrm>
          <a:prstGeom prst="rect">
            <a:avLst/>
          </a:prstGeom>
          <a:noFill/>
          <a:ln>
            <a:noFill/>
          </a:ln>
        </p:spPr>
      </p:pic>
      <p:sp>
        <p:nvSpPr>
          <p:cNvPr id="967" name="Google Shape;967;p67"/>
          <p:cNvSpPr txBox="1"/>
          <p:nvPr/>
        </p:nvSpPr>
        <p:spPr>
          <a:xfrm>
            <a:off x="11785400" y="3848725"/>
            <a:ext cx="914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
        <p:nvSpPr>
          <p:cNvPr id="968" name="Google Shape;968;p67"/>
          <p:cNvSpPr txBox="1"/>
          <p:nvPr/>
        </p:nvSpPr>
        <p:spPr>
          <a:xfrm>
            <a:off x="685800" y="1015416"/>
            <a:ext cx="8503800" cy="3840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chemeClr val="dk1"/>
              </a:buClr>
              <a:buSzPts val="1700"/>
              <a:buFont typeface="Arial"/>
              <a:buNone/>
            </a:pPr>
            <a:r>
              <a:rPr b="0" i="0" lang="en-US" spc="0" sz="1900" u="none" cap="none" strike="noStrike">
                <a:solidFill>
                  <a:srgbClr val="565A32"/>
                </a:solidFill>
                <a:latin typeface="Raleway Light"/>
                <a:ea typeface="Raleway Light"/>
                <a:cs typeface="Raleway Light"/>
                <a:sym typeface="Raleway Light"/>
              </a:rPr>
              <a:t>One connected brand. Multiple ways to create commercial value. </a:t>
            </a:r>
            <a:endParaRPr b="0" i="0" spc="0" sz="1900" u="none" cap="none" strike="noStrike">
              <a:solidFill>
                <a:schemeClr val="dk1"/>
              </a:solidFill>
              <a:latin typeface="Raleway Light"/>
              <a:ea typeface="Raleway Light"/>
              <a:cs typeface="Raleway Light"/>
              <a:sym typeface="Raleway Light"/>
            </a:endParaRPr>
          </a:p>
        </p:txBody>
      </p:sp>
      <p:graphicFrame>
        <p:nvGraphicFramePr>
          <p:cNvPr id="969" name="Google Shape;969;p67"/>
          <p:cNvGraphicFramePr/>
          <p:nvPr/>
        </p:nvGraphicFramePr>
        <p:xfrm>
          <a:off x="731575" y="1993550"/>
          <a:ext cx="3000000" cy="3000000"/>
        </p:xfrm>
        <a:graphic>
          <a:graphicData uri="http://schemas.openxmlformats.org/drawingml/2006/table">
            <a:tbl>
              <a:tblPr>
                <a:noFill/>
                <a:tableStyleId>{655FC373-D6BC-4E09-A9F9-84234A3C0306}</a:tableStyleId>
              </a:tblPr>
              <a:tblGrid>
                <a:gridCol w="2057400"/>
                <a:gridCol w="2057400"/>
                <a:gridCol w="2057400"/>
                <a:gridCol w="2057400"/>
                <a:gridCol w="2057400"/>
              </a:tblGrid>
              <a:tr h="381000">
                <a:tc>
                  <a:txBody>
                    <a:bodyPr/>
                    <a:lstStyle/>
                    <a:p>
                      <a:pPr indent="0" lvl="0" marL="0" marR="0" rtl="0" algn="l">
                        <a:lnSpc>
                          <a:spcPct val="100000"/>
                        </a:lnSpc>
                        <a:spcBef>
                          <a:spcPts val="0"/>
                        </a:spcBef>
                        <a:spcAft>
                          <a:spcPts val="0"/>
                        </a:spcAft>
                        <a:buClr>
                          <a:srgbClr val="000000"/>
                        </a:buClr>
                        <a:buSzPts val="1500"/>
                        <a:buFont typeface="Arial"/>
                        <a:buNone/>
                      </a:pPr>
                      <a:r>
                        <a:rPr b="1" lang="en-US" spc="0" sz="1500" u="none" cap="none" strike="noStrike">
                          <a:solidFill>
                            <a:srgbClr val="EFEAE0"/>
                          </a:solidFill>
                          <a:latin typeface="Raleway"/>
                          <a:ea typeface="Raleway"/>
                          <a:cs typeface="Raleway"/>
                          <a:sym typeface="Raleway"/>
                        </a:rPr>
                        <a:t>Physical Game</a:t>
                      </a:r>
                      <a:endParaRPr b="1" spc="0" sz="1500" u="none" cap="none" strike="noStrike">
                        <a:solidFill>
                          <a:srgbClr val="B9BC9A"/>
                        </a:solidFill>
                        <a:latin typeface="Raleway"/>
                        <a:ea typeface="Raleway"/>
                        <a:cs typeface="Raleway"/>
                        <a:sym typeface="Raleway"/>
                      </a:endParaRPr>
                    </a:p>
                  </a:txBody>
                  <a:tcPr marT="91425" marB="91425" marR="91425" marL="91425">
                    <a:solidFill>
                      <a:srgbClr val="565A32"/>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1" lang="en-US" spc="0" sz="1500" u="none" cap="none" strike="noStrike">
                          <a:solidFill>
                            <a:srgbClr val="EFEAE0"/>
                          </a:solidFill>
                          <a:latin typeface="Raleway"/>
                          <a:ea typeface="Raleway"/>
                          <a:cs typeface="Raleway"/>
                          <a:sym typeface="Raleway"/>
                        </a:rPr>
                        <a:t>Connected App</a:t>
                      </a:r>
                      <a:endParaRPr b="1" spc="0" sz="1500" u="none" cap="none" strike="noStrike">
                        <a:solidFill>
                          <a:srgbClr val="B9BC9A"/>
                        </a:solidFill>
                        <a:latin typeface="Raleway"/>
                        <a:ea typeface="Raleway"/>
                        <a:cs typeface="Raleway"/>
                        <a:sym typeface="Raleway"/>
                      </a:endParaRPr>
                    </a:p>
                  </a:txBody>
                  <a:tcPr marT="91425" marB="91425" marR="91425" marL="91425">
                    <a:solidFill>
                      <a:srgbClr val="565A32"/>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1" lang="en-US" spc="0" sz="1500" u="none" cap="none" strike="noStrike">
                          <a:solidFill>
                            <a:srgbClr val="EFEAE0"/>
                          </a:solidFill>
                          <a:latin typeface="Raleway"/>
                          <a:ea typeface="Raleway"/>
                          <a:cs typeface="Raleway"/>
                          <a:sym typeface="Raleway"/>
                        </a:rPr>
                        <a:t>Partner Mode</a:t>
                      </a:r>
                      <a:endParaRPr b="1" spc="0" sz="1500" u="none" cap="none" strike="noStrike">
                        <a:solidFill>
                          <a:srgbClr val="B9BC9A"/>
                        </a:solidFill>
                        <a:latin typeface="Raleway"/>
                        <a:ea typeface="Raleway"/>
                        <a:cs typeface="Raleway"/>
                        <a:sym typeface="Raleway"/>
                      </a:endParaRPr>
                    </a:p>
                  </a:txBody>
                  <a:tcPr marT="91425" marB="91425" marR="91425" marL="91425">
                    <a:solidFill>
                      <a:srgbClr val="565A32"/>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1" lang="en-US" spc="0" sz="1500" u="none" cap="none" strike="noStrike">
                          <a:solidFill>
                            <a:srgbClr val="EFEAE0"/>
                          </a:solidFill>
                          <a:latin typeface="Raleway"/>
                          <a:ea typeface="Raleway"/>
                          <a:cs typeface="Raleway"/>
                          <a:sym typeface="Raleway"/>
                        </a:rPr>
                        <a:t>Event Mode</a:t>
                      </a:r>
                      <a:endParaRPr b="1" spc="0" sz="1500" u="none" cap="none" strike="noStrike">
                        <a:solidFill>
                          <a:srgbClr val="B9BC9A"/>
                        </a:solidFill>
                        <a:latin typeface="Raleway"/>
                        <a:ea typeface="Raleway"/>
                        <a:cs typeface="Raleway"/>
                        <a:sym typeface="Raleway"/>
                      </a:endParaRPr>
                    </a:p>
                  </a:txBody>
                  <a:tcPr marT="91425" marB="91425" marR="91425" marL="91425">
                    <a:solidFill>
                      <a:srgbClr val="565A32"/>
                    </a:solidFill>
                  </a:tcPr>
                </a:tc>
                <a:tc>
                  <a:txBody>
                    <a:bodyPr/>
                    <a:lstStyle/>
                    <a:p>
                      <a:pPr indent="0" lvl="0" marL="0" marR="0" rtl="0" algn="l">
                        <a:lnSpc>
                          <a:spcPct val="100000"/>
                        </a:lnSpc>
                        <a:spcBef>
                          <a:spcPts val="0"/>
                        </a:spcBef>
                        <a:spcAft>
                          <a:spcPts val="0"/>
                        </a:spcAft>
                        <a:buClr>
                          <a:srgbClr val="000000"/>
                        </a:buClr>
                        <a:buSzPts val="1500"/>
                        <a:buFont typeface="Arial"/>
                        <a:buNone/>
                      </a:pPr>
                      <a:r>
                        <a:rPr b="1" lang="en-US" spc="0" sz="1500" u="none" cap="none" strike="noStrike">
                          <a:solidFill>
                            <a:srgbClr val="EFEAE0"/>
                          </a:solidFill>
                          <a:latin typeface="Raleway"/>
                          <a:ea typeface="Raleway"/>
                          <a:cs typeface="Raleway"/>
                          <a:sym typeface="Raleway"/>
                        </a:rPr>
                        <a:t>Curated Editions and hosted experiences</a:t>
                      </a:r>
                      <a:endParaRPr b="1" spc="0" sz="1500" u="none" cap="none" strike="noStrike">
                        <a:solidFill>
                          <a:srgbClr val="B9BC9A"/>
                        </a:solidFill>
                        <a:latin typeface="Raleway"/>
                        <a:ea typeface="Raleway"/>
                        <a:cs typeface="Raleway"/>
                        <a:sym typeface="Raleway"/>
                      </a:endParaRPr>
                    </a:p>
                  </a:txBody>
                  <a:tcPr marT="91425" marB="91425" marR="91425" marL="91425">
                    <a:solidFill>
                      <a:srgbClr val="565A32"/>
                    </a:solidFill>
                  </a:tcPr>
                </a:tc>
              </a:tr>
              <a:tr h="381000">
                <a:tc>
                  <a:txBody>
                    <a:bodyPr/>
                    <a:lstStyle/>
                    <a:p>
                      <a:pPr indent="0" lvl="0" marL="0" marR="0" rtl="0" algn="l">
                        <a:lnSpc>
                          <a:spcPct val="100000"/>
                        </a:lnSpc>
                        <a:spcBef>
                          <a:spcPts val="0"/>
                        </a:spcBef>
                        <a:spcAft>
                          <a:spcPts val="0"/>
                        </a:spcAft>
                        <a:buClr>
                          <a:srgbClr val="000000"/>
                        </a:buClr>
                        <a:buSzPts val="1500"/>
                        <a:buFont typeface="Arial"/>
                        <a:buNone/>
                      </a:pPr>
                      <a:r>
                        <a:rPr lang="en-US" spc="0" sz="1500" u="none" cap="none" strike="noStrike">
                          <a:solidFill>
                            <a:srgbClr val="565A32"/>
                          </a:solidFill>
                          <a:latin typeface="Raleway Light"/>
                          <a:ea typeface="Raleway Light"/>
                          <a:cs typeface="Raleway Light"/>
                          <a:sym typeface="Raleway Light"/>
                        </a:rPr>
                        <a:t>Product sales or licensing royalties </a:t>
                      </a:r>
                      <a:endParaRPr spc="0" sz="1500" u="none" cap="none" strike="noStrike">
                        <a:solidFill>
                          <a:srgbClr val="B9BC9A"/>
                        </a:solidFill>
                        <a:latin typeface="Raleway Light"/>
                        <a:ea typeface="Raleway Light"/>
                        <a:cs typeface="Raleway Light"/>
                        <a:sym typeface="Raleway Light"/>
                      </a:endParaRPr>
                    </a:p>
                  </a:txBody>
                  <a:tcPr marT="91425" marB="91425" marR="91425" marL="91425">
                    <a:solidFill>
                      <a:srgbClr val="FFFFFF"/>
                    </a:solidFill>
                  </a:tcPr>
                </a:tc>
                <a:tc>
                  <a:txBody>
                    <a:bodyPr/>
                    <a:lstStyle/>
                    <a:p>
                      <a:pPr indent="0" lvl="0" marL="0" marR="0" rtl="0" algn="l">
                        <a:lnSpc>
                          <a:spcPct val="100000"/>
                        </a:lnSpc>
                        <a:spcBef>
                          <a:spcPts val="0"/>
                        </a:spcBef>
                        <a:spcAft>
                          <a:spcPts val="0"/>
                        </a:spcAft>
                        <a:buClr>
                          <a:srgbClr val="000000"/>
                        </a:buClr>
                        <a:buSzPts val="1500"/>
                        <a:buFont typeface="Arial"/>
                        <a:buNone/>
                      </a:pPr>
                      <a:r>
                        <a:rPr lang="en-US" spc="0" sz="1500" u="none" cap="none" strike="noStrike">
                          <a:solidFill>
                            <a:srgbClr val="565A32"/>
                          </a:solidFill>
                          <a:latin typeface="Raleway Light"/>
                          <a:ea typeface="Raleway Light"/>
                          <a:cs typeface="Raleway Light"/>
                          <a:sym typeface="Raleway Light"/>
                        </a:rPr>
                        <a:t>One-off Host purchase; Guests free</a:t>
                      </a:r>
                      <a:endParaRPr spc="0" sz="1500" u="none" cap="none" strike="noStrike">
                        <a:solidFill>
                          <a:srgbClr val="B9BC9A"/>
                        </a:solidFill>
                        <a:latin typeface="Raleway Light"/>
                        <a:ea typeface="Raleway Light"/>
                        <a:cs typeface="Raleway Light"/>
                        <a:sym typeface="Raleway Light"/>
                      </a:endParaRPr>
                    </a:p>
                  </a:txBody>
                  <a:tcPr marT="91425" marB="91425" marR="91425" marL="91425">
                    <a:solidFill>
                      <a:srgbClr val="FFFFFF"/>
                    </a:solidFill>
                  </a:tcPr>
                </a:tc>
                <a:tc>
                  <a:txBody>
                    <a:bodyPr/>
                    <a:lstStyle/>
                    <a:p>
                      <a:pPr indent="0" lvl="0" marL="0" marR="0" rtl="0" algn="l">
                        <a:lnSpc>
                          <a:spcPct val="100000"/>
                        </a:lnSpc>
                        <a:spcBef>
                          <a:spcPts val="0"/>
                        </a:spcBef>
                        <a:spcAft>
                          <a:spcPts val="0"/>
                        </a:spcAft>
                        <a:buClr>
                          <a:srgbClr val="000000"/>
                        </a:buClr>
                        <a:buSzPts val="1500"/>
                        <a:buFont typeface="Arial"/>
                        <a:buNone/>
                      </a:pPr>
                      <a:r>
                        <a:rPr lang="en-US" spc="0" sz="1500" u="none" cap="none" strike="noStrike">
                          <a:solidFill>
                            <a:srgbClr val="565A32"/>
                          </a:solidFill>
                          <a:latin typeface="Raleway Light"/>
                          <a:ea typeface="Raleway Light"/>
                          <a:cs typeface="Raleway Light"/>
                          <a:sym typeface="Raleway Light"/>
                        </a:rPr>
                        <a:t>Paid partner experiences and annual licences</a:t>
                      </a:r>
                      <a:endParaRPr spc="0" sz="1500" u="none" cap="none" strike="noStrike">
                        <a:solidFill>
                          <a:srgbClr val="B9BC9A"/>
                        </a:solidFill>
                        <a:latin typeface="Raleway Light"/>
                        <a:ea typeface="Raleway Light"/>
                        <a:cs typeface="Raleway Light"/>
                        <a:sym typeface="Raleway Light"/>
                      </a:endParaRPr>
                    </a:p>
                  </a:txBody>
                  <a:tcPr marT="91425" marB="91425" marR="91425" marL="91425">
                    <a:solidFill>
                      <a:srgbClr val="FFFFFF"/>
                    </a:solidFill>
                  </a:tcPr>
                </a:tc>
                <a:tc>
                  <a:txBody>
                    <a:bodyPr/>
                    <a:lstStyle/>
                    <a:p>
                      <a:pPr indent="0" lvl="0" marL="0" marR="0" rtl="0" algn="l">
                        <a:lnSpc>
                          <a:spcPct val="100000"/>
                        </a:lnSpc>
                        <a:spcBef>
                          <a:spcPts val="0"/>
                        </a:spcBef>
                        <a:spcAft>
                          <a:spcPts val="0"/>
                        </a:spcAft>
                        <a:buClr>
                          <a:srgbClr val="000000"/>
                        </a:buClr>
                        <a:buSzPts val="1500"/>
                        <a:buFont typeface="Arial"/>
                        <a:buNone/>
                      </a:pPr>
                      <a:r>
                        <a:rPr lang="en-US" spc="0" sz="1500" u="none" cap="none" strike="noStrike">
                          <a:solidFill>
                            <a:srgbClr val="565A32"/>
                          </a:solidFill>
                          <a:latin typeface="Raleway Light"/>
                          <a:ea typeface="Raleway Light"/>
                          <a:cs typeface="Raleway Light"/>
                          <a:sym typeface="Raleway Light"/>
                        </a:rPr>
                        <a:t>Event fees, activations and reporting</a:t>
                      </a:r>
                      <a:endParaRPr spc="0" sz="1500" u="none" cap="none" strike="noStrike">
                        <a:solidFill>
                          <a:srgbClr val="B9BC9A"/>
                        </a:solidFill>
                        <a:latin typeface="Raleway Light"/>
                        <a:ea typeface="Raleway Light"/>
                        <a:cs typeface="Raleway Light"/>
                        <a:sym typeface="Raleway Light"/>
                      </a:endParaRPr>
                    </a:p>
                  </a:txBody>
                  <a:tcPr marT="91425" marB="91425" marR="91425" marL="91425">
                    <a:solidFill>
                      <a:srgbClr val="FFFFFF"/>
                    </a:solidFill>
                  </a:tcPr>
                </a:tc>
                <a:tc>
                  <a:txBody>
                    <a:bodyPr/>
                    <a:lstStyle/>
                    <a:p>
                      <a:pPr indent="0" lvl="0" marL="0" marR="0" rtl="0" algn="l">
                        <a:lnSpc>
                          <a:spcPct val="100000"/>
                        </a:lnSpc>
                        <a:spcBef>
                          <a:spcPts val="0"/>
                        </a:spcBef>
                        <a:spcAft>
                          <a:spcPts val="0"/>
                        </a:spcAft>
                        <a:buClr>
                          <a:srgbClr val="000000"/>
                        </a:buClr>
                        <a:buSzPts val="1500"/>
                        <a:buFont typeface="Arial"/>
                        <a:buNone/>
                      </a:pPr>
                      <a:r>
                        <a:rPr lang="en-US" spc="0" sz="1500" u="none" cap="none" strike="noStrike">
                          <a:solidFill>
                            <a:srgbClr val="565A32"/>
                          </a:solidFill>
                          <a:latin typeface="Raleway Light"/>
                          <a:ea typeface="Raleway Light"/>
                          <a:cs typeface="Raleway Light"/>
                          <a:sym typeface="Raleway Light"/>
                        </a:rPr>
                        <a:t>Selective collaborations, limited editions and potentially Entre Amis Says. </a:t>
                      </a:r>
                      <a:endParaRPr spc="0" sz="1500" u="none" cap="none" strike="noStrike">
                        <a:solidFill>
                          <a:srgbClr val="B9BC9A"/>
                        </a:solidFill>
                        <a:latin typeface="Raleway Light"/>
                        <a:ea typeface="Raleway Light"/>
                        <a:cs typeface="Raleway Light"/>
                        <a:sym typeface="Raleway Light"/>
                      </a:endParaRPr>
                    </a:p>
                  </a:txBody>
                  <a:tcPr marT="91425" marB="91425" marR="91425" marL="91425">
                    <a:solidFill>
                      <a:srgbClr val="FFFFFF"/>
                    </a:solidFill>
                  </a:tcPr>
                </a:tc>
              </a:tr>
              <a:tr h="381000">
                <a:tc>
                  <a:txBody>
                    <a:bodyPr/>
                    <a:lstStyle/>
                    <a:p>
                      <a:pPr indent="0" lvl="0" marL="0" marR="0" rtl="0" algn="l">
                        <a:lnSpc>
                          <a:spcPct val="100000"/>
                        </a:lnSpc>
                        <a:spcBef>
                          <a:spcPts val="0"/>
                        </a:spcBef>
                        <a:spcAft>
                          <a:spcPts val="0"/>
                        </a:spcAft>
                        <a:buClr>
                          <a:srgbClr val="000000"/>
                        </a:buClr>
                        <a:buSzPts val="1500"/>
                        <a:buFont typeface="Arial"/>
                        <a:buNone/>
                      </a:pPr>
                      <a:r>
                        <a:rPr lang="en-US" spc="0" sz="1500" u="none" cap="none" strike="noStrike">
                          <a:solidFill>
                            <a:srgbClr val="565A32"/>
                          </a:solidFill>
                          <a:latin typeface="Raleway Light"/>
                          <a:ea typeface="Raleway Light"/>
                          <a:cs typeface="Raleway Light"/>
                          <a:sym typeface="Raleway Light"/>
                        </a:rPr>
                        <a:t>Route under evaluation</a:t>
                      </a:r>
                      <a:endParaRPr spc="0" sz="1500" u="none" cap="none" strike="noStrike">
                        <a:solidFill>
                          <a:srgbClr val="B9BC9A"/>
                        </a:solidFill>
                        <a:latin typeface="Raleway Light"/>
                        <a:ea typeface="Raleway Light"/>
                        <a:cs typeface="Raleway Light"/>
                        <a:sym typeface="Raleway Light"/>
                      </a:endParaRPr>
                    </a:p>
                  </a:txBody>
                  <a:tcPr marT="91425" marB="91425" marR="91425" marL="91425">
                    <a:solidFill>
                      <a:srgbClr val="EFEAE0"/>
                    </a:solidFill>
                  </a:tcPr>
                </a:tc>
                <a:tc>
                  <a:txBody>
                    <a:bodyPr/>
                    <a:lstStyle/>
                    <a:p>
                      <a:pPr indent="0" lvl="0" marL="0" marR="0" rtl="0" algn="l">
                        <a:lnSpc>
                          <a:spcPct val="100000"/>
                        </a:lnSpc>
                        <a:spcBef>
                          <a:spcPts val="0"/>
                        </a:spcBef>
                        <a:spcAft>
                          <a:spcPts val="0"/>
                        </a:spcAft>
                        <a:buClr>
                          <a:srgbClr val="000000"/>
                        </a:buClr>
                        <a:buSzPts val="1500"/>
                        <a:buFont typeface="Arial"/>
                        <a:buNone/>
                      </a:pPr>
                      <a:r>
                        <a:rPr lang="en-US" spc="0" sz="1500" u="none" cap="none" strike="noStrike">
                          <a:solidFill>
                            <a:srgbClr val="565A32"/>
                          </a:solidFill>
                          <a:latin typeface="Raleway Light"/>
                          <a:ea typeface="Raleway Light"/>
                          <a:cs typeface="Raleway Light"/>
                          <a:sym typeface="Raleway Light"/>
                        </a:rPr>
                        <a:t>Proposed model</a:t>
                      </a:r>
                      <a:endParaRPr spc="0" sz="1500" u="none" cap="none" strike="noStrike">
                        <a:solidFill>
                          <a:srgbClr val="B9BC9A"/>
                        </a:solidFill>
                        <a:latin typeface="Raleway Light"/>
                        <a:ea typeface="Raleway Light"/>
                        <a:cs typeface="Raleway Light"/>
                        <a:sym typeface="Raleway Light"/>
                      </a:endParaRPr>
                    </a:p>
                  </a:txBody>
                  <a:tcPr marT="91425" marB="91425" marR="91425" marL="91425">
                    <a:solidFill>
                      <a:srgbClr val="EFEAE0"/>
                    </a:solidFill>
                  </a:tcPr>
                </a:tc>
                <a:tc>
                  <a:txBody>
                    <a:bodyPr/>
                    <a:lstStyle/>
                    <a:p>
                      <a:pPr indent="0" lvl="0" marL="0" marR="0" rtl="0" algn="l">
                        <a:lnSpc>
                          <a:spcPct val="100000"/>
                        </a:lnSpc>
                        <a:spcBef>
                          <a:spcPts val="0"/>
                        </a:spcBef>
                        <a:spcAft>
                          <a:spcPts val="0"/>
                        </a:spcAft>
                        <a:buClr>
                          <a:srgbClr val="000000"/>
                        </a:buClr>
                        <a:buSzPts val="1500"/>
                        <a:buFont typeface="Arial"/>
                        <a:buNone/>
                      </a:pPr>
                      <a:r>
                        <a:rPr lang="en-US" spc="0" sz="1500" u="none" cap="none" strike="noStrike">
                          <a:solidFill>
                            <a:srgbClr val="565A32"/>
                          </a:solidFill>
                          <a:latin typeface="Raleway Light"/>
                          <a:ea typeface="Raleway Light"/>
                          <a:cs typeface="Raleway Light"/>
                          <a:sym typeface="Raleway Light"/>
                        </a:rPr>
                        <a:t>Pilot model exploration</a:t>
                      </a:r>
                      <a:endParaRPr spc="0" sz="1500" u="none" cap="none" strike="noStrike">
                        <a:solidFill>
                          <a:srgbClr val="B9BC9A"/>
                        </a:solidFill>
                        <a:latin typeface="Raleway Light"/>
                        <a:ea typeface="Raleway Light"/>
                        <a:cs typeface="Raleway Light"/>
                        <a:sym typeface="Raleway Light"/>
                      </a:endParaRPr>
                    </a:p>
                  </a:txBody>
                  <a:tcPr marT="91425" marB="91425" marR="91425" marL="91425">
                    <a:solidFill>
                      <a:srgbClr val="EFEAE0"/>
                    </a:solidFill>
                  </a:tcPr>
                </a:tc>
                <a:tc>
                  <a:txBody>
                    <a:bodyPr/>
                    <a:lstStyle/>
                    <a:p>
                      <a:pPr indent="0" lvl="0" marL="0" marR="0" rtl="0" algn="l">
                        <a:lnSpc>
                          <a:spcPct val="100000"/>
                        </a:lnSpc>
                        <a:spcBef>
                          <a:spcPts val="0"/>
                        </a:spcBef>
                        <a:spcAft>
                          <a:spcPts val="0"/>
                        </a:spcAft>
                        <a:buClr>
                          <a:srgbClr val="000000"/>
                        </a:buClr>
                        <a:buSzPts val="1500"/>
                        <a:buFont typeface="Arial"/>
                        <a:buNone/>
                      </a:pPr>
                      <a:r>
                        <a:rPr lang="en-US" spc="0" sz="1500" u="none" cap="none" strike="noStrike">
                          <a:solidFill>
                            <a:srgbClr val="565A32"/>
                          </a:solidFill>
                          <a:latin typeface="Raleway Light"/>
                          <a:ea typeface="Raleway Light"/>
                          <a:cs typeface="Raleway Light"/>
                          <a:sym typeface="Raleway Light"/>
                        </a:rPr>
                        <a:t>Pilot model exploration</a:t>
                      </a:r>
                      <a:endParaRPr spc="0" sz="1500" u="none" cap="none" strike="noStrike">
                        <a:solidFill>
                          <a:srgbClr val="B9BC9A"/>
                        </a:solidFill>
                        <a:latin typeface="Raleway Light"/>
                        <a:ea typeface="Raleway Light"/>
                        <a:cs typeface="Raleway Light"/>
                        <a:sym typeface="Raleway Light"/>
                      </a:endParaRPr>
                    </a:p>
                  </a:txBody>
                  <a:tcPr marT="91425" marB="91425" marR="91425" marL="91425">
                    <a:solidFill>
                      <a:srgbClr val="EFEAE0"/>
                    </a:solidFill>
                  </a:tcPr>
                </a:tc>
                <a:tc>
                  <a:txBody>
                    <a:bodyPr/>
                    <a:lstStyle/>
                    <a:p>
                      <a:pPr indent="0" lvl="0" marL="0" marR="0" rtl="0" algn="l">
                        <a:lnSpc>
                          <a:spcPct val="100000"/>
                        </a:lnSpc>
                        <a:spcBef>
                          <a:spcPts val="0"/>
                        </a:spcBef>
                        <a:spcAft>
                          <a:spcPts val="0"/>
                        </a:spcAft>
                        <a:buClr>
                          <a:srgbClr val="000000"/>
                        </a:buClr>
                        <a:buSzPts val="1500"/>
                        <a:buFont typeface="Arial"/>
                        <a:buNone/>
                      </a:pPr>
                      <a:r>
                        <a:rPr lang="en-US" spc="0" sz="1500" u="none" cap="none" strike="noStrike">
                          <a:solidFill>
                            <a:srgbClr val="565A32"/>
                          </a:solidFill>
                          <a:latin typeface="Raleway Light"/>
                          <a:ea typeface="Raleway Light"/>
                          <a:cs typeface="Raleway Light"/>
                          <a:sym typeface="Raleway Light"/>
                        </a:rPr>
                        <a:t>Future opportunities, not launch revenue</a:t>
                      </a:r>
                      <a:endParaRPr spc="0" sz="1500" u="none" cap="none" strike="noStrike">
                        <a:solidFill>
                          <a:srgbClr val="B9BC9A"/>
                        </a:solidFill>
                        <a:latin typeface="Raleway Light"/>
                        <a:ea typeface="Raleway Light"/>
                        <a:cs typeface="Raleway Light"/>
                        <a:sym typeface="Raleway Light"/>
                      </a:endParaRPr>
                    </a:p>
                  </a:txBody>
                  <a:tcPr marT="91425" marB="91425" marR="91425" marL="91425">
                    <a:solidFill>
                      <a:srgbClr val="EFEAE0"/>
                    </a:solidFill>
                  </a:tcPr>
                </a:tc>
              </a:tr>
            </a:tbl>
          </a:graphicData>
        </a:graphic>
      </p:graphicFrame>
      <p:sp>
        <p:nvSpPr>
          <p:cNvPr id="970" name="Google Shape;970;p67"/>
          <p:cNvSpPr/>
          <p:nvPr/>
        </p:nvSpPr>
        <p:spPr>
          <a:xfrm>
            <a:off x="9262872" y="457200"/>
            <a:ext cx="2377440" cy="384048"/>
          </a:xfrm>
          <a:prstGeom prst="roundRect">
            <a:avLst>
              <a:gd fmla="val 50000" name="adj"/>
            </a:avLst>
          </a:prstGeom>
          <a:solidFill>
            <a:srgbClr val="EFEAE0"/>
          </a:solidFill>
          <a:ln cap="flat" cmpd="sng" w="12700">
            <a:solidFill>
              <a:srgbClr val="565A32"/>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1" i="0" lang="en-US" spc="0" sz="1400" u="none" cap="none" strike="noStrike">
                <a:solidFill>
                  <a:srgbClr val="565A32"/>
                </a:solidFill>
                <a:latin typeface="Raleway SemiBold"/>
                <a:ea typeface="Raleway SemiBold"/>
                <a:cs typeface="Raleway SemiBold"/>
                <a:sym typeface="Raleway SemiBold"/>
              </a:rPr>
              <a:t>INTERNAL</a:t>
            </a:r>
            <a:endParaRPr b="0" i="0" spc="0" sz="1400" u="none" cap="none" strike="noStrike">
              <a:solidFill>
                <a:srgbClr val="000000"/>
              </a:solidFill>
              <a:latin typeface="Arial"/>
              <a:ea typeface="Arial"/>
              <a:cs typeface="Arial"/>
              <a:sym typeface="Arial"/>
            </a:endParaRPr>
          </a:p>
        </p:txBody>
      </p:sp>
      <p:sp>
        <p:nvSpPr>
          <p:cNvPr id="971" name="Google Shape;971;p67"/>
          <p:cNvSpPr/>
          <p:nvPr/>
        </p:nvSpPr>
        <p:spPr>
          <a:xfrm>
            <a:off x="0" y="0"/>
            <a:ext cx="12191700" cy="329100"/>
          </a:xfrm>
          <a:prstGeom prst="rect">
            <a:avLst/>
          </a:prstGeom>
          <a:solidFill>
            <a:srgbClr val="565A32"/>
          </a:solidFill>
          <a:ln cap="flat" cmpd="sng" w="12700">
            <a:solidFill>
              <a:srgbClr val="565A3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
        <p:nvSpPr>
          <p:cNvPr id="972" name="Slide number"/>
          <p:cNvSpPr txBox="1"/>
          <p:nvPr>
            <p:ph idx="4294967295" type="sldNum"/>
          </p:nvPr>
        </p:nvSpPr>
        <p:spPr>
          <a:xfrm>
            <a:off x="9372600" y="5971032"/>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chemeClr val="dk1"/>
                </a:solidFill>
                <a:latin typeface="Raleway Light"/>
                <a:ea typeface="Raleway Light"/>
                <a:cs typeface="Raleway Light"/>
                <a:sym typeface="Raleway Light"/>
              </a:rPr>
              <a:t>‹#›</a:t>
            </a:fld>
            <a:endParaRPr b="0" i="0" sz="1000" u="none" cap="none" strike="noStrike">
              <a:solidFill>
                <a:schemeClr val="dk1"/>
              </a:solidFill>
              <a:latin typeface="Raleway Light"/>
              <a:ea typeface="Raleway Light"/>
              <a:cs typeface="Raleway Light"/>
              <a:sym typeface="Raleway Light"/>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AE0"/>
        </a:solidFill>
      </p:bgPr>
    </p:bg>
    <p:spTree>
      <p:nvGrpSpPr>
        <p:cNvPr id="976" name="Shape 976"/>
        <p:cNvGrpSpPr/>
        <p:nvPr/>
      </p:nvGrpSpPr>
      <p:grpSpPr>
        <a:xfrm>
          <a:off x="0" y="0"/>
          <a:ext cx="0" cy="0"/>
          <a:chOff x="0" y="0"/>
          <a:chExt cx="0" cy="0"/>
        </a:xfrm>
      </p:grpSpPr>
      <p:sp>
        <p:nvSpPr>
          <p:cNvPr id="977" name="Google Shape;977;p68"/>
          <p:cNvSpPr txBox="1"/>
          <p:nvPr/>
        </p:nvSpPr>
        <p:spPr>
          <a:xfrm>
            <a:off x="685800" y="475501"/>
            <a:ext cx="8229600" cy="618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65A32"/>
              </a:buClr>
              <a:buSzPts val="3800"/>
              <a:buFont typeface="Raleway Light"/>
              <a:buNone/>
            </a:pPr>
            <a:r>
              <a:rPr b="0" i="0" lang="en-US" spc="0" sz="3800" u="none" cap="none" strike="noStrike">
                <a:solidFill>
                  <a:srgbClr val="565A32"/>
                </a:solidFill>
                <a:latin typeface="Raleway Light"/>
                <a:ea typeface="Raleway Light"/>
                <a:cs typeface="Raleway Light"/>
                <a:sym typeface="Raleway Light"/>
              </a:rPr>
              <a:t>Routes to market</a:t>
            </a:r>
            <a:endParaRPr b="1" i="0" spc="0" sz="2700" u="none" cap="none" strike="noStrike">
              <a:solidFill>
                <a:srgbClr val="565A32"/>
              </a:solidFill>
              <a:latin typeface="Raleway SemiBold"/>
              <a:ea typeface="Raleway SemiBold"/>
              <a:cs typeface="Raleway SemiBold"/>
              <a:sym typeface="Raleway SemiBold"/>
            </a:endParaRPr>
          </a:p>
        </p:txBody>
      </p:sp>
      <p:pic>
        <p:nvPicPr>
          <p:cNvPr id="978" name="Google Shape;978;p68" title="Copy_of_Untitled-removebg-preview.png"/>
          <p:cNvPicPr preferRelativeResize="0"/>
          <p:nvPr/>
        </p:nvPicPr>
        <p:blipFill rotWithShape="1">
          <a:blip r:embed="rId3">
            <a:alphaModFix/>
          </a:blip>
          <a:srcRect b="0" l="0" r="0" t="0"/>
          <a:stretch/>
        </p:blipFill>
        <p:spPr>
          <a:xfrm>
            <a:off x="9834990" y="5349262"/>
            <a:ext cx="1508730" cy="1508730"/>
          </a:xfrm>
          <a:prstGeom prst="rect">
            <a:avLst/>
          </a:prstGeom>
          <a:noFill/>
          <a:ln>
            <a:noFill/>
          </a:ln>
        </p:spPr>
      </p:pic>
      <p:sp>
        <p:nvSpPr>
          <p:cNvPr id="979" name="Google Shape;979;p68"/>
          <p:cNvSpPr txBox="1"/>
          <p:nvPr/>
        </p:nvSpPr>
        <p:spPr>
          <a:xfrm>
            <a:off x="11785400" y="3848725"/>
            <a:ext cx="914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graphicFrame>
        <p:nvGraphicFramePr>
          <p:cNvPr id="980" name="Google Shape;980;p68"/>
          <p:cNvGraphicFramePr/>
          <p:nvPr/>
        </p:nvGraphicFramePr>
        <p:xfrm>
          <a:off x="708988" y="1576436"/>
          <a:ext cx="3000000" cy="3000000"/>
        </p:xfrm>
        <a:graphic>
          <a:graphicData uri="http://schemas.openxmlformats.org/drawingml/2006/table">
            <a:tbl>
              <a:tblPr>
                <a:noFill/>
                <a:tableStyleId>{A1FAD5FD-ADFC-4D4B-842D-70D263419EB3}</a:tableStyleId>
              </a:tblPr>
              <a:tblGrid>
                <a:gridCol w="1497875"/>
                <a:gridCol w="5086500"/>
                <a:gridCol w="3401425"/>
              </a:tblGrid>
              <a:tr h="488050">
                <a:tc>
                  <a:txBody>
                    <a:bodyPr/>
                    <a:lstStyle/>
                    <a:p>
                      <a:pPr indent="0" lvl="0" marL="0" marR="0" rtl="0" algn="ctr">
                        <a:lnSpc>
                          <a:spcPct val="100000"/>
                        </a:lnSpc>
                        <a:spcBef>
                          <a:spcPts val="0"/>
                        </a:spcBef>
                        <a:spcAft>
                          <a:spcPts val="0"/>
                        </a:spcAft>
                        <a:buClr>
                          <a:srgbClr val="000000"/>
                        </a:buClr>
                        <a:buSzPts val="1400"/>
                        <a:buFont typeface="Arial"/>
                        <a:buNone/>
                      </a:pPr>
                      <a:r>
                        <a:rPr b="1" lang="en-US" spc="0" sz="1400" u="none" cap="none" strike="noStrike">
                          <a:solidFill>
                            <a:srgbClr val="EFEAE0"/>
                          </a:solidFill>
                          <a:latin typeface="Raleway"/>
                          <a:ea typeface="Raleway"/>
                          <a:cs typeface="Raleway"/>
                          <a:sym typeface="Raleway"/>
                        </a:rPr>
                        <a:t>Route</a:t>
                      </a:r>
                      <a:endParaRPr b="1" spc="0" sz="1400" u="none" cap="none" strike="noStrike">
                        <a:solidFill>
                          <a:srgbClr val="565A32"/>
                        </a:solidFill>
                        <a:latin typeface="Raleway"/>
                        <a:ea typeface="Raleway"/>
                        <a:cs typeface="Raleway"/>
                        <a:sym typeface="Raleway"/>
                      </a:endParaRPr>
                    </a:p>
                  </a:txBody>
                  <a:tcPr marT="91425" marB="91425" marR="91425" marL="91425">
                    <a:solidFill>
                      <a:srgbClr val="565A32"/>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1" lang="en-US" spc="0" sz="1400" u="none" cap="none" strike="noStrike">
                          <a:solidFill>
                            <a:srgbClr val="EFEAE0"/>
                          </a:solidFill>
                          <a:latin typeface="Raleway"/>
                          <a:ea typeface="Raleway"/>
                          <a:cs typeface="Raleway"/>
                          <a:sym typeface="Raleway"/>
                        </a:rPr>
                        <a:t>How we reach the market</a:t>
                      </a:r>
                      <a:endParaRPr b="1" spc="0" sz="1400" u="none" cap="none" strike="noStrike">
                        <a:solidFill>
                          <a:srgbClr val="565A32"/>
                        </a:solidFill>
                        <a:latin typeface="Raleway"/>
                        <a:ea typeface="Raleway"/>
                        <a:cs typeface="Raleway"/>
                        <a:sym typeface="Raleway"/>
                      </a:endParaRPr>
                    </a:p>
                  </a:txBody>
                  <a:tcPr marT="91425" marB="91425" marR="91425" marL="91425">
                    <a:solidFill>
                      <a:srgbClr val="565A32"/>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1" lang="en-US" spc="0" sz="1400" u="none" cap="none" strike="noStrike">
                          <a:solidFill>
                            <a:srgbClr val="EFEAE0"/>
                          </a:solidFill>
                          <a:latin typeface="Raleway"/>
                          <a:ea typeface="Raleway"/>
                          <a:cs typeface="Raleway"/>
                          <a:sym typeface="Raleway"/>
                        </a:rPr>
                        <a:t>Current position</a:t>
                      </a:r>
                      <a:endParaRPr b="1" spc="0" sz="1400" u="none" cap="none" strike="noStrike">
                        <a:solidFill>
                          <a:srgbClr val="565A32"/>
                        </a:solidFill>
                        <a:latin typeface="Raleway"/>
                        <a:ea typeface="Raleway"/>
                        <a:cs typeface="Raleway"/>
                        <a:sym typeface="Raleway"/>
                      </a:endParaRPr>
                    </a:p>
                  </a:txBody>
                  <a:tcPr marT="91425" marB="91425" marR="91425" marL="91425">
                    <a:solidFill>
                      <a:srgbClr val="565A32"/>
                    </a:solidFill>
                  </a:tcPr>
                </a:tc>
              </a:tr>
              <a:tr h="806200">
                <a:tc>
                  <a:txBody>
                    <a:bodyPr/>
                    <a:lstStyle/>
                    <a:p>
                      <a:pPr indent="0" lvl="0" marL="0" marR="0" rtl="0" algn="l">
                        <a:lnSpc>
                          <a:spcPct val="100000"/>
                        </a:lnSpc>
                        <a:spcBef>
                          <a:spcPts val="0"/>
                        </a:spcBef>
                        <a:spcAft>
                          <a:spcPts val="0"/>
                        </a:spcAft>
                        <a:buClr>
                          <a:srgbClr val="000000"/>
                        </a:buClr>
                        <a:buSzPts val="1400"/>
                        <a:buFont typeface="Arial"/>
                        <a:buNone/>
                      </a:pPr>
                      <a:r>
                        <a:rPr lang="en-US" spc="0" sz="1400" u="none" cap="none" strike="noStrike">
                          <a:solidFill>
                            <a:srgbClr val="565A32"/>
                          </a:solidFill>
                          <a:latin typeface="Raleway Light"/>
                          <a:ea typeface="Raleway Light"/>
                          <a:cs typeface="Raleway Light"/>
                          <a:sym typeface="Raleway Light"/>
                        </a:rPr>
                        <a:t>Physical game</a:t>
                      </a:r>
                      <a:endParaRPr spc="0" sz="1400" u="none" cap="none" strike="noStrike">
                        <a:solidFill>
                          <a:srgbClr val="565A32"/>
                        </a:solidFill>
                        <a:latin typeface="Raleway Light"/>
                        <a:ea typeface="Raleway Light"/>
                        <a:cs typeface="Raleway Light"/>
                        <a:sym typeface="Raleway Light"/>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pc="0" sz="1400" u="none" cap="none" strike="noStrike">
                          <a:solidFill>
                            <a:srgbClr val="565A32"/>
                          </a:solidFill>
                          <a:latin typeface="Raleway Light"/>
                          <a:ea typeface="Raleway Light"/>
                          <a:cs typeface="Raleway Light"/>
                          <a:sym typeface="Raleway Light"/>
                        </a:rPr>
                        <a:t>Direct online sales, premium gifting, specialist retailers, or a publisher/distributor licensing agreement</a:t>
                      </a:r>
                      <a:endParaRPr spc="0" sz="1400" u="none" cap="none" strike="noStrike">
                        <a:solidFill>
                          <a:srgbClr val="565A32"/>
                        </a:solidFill>
                        <a:latin typeface="Raleway Light"/>
                        <a:ea typeface="Raleway Light"/>
                        <a:cs typeface="Raleway Light"/>
                        <a:sym typeface="Raleway Light"/>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pc="0" sz="1400" u="none" cap="none" strike="noStrike">
                          <a:solidFill>
                            <a:srgbClr val="565A32"/>
                          </a:solidFill>
                          <a:latin typeface="Raleway Light"/>
                          <a:ea typeface="Raleway Light"/>
                          <a:cs typeface="Raleway Light"/>
                          <a:sym typeface="Raleway Light"/>
                        </a:rPr>
                        <a:t>Manufacturer quotes underway. Licensing being explored.</a:t>
                      </a:r>
                      <a:endParaRPr spc="0" sz="1400" u="none" cap="none" strike="noStrike">
                        <a:solidFill>
                          <a:srgbClr val="565A32"/>
                        </a:solidFill>
                        <a:latin typeface="Raleway Light"/>
                        <a:ea typeface="Raleway Light"/>
                        <a:cs typeface="Raleway Light"/>
                        <a:sym typeface="Raleway Light"/>
                      </a:endParaRPr>
                    </a:p>
                  </a:txBody>
                  <a:tcPr marT="91425" marB="91425" marR="91425" marL="91425"/>
                </a:tc>
              </a:tr>
              <a:tr h="859225">
                <a:tc>
                  <a:txBody>
                    <a:bodyPr/>
                    <a:lstStyle/>
                    <a:p>
                      <a:pPr indent="0" lvl="0" marL="0" marR="0" rtl="0" algn="l">
                        <a:lnSpc>
                          <a:spcPct val="100000"/>
                        </a:lnSpc>
                        <a:spcBef>
                          <a:spcPts val="0"/>
                        </a:spcBef>
                        <a:spcAft>
                          <a:spcPts val="0"/>
                        </a:spcAft>
                        <a:buClr>
                          <a:srgbClr val="000000"/>
                        </a:buClr>
                        <a:buSzPts val="1400"/>
                        <a:buFont typeface="Arial"/>
                        <a:buNone/>
                      </a:pPr>
                      <a:r>
                        <a:rPr lang="en-US" spc="0" sz="1400" u="none" cap="none" strike="noStrike">
                          <a:solidFill>
                            <a:srgbClr val="565A32"/>
                          </a:solidFill>
                          <a:latin typeface="Raleway Light"/>
                          <a:ea typeface="Raleway Light"/>
                          <a:cs typeface="Raleway Light"/>
                          <a:sym typeface="Raleway Light"/>
                        </a:rPr>
                        <a:t>Connected app</a:t>
                      </a:r>
                      <a:endParaRPr spc="0" sz="1400" u="none" cap="none" strike="noStrike">
                        <a:solidFill>
                          <a:srgbClr val="565A32"/>
                        </a:solidFill>
                        <a:latin typeface="Raleway Light"/>
                        <a:ea typeface="Raleway Light"/>
                        <a:cs typeface="Raleway Light"/>
                        <a:sym typeface="Raleway Light"/>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pc="0" sz="1400" u="none" cap="none" strike="noStrike">
                          <a:solidFill>
                            <a:srgbClr val="565A32"/>
                          </a:solidFill>
                          <a:latin typeface="Raleway Light"/>
                          <a:ea typeface="Raleway Light"/>
                          <a:cs typeface="Raleway Light"/>
                          <a:sym typeface="Raleway Light"/>
                        </a:rPr>
                        <a:t>App stores, website, physical-game buyers, guest invitations and partner/event experiences</a:t>
                      </a:r>
                      <a:endParaRPr spc="0" sz="1400" u="none" cap="none" strike="noStrike">
                        <a:solidFill>
                          <a:srgbClr val="565A32"/>
                        </a:solidFill>
                        <a:latin typeface="Raleway Light"/>
                        <a:ea typeface="Raleway Light"/>
                        <a:cs typeface="Raleway Light"/>
                        <a:sym typeface="Raleway Light"/>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pc="0" sz="1400" u="none" cap="none" strike="noStrike">
                          <a:solidFill>
                            <a:srgbClr val="565A32"/>
                          </a:solidFill>
                          <a:latin typeface="Raleway Light"/>
                          <a:ea typeface="Raleway Light"/>
                          <a:cs typeface="Raleway Light"/>
                          <a:sym typeface="Raleway Light"/>
                        </a:rPr>
                        <a:t>One-off Host purchase proposed. Guest access free.</a:t>
                      </a:r>
                      <a:endParaRPr spc="0" sz="1400" u="none" cap="none" strike="noStrike">
                        <a:solidFill>
                          <a:srgbClr val="565A32"/>
                        </a:solidFill>
                        <a:latin typeface="Raleway Light"/>
                        <a:ea typeface="Raleway Light"/>
                        <a:cs typeface="Raleway Light"/>
                        <a:sym typeface="Raleway Light"/>
                      </a:endParaRPr>
                    </a:p>
                  </a:txBody>
                  <a:tcPr marT="91425" marB="91425" marR="91425" marL="91425"/>
                </a:tc>
              </a:tr>
              <a:tr h="843075">
                <a:tc>
                  <a:txBody>
                    <a:bodyPr/>
                    <a:lstStyle/>
                    <a:p>
                      <a:pPr indent="0" lvl="0" marL="0" marR="0" rtl="0" algn="l">
                        <a:lnSpc>
                          <a:spcPct val="100000"/>
                        </a:lnSpc>
                        <a:spcBef>
                          <a:spcPts val="0"/>
                        </a:spcBef>
                        <a:spcAft>
                          <a:spcPts val="0"/>
                        </a:spcAft>
                        <a:buClr>
                          <a:srgbClr val="000000"/>
                        </a:buClr>
                        <a:buSzPts val="1400"/>
                        <a:buFont typeface="Arial"/>
                        <a:buNone/>
                      </a:pPr>
                      <a:r>
                        <a:rPr lang="en-US" spc="0" sz="1400" u="none" cap="none" strike="noStrike">
                          <a:solidFill>
                            <a:srgbClr val="565A32"/>
                          </a:solidFill>
                          <a:latin typeface="Raleway Light"/>
                          <a:ea typeface="Raleway Light"/>
                          <a:cs typeface="Raleway Light"/>
                          <a:sym typeface="Raleway Light"/>
                        </a:rPr>
                        <a:t>Vineyard and venue partners</a:t>
                      </a:r>
                      <a:endParaRPr spc="0" sz="1400" u="none" cap="none" strike="noStrike">
                        <a:solidFill>
                          <a:srgbClr val="565A32"/>
                        </a:solidFill>
                        <a:latin typeface="Raleway Light"/>
                        <a:ea typeface="Raleway Light"/>
                        <a:cs typeface="Raleway Light"/>
                        <a:sym typeface="Raleway Light"/>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pc="0" sz="1400" u="none" cap="none" strike="noStrike">
                          <a:solidFill>
                            <a:srgbClr val="565A32"/>
                          </a:solidFill>
                          <a:latin typeface="Raleway Light"/>
                          <a:ea typeface="Raleway Light"/>
                          <a:cs typeface="Raleway Light"/>
                          <a:sym typeface="Raleway Light"/>
                        </a:rPr>
                        <a:t>Direct relationships with vineyards, wineries, hospitality, retailers and wine clubs</a:t>
                      </a:r>
                      <a:endParaRPr spc="0" sz="1400" u="none" cap="none" strike="noStrike">
                        <a:solidFill>
                          <a:srgbClr val="565A32"/>
                        </a:solidFill>
                        <a:latin typeface="Raleway Light"/>
                        <a:ea typeface="Raleway Light"/>
                        <a:cs typeface="Raleway Light"/>
                        <a:sym typeface="Raleway Light"/>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pc="0" sz="1400" u="none" cap="none" strike="noStrike">
                          <a:solidFill>
                            <a:srgbClr val="565A32"/>
                          </a:solidFill>
                          <a:latin typeface="Raleway Light"/>
                          <a:ea typeface="Raleway Light"/>
                          <a:cs typeface="Raleway Light"/>
                          <a:sym typeface="Raleway Light"/>
                        </a:rPr>
                        <a:t>English and French launch partners being sought.</a:t>
                      </a:r>
                      <a:endParaRPr spc="0" sz="1400" u="none" cap="none" strike="noStrike">
                        <a:solidFill>
                          <a:srgbClr val="565A32"/>
                        </a:solidFill>
                        <a:latin typeface="Raleway Light"/>
                        <a:ea typeface="Raleway Light"/>
                        <a:cs typeface="Raleway Light"/>
                        <a:sym typeface="Raleway Light"/>
                      </a:endParaRPr>
                    </a:p>
                  </a:txBody>
                  <a:tcPr marT="91425" marB="91425" marR="91425" marL="91425"/>
                </a:tc>
              </a:tr>
              <a:tr h="753175">
                <a:tc>
                  <a:txBody>
                    <a:bodyPr/>
                    <a:lstStyle/>
                    <a:p>
                      <a:pPr indent="0" lvl="0" marL="0" marR="0" rtl="0" algn="l">
                        <a:lnSpc>
                          <a:spcPct val="100000"/>
                        </a:lnSpc>
                        <a:spcBef>
                          <a:spcPts val="0"/>
                        </a:spcBef>
                        <a:spcAft>
                          <a:spcPts val="0"/>
                        </a:spcAft>
                        <a:buClr>
                          <a:srgbClr val="000000"/>
                        </a:buClr>
                        <a:buSzPts val="1400"/>
                        <a:buFont typeface="Arial"/>
                        <a:buNone/>
                      </a:pPr>
                      <a:r>
                        <a:rPr lang="en-US" spc="0" sz="1400" u="none" cap="none" strike="noStrike">
                          <a:solidFill>
                            <a:srgbClr val="565A32"/>
                          </a:solidFill>
                          <a:latin typeface="Raleway Light"/>
                          <a:ea typeface="Raleway Light"/>
                          <a:cs typeface="Raleway Light"/>
                          <a:sym typeface="Raleway Light"/>
                        </a:rPr>
                        <a:t>Events and festivals</a:t>
                      </a:r>
                      <a:endParaRPr spc="0" sz="1400" u="none" cap="none" strike="noStrike">
                        <a:solidFill>
                          <a:srgbClr val="565A32"/>
                        </a:solidFill>
                        <a:latin typeface="Raleway Light"/>
                        <a:ea typeface="Raleway Light"/>
                        <a:cs typeface="Raleway Light"/>
                        <a:sym typeface="Raleway Light"/>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pc="0" sz="1400" u="none" cap="none" strike="noStrike">
                          <a:solidFill>
                            <a:srgbClr val="565A32"/>
                          </a:solidFill>
                          <a:latin typeface="Raleway Light"/>
                          <a:ea typeface="Raleway Light"/>
                          <a:cs typeface="Raleway Light"/>
                          <a:sym typeface="Raleway Light"/>
                        </a:rPr>
                        <a:t>Direct approaches to organisers, regional wine bodies and producers</a:t>
                      </a:r>
                      <a:endParaRPr spc="0" sz="1400" u="none" cap="none" strike="noStrike">
                        <a:solidFill>
                          <a:srgbClr val="565A32"/>
                        </a:solidFill>
                        <a:latin typeface="Raleway Light"/>
                        <a:ea typeface="Raleway Light"/>
                        <a:cs typeface="Raleway Light"/>
                        <a:sym typeface="Raleway Light"/>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pc="0" sz="1400" u="none" cap="none" strike="noStrike">
                          <a:solidFill>
                            <a:srgbClr val="565A32"/>
                          </a:solidFill>
                          <a:latin typeface="Raleway Light"/>
                          <a:ea typeface="Raleway Light"/>
                          <a:cs typeface="Raleway Light"/>
                          <a:sym typeface="Raleway Light"/>
                        </a:rPr>
                        <a:t>Fizz Fest and Wine Garden of England among priority opportunities.</a:t>
                      </a:r>
                      <a:endParaRPr spc="0" sz="1400" u="none" cap="none" strike="noStrike">
                        <a:solidFill>
                          <a:srgbClr val="565A32"/>
                        </a:solidFill>
                        <a:latin typeface="Raleway Light"/>
                        <a:ea typeface="Raleway Light"/>
                        <a:cs typeface="Raleway Light"/>
                        <a:sym typeface="Raleway Light"/>
                      </a:endParaRPr>
                    </a:p>
                  </a:txBody>
                  <a:tcPr marT="91425" marB="91425" marR="91425" marL="91425"/>
                </a:tc>
              </a:tr>
              <a:tr h="982950">
                <a:tc>
                  <a:txBody>
                    <a:bodyPr/>
                    <a:lstStyle/>
                    <a:p>
                      <a:pPr indent="0" lvl="0" marL="0" marR="0" rtl="0" algn="l">
                        <a:lnSpc>
                          <a:spcPct val="100000"/>
                        </a:lnSpc>
                        <a:spcBef>
                          <a:spcPts val="0"/>
                        </a:spcBef>
                        <a:spcAft>
                          <a:spcPts val="0"/>
                        </a:spcAft>
                        <a:buClr>
                          <a:srgbClr val="000000"/>
                        </a:buClr>
                        <a:buSzPts val="1400"/>
                        <a:buFont typeface="Arial"/>
                        <a:buNone/>
                      </a:pPr>
                      <a:r>
                        <a:rPr lang="en-US" spc="0" sz="1400" u="none" cap="none" strike="noStrike">
                          <a:solidFill>
                            <a:srgbClr val="565A32"/>
                          </a:solidFill>
                          <a:latin typeface="Raleway Light"/>
                          <a:ea typeface="Raleway Light"/>
                          <a:cs typeface="Raleway Light"/>
                          <a:sym typeface="Raleway Light"/>
                        </a:rPr>
                        <a:t>Future expansion</a:t>
                      </a:r>
                      <a:endParaRPr spc="0" sz="1400" u="none" cap="none" strike="noStrike">
                        <a:solidFill>
                          <a:srgbClr val="565A32"/>
                        </a:solidFill>
                        <a:latin typeface="Raleway Light"/>
                        <a:ea typeface="Raleway Light"/>
                        <a:cs typeface="Raleway Light"/>
                        <a:sym typeface="Raleway Light"/>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pc="0" sz="1400" u="none" cap="none" strike="noStrike">
                          <a:solidFill>
                            <a:srgbClr val="565A32"/>
                          </a:solidFill>
                          <a:latin typeface="Raleway Light"/>
                          <a:ea typeface="Raleway Light"/>
                          <a:cs typeface="Raleway Light"/>
                          <a:sym typeface="Raleway Light"/>
                        </a:rPr>
                        <a:t>Curated collaborations, limited editions, new experience categories and hosted stays</a:t>
                      </a:r>
                      <a:endParaRPr spc="0" sz="1400" u="none" cap="none" strike="noStrike">
                        <a:solidFill>
                          <a:srgbClr val="565A32"/>
                        </a:solidFill>
                        <a:latin typeface="Raleway Light"/>
                        <a:ea typeface="Raleway Light"/>
                        <a:cs typeface="Raleway Light"/>
                        <a:sym typeface="Raleway Light"/>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pc="0" sz="1400" u="none" cap="none" strike="noStrike">
                          <a:solidFill>
                            <a:srgbClr val="565A32"/>
                          </a:solidFill>
                          <a:latin typeface="Raleway Light"/>
                          <a:ea typeface="Raleway Light"/>
                          <a:cs typeface="Raleway Light"/>
                          <a:sym typeface="Raleway Light"/>
                        </a:rPr>
                        <a:t>Longer-term opportunities, not launch commitments.</a:t>
                      </a:r>
                      <a:endParaRPr spc="0" sz="1400" u="none" cap="none" strike="noStrike">
                        <a:solidFill>
                          <a:srgbClr val="565A32"/>
                        </a:solidFill>
                        <a:latin typeface="Raleway Light"/>
                        <a:ea typeface="Raleway Light"/>
                        <a:cs typeface="Raleway Light"/>
                        <a:sym typeface="Raleway Light"/>
                      </a:endParaRPr>
                    </a:p>
                  </a:txBody>
                  <a:tcPr marT="91425" marB="91425" marR="91425" marL="91425"/>
                </a:tc>
              </a:tr>
            </a:tbl>
          </a:graphicData>
        </a:graphic>
      </p:graphicFrame>
      <p:sp>
        <p:nvSpPr>
          <p:cNvPr id="981" name="Google Shape;981;p68"/>
          <p:cNvSpPr txBox="1"/>
          <p:nvPr/>
        </p:nvSpPr>
        <p:spPr>
          <a:xfrm>
            <a:off x="685800" y="1015416"/>
            <a:ext cx="8503800" cy="3840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chemeClr val="dk1"/>
              </a:buClr>
              <a:buSzPts val="1700"/>
              <a:buFont typeface="Arial"/>
              <a:buNone/>
            </a:pPr>
            <a:r>
              <a:rPr b="0" i="0" lang="en-US" spc="0" sz="1900" u="none" cap="none" strike="noStrike">
                <a:solidFill>
                  <a:srgbClr val="565A32"/>
                </a:solidFill>
                <a:latin typeface="Raleway Light"/>
                <a:ea typeface="Raleway Light"/>
                <a:cs typeface="Raleway Light"/>
                <a:sym typeface="Raleway Light"/>
              </a:rPr>
              <a:t>Different routes to customers. One connected Entre Amis brand. </a:t>
            </a:r>
            <a:endParaRPr b="0" i="0" spc="0" sz="1900" u="none" cap="none" strike="noStrike">
              <a:solidFill>
                <a:schemeClr val="dk1"/>
              </a:solidFill>
              <a:latin typeface="Raleway Light"/>
              <a:ea typeface="Raleway Light"/>
              <a:cs typeface="Raleway Light"/>
              <a:sym typeface="Raleway Light"/>
            </a:endParaRPr>
          </a:p>
        </p:txBody>
      </p:sp>
      <p:sp>
        <p:nvSpPr>
          <p:cNvPr id="982" name="Google Shape;982;p68"/>
          <p:cNvSpPr/>
          <p:nvPr/>
        </p:nvSpPr>
        <p:spPr>
          <a:xfrm>
            <a:off x="9262872" y="457200"/>
            <a:ext cx="2377440" cy="384048"/>
          </a:xfrm>
          <a:prstGeom prst="roundRect">
            <a:avLst>
              <a:gd fmla="val 50000" name="adj"/>
            </a:avLst>
          </a:prstGeom>
          <a:solidFill>
            <a:srgbClr val="EFEAE0"/>
          </a:solidFill>
          <a:ln cap="flat" cmpd="sng" w="12700">
            <a:solidFill>
              <a:srgbClr val="565A32"/>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1" i="0" lang="en-US" spc="0" sz="1400" u="none" cap="none" strike="noStrike">
                <a:solidFill>
                  <a:srgbClr val="565A32"/>
                </a:solidFill>
                <a:latin typeface="Raleway SemiBold"/>
                <a:ea typeface="Raleway SemiBold"/>
                <a:cs typeface="Raleway SemiBold"/>
                <a:sym typeface="Raleway SemiBold"/>
              </a:rPr>
              <a:t>INTERNAL</a:t>
            </a:r>
            <a:endParaRPr b="0" i="0" spc="0" sz="1400" u="none" cap="none" strike="noStrike">
              <a:solidFill>
                <a:srgbClr val="000000"/>
              </a:solidFill>
              <a:latin typeface="Arial"/>
              <a:ea typeface="Arial"/>
              <a:cs typeface="Arial"/>
              <a:sym typeface="Arial"/>
            </a:endParaRPr>
          </a:p>
        </p:txBody>
      </p:sp>
      <p:sp>
        <p:nvSpPr>
          <p:cNvPr id="983" name="Google Shape;983;p68"/>
          <p:cNvSpPr/>
          <p:nvPr/>
        </p:nvSpPr>
        <p:spPr>
          <a:xfrm>
            <a:off x="0" y="0"/>
            <a:ext cx="12191700" cy="329100"/>
          </a:xfrm>
          <a:prstGeom prst="rect">
            <a:avLst/>
          </a:prstGeom>
          <a:solidFill>
            <a:srgbClr val="565A32"/>
          </a:solidFill>
          <a:ln cap="flat" cmpd="sng" w="12700">
            <a:solidFill>
              <a:srgbClr val="565A3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
        <p:nvSpPr>
          <p:cNvPr id="984" name="Slide number"/>
          <p:cNvSpPr txBox="1"/>
          <p:nvPr>
            <p:ph idx="4294967295" type="sldNum"/>
          </p:nvPr>
        </p:nvSpPr>
        <p:spPr>
          <a:xfrm>
            <a:off x="9372600" y="5971032"/>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chemeClr val="dk1"/>
                </a:solidFill>
                <a:latin typeface="Raleway Light"/>
                <a:ea typeface="Raleway Light"/>
                <a:cs typeface="Raleway Light"/>
                <a:sym typeface="Raleway Light"/>
              </a:rPr>
              <a:t>‹#›</a:t>
            </a:fld>
            <a:endParaRPr b="0" i="0" sz="1000" u="none" cap="none" strike="noStrike">
              <a:solidFill>
                <a:schemeClr val="dk1"/>
              </a:solidFill>
              <a:latin typeface="Raleway Light"/>
              <a:ea typeface="Raleway Light"/>
              <a:cs typeface="Raleway Light"/>
              <a:sym typeface="Raleway Light"/>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AE0"/>
        </a:solidFill>
      </p:bgPr>
    </p:bg>
    <p:spTree>
      <p:nvGrpSpPr>
        <p:cNvPr id="988" name="Shape 988"/>
        <p:cNvGrpSpPr/>
        <p:nvPr/>
      </p:nvGrpSpPr>
      <p:grpSpPr>
        <a:xfrm>
          <a:off x="0" y="0"/>
          <a:ext cx="0" cy="0"/>
          <a:chOff x="0" y="0"/>
          <a:chExt cx="0" cy="0"/>
        </a:xfrm>
      </p:grpSpPr>
      <p:sp>
        <p:nvSpPr>
          <p:cNvPr id="989" name="Google Shape;989;p69"/>
          <p:cNvSpPr txBox="1"/>
          <p:nvPr/>
        </p:nvSpPr>
        <p:spPr>
          <a:xfrm>
            <a:off x="685800" y="475501"/>
            <a:ext cx="8229600" cy="618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65A32"/>
              </a:buClr>
              <a:buSzPts val="3800"/>
              <a:buFont typeface="Raleway Light"/>
              <a:buNone/>
            </a:pPr>
            <a:r>
              <a:rPr b="0" i="0" lang="en-US" spc="0" sz="3800" u="none" cap="none" strike="noStrike">
                <a:solidFill>
                  <a:srgbClr val="565A32"/>
                </a:solidFill>
                <a:latin typeface="Raleway Light"/>
                <a:ea typeface="Raleway Light"/>
                <a:cs typeface="Raleway Light"/>
                <a:sym typeface="Raleway Light"/>
              </a:rPr>
              <a:t>Commercial economics</a:t>
            </a:r>
            <a:endParaRPr b="1" i="0" spc="0" sz="2700" u="none" cap="none" strike="noStrike">
              <a:solidFill>
                <a:srgbClr val="565A32"/>
              </a:solidFill>
              <a:latin typeface="Raleway SemiBold"/>
              <a:ea typeface="Raleway SemiBold"/>
              <a:cs typeface="Raleway SemiBold"/>
              <a:sym typeface="Raleway SemiBold"/>
            </a:endParaRPr>
          </a:p>
        </p:txBody>
      </p:sp>
      <p:pic>
        <p:nvPicPr>
          <p:cNvPr id="990" name="Google Shape;990;p69" title="Copy_of_Untitled-removebg-preview.png"/>
          <p:cNvPicPr preferRelativeResize="0"/>
          <p:nvPr/>
        </p:nvPicPr>
        <p:blipFill rotWithShape="1">
          <a:blip r:embed="rId3">
            <a:alphaModFix/>
          </a:blip>
          <a:srcRect b="0" l="0" r="0" t="0"/>
          <a:stretch/>
        </p:blipFill>
        <p:spPr>
          <a:xfrm>
            <a:off x="9834990" y="5349262"/>
            <a:ext cx="1508730" cy="1508730"/>
          </a:xfrm>
          <a:prstGeom prst="rect">
            <a:avLst/>
          </a:prstGeom>
          <a:noFill/>
          <a:ln>
            <a:noFill/>
          </a:ln>
        </p:spPr>
      </p:pic>
      <p:sp>
        <p:nvSpPr>
          <p:cNvPr id="991" name="Google Shape;991;p69"/>
          <p:cNvSpPr txBox="1"/>
          <p:nvPr/>
        </p:nvSpPr>
        <p:spPr>
          <a:xfrm>
            <a:off x="11785400" y="3848725"/>
            <a:ext cx="914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
        <p:nvSpPr>
          <p:cNvPr id="992" name="Google Shape;992;p69"/>
          <p:cNvSpPr txBox="1"/>
          <p:nvPr/>
        </p:nvSpPr>
        <p:spPr>
          <a:xfrm>
            <a:off x="685800" y="1015416"/>
            <a:ext cx="8503800" cy="3840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chemeClr val="dk1"/>
              </a:buClr>
              <a:buSzPts val="1700"/>
              <a:buFont typeface="Arial"/>
              <a:buNone/>
            </a:pPr>
            <a:r>
              <a:rPr b="0" i="0" lang="en-US" spc="0" sz="1900" u="none" cap="none" strike="noStrike">
                <a:solidFill>
                  <a:srgbClr val="565A32"/>
                </a:solidFill>
                <a:latin typeface="Raleway Light"/>
                <a:ea typeface="Raleway Light"/>
                <a:cs typeface="Raleway Light"/>
                <a:sym typeface="Raleway Light"/>
              </a:rPr>
              <a:t>Working positions for discussion. Only the £40 RRP is confirmed.</a:t>
            </a:r>
            <a:endParaRPr b="0" i="0" spc="0" sz="1900" u="none" cap="none" strike="noStrike">
              <a:solidFill>
                <a:schemeClr val="dk1"/>
              </a:solidFill>
              <a:latin typeface="Raleway Light"/>
              <a:ea typeface="Raleway Light"/>
              <a:cs typeface="Raleway Light"/>
              <a:sym typeface="Raleway Light"/>
            </a:endParaRPr>
          </a:p>
        </p:txBody>
      </p:sp>
      <p:sp>
        <p:nvSpPr>
          <p:cNvPr id="993" name="Google Shape;993;p69"/>
          <p:cNvSpPr/>
          <p:nvPr/>
        </p:nvSpPr>
        <p:spPr>
          <a:xfrm>
            <a:off x="9262872" y="457200"/>
            <a:ext cx="2377440" cy="384048"/>
          </a:xfrm>
          <a:prstGeom prst="roundRect">
            <a:avLst>
              <a:gd fmla="val 50000" name="adj"/>
            </a:avLst>
          </a:prstGeom>
          <a:solidFill>
            <a:srgbClr val="EFEAE0"/>
          </a:solidFill>
          <a:ln cap="flat" cmpd="sng" w="12700">
            <a:solidFill>
              <a:srgbClr val="565A32"/>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1" i="0" lang="en-US" spc="0" sz="1400" u="none" cap="none" strike="noStrike">
                <a:solidFill>
                  <a:srgbClr val="565A32"/>
                </a:solidFill>
                <a:latin typeface="Raleway SemiBold"/>
                <a:ea typeface="Raleway SemiBold"/>
                <a:cs typeface="Raleway SemiBold"/>
                <a:sym typeface="Raleway SemiBold"/>
              </a:rPr>
              <a:t>INTERNAL</a:t>
            </a:r>
            <a:endParaRPr b="0" i="0" spc="0" sz="1400" u="none" cap="none" strike="noStrike">
              <a:solidFill>
                <a:srgbClr val="000000"/>
              </a:solidFill>
              <a:latin typeface="Arial"/>
              <a:ea typeface="Arial"/>
              <a:cs typeface="Arial"/>
              <a:sym typeface="Arial"/>
            </a:endParaRPr>
          </a:p>
        </p:txBody>
      </p:sp>
      <p:graphicFrame>
        <p:nvGraphicFramePr>
          <p:cNvPr id="994" name="Google Shape;994;p69"/>
          <p:cNvGraphicFramePr/>
          <p:nvPr/>
        </p:nvGraphicFramePr>
        <p:xfrm>
          <a:off x="685800" y="1600200"/>
          <a:ext cx="3000000" cy="3000000"/>
        </p:xfrm>
        <a:graphic>
          <a:graphicData uri="http://schemas.openxmlformats.org/drawingml/2006/table">
            <a:tbl>
              <a:tblPr bandRow="1" firstRow="1">
                <a:noFill/>
                <a:tableStyleId>{BFD34F20-732D-4E8D-BD15-E54F2CFFFAEF}</a:tableStyleId>
              </a:tblPr>
              <a:tblGrid>
                <a:gridCol w="2103125"/>
                <a:gridCol w="4480550"/>
                <a:gridCol w="1463050"/>
                <a:gridCol w="2743200"/>
              </a:tblGrid>
              <a:tr h="384050">
                <a:tc>
                  <a:txBody>
                    <a:bodyPr/>
                    <a:lstStyle/>
                    <a:p>
                      <a:pPr indent="0" lvl="0" marL="0" marR="0" rtl="0" algn="l">
                        <a:lnSpc>
                          <a:spcPct val="100000"/>
                        </a:lnSpc>
                        <a:spcBef>
                          <a:spcPts val="0"/>
                        </a:spcBef>
                        <a:spcAft>
                          <a:spcPts val="0"/>
                        </a:spcAft>
                        <a:buNone/>
                      </a:pPr>
                      <a:r>
                        <a:rPr b="1" lang="en-US" spc="0" sz="1100" u="none" cap="none" strike="noStrike">
                          <a:solidFill>
                            <a:srgbClr val="EFEAE0"/>
                          </a:solidFill>
                          <a:latin typeface="Raleway SemiBold"/>
                          <a:ea typeface="Raleway SemiBold"/>
                          <a:cs typeface="Raleway SemiBold"/>
                          <a:sym typeface="Raleway SemiBold"/>
                        </a:rPr>
                        <a:t>Stream</a:t>
                      </a:r>
                      <a:endParaRPr/>
                    </a:p>
                  </a:txBody>
                  <a:tcPr marT="36575" marB="36575" marR="73150" marL="73150">
                    <a:solidFill>
                      <a:srgbClr val="565A32"/>
                    </a:solidFill>
                  </a:tcPr>
                </a:tc>
                <a:tc>
                  <a:txBody>
                    <a:bodyPr/>
                    <a:lstStyle/>
                    <a:p>
                      <a:pPr indent="0" lvl="0" marL="0" marR="0" rtl="0" algn="l">
                        <a:lnSpc>
                          <a:spcPct val="100000"/>
                        </a:lnSpc>
                        <a:spcBef>
                          <a:spcPts val="0"/>
                        </a:spcBef>
                        <a:spcAft>
                          <a:spcPts val="0"/>
                        </a:spcAft>
                        <a:buNone/>
                      </a:pPr>
                      <a:r>
                        <a:rPr b="1" lang="en-US" spc="0" sz="1100" u="none" cap="none" strike="noStrike">
                          <a:solidFill>
                            <a:srgbClr val="EFEAE0"/>
                          </a:solidFill>
                          <a:latin typeface="Raleway SemiBold"/>
                          <a:ea typeface="Raleway SemiBold"/>
                          <a:cs typeface="Raleway SemiBold"/>
                          <a:sym typeface="Raleway SemiBold"/>
                        </a:rPr>
                        <a:t>Working position</a:t>
                      </a:r>
                      <a:endParaRPr/>
                    </a:p>
                  </a:txBody>
                  <a:tcPr marT="36575" marB="36575" marR="73150" marL="73150">
                    <a:solidFill>
                      <a:srgbClr val="565A32"/>
                    </a:solidFill>
                  </a:tcPr>
                </a:tc>
                <a:tc>
                  <a:txBody>
                    <a:bodyPr/>
                    <a:lstStyle/>
                    <a:p>
                      <a:pPr indent="0" lvl="0" marL="0" marR="0" rtl="0" algn="l">
                        <a:lnSpc>
                          <a:spcPct val="100000"/>
                        </a:lnSpc>
                        <a:spcBef>
                          <a:spcPts val="0"/>
                        </a:spcBef>
                        <a:spcAft>
                          <a:spcPts val="0"/>
                        </a:spcAft>
                        <a:buNone/>
                      </a:pPr>
                      <a:r>
                        <a:rPr b="1" lang="en-US" spc="0" sz="1100" u="none" cap="none" strike="noStrike">
                          <a:solidFill>
                            <a:srgbClr val="EFEAE0"/>
                          </a:solidFill>
                          <a:latin typeface="Raleway SemiBold"/>
                          <a:ea typeface="Raleway SemiBold"/>
                          <a:cs typeface="Raleway SemiBold"/>
                          <a:sym typeface="Raleway SemiBold"/>
                        </a:rPr>
                        <a:t>Status</a:t>
                      </a:r>
                      <a:endParaRPr/>
                    </a:p>
                  </a:txBody>
                  <a:tcPr marT="36575" marB="36575" marR="73150" marL="73150">
                    <a:solidFill>
                      <a:srgbClr val="565A32"/>
                    </a:solidFill>
                  </a:tcPr>
                </a:tc>
                <a:tc>
                  <a:txBody>
                    <a:bodyPr/>
                    <a:lstStyle/>
                    <a:p>
                      <a:pPr indent="0" lvl="0" marL="0" marR="0" rtl="0" algn="l">
                        <a:lnSpc>
                          <a:spcPct val="100000"/>
                        </a:lnSpc>
                        <a:spcBef>
                          <a:spcPts val="0"/>
                        </a:spcBef>
                        <a:spcAft>
                          <a:spcPts val="0"/>
                        </a:spcAft>
                        <a:buNone/>
                      </a:pPr>
                      <a:r>
                        <a:rPr b="1" lang="en-US" spc="0" sz="1100" u="none" cap="none" strike="noStrike">
                          <a:solidFill>
                            <a:srgbClr val="EFEAE0"/>
                          </a:solidFill>
                          <a:latin typeface="Raleway SemiBold"/>
                          <a:ea typeface="Raleway SemiBold"/>
                          <a:cs typeface="Raleway SemiBold"/>
                          <a:sym typeface="Raleway SemiBold"/>
                        </a:rPr>
                        <a:t>To resolve</a:t>
                      </a:r>
                      <a:endParaRPr/>
                    </a:p>
                  </a:txBody>
                  <a:tcPr marT="36575" marB="36575" marR="73150" marL="73150">
                    <a:solidFill>
                      <a:srgbClr val="565A32"/>
                    </a:solidFill>
                  </a:tcPr>
                </a:tc>
              </a:tr>
              <a:tr h="384050">
                <a:tc>
                  <a:txBody>
                    <a:bodyPr/>
                    <a:lstStyle/>
                    <a:p>
                      <a:pPr indent="0" lvl="0" marL="0" marR="0" rtl="0" algn="l">
                        <a:lnSpc>
                          <a:spcPct val="100000"/>
                        </a:lnSpc>
                        <a:spcBef>
                          <a:spcPts val="0"/>
                        </a:spcBef>
                        <a:spcAft>
                          <a:spcPts val="0"/>
                        </a:spcAft>
                        <a:buNone/>
                      </a:pPr>
                      <a:r>
                        <a:rPr b="1" lang="en-US" spc="0" sz="1100" u="none" cap="none" strike="noStrike">
                          <a:solidFill>
                            <a:srgbClr val="565A32"/>
                          </a:solidFill>
                          <a:latin typeface="Raleway SemiBold"/>
                          <a:ea typeface="Raleway SemiBold"/>
                          <a:cs typeface="Raleway SemiBold"/>
                          <a:sym typeface="Raleway SemiBold"/>
                        </a:rPr>
                        <a:t>Physical game price</a:t>
                      </a:r>
                      <a:endParaRPr/>
                    </a:p>
                  </a:txBody>
                  <a:tcPr marT="36575" marB="36575" marR="73150" marL="73150">
                    <a:solidFill>
                      <a:srgbClr val="FFFFFF"/>
                    </a:solidFill>
                  </a:tcPr>
                </a:tc>
                <a:tc>
                  <a:txBody>
                    <a:bodyPr/>
                    <a:lstStyle/>
                    <a:p>
                      <a:pPr indent="0" lvl="0" marL="0" marR="0" rtl="0" algn="l">
                        <a:lnSpc>
                          <a:spcPct val="100000"/>
                        </a:lnSpc>
                        <a:spcBef>
                          <a:spcPts val="0"/>
                        </a:spcBef>
                        <a:spcAft>
                          <a:spcPts val="0"/>
                        </a:spcAft>
                        <a:buNone/>
                      </a:pPr>
                      <a:r>
                        <a:rPr b="0" lang="en-US" spc="0" sz="1100" u="none" cap="none" strike="noStrike">
                          <a:solidFill>
                            <a:srgbClr val="565A32"/>
                          </a:solidFill>
                          <a:latin typeface="Raleway Light"/>
                          <a:ea typeface="Raleway Light"/>
                          <a:cs typeface="Raleway Light"/>
                          <a:sym typeface="Raleway Light"/>
                        </a:rPr>
                        <a:t>£40 RRP, standard box (£33.33 ex VAT)</a:t>
                      </a:r>
                      <a:endParaRPr/>
                    </a:p>
                  </a:txBody>
                  <a:tcPr marT="36575" marB="36575" marR="73150" marL="73150">
                    <a:solidFill>
                      <a:srgbClr val="FFFFFF"/>
                    </a:solidFill>
                  </a:tcPr>
                </a:tc>
                <a:tc>
                  <a:txBody>
                    <a:bodyPr/>
                    <a:lstStyle/>
                    <a:p>
                      <a:pPr indent="0" lvl="0" marL="0" marR="0" rtl="0" algn="l">
                        <a:lnSpc>
                          <a:spcPct val="100000"/>
                        </a:lnSpc>
                        <a:spcBef>
                          <a:spcPts val="0"/>
                        </a:spcBef>
                        <a:spcAft>
                          <a:spcPts val="0"/>
                        </a:spcAft>
                        <a:buNone/>
                      </a:pPr>
                      <a:r>
                        <a:rPr b="0" lang="en-US" spc="0" sz="1100" u="none" cap="none" strike="noStrike">
                          <a:solidFill>
                            <a:srgbClr val="565A32"/>
                          </a:solidFill>
                          <a:latin typeface="Raleway Light"/>
                          <a:ea typeface="Raleway Light"/>
                          <a:cs typeface="Raleway Light"/>
                          <a:sym typeface="Raleway Light"/>
                        </a:rPr>
                        <a:t>Confirmed</a:t>
                      </a:r>
                      <a:endParaRPr/>
                    </a:p>
                  </a:txBody>
                  <a:tcPr marT="36575" marB="36575" marR="73150" marL="73150">
                    <a:solidFill>
                      <a:srgbClr val="FFFFFF"/>
                    </a:solidFill>
                  </a:tcPr>
                </a:tc>
                <a:tc>
                  <a:txBody>
                    <a:bodyPr/>
                    <a:lstStyle/>
                    <a:p>
                      <a:pPr indent="0" lvl="0" marL="0" marR="0" rtl="0" algn="l">
                        <a:lnSpc>
                          <a:spcPct val="100000"/>
                        </a:lnSpc>
                        <a:spcBef>
                          <a:spcPts val="0"/>
                        </a:spcBef>
                        <a:spcAft>
                          <a:spcPts val="0"/>
                        </a:spcAft>
                        <a:buNone/>
                      </a:pPr>
                      <a:r>
                        <a:rPr b="0" lang="en-US" spc="0" sz="1100" u="none" cap="none" strike="noStrike">
                          <a:solidFill>
                            <a:srgbClr val="565A32"/>
                          </a:solidFill>
                          <a:latin typeface="Raleway Light"/>
                          <a:ea typeface="Raleway Light"/>
                          <a:cs typeface="Raleway Light"/>
                          <a:sym typeface="Raleway Light"/>
                        </a:rPr>
                        <a:t>—</a:t>
                      </a:r>
                      <a:endParaRPr/>
                    </a:p>
                  </a:txBody>
                  <a:tcPr marT="36575" marB="36575" marR="73150" marL="73150">
                    <a:solidFill>
                      <a:srgbClr val="FFFFFF"/>
                    </a:solidFill>
                  </a:tcPr>
                </a:tc>
              </a:tr>
              <a:tr h="384050">
                <a:tc>
                  <a:txBody>
                    <a:bodyPr/>
                    <a:lstStyle/>
                    <a:p>
                      <a:pPr indent="0" lvl="0" marL="0" marR="0" rtl="0" algn="l">
                        <a:lnSpc>
                          <a:spcPct val="100000"/>
                        </a:lnSpc>
                        <a:spcBef>
                          <a:spcPts val="0"/>
                        </a:spcBef>
                        <a:spcAft>
                          <a:spcPts val="0"/>
                        </a:spcAft>
                        <a:buNone/>
                      </a:pPr>
                      <a:r>
                        <a:rPr b="1" lang="en-US" spc="0" sz="1100" u="none" cap="none" strike="noStrike">
                          <a:solidFill>
                            <a:srgbClr val="565A32"/>
                          </a:solidFill>
                          <a:latin typeface="Raleway SemiBold"/>
                          <a:ea typeface="Raleway SemiBold"/>
                          <a:cs typeface="Raleway SemiBold"/>
                          <a:sym typeface="Raleway SemiBold"/>
                        </a:rPr>
                        <a:t>Licence royalty</a:t>
                      </a:r>
                      <a:endParaRPr/>
                    </a:p>
                  </a:txBody>
                  <a:tcPr marT="36575" marB="36575" marR="73150" marL="73150">
                    <a:solidFill>
                      <a:srgbClr val="EFEAE0"/>
                    </a:solidFill>
                  </a:tcPr>
                </a:tc>
                <a:tc>
                  <a:txBody>
                    <a:bodyPr/>
                    <a:lstStyle/>
                    <a:p>
                      <a:pPr indent="0" lvl="0" marL="0" marR="0" rtl="0" algn="l">
                        <a:lnSpc>
                          <a:spcPct val="100000"/>
                        </a:lnSpc>
                        <a:spcBef>
                          <a:spcPts val="0"/>
                        </a:spcBef>
                        <a:spcAft>
                          <a:spcPts val="0"/>
                        </a:spcAft>
                        <a:buNone/>
                      </a:pPr>
                      <a:r>
                        <a:rPr b="0" lang="en-US" spc="0" sz="1100" u="none" cap="none" strike="noStrike">
                          <a:solidFill>
                            <a:srgbClr val="565A32"/>
                          </a:solidFill>
                          <a:latin typeface="Raleway Light"/>
                          <a:ea typeface="Raleway Light"/>
                          <a:cs typeface="Raleway Light"/>
                          <a:sym typeface="Raleway Light"/>
                        </a:rPr>
                        <a:t>15% (commercial pack), or 20–25% of the ex-VAT price: about £6.67–£8.33 a game</a:t>
                      </a:r>
                      <a:endParaRPr/>
                    </a:p>
                  </a:txBody>
                  <a:tcPr marT="36575" marB="36575" marR="73150" marL="73150">
                    <a:solidFill>
                      <a:srgbClr val="EFEAE0"/>
                    </a:solidFill>
                  </a:tcPr>
                </a:tc>
                <a:tc>
                  <a:txBody>
                    <a:bodyPr/>
                    <a:lstStyle/>
                    <a:p>
                      <a:pPr indent="0" lvl="0" marL="0" marR="0" rtl="0" algn="l">
                        <a:lnSpc>
                          <a:spcPct val="100000"/>
                        </a:lnSpc>
                        <a:spcBef>
                          <a:spcPts val="0"/>
                        </a:spcBef>
                        <a:spcAft>
                          <a:spcPts val="0"/>
                        </a:spcAft>
                        <a:buNone/>
                      </a:pPr>
                      <a:r>
                        <a:rPr b="0" lang="en-US" spc="0" sz="1100" u="none" cap="none" strike="noStrike">
                          <a:solidFill>
                            <a:srgbClr val="565A32"/>
                          </a:solidFill>
                          <a:latin typeface="Raleway Light"/>
                          <a:ea typeface="Raleway Light"/>
                          <a:cs typeface="Raleway Light"/>
                          <a:sym typeface="Raleway Light"/>
                        </a:rPr>
                        <a:t>Hypothesis</a:t>
                      </a:r>
                      <a:endParaRPr/>
                    </a:p>
                  </a:txBody>
                  <a:tcPr marT="36575" marB="36575" marR="73150" marL="73150">
                    <a:solidFill>
                      <a:srgbClr val="EFEAE0"/>
                    </a:solidFill>
                  </a:tcPr>
                </a:tc>
                <a:tc>
                  <a:txBody>
                    <a:bodyPr/>
                    <a:lstStyle/>
                    <a:p>
                      <a:pPr indent="0" lvl="0" marL="0" marR="0" rtl="0" algn="l">
                        <a:lnSpc>
                          <a:spcPct val="100000"/>
                        </a:lnSpc>
                        <a:spcBef>
                          <a:spcPts val="0"/>
                        </a:spcBef>
                        <a:spcAft>
                          <a:spcPts val="0"/>
                        </a:spcAft>
                        <a:buNone/>
                      </a:pPr>
                      <a:r>
                        <a:rPr b="0" lang="en-US" spc="0" sz="1100" u="none" cap="none" strike="noStrike">
                          <a:solidFill>
                            <a:srgbClr val="565A32"/>
                          </a:solidFill>
                          <a:latin typeface="Raleway Light"/>
                          <a:ea typeface="Raleway Light"/>
                          <a:cs typeface="Raleway Light"/>
                          <a:sym typeface="Raleway Light"/>
                        </a:rPr>
                        <a:t>Royalty basis, guarantee, the route itself</a:t>
                      </a:r>
                      <a:endParaRPr/>
                    </a:p>
                  </a:txBody>
                  <a:tcPr marT="36575" marB="36575" marR="73150" marL="73150">
                    <a:solidFill>
                      <a:srgbClr val="EFEAE0"/>
                    </a:solidFill>
                  </a:tcPr>
                </a:tc>
              </a:tr>
              <a:tr h="384050">
                <a:tc>
                  <a:txBody>
                    <a:bodyPr/>
                    <a:lstStyle/>
                    <a:p>
                      <a:pPr indent="0" lvl="0" marL="0" marR="0" rtl="0" algn="l">
                        <a:lnSpc>
                          <a:spcPct val="100000"/>
                        </a:lnSpc>
                        <a:spcBef>
                          <a:spcPts val="0"/>
                        </a:spcBef>
                        <a:spcAft>
                          <a:spcPts val="0"/>
                        </a:spcAft>
                        <a:buNone/>
                      </a:pPr>
                      <a:r>
                        <a:rPr b="1" lang="en-US" spc="0" sz="1100" u="none" cap="none" strike="noStrike">
                          <a:solidFill>
                            <a:srgbClr val="565A32"/>
                          </a:solidFill>
                          <a:latin typeface="Raleway SemiBold"/>
                          <a:ea typeface="Raleway SemiBold"/>
                          <a:cs typeface="Raleway SemiBold"/>
                          <a:sym typeface="Raleway SemiBold"/>
                        </a:rPr>
                        <a:t>Unit cost</a:t>
                      </a:r>
                      <a:endParaRPr/>
                    </a:p>
                  </a:txBody>
                  <a:tcPr marT="36575" marB="36575" marR="73150" marL="73150">
                    <a:solidFill>
                      <a:srgbClr val="FFFFFF"/>
                    </a:solidFill>
                  </a:tcPr>
                </a:tc>
                <a:tc>
                  <a:txBody>
                    <a:bodyPr/>
                    <a:lstStyle/>
                    <a:p>
                      <a:pPr indent="0" lvl="0" marL="0" marR="0" rtl="0" algn="l">
                        <a:lnSpc>
                          <a:spcPct val="100000"/>
                        </a:lnSpc>
                        <a:spcBef>
                          <a:spcPts val="0"/>
                        </a:spcBef>
                        <a:spcAft>
                          <a:spcPts val="0"/>
                        </a:spcAft>
                        <a:buNone/>
                      </a:pPr>
                      <a:r>
                        <a:rPr b="0" lang="en-US" spc="0" sz="1100" u="none" cap="none" strike="noStrike">
                          <a:solidFill>
                            <a:srgbClr val="565A32"/>
                          </a:solidFill>
                          <a:latin typeface="Raleway Light"/>
                          <a:ea typeface="Raleway Light"/>
                          <a:cs typeface="Raleway Light"/>
                          <a:sym typeface="Raleway Light"/>
                        </a:rPr>
                        <a:t>£8.50 for the standard box, without the game mat</a:t>
                      </a:r>
                      <a:endParaRPr/>
                    </a:p>
                  </a:txBody>
                  <a:tcPr marT="36575" marB="36575" marR="73150" marL="73150">
                    <a:solidFill>
                      <a:srgbClr val="FFFFFF"/>
                    </a:solidFill>
                  </a:tcPr>
                </a:tc>
                <a:tc>
                  <a:txBody>
                    <a:bodyPr/>
                    <a:lstStyle/>
                    <a:p>
                      <a:pPr indent="0" lvl="0" marL="0" marR="0" rtl="0" algn="l">
                        <a:lnSpc>
                          <a:spcPct val="100000"/>
                        </a:lnSpc>
                        <a:spcBef>
                          <a:spcPts val="0"/>
                        </a:spcBef>
                        <a:spcAft>
                          <a:spcPts val="0"/>
                        </a:spcAft>
                        <a:buNone/>
                      </a:pPr>
                      <a:r>
                        <a:rPr b="0" lang="en-US" spc="0" sz="1100" u="none" cap="none" strike="noStrike">
                          <a:solidFill>
                            <a:srgbClr val="565A32"/>
                          </a:solidFill>
                          <a:latin typeface="Raleway Light"/>
                          <a:ea typeface="Raleway Light"/>
                          <a:cs typeface="Raleway Light"/>
                          <a:sym typeface="Raleway Light"/>
                        </a:rPr>
                        <a:t>Under investigation</a:t>
                      </a:r>
                      <a:endParaRPr/>
                    </a:p>
                  </a:txBody>
                  <a:tcPr marT="36575" marB="36575" marR="73150" marL="73150">
                    <a:solidFill>
                      <a:srgbClr val="FFFFFF"/>
                    </a:solidFill>
                  </a:tcPr>
                </a:tc>
                <a:tc>
                  <a:txBody>
                    <a:bodyPr/>
                    <a:lstStyle/>
                    <a:p>
                      <a:pPr indent="0" lvl="0" marL="0" marR="0" rtl="0" algn="l">
                        <a:lnSpc>
                          <a:spcPct val="100000"/>
                        </a:lnSpc>
                        <a:spcBef>
                          <a:spcPts val="0"/>
                        </a:spcBef>
                        <a:spcAft>
                          <a:spcPts val="0"/>
                        </a:spcAft>
                        <a:buNone/>
                      </a:pPr>
                      <a:r>
                        <a:rPr b="0" lang="en-US" spc="0" sz="1100" u="none" cap="none" strike="noStrike">
                          <a:solidFill>
                            <a:srgbClr val="565A32"/>
                          </a:solidFill>
                          <a:latin typeface="Raleway Light"/>
                          <a:ea typeface="Raleway Light"/>
                          <a:cs typeface="Raleway Light"/>
                          <a:sym typeface="Raleway Light"/>
                        </a:rPr>
                        <a:t>The quantity it is based on</a:t>
                      </a:r>
                      <a:endParaRPr/>
                    </a:p>
                  </a:txBody>
                  <a:tcPr marT="36575" marB="36575" marR="73150" marL="73150">
                    <a:solidFill>
                      <a:srgbClr val="FFFFFF"/>
                    </a:solidFill>
                  </a:tcPr>
                </a:tc>
              </a:tr>
              <a:tr h="384050">
                <a:tc>
                  <a:txBody>
                    <a:bodyPr/>
                    <a:lstStyle/>
                    <a:p>
                      <a:pPr indent="0" lvl="0" marL="0" marR="0" rtl="0" algn="l">
                        <a:lnSpc>
                          <a:spcPct val="100000"/>
                        </a:lnSpc>
                        <a:spcBef>
                          <a:spcPts val="0"/>
                        </a:spcBef>
                        <a:spcAft>
                          <a:spcPts val="0"/>
                        </a:spcAft>
                        <a:buNone/>
                      </a:pPr>
                      <a:r>
                        <a:rPr b="1" lang="en-US" spc="0" sz="1100" u="none" cap="none" strike="noStrike">
                          <a:solidFill>
                            <a:srgbClr val="565A32"/>
                          </a:solidFill>
                          <a:latin typeface="Raleway SemiBold"/>
                          <a:ea typeface="Raleway SemiBold"/>
                          <a:cs typeface="Raleway SemiBold"/>
                          <a:sym typeface="Raleway SemiBold"/>
                        </a:rPr>
                        <a:t>Availability</a:t>
                      </a:r>
                      <a:endParaRPr/>
                    </a:p>
                  </a:txBody>
                  <a:tcPr marT="36575" marB="36575" marR="73150" marL="73150">
                    <a:solidFill>
                      <a:srgbClr val="EFEAE0"/>
                    </a:solidFill>
                  </a:tcPr>
                </a:tc>
                <a:tc>
                  <a:txBody>
                    <a:bodyPr/>
                    <a:lstStyle/>
                    <a:p>
                      <a:pPr indent="0" lvl="0" marL="0" marR="0" rtl="0" algn="l">
                        <a:lnSpc>
                          <a:spcPct val="100000"/>
                        </a:lnSpc>
                        <a:spcBef>
                          <a:spcPts val="0"/>
                        </a:spcBef>
                        <a:spcAft>
                          <a:spcPts val="0"/>
                        </a:spcAft>
                        <a:buNone/>
                      </a:pPr>
                      <a:r>
                        <a:rPr b="0" lang="en-US" spc="0" sz="1100" u="none" cap="none" strike="noStrike">
                          <a:solidFill>
                            <a:srgbClr val="565A32"/>
                          </a:solidFill>
                          <a:latin typeface="Raleway Light"/>
                          <a:ea typeface="Raleway Light"/>
                          <a:cs typeface="Raleway Light"/>
                          <a:sym typeface="Raleway Light"/>
                        </a:rPr>
                        <a:t>Stock likely from May 2027</a:t>
                      </a:r>
                      <a:endParaRPr/>
                    </a:p>
                  </a:txBody>
                  <a:tcPr marT="36575" marB="36575" marR="73150" marL="73150">
                    <a:solidFill>
                      <a:srgbClr val="EFEAE0"/>
                    </a:solidFill>
                  </a:tcPr>
                </a:tc>
                <a:tc>
                  <a:txBody>
                    <a:bodyPr/>
                    <a:lstStyle/>
                    <a:p>
                      <a:pPr indent="0" lvl="0" marL="0" marR="0" rtl="0" algn="l">
                        <a:lnSpc>
                          <a:spcPct val="100000"/>
                        </a:lnSpc>
                        <a:spcBef>
                          <a:spcPts val="0"/>
                        </a:spcBef>
                        <a:spcAft>
                          <a:spcPts val="0"/>
                        </a:spcAft>
                        <a:buNone/>
                      </a:pPr>
                      <a:r>
                        <a:rPr b="0" lang="en-US" spc="0" sz="1100" u="none" cap="none" strike="noStrike">
                          <a:solidFill>
                            <a:srgbClr val="565A32"/>
                          </a:solidFill>
                          <a:latin typeface="Raleway Light"/>
                          <a:ea typeface="Raleway Light"/>
                          <a:cs typeface="Raleway Light"/>
                          <a:sym typeface="Raleway Light"/>
                        </a:rPr>
                        <a:t>Under investigation</a:t>
                      </a:r>
                      <a:endParaRPr/>
                    </a:p>
                  </a:txBody>
                  <a:tcPr marT="36575" marB="36575" marR="73150" marL="73150">
                    <a:solidFill>
                      <a:srgbClr val="EFEAE0"/>
                    </a:solidFill>
                  </a:tcPr>
                </a:tc>
                <a:tc>
                  <a:txBody>
                    <a:bodyPr/>
                    <a:lstStyle/>
                    <a:p>
                      <a:pPr indent="0" lvl="0" marL="0" marR="0" rtl="0" algn="l">
                        <a:lnSpc>
                          <a:spcPct val="100000"/>
                        </a:lnSpc>
                        <a:spcBef>
                          <a:spcPts val="0"/>
                        </a:spcBef>
                        <a:spcAft>
                          <a:spcPts val="0"/>
                        </a:spcAft>
                        <a:buNone/>
                      </a:pPr>
                      <a:r>
                        <a:rPr b="0" lang="en-US" spc="0" sz="1100" u="none" cap="none" strike="noStrike">
                          <a:solidFill>
                            <a:srgbClr val="565A32"/>
                          </a:solidFill>
                          <a:latin typeface="Raleway Light"/>
                          <a:ea typeface="Raleway Light"/>
                          <a:cs typeface="Raleway Light"/>
                          <a:sym typeface="Raleway Light"/>
                        </a:rPr>
                        <a:t>Production route and lead time</a:t>
                      </a:r>
                      <a:endParaRPr/>
                    </a:p>
                  </a:txBody>
                  <a:tcPr marT="36575" marB="36575" marR="73150" marL="73150">
                    <a:solidFill>
                      <a:srgbClr val="EFEAE0"/>
                    </a:solidFill>
                  </a:tcPr>
                </a:tc>
              </a:tr>
              <a:tr h="384050">
                <a:tc>
                  <a:txBody>
                    <a:bodyPr/>
                    <a:lstStyle/>
                    <a:p>
                      <a:pPr indent="0" lvl="0" marL="0" marR="0" rtl="0" algn="l">
                        <a:lnSpc>
                          <a:spcPct val="100000"/>
                        </a:lnSpc>
                        <a:spcBef>
                          <a:spcPts val="0"/>
                        </a:spcBef>
                        <a:spcAft>
                          <a:spcPts val="0"/>
                        </a:spcAft>
                        <a:buNone/>
                      </a:pPr>
                      <a:r>
                        <a:rPr b="1" lang="en-US" spc="0" sz="1100" u="none" cap="none" strike="noStrike">
                          <a:solidFill>
                            <a:srgbClr val="565A32"/>
                          </a:solidFill>
                          <a:latin typeface="Raleway SemiBold"/>
                          <a:ea typeface="Raleway SemiBold"/>
                          <a:cs typeface="Raleway SemiBold"/>
                          <a:sym typeface="Raleway SemiBold"/>
                        </a:rPr>
                        <a:t>App</a:t>
                      </a:r>
                      <a:endParaRPr/>
                    </a:p>
                  </a:txBody>
                  <a:tcPr marT="36575" marB="36575" marR="73150" marL="73150">
                    <a:solidFill>
                      <a:srgbClr val="FFFFFF"/>
                    </a:solidFill>
                  </a:tcPr>
                </a:tc>
                <a:tc>
                  <a:txBody>
                    <a:bodyPr/>
                    <a:lstStyle/>
                    <a:p>
                      <a:pPr indent="0" lvl="0" marL="0" marR="0" rtl="0" algn="l">
                        <a:lnSpc>
                          <a:spcPct val="100000"/>
                        </a:lnSpc>
                        <a:spcBef>
                          <a:spcPts val="0"/>
                        </a:spcBef>
                        <a:spcAft>
                          <a:spcPts val="0"/>
                        </a:spcAft>
                        <a:buNone/>
                      </a:pPr>
                      <a:r>
                        <a:rPr b="0" lang="en-US" spc="0" sz="1100" u="none" cap="none" strike="noStrike">
                          <a:solidFill>
                            <a:srgbClr val="565A32"/>
                          </a:solidFill>
                          <a:latin typeface="Raleway Light"/>
                          <a:ea typeface="Raleway Light"/>
                          <a:cs typeface="Raleway Light"/>
                          <a:sym typeface="Raleway Light"/>
                        </a:rPr>
                        <a:t>One-off Host purchase; Guests free</a:t>
                      </a:r>
                      <a:endParaRPr/>
                    </a:p>
                  </a:txBody>
                  <a:tcPr marT="36575" marB="36575" marR="73150" marL="73150">
                    <a:solidFill>
                      <a:srgbClr val="FFFFFF"/>
                    </a:solidFill>
                  </a:tcPr>
                </a:tc>
                <a:tc>
                  <a:txBody>
                    <a:bodyPr/>
                    <a:lstStyle/>
                    <a:p>
                      <a:pPr indent="0" lvl="0" marL="0" marR="0" rtl="0" algn="l">
                        <a:lnSpc>
                          <a:spcPct val="100000"/>
                        </a:lnSpc>
                        <a:spcBef>
                          <a:spcPts val="0"/>
                        </a:spcBef>
                        <a:spcAft>
                          <a:spcPts val="0"/>
                        </a:spcAft>
                        <a:buNone/>
                      </a:pPr>
                      <a:r>
                        <a:rPr b="0" lang="en-US" spc="0" sz="1100" u="none" cap="none" strike="noStrike">
                          <a:solidFill>
                            <a:srgbClr val="565A32"/>
                          </a:solidFill>
                          <a:latin typeface="Raleway Light"/>
                          <a:ea typeface="Raleway Light"/>
                          <a:cs typeface="Raleway Light"/>
                          <a:sym typeface="Raleway Light"/>
                        </a:rPr>
                        <a:t>Proposed model</a:t>
                      </a:r>
                      <a:endParaRPr/>
                    </a:p>
                  </a:txBody>
                  <a:tcPr marT="36575" marB="36575" marR="73150" marL="73150">
                    <a:solidFill>
                      <a:srgbClr val="FFFFFF"/>
                    </a:solidFill>
                  </a:tcPr>
                </a:tc>
                <a:tc>
                  <a:txBody>
                    <a:bodyPr/>
                    <a:lstStyle/>
                    <a:p>
                      <a:pPr indent="0" lvl="0" marL="0" marR="0" rtl="0" algn="l">
                        <a:lnSpc>
                          <a:spcPct val="100000"/>
                        </a:lnSpc>
                        <a:spcBef>
                          <a:spcPts val="0"/>
                        </a:spcBef>
                        <a:spcAft>
                          <a:spcPts val="0"/>
                        </a:spcAft>
                        <a:buNone/>
                      </a:pPr>
                      <a:r>
                        <a:rPr b="0" lang="en-US" spc="0" sz="1100" u="none" cap="none" strike="noStrike">
                          <a:solidFill>
                            <a:srgbClr val="565A32"/>
                          </a:solidFill>
                          <a:latin typeface="Raleway Light"/>
                          <a:ea typeface="Raleway Light"/>
                          <a:cs typeface="Raleway Light"/>
                          <a:sym typeface="Raleway Light"/>
                        </a:rPr>
                        <a:t>Payment options (06: TODO)</a:t>
                      </a:r>
                      <a:endParaRPr/>
                    </a:p>
                  </a:txBody>
                  <a:tcPr marT="36575" marB="36575" marR="73150" marL="73150">
                    <a:solidFill>
                      <a:srgbClr val="FFFFFF"/>
                    </a:solidFill>
                  </a:tcPr>
                </a:tc>
              </a:tr>
              <a:tr h="384050">
                <a:tc>
                  <a:txBody>
                    <a:bodyPr/>
                    <a:lstStyle/>
                    <a:p>
                      <a:pPr indent="0" lvl="0" marL="0" marR="0" rtl="0" algn="l">
                        <a:lnSpc>
                          <a:spcPct val="100000"/>
                        </a:lnSpc>
                        <a:spcBef>
                          <a:spcPts val="0"/>
                        </a:spcBef>
                        <a:spcAft>
                          <a:spcPts val="0"/>
                        </a:spcAft>
                        <a:buNone/>
                      </a:pPr>
                      <a:r>
                        <a:rPr b="1" lang="en-US" spc="0" sz="1100" u="none" cap="none" strike="noStrike">
                          <a:solidFill>
                            <a:srgbClr val="565A32"/>
                          </a:solidFill>
                          <a:latin typeface="Raleway SemiBold"/>
                          <a:ea typeface="Raleway SemiBold"/>
                          <a:cs typeface="Raleway SemiBold"/>
                          <a:sym typeface="Raleway SemiBold"/>
                        </a:rPr>
                        <a:t>Partner and Event Mode</a:t>
                      </a:r>
                      <a:endParaRPr/>
                    </a:p>
                  </a:txBody>
                  <a:tcPr marT="36575" marB="36575" marR="73150" marL="73150">
                    <a:solidFill>
                      <a:srgbClr val="EFEAE0"/>
                    </a:solidFill>
                  </a:tcPr>
                </a:tc>
                <a:tc>
                  <a:txBody>
                    <a:bodyPr/>
                    <a:lstStyle/>
                    <a:p>
                      <a:pPr indent="0" lvl="0" marL="0" marR="0" rtl="0" algn="l">
                        <a:lnSpc>
                          <a:spcPct val="100000"/>
                        </a:lnSpc>
                        <a:spcBef>
                          <a:spcPts val="0"/>
                        </a:spcBef>
                        <a:spcAft>
                          <a:spcPts val="0"/>
                        </a:spcAft>
                        <a:buNone/>
                      </a:pPr>
                      <a:r>
                        <a:rPr b="0" lang="en-US" spc="0" sz="1100" u="none" cap="none" strike="noStrike">
                          <a:solidFill>
                            <a:srgbClr val="565A32"/>
                          </a:solidFill>
                          <a:latin typeface="Raleway Light"/>
                          <a:ea typeface="Raleway Light"/>
                          <a:cs typeface="Raleway Light"/>
                          <a:sym typeface="Raleway Light"/>
                        </a:rPr>
                        <a:t>Partners pay for insight</a:t>
                      </a:r>
                      <a:endParaRPr/>
                    </a:p>
                  </a:txBody>
                  <a:tcPr marT="36575" marB="36575" marR="73150" marL="73150">
                    <a:solidFill>
                      <a:srgbClr val="EFEAE0"/>
                    </a:solidFill>
                  </a:tcPr>
                </a:tc>
                <a:tc>
                  <a:txBody>
                    <a:bodyPr/>
                    <a:lstStyle/>
                    <a:p>
                      <a:pPr indent="0" lvl="0" marL="0" marR="0" rtl="0" algn="l">
                        <a:lnSpc>
                          <a:spcPct val="100000"/>
                        </a:lnSpc>
                        <a:spcBef>
                          <a:spcPts val="0"/>
                        </a:spcBef>
                        <a:spcAft>
                          <a:spcPts val="0"/>
                        </a:spcAft>
                        <a:buNone/>
                      </a:pPr>
                      <a:r>
                        <a:rPr b="0" lang="en-US" spc="0" sz="1100" u="none" cap="none" strike="noStrike">
                          <a:solidFill>
                            <a:srgbClr val="565A32"/>
                          </a:solidFill>
                          <a:latin typeface="Raleway Light"/>
                          <a:ea typeface="Raleway Light"/>
                          <a:cs typeface="Raleway Light"/>
                          <a:sym typeface="Raleway Light"/>
                        </a:rPr>
                        <a:t>Pricing TODO</a:t>
                      </a:r>
                      <a:endParaRPr/>
                    </a:p>
                  </a:txBody>
                  <a:tcPr marT="36575" marB="36575" marR="73150" marL="73150">
                    <a:solidFill>
                      <a:srgbClr val="EFEAE0"/>
                    </a:solidFill>
                  </a:tcPr>
                </a:tc>
                <a:tc>
                  <a:txBody>
                    <a:bodyPr/>
                    <a:lstStyle/>
                    <a:p>
                      <a:pPr indent="0" lvl="0" marL="0" marR="0" rtl="0" algn="l">
                        <a:lnSpc>
                          <a:spcPct val="100000"/>
                        </a:lnSpc>
                        <a:spcBef>
                          <a:spcPts val="0"/>
                        </a:spcBef>
                        <a:spcAft>
                          <a:spcPts val="0"/>
                        </a:spcAft>
                        <a:buNone/>
                      </a:pPr>
                      <a:r>
                        <a:rPr b="0" lang="en-US" spc="0" sz="1100" u="none" cap="none" strike="noStrike">
                          <a:solidFill>
                            <a:srgbClr val="565A32"/>
                          </a:solidFill>
                          <a:latin typeface="Raleway Light"/>
                          <a:ea typeface="Raleway Light"/>
                          <a:cs typeface="Raleway Light"/>
                          <a:sym typeface="Raleway Light"/>
                        </a:rPr>
                        <a:t>PO4 cost to serve; what reporting includes</a:t>
                      </a:r>
                      <a:endParaRPr/>
                    </a:p>
                  </a:txBody>
                  <a:tcPr marT="36575" marB="36575" marR="73150" marL="73150">
                    <a:solidFill>
                      <a:srgbClr val="EFEAE0"/>
                    </a:solidFill>
                  </a:tcPr>
                </a:tc>
              </a:tr>
              <a:tr h="384050">
                <a:tc>
                  <a:txBody>
                    <a:bodyPr/>
                    <a:lstStyle/>
                    <a:p>
                      <a:pPr indent="0" lvl="0" marL="0" marR="0" rtl="0" algn="l">
                        <a:lnSpc>
                          <a:spcPct val="100000"/>
                        </a:lnSpc>
                        <a:spcBef>
                          <a:spcPts val="0"/>
                        </a:spcBef>
                        <a:spcAft>
                          <a:spcPts val="0"/>
                        </a:spcAft>
                        <a:buNone/>
                      </a:pPr>
                      <a:r>
                        <a:rPr b="1" lang="en-US" spc="0" sz="1100" u="none" cap="none" strike="noStrike">
                          <a:solidFill>
                            <a:srgbClr val="565A32"/>
                          </a:solidFill>
                          <a:latin typeface="Raleway SemiBold"/>
                          <a:ea typeface="Raleway SemiBold"/>
                          <a:cs typeface="Raleway SemiBold"/>
                          <a:sym typeface="Raleway SemiBold"/>
                        </a:rPr>
                        <a:t>Seasonal Mini-Editions</a:t>
                      </a:r>
                      <a:endParaRPr/>
                    </a:p>
                  </a:txBody>
                  <a:tcPr marT="36575" marB="36575" marR="73150" marL="73150">
                    <a:solidFill>
                      <a:srgbClr val="FFFFFF"/>
                    </a:solidFill>
                  </a:tcPr>
                </a:tc>
                <a:tc>
                  <a:txBody>
                    <a:bodyPr/>
                    <a:lstStyle/>
                    <a:p>
                      <a:pPr indent="0" lvl="0" marL="0" marR="0" rtl="0" algn="l">
                        <a:lnSpc>
                          <a:spcPct val="100000"/>
                        </a:lnSpc>
                        <a:spcBef>
                          <a:spcPts val="0"/>
                        </a:spcBef>
                        <a:spcAft>
                          <a:spcPts val="0"/>
                        </a:spcAft>
                        <a:buNone/>
                      </a:pPr>
                      <a:r>
                        <a:rPr b="0" lang="en-US" spc="0" sz="1100" u="none" cap="none" strike="noStrike">
                          <a:solidFill>
                            <a:srgbClr val="565A32"/>
                          </a:solidFill>
                          <a:latin typeface="Raleway Light"/>
                          <a:ea typeface="Raleway Light"/>
                          <a:cs typeface="Raleway Light"/>
                          <a:sym typeface="Raleway Light"/>
                        </a:rPr>
                        <a:t>£0.55 or £0.95 a pack, or free as goodwill</a:t>
                      </a:r>
                      <a:endParaRPr/>
                    </a:p>
                  </a:txBody>
                  <a:tcPr marT="36575" marB="36575" marR="73150" marL="73150">
                    <a:solidFill>
                      <a:srgbClr val="FFFFFF"/>
                    </a:solidFill>
                  </a:tcPr>
                </a:tc>
                <a:tc>
                  <a:txBody>
                    <a:bodyPr/>
                    <a:lstStyle/>
                    <a:p>
                      <a:pPr indent="0" lvl="0" marL="0" marR="0" rtl="0" algn="l">
                        <a:lnSpc>
                          <a:spcPct val="100000"/>
                        </a:lnSpc>
                        <a:spcBef>
                          <a:spcPts val="0"/>
                        </a:spcBef>
                        <a:spcAft>
                          <a:spcPts val="0"/>
                        </a:spcAft>
                        <a:buNone/>
                      </a:pPr>
                      <a:r>
                        <a:rPr b="0" lang="en-US" spc="0" sz="1100" u="none" cap="none" strike="noStrike">
                          <a:solidFill>
                            <a:srgbClr val="565A32"/>
                          </a:solidFill>
                          <a:latin typeface="Raleway Light"/>
                          <a:ea typeface="Raleway Light"/>
                          <a:cs typeface="Raleway Light"/>
                          <a:sym typeface="Raleway Light"/>
                        </a:rPr>
                        <a:t>Hypothesis</a:t>
                      </a:r>
                      <a:endParaRPr/>
                    </a:p>
                  </a:txBody>
                  <a:tcPr marT="36575" marB="36575" marR="73150" marL="73150">
                    <a:solidFill>
                      <a:srgbClr val="FFFFFF"/>
                    </a:solidFill>
                  </a:tcPr>
                </a:tc>
                <a:tc>
                  <a:txBody>
                    <a:bodyPr/>
                    <a:lstStyle/>
                    <a:p>
                      <a:pPr indent="0" lvl="0" marL="0" marR="0" rtl="0" algn="l">
                        <a:lnSpc>
                          <a:spcPct val="100000"/>
                        </a:lnSpc>
                        <a:spcBef>
                          <a:spcPts val="0"/>
                        </a:spcBef>
                        <a:spcAft>
                          <a:spcPts val="0"/>
                        </a:spcAft>
                        <a:buNone/>
                      </a:pPr>
                      <a:r>
                        <a:rPr b="0" lang="en-US" spc="0" sz="1100" u="none" cap="none" strike="noStrike">
                          <a:solidFill>
                            <a:srgbClr val="565A32"/>
                          </a:solidFill>
                          <a:latin typeface="Raleway Light"/>
                          <a:ea typeface="Raleway Light"/>
                          <a:cs typeface="Raleway Light"/>
                          <a:sym typeface="Raleway Light"/>
                        </a:rPr>
                        <a:t>Payments; base case is no direct revenue</a:t>
                      </a:r>
                      <a:endParaRPr/>
                    </a:p>
                  </a:txBody>
                  <a:tcPr marT="36575" marB="36575" marR="73150" marL="73150">
                    <a:solidFill>
                      <a:srgbClr val="FFFFFF"/>
                    </a:solidFill>
                  </a:tcPr>
                </a:tc>
              </a:tr>
              <a:tr h="384050">
                <a:tc>
                  <a:txBody>
                    <a:bodyPr/>
                    <a:lstStyle/>
                    <a:p>
                      <a:pPr indent="0" lvl="0" marL="0" marR="0" rtl="0" algn="l">
                        <a:lnSpc>
                          <a:spcPct val="100000"/>
                        </a:lnSpc>
                        <a:spcBef>
                          <a:spcPts val="0"/>
                        </a:spcBef>
                        <a:spcAft>
                          <a:spcPts val="0"/>
                        </a:spcAft>
                        <a:buNone/>
                      </a:pPr>
                      <a:r>
                        <a:rPr b="1" lang="en-US" spc="0" sz="1100" u="none" cap="none" strike="noStrike">
                          <a:solidFill>
                            <a:srgbClr val="565A32"/>
                          </a:solidFill>
                          <a:latin typeface="Raleway SemiBold"/>
                          <a:ea typeface="Raleway SemiBold"/>
                          <a:cs typeface="Raleway SemiBold"/>
                          <a:sym typeface="Raleway SemiBold"/>
                        </a:rPr>
                        <a:t>Advisers and referrals</a:t>
                      </a:r>
                      <a:endParaRPr/>
                    </a:p>
                  </a:txBody>
                  <a:tcPr marT="36575" marB="36575" marR="73150" marL="73150">
                    <a:solidFill>
                      <a:srgbClr val="EFEAE0"/>
                    </a:solidFill>
                  </a:tcPr>
                </a:tc>
                <a:tc>
                  <a:txBody>
                    <a:bodyPr/>
                    <a:lstStyle/>
                    <a:p>
                      <a:pPr indent="0" lvl="0" marL="0" marR="0" rtl="0" algn="l">
                        <a:lnSpc>
                          <a:spcPct val="100000"/>
                        </a:lnSpc>
                        <a:spcBef>
                          <a:spcPts val="0"/>
                        </a:spcBef>
                        <a:spcAft>
                          <a:spcPts val="0"/>
                        </a:spcAft>
                        <a:buNone/>
                      </a:pPr>
                      <a:r>
                        <a:rPr b="0" lang="en-US" spc="0" sz="1100" u="none" cap="none" strike="noStrike">
                          <a:solidFill>
                            <a:srgbClr val="565A32"/>
                          </a:solidFill>
                          <a:latin typeface="Raleway Light"/>
                          <a:ea typeface="Raleway Light"/>
                          <a:cs typeface="Raleway Light"/>
                          <a:sym typeface="Raleway Light"/>
                        </a:rPr>
                        <a:t>Commission is a cost of winning revenue; no rate set</a:t>
                      </a:r>
                      <a:endParaRPr/>
                    </a:p>
                  </a:txBody>
                  <a:tcPr marT="36575" marB="36575" marR="73150" marL="73150">
                    <a:solidFill>
                      <a:srgbClr val="EFEAE0"/>
                    </a:solidFill>
                  </a:tcPr>
                </a:tc>
                <a:tc>
                  <a:txBody>
                    <a:bodyPr/>
                    <a:lstStyle/>
                    <a:p>
                      <a:pPr indent="0" lvl="0" marL="0" marR="0" rtl="0" algn="l">
                        <a:lnSpc>
                          <a:spcPct val="100000"/>
                        </a:lnSpc>
                        <a:spcBef>
                          <a:spcPts val="0"/>
                        </a:spcBef>
                        <a:spcAft>
                          <a:spcPts val="0"/>
                        </a:spcAft>
                        <a:buNone/>
                      </a:pPr>
                      <a:r>
                        <a:rPr b="0" lang="en-US" spc="0" sz="1100" u="none" cap="none" strike="noStrike">
                          <a:solidFill>
                            <a:srgbClr val="565A32"/>
                          </a:solidFill>
                          <a:latin typeface="Raleway Light"/>
                          <a:ea typeface="Raleway Light"/>
                          <a:cs typeface="Raleway Light"/>
                          <a:sym typeface="Raleway Light"/>
                        </a:rPr>
                        <a:t>Proposed</a:t>
                      </a:r>
                      <a:endParaRPr/>
                    </a:p>
                  </a:txBody>
                  <a:tcPr marT="36575" marB="36575" marR="73150" marL="73150">
                    <a:solidFill>
                      <a:srgbClr val="EFEAE0"/>
                    </a:solidFill>
                  </a:tcPr>
                </a:tc>
                <a:tc>
                  <a:txBody>
                    <a:bodyPr/>
                    <a:lstStyle/>
                    <a:p>
                      <a:pPr indent="0" lvl="0" marL="0" marR="0" rtl="0" algn="l">
                        <a:lnSpc>
                          <a:spcPct val="100000"/>
                        </a:lnSpc>
                        <a:spcBef>
                          <a:spcPts val="0"/>
                        </a:spcBef>
                        <a:spcAft>
                          <a:spcPts val="0"/>
                        </a:spcAft>
                        <a:buNone/>
                      </a:pPr>
                      <a:r>
                        <a:rPr b="0" lang="en-US" spc="0" sz="1100" u="none" cap="none" strike="noStrike">
                          <a:solidFill>
                            <a:srgbClr val="565A32"/>
                          </a:solidFill>
                          <a:latin typeface="Raleway Light"/>
                          <a:ea typeface="Raleway Light"/>
                          <a:cs typeface="Raleway Light"/>
                          <a:sym typeface="Raleway Light"/>
                        </a:rPr>
                        <a:t>PO4 cost to serve; written terms first</a:t>
                      </a:r>
                      <a:endParaRPr/>
                    </a:p>
                  </a:txBody>
                  <a:tcPr marT="36575" marB="36575" marR="73150" marL="73150">
                    <a:solidFill>
                      <a:srgbClr val="EFEAE0"/>
                    </a:solidFill>
                  </a:tcPr>
                </a:tc>
              </a:tr>
            </a:tbl>
          </a:graphicData>
        </a:graphic>
      </p:graphicFrame>
      <p:sp>
        <p:nvSpPr>
          <p:cNvPr id="995" name="Google Shape;995;p69"/>
          <p:cNvSpPr txBox="1"/>
          <p:nvPr/>
        </p:nvSpPr>
        <p:spPr>
          <a:xfrm>
            <a:off x="685800" y="5486400"/>
            <a:ext cx="8961120" cy="5486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pc="0" sz="1200" u="none" cap="none" strike="noStrike">
                <a:solidFill>
                  <a:srgbClr val="565A32"/>
                </a:solidFill>
                <a:latin typeface="Raleway Light"/>
                <a:ea typeface="Raleway Light"/>
                <a:cs typeface="Raleway Light"/>
                <a:sym typeface="Raleway Light"/>
              </a:rPr>
              <a:t>Every figure except the £40 RRP is a working hypothesis (Brand Brain 06). No edition income goes into near-term forecasts until a pilot has run.</a:t>
            </a:r>
            <a:endParaRPr/>
          </a:p>
        </p:txBody>
      </p:sp>
      <p:sp>
        <p:nvSpPr>
          <p:cNvPr id="996" name="Google Shape;996;p69"/>
          <p:cNvSpPr/>
          <p:nvPr/>
        </p:nvSpPr>
        <p:spPr>
          <a:xfrm>
            <a:off x="0" y="0"/>
            <a:ext cx="12191700" cy="329100"/>
          </a:xfrm>
          <a:prstGeom prst="rect">
            <a:avLst/>
          </a:prstGeom>
          <a:solidFill>
            <a:srgbClr val="565A32"/>
          </a:solidFill>
          <a:ln cap="flat" cmpd="sng" w="12700">
            <a:solidFill>
              <a:srgbClr val="565A3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
        <p:nvSpPr>
          <p:cNvPr id="997" name="Slide number"/>
          <p:cNvSpPr txBox="1"/>
          <p:nvPr>
            <p:ph idx="4294967295" type="sldNum"/>
          </p:nvPr>
        </p:nvSpPr>
        <p:spPr>
          <a:xfrm>
            <a:off x="9372600" y="5971032"/>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chemeClr val="dk1"/>
                </a:solidFill>
                <a:latin typeface="Raleway Light"/>
                <a:ea typeface="Raleway Light"/>
                <a:cs typeface="Raleway Light"/>
                <a:sym typeface="Raleway Light"/>
              </a:rPr>
              <a:t>‹#›</a:t>
            </a:fld>
            <a:endParaRPr b="0" i="0" sz="1000" u="none" cap="none" strike="noStrike">
              <a:solidFill>
                <a:schemeClr val="dk1"/>
              </a:solidFill>
              <a:latin typeface="Raleway Light"/>
              <a:ea typeface="Raleway Light"/>
              <a:cs typeface="Raleway Light"/>
              <a:sym typeface="Raleway Light"/>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AE0"/>
        </a:solidFill>
      </p:bgPr>
    </p:bg>
    <p:spTree>
      <p:nvGrpSpPr>
        <p:cNvPr id="1001" name="Shape 1001"/>
        <p:cNvGrpSpPr/>
        <p:nvPr/>
      </p:nvGrpSpPr>
      <p:grpSpPr>
        <a:xfrm>
          <a:off x="0" y="0"/>
          <a:ext cx="0" cy="0"/>
          <a:chOff x="0" y="0"/>
          <a:chExt cx="0" cy="0"/>
        </a:xfrm>
      </p:grpSpPr>
      <p:sp>
        <p:nvSpPr>
          <p:cNvPr id="1002" name="Google Shape;1002;p70"/>
          <p:cNvSpPr/>
          <p:nvPr/>
        </p:nvSpPr>
        <p:spPr>
          <a:xfrm>
            <a:off x="0" y="0"/>
            <a:ext cx="12191700" cy="6858000"/>
          </a:xfrm>
          <a:prstGeom prst="rect">
            <a:avLst/>
          </a:prstGeom>
          <a:solidFill>
            <a:srgbClr val="EFEAE0"/>
          </a:solidFill>
          <a:ln cap="flat" cmpd="sng" w="12700">
            <a:solidFill>
              <a:srgbClr val="EFEAE0">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
        <p:nvSpPr>
          <p:cNvPr id="1003" name="Google Shape;1003;p70"/>
          <p:cNvSpPr txBox="1"/>
          <p:nvPr/>
        </p:nvSpPr>
        <p:spPr>
          <a:xfrm>
            <a:off x="685800" y="6355080"/>
            <a:ext cx="4114800" cy="2376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565A32"/>
              </a:buClr>
              <a:buSzPts val="1300"/>
              <a:buFont typeface="Raleway Light"/>
              <a:buNone/>
            </a:pPr>
            <a:r>
              <a:rPr b="0" i="0" lang="en-US" spc="0" sz="1300" u="none" cap="none" strike="noStrike">
                <a:solidFill>
                  <a:srgbClr val="565A32"/>
                </a:solidFill>
                <a:latin typeface="Raleway Light"/>
                <a:ea typeface="Raleway Light"/>
                <a:cs typeface="Raleway Light"/>
                <a:sym typeface="Raleway Light"/>
              </a:rPr>
              <a:t>Say what you really think.</a:t>
            </a:r>
            <a:endParaRPr b="0" i="0" spc="0" sz="1300" u="none" cap="none" strike="noStrike">
              <a:solidFill>
                <a:schemeClr val="dk1"/>
              </a:solidFill>
              <a:latin typeface="Raleway Light"/>
              <a:ea typeface="Raleway Light"/>
              <a:cs typeface="Raleway Light"/>
              <a:sym typeface="Raleway Light"/>
            </a:endParaRPr>
          </a:p>
        </p:txBody>
      </p:sp>
      <p:pic>
        <p:nvPicPr>
          <p:cNvPr id="1004" name="Google Shape;1004;p70" title="Copy_of_Untitled-removebg-preview.png"/>
          <p:cNvPicPr preferRelativeResize="0"/>
          <p:nvPr/>
        </p:nvPicPr>
        <p:blipFill rotWithShape="1">
          <a:blip r:embed="rId3">
            <a:alphaModFix/>
          </a:blip>
          <a:srcRect b="0" l="0" r="0" t="0"/>
          <a:stretch/>
        </p:blipFill>
        <p:spPr>
          <a:xfrm>
            <a:off x="9834990" y="5349262"/>
            <a:ext cx="1508730" cy="1508730"/>
          </a:xfrm>
          <a:prstGeom prst="rect">
            <a:avLst/>
          </a:prstGeom>
          <a:noFill/>
          <a:ln>
            <a:noFill/>
          </a:ln>
        </p:spPr>
      </p:pic>
      <p:sp>
        <p:nvSpPr>
          <p:cNvPr id="1005" name="Google Shape;1005;p70"/>
          <p:cNvSpPr txBox="1"/>
          <p:nvPr/>
        </p:nvSpPr>
        <p:spPr>
          <a:xfrm>
            <a:off x="685800" y="475488"/>
            <a:ext cx="8229600" cy="530400"/>
          </a:xfrm>
          <a:prstGeom prst="rect">
            <a:avLst/>
          </a:prstGeom>
          <a:noFill/>
          <a:ln>
            <a:noFill/>
          </a:ln>
        </p:spPr>
        <p:txBody>
          <a:bodyPr anchorCtr="0" anchor="t" bIns="0" lIns="0" spcFirstLastPara="1" rIns="0" wrap="square" tIns="0">
            <a:normAutofit lnSpcReduction="10000"/>
          </a:bodyPr>
          <a:lstStyle/>
          <a:p>
            <a:pPr indent="0" lvl="0" marL="0" marR="0" rtl="0" algn="l">
              <a:lnSpc>
                <a:spcPct val="100000"/>
              </a:lnSpc>
              <a:spcBef>
                <a:spcPts val="0"/>
              </a:spcBef>
              <a:spcAft>
                <a:spcPts val="0"/>
              </a:spcAft>
              <a:buClr>
                <a:srgbClr val="565A32"/>
              </a:buClr>
              <a:buSzPts val="3800"/>
              <a:buFont typeface="Raleway Light"/>
              <a:buNone/>
            </a:pPr>
            <a:r>
              <a:rPr b="0" i="0" lang="en-US" spc="0" sz="3800" u="none" cap="none" strike="noStrike">
                <a:solidFill>
                  <a:srgbClr val="565A32"/>
                </a:solidFill>
                <a:latin typeface="Raleway Light"/>
                <a:ea typeface="Raleway Light"/>
                <a:cs typeface="Raleway Light"/>
                <a:sym typeface="Raleway Light"/>
              </a:rPr>
              <a:t>How Entre Amis grows</a:t>
            </a:r>
            <a:endParaRPr b="0" i="0" spc="0" sz="3800" u="none" cap="none" strike="noStrike">
              <a:solidFill>
                <a:schemeClr val="dk1"/>
              </a:solidFill>
              <a:latin typeface="Raleway Light"/>
              <a:ea typeface="Raleway Light"/>
              <a:cs typeface="Raleway Light"/>
              <a:sym typeface="Raleway Light"/>
            </a:endParaRPr>
          </a:p>
        </p:txBody>
      </p:sp>
      <p:sp>
        <p:nvSpPr>
          <p:cNvPr id="1006" name="Google Shape;1006;p70"/>
          <p:cNvSpPr txBox="1"/>
          <p:nvPr/>
        </p:nvSpPr>
        <p:spPr>
          <a:xfrm>
            <a:off x="685800" y="1042416"/>
            <a:ext cx="8503800" cy="3840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rgbClr val="565A32"/>
              </a:buClr>
              <a:buSzPts val="1900"/>
              <a:buFont typeface="Raleway Light"/>
              <a:buNone/>
            </a:pPr>
            <a:r>
              <a:rPr b="0" i="0" lang="en-US" spc="0" sz="1900" u="none" cap="none" strike="noStrike">
                <a:solidFill>
                  <a:srgbClr val="565A32"/>
                </a:solidFill>
                <a:latin typeface="Raleway Light"/>
                <a:ea typeface="Raleway Light"/>
                <a:cs typeface="Raleway Light"/>
                <a:sym typeface="Raleway Light"/>
              </a:rPr>
              <a:t>One brand. Different routes to value.</a:t>
            </a:r>
            <a:endParaRPr b="0" i="0" spc="0" sz="1900" u="none" cap="none" strike="noStrike">
              <a:solidFill>
                <a:schemeClr val="dk1"/>
              </a:solidFill>
              <a:latin typeface="Raleway Light"/>
              <a:ea typeface="Raleway Light"/>
              <a:cs typeface="Raleway Light"/>
              <a:sym typeface="Raleway Light"/>
            </a:endParaRPr>
          </a:p>
        </p:txBody>
      </p:sp>
      <p:pic>
        <p:nvPicPr>
          <p:cNvPr id="1007" name="Google Shape;1007;p70" title="ChatGPT Image Sep 17, 2026 at 10_20_44 AM.png"/>
          <p:cNvPicPr preferRelativeResize="0"/>
          <p:nvPr/>
        </p:nvPicPr>
        <p:blipFill rotWithShape="1">
          <a:blip r:embed="rId4">
            <a:alphaModFix/>
          </a:blip>
          <a:srcRect b="0" l="0" r="0" t="0"/>
          <a:stretch/>
        </p:blipFill>
        <p:spPr>
          <a:xfrm>
            <a:off x="1914425" y="1426425"/>
            <a:ext cx="7920576" cy="4928230"/>
          </a:xfrm>
          <a:prstGeom prst="rect">
            <a:avLst/>
          </a:prstGeom>
          <a:noFill/>
          <a:ln>
            <a:noFill/>
          </a:ln>
        </p:spPr>
      </p:pic>
      <p:sp>
        <p:nvSpPr>
          <p:cNvPr id="1008" name="Google Shape;1008;p70"/>
          <p:cNvSpPr/>
          <p:nvPr/>
        </p:nvSpPr>
        <p:spPr>
          <a:xfrm>
            <a:off x="9262872" y="457200"/>
            <a:ext cx="2377440" cy="384048"/>
          </a:xfrm>
          <a:prstGeom prst="roundRect">
            <a:avLst>
              <a:gd fmla="val 50000" name="adj"/>
            </a:avLst>
          </a:prstGeom>
          <a:solidFill>
            <a:srgbClr val="EFEAE0"/>
          </a:solidFill>
          <a:ln cap="flat" cmpd="sng" w="12700">
            <a:solidFill>
              <a:srgbClr val="565A32"/>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1" i="0" lang="en-US" spc="0" sz="1400" u="none" cap="none" strike="noStrike">
                <a:solidFill>
                  <a:srgbClr val="565A32"/>
                </a:solidFill>
                <a:latin typeface="Raleway SemiBold"/>
                <a:ea typeface="Raleway SemiBold"/>
                <a:cs typeface="Raleway SemiBold"/>
                <a:sym typeface="Raleway SemiBold"/>
              </a:rPr>
              <a:t>INTERNAL</a:t>
            </a:r>
            <a:endParaRPr b="0" i="0" spc="0" sz="1400" u="none" cap="none" strike="noStrike">
              <a:solidFill>
                <a:srgbClr val="000000"/>
              </a:solidFill>
              <a:latin typeface="Arial"/>
              <a:ea typeface="Arial"/>
              <a:cs typeface="Arial"/>
              <a:sym typeface="Arial"/>
            </a:endParaRPr>
          </a:p>
        </p:txBody>
      </p:sp>
      <p:sp>
        <p:nvSpPr>
          <p:cNvPr id="1009" name="Google Shape;1009;p70"/>
          <p:cNvSpPr/>
          <p:nvPr/>
        </p:nvSpPr>
        <p:spPr>
          <a:xfrm>
            <a:off x="0" y="0"/>
            <a:ext cx="12191700" cy="329100"/>
          </a:xfrm>
          <a:prstGeom prst="rect">
            <a:avLst/>
          </a:prstGeom>
          <a:solidFill>
            <a:srgbClr val="565A32"/>
          </a:solidFill>
          <a:ln cap="flat" cmpd="sng" w="12700">
            <a:solidFill>
              <a:srgbClr val="565A3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
        <p:nvSpPr>
          <p:cNvPr id="1010" name="Slide number"/>
          <p:cNvSpPr txBox="1"/>
          <p:nvPr>
            <p:ph idx="4294967295" type="sldNum"/>
          </p:nvPr>
        </p:nvSpPr>
        <p:spPr>
          <a:xfrm>
            <a:off x="9372600" y="5971032"/>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chemeClr val="dk1"/>
                </a:solidFill>
                <a:latin typeface="Raleway Light"/>
                <a:ea typeface="Raleway Light"/>
                <a:cs typeface="Raleway Light"/>
                <a:sym typeface="Raleway Light"/>
              </a:rPr>
              <a:t>‹#›</a:t>
            </a:fld>
            <a:endParaRPr b="0" i="0" sz="1000" u="none" cap="none" strike="noStrike">
              <a:solidFill>
                <a:schemeClr val="dk1"/>
              </a:solidFill>
              <a:latin typeface="Raleway Light"/>
              <a:ea typeface="Raleway Light"/>
              <a:cs typeface="Raleway Light"/>
              <a:sym typeface="Raleway Light"/>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AE0"/>
        </a:solidFill>
      </p:bgPr>
    </p:bg>
    <p:spTree>
      <p:nvGrpSpPr>
        <p:cNvPr id="1014" name="Shape 1014"/>
        <p:cNvGrpSpPr/>
        <p:nvPr/>
      </p:nvGrpSpPr>
      <p:grpSpPr>
        <a:xfrm>
          <a:off x="0" y="0"/>
          <a:ext cx="0" cy="0"/>
          <a:chOff x="0" y="0"/>
          <a:chExt cx="0" cy="0"/>
        </a:xfrm>
      </p:grpSpPr>
      <p:sp>
        <p:nvSpPr>
          <p:cNvPr id="1015" name="Google Shape;1015;p71"/>
          <p:cNvSpPr txBox="1"/>
          <p:nvPr/>
        </p:nvSpPr>
        <p:spPr>
          <a:xfrm>
            <a:off x="685800" y="475501"/>
            <a:ext cx="8229600" cy="618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65A32"/>
              </a:buClr>
              <a:buSzPts val="3800"/>
              <a:buFont typeface="Raleway Light"/>
              <a:buNone/>
            </a:pPr>
            <a:r>
              <a:rPr b="0" i="0" lang="en-US" spc="0" sz="3800" u="none" cap="none" strike="noStrike">
                <a:solidFill>
                  <a:srgbClr val="565A32"/>
                </a:solidFill>
                <a:latin typeface="Raleway Light"/>
                <a:ea typeface="Raleway Light"/>
                <a:cs typeface="Raleway Light"/>
                <a:sym typeface="Raleway Light"/>
              </a:rPr>
              <a:t>Brand protection and ownership</a:t>
            </a:r>
            <a:endParaRPr b="1" i="0" spc="0" sz="2700" u="none" cap="none" strike="noStrike">
              <a:solidFill>
                <a:srgbClr val="565A32"/>
              </a:solidFill>
              <a:latin typeface="Raleway SemiBold"/>
              <a:ea typeface="Raleway SemiBold"/>
              <a:cs typeface="Raleway SemiBold"/>
              <a:sym typeface="Raleway SemiBold"/>
            </a:endParaRPr>
          </a:p>
        </p:txBody>
      </p:sp>
      <p:pic>
        <p:nvPicPr>
          <p:cNvPr id="1016" name="Google Shape;1016;p71" title="Copy_of_Untitled-removebg-preview.png"/>
          <p:cNvPicPr preferRelativeResize="0"/>
          <p:nvPr/>
        </p:nvPicPr>
        <p:blipFill rotWithShape="1">
          <a:blip r:embed="rId3">
            <a:alphaModFix/>
          </a:blip>
          <a:srcRect b="0" l="0" r="0" t="0"/>
          <a:stretch/>
        </p:blipFill>
        <p:spPr>
          <a:xfrm>
            <a:off x="9834990" y="5349262"/>
            <a:ext cx="1508730" cy="1508730"/>
          </a:xfrm>
          <a:prstGeom prst="rect">
            <a:avLst/>
          </a:prstGeom>
          <a:noFill/>
          <a:ln>
            <a:noFill/>
          </a:ln>
        </p:spPr>
      </p:pic>
      <p:sp>
        <p:nvSpPr>
          <p:cNvPr id="1017" name="Google Shape;1017;p71"/>
          <p:cNvSpPr txBox="1"/>
          <p:nvPr/>
        </p:nvSpPr>
        <p:spPr>
          <a:xfrm>
            <a:off x="11785400" y="3848725"/>
            <a:ext cx="914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
        <p:nvSpPr>
          <p:cNvPr id="1018" name="Google Shape;1018;p71"/>
          <p:cNvSpPr txBox="1"/>
          <p:nvPr/>
        </p:nvSpPr>
        <p:spPr>
          <a:xfrm>
            <a:off x="685800" y="1015416"/>
            <a:ext cx="8503800" cy="3840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chemeClr val="dk1"/>
              </a:buClr>
              <a:buSzPts val="1700"/>
              <a:buFont typeface="Arial"/>
              <a:buNone/>
            </a:pPr>
            <a:r>
              <a:rPr b="0" i="0" lang="en-US" spc="0" sz="1900" u="none" cap="none" strike="noStrike">
                <a:solidFill>
                  <a:srgbClr val="565A32"/>
                </a:solidFill>
                <a:latin typeface="Raleway Light"/>
                <a:ea typeface="Raleway Light"/>
                <a:cs typeface="Raleway Light"/>
                <a:sym typeface="Raleway Light"/>
              </a:rPr>
              <a:t>One brand. Protected intellectual property. A structure designed to grow.</a:t>
            </a:r>
            <a:endParaRPr b="0" i="0" spc="0" sz="1900" u="none" cap="none" strike="noStrike">
              <a:solidFill>
                <a:schemeClr val="dk1"/>
              </a:solidFill>
              <a:latin typeface="Raleway Light"/>
              <a:ea typeface="Raleway Light"/>
              <a:cs typeface="Raleway Light"/>
              <a:sym typeface="Raleway Light"/>
            </a:endParaRPr>
          </a:p>
        </p:txBody>
      </p:sp>
      <p:graphicFrame>
        <p:nvGraphicFramePr>
          <p:cNvPr id="1019" name="Google Shape;1019;p71"/>
          <p:cNvGraphicFramePr/>
          <p:nvPr/>
        </p:nvGraphicFramePr>
        <p:xfrm>
          <a:off x="731575" y="1757725"/>
          <a:ext cx="3000000" cy="3000000"/>
        </p:xfrm>
        <a:graphic>
          <a:graphicData uri="http://schemas.openxmlformats.org/drawingml/2006/table">
            <a:tbl>
              <a:tblPr>
                <a:noFill/>
                <a:tableStyleId>{655FC373-D6BC-4E09-A9F9-84234A3C0306}</a:tableStyleId>
              </a:tblPr>
              <a:tblGrid>
                <a:gridCol w="5143500"/>
                <a:gridCol w="5143500"/>
              </a:tblGrid>
              <a:tr h="381000">
                <a:tc>
                  <a:txBody>
                    <a:bodyPr/>
                    <a:lstStyle/>
                    <a:p>
                      <a:pPr indent="0" lvl="0" marL="0" marR="0" rtl="0" algn="l">
                        <a:lnSpc>
                          <a:spcPct val="115000"/>
                        </a:lnSpc>
                        <a:spcBef>
                          <a:spcPts val="0"/>
                        </a:spcBef>
                        <a:spcAft>
                          <a:spcPts val="0"/>
                        </a:spcAft>
                        <a:buClr>
                          <a:schemeClr val="dk1"/>
                        </a:buClr>
                        <a:buSzPts val="1100"/>
                        <a:buFont typeface="Arial"/>
                        <a:buNone/>
                      </a:pPr>
                      <a:r>
                        <a:rPr b="1" lang="en-US" spc="0" sz="1600" u="none" cap="none" strike="noStrike">
                          <a:solidFill>
                            <a:srgbClr val="565A32"/>
                          </a:solidFill>
                          <a:latin typeface="Raleway"/>
                          <a:ea typeface="Raleway"/>
                          <a:cs typeface="Raleway"/>
                          <a:sym typeface="Raleway"/>
                        </a:rPr>
                        <a:t>Brand Protection</a:t>
                      </a:r>
                      <a:endParaRPr spc="0" sz="1400" u="none" cap="none" strike="noStrike">
                        <a:solidFill>
                          <a:srgbClr val="8B8B5C"/>
                        </a:solidFill>
                        <a:latin typeface="Raleway Light"/>
                        <a:ea typeface="Raleway Light"/>
                        <a:cs typeface="Raleway Light"/>
                        <a:sym typeface="Raleway Light"/>
                      </a:endParaRPr>
                    </a:p>
                    <a:p>
                      <a:pPr indent="0" lvl="0" marL="0" marR="0" rtl="0" algn="l">
                        <a:lnSpc>
                          <a:spcPct val="115000"/>
                        </a:lnSpc>
                        <a:spcBef>
                          <a:spcPts val="1200"/>
                        </a:spcBef>
                        <a:spcAft>
                          <a:spcPts val="0"/>
                        </a:spcAft>
                        <a:buClr>
                          <a:schemeClr val="dk1"/>
                        </a:buClr>
                        <a:buSzPts val="1100"/>
                        <a:buFont typeface="Arial"/>
                        <a:buNone/>
                      </a:pPr>
                      <a:r>
                        <a:rPr lang="en-US" spc="0" sz="1400" u="none" cap="none" strike="noStrike">
                          <a:solidFill>
                            <a:srgbClr val="565A32"/>
                          </a:solidFill>
                          <a:latin typeface="Raleway Light"/>
                          <a:ea typeface="Raleway Light"/>
                          <a:cs typeface="Raleway Light"/>
                          <a:sym typeface="Raleway Light"/>
                        </a:rPr>
                        <a:t>UK trademark application filed September 2026 across six classes. EU protection planned. Core domains and social handles secured.</a:t>
                      </a:r>
                      <a:endParaRPr spc="0" sz="1400" u="none" cap="none" strike="noStrike">
                        <a:solidFill>
                          <a:srgbClr val="8B8B5C"/>
                        </a:solidFill>
                        <a:latin typeface="Raleway Light"/>
                        <a:ea typeface="Raleway Light"/>
                        <a:cs typeface="Raleway Light"/>
                        <a:sym typeface="Raleway Light"/>
                      </a:endParaRPr>
                    </a:p>
                    <a:p>
                      <a:pPr indent="0" lvl="0" marL="0" marR="0" rtl="0" algn="l">
                        <a:lnSpc>
                          <a:spcPct val="115000"/>
                        </a:lnSpc>
                        <a:spcBef>
                          <a:spcPts val="1200"/>
                        </a:spcBef>
                        <a:spcAft>
                          <a:spcPts val="0"/>
                        </a:spcAft>
                        <a:buClr>
                          <a:schemeClr val="dk1"/>
                        </a:buClr>
                        <a:buSzPts val="1100"/>
                        <a:buFont typeface="Arial"/>
                        <a:buNone/>
                      </a:pPr>
                      <a:r>
                        <a:t/>
                      </a:r>
                      <a:endParaRPr spc="0" sz="1400" u="none" cap="none" strike="noStrike">
                        <a:solidFill>
                          <a:srgbClr val="8B8B5C"/>
                        </a:solidFill>
                        <a:latin typeface="Raleway Light"/>
                        <a:ea typeface="Raleway Light"/>
                        <a:cs typeface="Raleway Light"/>
                        <a:sym typeface="Raleway Light"/>
                      </a:endParaRPr>
                    </a:p>
                    <a:p>
                      <a:pPr indent="0" lvl="0" marL="0" marR="0" rtl="0" algn="l">
                        <a:lnSpc>
                          <a:spcPct val="100000"/>
                        </a:lnSpc>
                        <a:spcBef>
                          <a:spcPts val="1200"/>
                        </a:spcBef>
                        <a:spcAft>
                          <a:spcPts val="0"/>
                        </a:spcAft>
                        <a:buClr>
                          <a:srgbClr val="000000"/>
                        </a:buClr>
                        <a:buSzPts val="1400"/>
                        <a:buFont typeface="Arial"/>
                        <a:buNone/>
                      </a:pPr>
                      <a:r>
                        <a:t/>
                      </a:r>
                      <a:endParaRPr spc="0" sz="1400" u="none" cap="none" strike="noStrike">
                        <a:solidFill>
                          <a:srgbClr val="8B8B5C"/>
                        </a:solidFill>
                        <a:latin typeface="Raleway Light"/>
                        <a:ea typeface="Raleway Light"/>
                        <a:cs typeface="Raleway Light"/>
                        <a:sym typeface="Raleway Light"/>
                      </a:endParaRPr>
                    </a:p>
                  </a:txBody>
                  <a:tcPr marT="91425" marB="91425" marR="91425" marL="91425">
                    <a:lnL cap="flat" cmpd="sng" w="9525">
                      <a:solidFill>
                        <a:srgbClr val="E3AC9A"/>
                      </a:solidFill>
                      <a:prstDash val="solid"/>
                      <a:round/>
                      <a:headEnd len="sm" w="sm" type="none"/>
                      <a:tailEnd len="sm" w="sm" type="none"/>
                    </a:lnL>
                    <a:lnR cap="flat" cmpd="sng" w="9525">
                      <a:solidFill>
                        <a:srgbClr val="E3AC9A"/>
                      </a:solidFill>
                      <a:prstDash val="solid"/>
                      <a:round/>
                      <a:headEnd len="sm" w="sm" type="none"/>
                      <a:tailEnd len="sm" w="sm" type="none"/>
                    </a:lnR>
                    <a:lnT cap="flat" cmpd="sng" w="9525">
                      <a:solidFill>
                        <a:srgbClr val="E3AC9A"/>
                      </a:solidFill>
                      <a:prstDash val="solid"/>
                      <a:round/>
                      <a:headEnd len="sm" w="sm" type="none"/>
                      <a:tailEnd len="sm" w="sm" type="none"/>
                    </a:lnT>
                    <a:lnB cap="flat" cmpd="sng" w="9525">
                      <a:solidFill>
                        <a:srgbClr val="E3AC9A"/>
                      </a:solidFill>
                      <a:prstDash val="solid"/>
                      <a:round/>
                      <a:headEnd len="sm" w="sm" type="none"/>
                      <a:tailEnd len="sm" w="sm" type="none"/>
                    </a:lnB>
                    <a:solidFill>
                      <a:srgbClr val="FFFFFF"/>
                    </a:solidFill>
                  </a:tcPr>
                </a:tc>
                <a:tc>
                  <a:txBody>
                    <a:bodyPr/>
                    <a:lstStyle/>
                    <a:p>
                      <a:pPr indent="0" lvl="0" marL="0" marR="0" rtl="0" algn="l">
                        <a:lnSpc>
                          <a:spcPct val="115000"/>
                        </a:lnSpc>
                        <a:spcBef>
                          <a:spcPts val="0"/>
                        </a:spcBef>
                        <a:spcAft>
                          <a:spcPts val="0"/>
                        </a:spcAft>
                        <a:buClr>
                          <a:schemeClr val="dk1"/>
                        </a:buClr>
                        <a:buSzPts val="1100"/>
                        <a:buFont typeface="Arial"/>
                        <a:buNone/>
                      </a:pPr>
                      <a:r>
                        <a:rPr b="1" lang="en-US" spc="0" sz="1600" u="none" cap="none" strike="noStrike">
                          <a:solidFill>
                            <a:srgbClr val="565A32"/>
                          </a:solidFill>
                          <a:latin typeface="Raleway"/>
                          <a:ea typeface="Raleway"/>
                          <a:cs typeface="Raleway"/>
                          <a:sym typeface="Raleway"/>
                        </a:rPr>
                        <a:t>Intellectual Property</a:t>
                      </a:r>
                      <a:endParaRPr spc="0" sz="1400" u="none" cap="none" strike="noStrike">
                        <a:solidFill>
                          <a:srgbClr val="8B8B5C"/>
                        </a:solidFill>
                        <a:latin typeface="Raleway Light"/>
                        <a:ea typeface="Raleway Light"/>
                        <a:cs typeface="Raleway Light"/>
                        <a:sym typeface="Raleway Light"/>
                      </a:endParaRPr>
                    </a:p>
                    <a:p>
                      <a:pPr indent="0" lvl="0" marL="0" marR="0" rtl="0" algn="l">
                        <a:lnSpc>
                          <a:spcPct val="115000"/>
                        </a:lnSpc>
                        <a:spcBef>
                          <a:spcPts val="1200"/>
                        </a:spcBef>
                        <a:spcAft>
                          <a:spcPts val="0"/>
                        </a:spcAft>
                        <a:buClr>
                          <a:schemeClr val="dk1"/>
                        </a:buClr>
                        <a:buSzPts val="1100"/>
                        <a:buFont typeface="Arial"/>
                        <a:buNone/>
                      </a:pPr>
                      <a:r>
                        <a:rPr lang="en-US" spc="0" sz="1400" u="none" cap="none" strike="noStrike">
                          <a:solidFill>
                            <a:srgbClr val="565A32"/>
                          </a:solidFill>
                          <a:latin typeface="Raleway Light"/>
                          <a:ea typeface="Raleway Light"/>
                          <a:cs typeface="Raleway Light"/>
                          <a:sym typeface="Raleway Light"/>
                        </a:rPr>
                        <a:t>Entre Amis brand, original game content, designs, digital platform, software and curated content. Rights and contractual ownership to be documented and protected.</a:t>
                      </a:r>
                      <a:endParaRPr spc="0" sz="1400" u="none" cap="none" strike="noStrike">
                        <a:solidFill>
                          <a:srgbClr val="8B8B5C"/>
                        </a:solidFill>
                        <a:latin typeface="Raleway Light"/>
                        <a:ea typeface="Raleway Light"/>
                        <a:cs typeface="Raleway Light"/>
                        <a:sym typeface="Raleway Light"/>
                      </a:endParaRPr>
                    </a:p>
                    <a:p>
                      <a:pPr indent="0" lvl="0" marL="0" marR="0" rtl="0" algn="l">
                        <a:lnSpc>
                          <a:spcPct val="100000"/>
                        </a:lnSpc>
                        <a:spcBef>
                          <a:spcPts val="1200"/>
                        </a:spcBef>
                        <a:spcAft>
                          <a:spcPts val="0"/>
                        </a:spcAft>
                        <a:buClr>
                          <a:srgbClr val="000000"/>
                        </a:buClr>
                        <a:buSzPts val="1400"/>
                        <a:buFont typeface="Arial"/>
                        <a:buNone/>
                      </a:pPr>
                      <a:r>
                        <a:t/>
                      </a:r>
                      <a:endParaRPr spc="0" sz="1400" u="none" cap="none" strike="noStrike">
                        <a:solidFill>
                          <a:srgbClr val="8B8B5C"/>
                        </a:solidFill>
                        <a:latin typeface="Raleway Light"/>
                        <a:ea typeface="Raleway Light"/>
                        <a:cs typeface="Raleway Light"/>
                        <a:sym typeface="Raleway Light"/>
                      </a:endParaRPr>
                    </a:p>
                  </a:txBody>
                  <a:tcPr marT="91425" marB="91425" marR="91425" marL="91425">
                    <a:lnL cap="flat" cmpd="sng" w="9525">
                      <a:solidFill>
                        <a:srgbClr val="E3AC9A"/>
                      </a:solidFill>
                      <a:prstDash val="solid"/>
                      <a:round/>
                      <a:headEnd len="sm" w="sm" type="none"/>
                      <a:tailEnd len="sm" w="sm" type="none"/>
                    </a:lnL>
                    <a:lnR cap="flat" cmpd="sng" w="9525">
                      <a:solidFill>
                        <a:srgbClr val="E3AC9A"/>
                      </a:solidFill>
                      <a:prstDash val="solid"/>
                      <a:round/>
                      <a:headEnd len="sm" w="sm" type="none"/>
                      <a:tailEnd len="sm" w="sm" type="none"/>
                    </a:lnR>
                    <a:lnT cap="flat" cmpd="sng" w="9525">
                      <a:solidFill>
                        <a:srgbClr val="E3AC9A"/>
                      </a:solidFill>
                      <a:prstDash val="solid"/>
                      <a:round/>
                      <a:headEnd len="sm" w="sm" type="none"/>
                      <a:tailEnd len="sm" w="sm" type="none"/>
                    </a:lnT>
                    <a:lnB cap="flat" cmpd="sng" w="9525">
                      <a:solidFill>
                        <a:srgbClr val="E3AC9A"/>
                      </a:solidFill>
                      <a:prstDash val="solid"/>
                      <a:round/>
                      <a:headEnd len="sm" w="sm" type="none"/>
                      <a:tailEnd len="sm" w="sm" type="none"/>
                    </a:lnB>
                    <a:solidFill>
                      <a:srgbClr val="FFFFFF"/>
                    </a:solidFill>
                  </a:tcPr>
                </a:tc>
              </a:tr>
              <a:tr h="381000">
                <a:tc>
                  <a:txBody>
                    <a:bodyPr/>
                    <a:lstStyle/>
                    <a:p>
                      <a:pPr indent="0" lvl="0" marL="0" marR="0" rtl="0" algn="l">
                        <a:lnSpc>
                          <a:spcPct val="115000"/>
                        </a:lnSpc>
                        <a:spcBef>
                          <a:spcPts val="0"/>
                        </a:spcBef>
                        <a:spcAft>
                          <a:spcPts val="0"/>
                        </a:spcAft>
                        <a:buClr>
                          <a:schemeClr val="dk1"/>
                        </a:buClr>
                        <a:buSzPts val="1100"/>
                        <a:buFont typeface="Arial"/>
                        <a:buNone/>
                      </a:pPr>
                      <a:r>
                        <a:rPr b="1" lang="en-US" spc="0" sz="1600" u="none" cap="none" strike="noStrike">
                          <a:solidFill>
                            <a:srgbClr val="565A32"/>
                          </a:solidFill>
                          <a:latin typeface="Raleway"/>
                          <a:ea typeface="Raleway"/>
                          <a:cs typeface="Raleway"/>
                          <a:sym typeface="Raleway"/>
                        </a:rPr>
                        <a:t>Ownership</a:t>
                      </a:r>
                      <a:endParaRPr spc="0" sz="1400" u="none" cap="none" strike="noStrike">
                        <a:solidFill>
                          <a:srgbClr val="8B8B5C"/>
                        </a:solidFill>
                        <a:latin typeface="Raleway Light"/>
                        <a:ea typeface="Raleway Light"/>
                        <a:cs typeface="Raleway Light"/>
                        <a:sym typeface="Raleway Light"/>
                      </a:endParaRPr>
                    </a:p>
                    <a:p>
                      <a:pPr indent="0" lvl="0" marL="0" marR="0" rtl="0" algn="l">
                        <a:lnSpc>
                          <a:spcPct val="115000"/>
                        </a:lnSpc>
                        <a:spcBef>
                          <a:spcPts val="1200"/>
                        </a:spcBef>
                        <a:spcAft>
                          <a:spcPts val="0"/>
                        </a:spcAft>
                        <a:buClr>
                          <a:schemeClr val="dk1"/>
                        </a:buClr>
                        <a:buSzPts val="1100"/>
                        <a:buFont typeface="Arial"/>
                        <a:buNone/>
                      </a:pPr>
                      <a:r>
                        <a:rPr lang="en-US" spc="0" sz="1400" u="none" cap="none" strike="noStrike">
                          <a:solidFill>
                            <a:srgbClr val="565A32"/>
                          </a:solidFill>
                          <a:latin typeface="Raleway Light"/>
                          <a:ea typeface="Raleway Light"/>
                          <a:cs typeface="Raleway Light"/>
                          <a:sym typeface="Raleway Light"/>
                        </a:rPr>
                        <a:t>Founder retains 75% equity; five shareholders hold 5% each. Governance, shareholder rights and future investment arrangements to be formalised as required.</a:t>
                      </a:r>
                      <a:endParaRPr spc="0" sz="1400" u="none" cap="none" strike="noStrike">
                        <a:solidFill>
                          <a:srgbClr val="8B8B5C"/>
                        </a:solidFill>
                        <a:latin typeface="Raleway Light"/>
                        <a:ea typeface="Raleway Light"/>
                        <a:cs typeface="Raleway Light"/>
                        <a:sym typeface="Raleway Light"/>
                      </a:endParaRPr>
                    </a:p>
                    <a:p>
                      <a:pPr indent="0" lvl="0" marL="0" marR="0" rtl="0" algn="l">
                        <a:lnSpc>
                          <a:spcPct val="100000"/>
                        </a:lnSpc>
                        <a:spcBef>
                          <a:spcPts val="1200"/>
                        </a:spcBef>
                        <a:spcAft>
                          <a:spcPts val="0"/>
                        </a:spcAft>
                        <a:buClr>
                          <a:srgbClr val="000000"/>
                        </a:buClr>
                        <a:buSzPts val="1400"/>
                        <a:buFont typeface="Arial"/>
                        <a:buNone/>
                      </a:pPr>
                      <a:r>
                        <a:t/>
                      </a:r>
                      <a:endParaRPr spc="0" sz="1400" u="none" cap="none" strike="noStrike">
                        <a:solidFill>
                          <a:srgbClr val="8B8B5C"/>
                        </a:solidFill>
                        <a:latin typeface="Raleway Light"/>
                        <a:ea typeface="Raleway Light"/>
                        <a:cs typeface="Raleway Light"/>
                        <a:sym typeface="Raleway Light"/>
                      </a:endParaRPr>
                    </a:p>
                  </a:txBody>
                  <a:tcPr marT="91425" marB="91425" marR="91425" marL="91425">
                    <a:lnL cap="flat" cmpd="sng" w="9525">
                      <a:solidFill>
                        <a:srgbClr val="E3AC9A"/>
                      </a:solidFill>
                      <a:prstDash val="solid"/>
                      <a:round/>
                      <a:headEnd len="sm" w="sm" type="none"/>
                      <a:tailEnd len="sm" w="sm" type="none"/>
                    </a:lnL>
                    <a:lnR cap="flat" cmpd="sng" w="9525">
                      <a:solidFill>
                        <a:srgbClr val="E3AC9A"/>
                      </a:solidFill>
                      <a:prstDash val="solid"/>
                      <a:round/>
                      <a:headEnd len="sm" w="sm" type="none"/>
                      <a:tailEnd len="sm" w="sm" type="none"/>
                    </a:lnR>
                    <a:lnT cap="flat" cmpd="sng" w="9525">
                      <a:solidFill>
                        <a:srgbClr val="E3AC9A"/>
                      </a:solidFill>
                      <a:prstDash val="solid"/>
                      <a:round/>
                      <a:headEnd len="sm" w="sm" type="none"/>
                      <a:tailEnd len="sm" w="sm" type="none"/>
                    </a:lnT>
                    <a:lnB cap="flat" cmpd="sng" w="9525">
                      <a:solidFill>
                        <a:srgbClr val="E3AC9A"/>
                      </a:solidFill>
                      <a:prstDash val="solid"/>
                      <a:round/>
                      <a:headEnd len="sm" w="sm" type="none"/>
                      <a:tailEnd len="sm" w="sm" type="none"/>
                    </a:lnB>
                    <a:solidFill>
                      <a:srgbClr val="FFFFFF"/>
                    </a:solidFill>
                  </a:tcPr>
                </a:tc>
                <a:tc>
                  <a:txBody>
                    <a:bodyPr/>
                    <a:lstStyle/>
                    <a:p>
                      <a:pPr indent="0" lvl="0" marL="0" marR="0" rtl="0" algn="l">
                        <a:lnSpc>
                          <a:spcPct val="115000"/>
                        </a:lnSpc>
                        <a:spcBef>
                          <a:spcPts val="0"/>
                        </a:spcBef>
                        <a:spcAft>
                          <a:spcPts val="0"/>
                        </a:spcAft>
                        <a:buClr>
                          <a:schemeClr val="dk1"/>
                        </a:buClr>
                        <a:buSzPts val="1100"/>
                        <a:buFont typeface="Arial"/>
                        <a:buNone/>
                      </a:pPr>
                      <a:r>
                        <a:rPr b="1" lang="en-US" spc="0" sz="1600" u="none" cap="none" strike="noStrike">
                          <a:solidFill>
                            <a:srgbClr val="565A32"/>
                          </a:solidFill>
                          <a:latin typeface="Raleway"/>
                          <a:ea typeface="Raleway"/>
                          <a:cs typeface="Raleway"/>
                          <a:sym typeface="Raleway"/>
                        </a:rPr>
                        <a:t>Business Structure</a:t>
                      </a:r>
                      <a:endParaRPr spc="0" sz="1400" u="none" cap="none" strike="noStrike">
                        <a:solidFill>
                          <a:srgbClr val="8B8B5C"/>
                        </a:solidFill>
                        <a:latin typeface="Raleway Light"/>
                        <a:ea typeface="Raleway Light"/>
                        <a:cs typeface="Raleway Light"/>
                        <a:sym typeface="Raleway Light"/>
                      </a:endParaRPr>
                    </a:p>
                    <a:p>
                      <a:pPr indent="0" lvl="0" marL="0" marR="0" rtl="0" algn="l">
                        <a:lnSpc>
                          <a:spcPct val="115000"/>
                        </a:lnSpc>
                        <a:spcBef>
                          <a:spcPts val="1200"/>
                        </a:spcBef>
                        <a:spcAft>
                          <a:spcPts val="0"/>
                        </a:spcAft>
                        <a:buClr>
                          <a:schemeClr val="dk1"/>
                        </a:buClr>
                        <a:buSzPts val="1100"/>
                        <a:buFont typeface="Arial"/>
                        <a:buNone/>
                      </a:pPr>
                      <a:r>
                        <a:rPr lang="en-US" spc="0" sz="1400" u="none" cap="none" strike="noStrike">
                          <a:solidFill>
                            <a:srgbClr val="565A32"/>
                          </a:solidFill>
                          <a:latin typeface="Raleway Light"/>
                          <a:ea typeface="Raleway Light"/>
                          <a:cs typeface="Raleway Light"/>
                          <a:sym typeface="Raleway Light"/>
                        </a:rPr>
                        <a:t>Proposed group structure supporting physical products, digital experiences and commercial partnerships, while retaining control of the wider brand and platform. Final legal structure subject to advice.</a:t>
                      </a:r>
                      <a:endParaRPr spc="0" sz="1400" u="none" cap="none" strike="noStrike">
                        <a:solidFill>
                          <a:srgbClr val="8B8B5C"/>
                        </a:solidFill>
                        <a:latin typeface="Raleway Light"/>
                        <a:ea typeface="Raleway Light"/>
                        <a:cs typeface="Raleway Light"/>
                        <a:sym typeface="Raleway Light"/>
                      </a:endParaRPr>
                    </a:p>
                  </a:txBody>
                  <a:tcPr marT="91425" marB="91425" marR="91425" marL="91425">
                    <a:lnL cap="flat" cmpd="sng" w="9525">
                      <a:solidFill>
                        <a:srgbClr val="E3AC9A"/>
                      </a:solidFill>
                      <a:prstDash val="solid"/>
                      <a:round/>
                      <a:headEnd len="sm" w="sm" type="none"/>
                      <a:tailEnd len="sm" w="sm" type="none"/>
                    </a:lnL>
                    <a:lnR cap="flat" cmpd="sng" w="9525">
                      <a:solidFill>
                        <a:srgbClr val="E3AC9A"/>
                      </a:solidFill>
                      <a:prstDash val="solid"/>
                      <a:round/>
                      <a:headEnd len="sm" w="sm" type="none"/>
                      <a:tailEnd len="sm" w="sm" type="none"/>
                    </a:lnR>
                    <a:lnT cap="flat" cmpd="sng" w="9525">
                      <a:solidFill>
                        <a:srgbClr val="E3AC9A"/>
                      </a:solidFill>
                      <a:prstDash val="solid"/>
                      <a:round/>
                      <a:headEnd len="sm" w="sm" type="none"/>
                      <a:tailEnd len="sm" w="sm" type="none"/>
                    </a:lnT>
                    <a:lnB cap="flat" cmpd="sng" w="9525">
                      <a:solidFill>
                        <a:srgbClr val="E3AC9A"/>
                      </a:solidFill>
                      <a:prstDash val="solid"/>
                      <a:round/>
                      <a:headEnd len="sm" w="sm" type="none"/>
                      <a:tailEnd len="sm" w="sm" type="none"/>
                    </a:lnB>
                    <a:solidFill>
                      <a:srgbClr val="FFFFFF"/>
                    </a:solidFill>
                  </a:tcPr>
                </a:tc>
              </a:tr>
            </a:tbl>
          </a:graphicData>
        </a:graphic>
      </p:graphicFrame>
      <p:sp>
        <p:nvSpPr>
          <p:cNvPr id="1020" name="Google Shape;1020;p71"/>
          <p:cNvSpPr/>
          <p:nvPr/>
        </p:nvSpPr>
        <p:spPr>
          <a:xfrm>
            <a:off x="9262872" y="457200"/>
            <a:ext cx="2377440" cy="384048"/>
          </a:xfrm>
          <a:prstGeom prst="roundRect">
            <a:avLst>
              <a:gd fmla="val 50000" name="adj"/>
            </a:avLst>
          </a:prstGeom>
          <a:solidFill>
            <a:srgbClr val="EFEAE0"/>
          </a:solidFill>
          <a:ln cap="flat" cmpd="sng" w="12700">
            <a:solidFill>
              <a:srgbClr val="565A32"/>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1" i="0" lang="en-US" spc="0" sz="1400" u="none" cap="none" strike="noStrike">
                <a:solidFill>
                  <a:srgbClr val="565A32"/>
                </a:solidFill>
                <a:latin typeface="Raleway SemiBold"/>
                <a:ea typeface="Raleway SemiBold"/>
                <a:cs typeface="Raleway SemiBold"/>
                <a:sym typeface="Raleway SemiBold"/>
              </a:rPr>
              <a:t>INTERNAL</a:t>
            </a:r>
            <a:endParaRPr b="0" i="0" spc="0" sz="1400" u="none" cap="none" strike="noStrike">
              <a:solidFill>
                <a:srgbClr val="000000"/>
              </a:solidFill>
              <a:latin typeface="Arial"/>
              <a:ea typeface="Arial"/>
              <a:cs typeface="Arial"/>
              <a:sym typeface="Arial"/>
            </a:endParaRPr>
          </a:p>
        </p:txBody>
      </p:sp>
      <p:sp>
        <p:nvSpPr>
          <p:cNvPr id="1021" name="Google Shape;1021;p71"/>
          <p:cNvSpPr/>
          <p:nvPr/>
        </p:nvSpPr>
        <p:spPr>
          <a:xfrm>
            <a:off x="731520" y="5760720"/>
            <a:ext cx="8961120" cy="457200"/>
          </a:xfrm>
          <a:prstGeom prst="roundRect">
            <a:avLst>
              <a:gd fmla="val 30000" name="adj"/>
            </a:avLst>
          </a:prstGeom>
          <a:solidFill>
            <a:srgbClr val="565A32"/>
          </a:solidFill>
          <a:ln>
            <a:noFill/>
          </a:ln>
        </p:spPr>
        <p:txBody>
          <a:bodyPr anchorCtr="0" anchor="ctr" bIns="18275" lIns="182875" spcFirstLastPara="1" rIns="182875" wrap="square" tIns="18275">
            <a:noAutofit/>
          </a:bodyPr>
          <a:lstStyle/>
          <a:p>
            <a:pPr indent="0" lvl="0" marL="0" marR="0" rtl="0" algn="ctr">
              <a:lnSpc>
                <a:spcPct val="100000"/>
              </a:lnSpc>
              <a:spcBef>
                <a:spcPts val="0"/>
              </a:spcBef>
              <a:spcAft>
                <a:spcPts val="0"/>
              </a:spcAft>
              <a:buNone/>
            </a:pPr>
            <a:r>
              <a:rPr b="1" i="0" lang="en-US" spc="0" sz="1800" u="none" cap="none" strike="noStrike">
                <a:solidFill>
                  <a:srgbClr val="EFEAE0"/>
                </a:solidFill>
                <a:latin typeface="Raleway SemiBold"/>
                <a:ea typeface="Raleway SemiBold"/>
                <a:cs typeface="Raleway SemiBold"/>
                <a:sym typeface="Raleway SemiBold"/>
              </a:rPr>
              <a:t>Protect the brand. Retain the platform. Partner selectively.</a:t>
            </a:r>
            <a:endParaRPr/>
          </a:p>
        </p:txBody>
      </p:sp>
      <p:sp>
        <p:nvSpPr>
          <p:cNvPr id="1022" name="Google Shape;1022;p71"/>
          <p:cNvSpPr/>
          <p:nvPr/>
        </p:nvSpPr>
        <p:spPr>
          <a:xfrm>
            <a:off x="0" y="0"/>
            <a:ext cx="12191700" cy="329100"/>
          </a:xfrm>
          <a:prstGeom prst="rect">
            <a:avLst/>
          </a:prstGeom>
          <a:solidFill>
            <a:srgbClr val="565A32"/>
          </a:solidFill>
          <a:ln cap="flat" cmpd="sng" w="12700">
            <a:solidFill>
              <a:srgbClr val="565A3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
        <p:nvSpPr>
          <p:cNvPr id="1023" name="Slide number"/>
          <p:cNvSpPr txBox="1"/>
          <p:nvPr>
            <p:ph idx="4294967295" type="sldNum"/>
          </p:nvPr>
        </p:nvSpPr>
        <p:spPr>
          <a:xfrm>
            <a:off x="9372600" y="5971032"/>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chemeClr val="dk1"/>
                </a:solidFill>
                <a:latin typeface="Raleway Light"/>
                <a:ea typeface="Raleway Light"/>
                <a:cs typeface="Raleway Light"/>
                <a:sym typeface="Raleway Light"/>
              </a:rPr>
              <a:t>‹#›</a:t>
            </a:fld>
            <a:endParaRPr b="0" i="0" sz="1000" u="none" cap="none" strike="noStrike">
              <a:solidFill>
                <a:schemeClr val="dk1"/>
              </a:solidFill>
              <a:latin typeface="Raleway Light"/>
              <a:ea typeface="Raleway Light"/>
              <a:cs typeface="Raleway Light"/>
              <a:sym typeface="Raleway Light"/>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AE0"/>
        </a:solidFill>
      </p:bgPr>
    </p:bg>
    <p:spTree>
      <p:nvGrpSpPr>
        <p:cNvPr id="1027" name="Shape 1027"/>
        <p:cNvGrpSpPr/>
        <p:nvPr/>
      </p:nvGrpSpPr>
      <p:grpSpPr>
        <a:xfrm>
          <a:off x="0" y="0"/>
          <a:ext cx="0" cy="0"/>
          <a:chOff x="0" y="0"/>
          <a:chExt cx="0" cy="0"/>
        </a:xfrm>
      </p:grpSpPr>
      <p:sp>
        <p:nvSpPr>
          <p:cNvPr id="1028" name="Google Shape;1028;p72"/>
          <p:cNvSpPr txBox="1"/>
          <p:nvPr/>
        </p:nvSpPr>
        <p:spPr>
          <a:xfrm>
            <a:off x="685800" y="475501"/>
            <a:ext cx="8229600" cy="618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565A32"/>
              </a:buClr>
              <a:buSzPts val="3800"/>
              <a:buFont typeface="Raleway Light"/>
              <a:buNone/>
            </a:pPr>
            <a:r>
              <a:rPr b="0" i="0" lang="en-US" spc="0" sz="3800" u="none" cap="none" strike="noStrike">
                <a:solidFill>
                  <a:srgbClr val="565A32"/>
                </a:solidFill>
                <a:latin typeface="Raleway Light"/>
                <a:ea typeface="Raleway Light"/>
                <a:cs typeface="Raleway Light"/>
                <a:sym typeface="Raleway Light"/>
              </a:rPr>
              <a:t>Funding and launch</a:t>
            </a:r>
            <a:endParaRPr b="1" i="0" spc="0" sz="2700" u="none" cap="none" strike="noStrike">
              <a:solidFill>
                <a:srgbClr val="565A32"/>
              </a:solidFill>
              <a:latin typeface="Raleway SemiBold"/>
              <a:ea typeface="Raleway SemiBold"/>
              <a:cs typeface="Raleway SemiBold"/>
              <a:sym typeface="Raleway SemiBold"/>
            </a:endParaRPr>
          </a:p>
        </p:txBody>
      </p:sp>
      <p:pic>
        <p:nvPicPr>
          <p:cNvPr id="1029" name="Google Shape;1029;p72" title="Copy_of_Untitled-removebg-preview.png"/>
          <p:cNvPicPr preferRelativeResize="0"/>
          <p:nvPr/>
        </p:nvPicPr>
        <p:blipFill rotWithShape="1">
          <a:blip r:embed="rId3">
            <a:alphaModFix/>
          </a:blip>
          <a:srcRect b="0" l="0" r="0" t="0"/>
          <a:stretch/>
        </p:blipFill>
        <p:spPr>
          <a:xfrm>
            <a:off x="9834990" y="5349262"/>
            <a:ext cx="1508730" cy="1508730"/>
          </a:xfrm>
          <a:prstGeom prst="rect">
            <a:avLst/>
          </a:prstGeom>
          <a:noFill/>
          <a:ln>
            <a:noFill/>
          </a:ln>
        </p:spPr>
      </p:pic>
      <p:sp>
        <p:nvSpPr>
          <p:cNvPr id="1030" name="Google Shape;1030;p72"/>
          <p:cNvSpPr txBox="1"/>
          <p:nvPr/>
        </p:nvSpPr>
        <p:spPr>
          <a:xfrm>
            <a:off x="11785400" y="3848725"/>
            <a:ext cx="914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
        <p:nvSpPr>
          <p:cNvPr id="1031" name="Google Shape;1031;p72"/>
          <p:cNvSpPr txBox="1"/>
          <p:nvPr/>
        </p:nvSpPr>
        <p:spPr>
          <a:xfrm>
            <a:off x="685800" y="1015416"/>
            <a:ext cx="8503800" cy="384000"/>
          </a:xfrm>
          <a:prstGeom prst="rect">
            <a:avLst/>
          </a:prstGeom>
          <a:noFill/>
          <a:ln>
            <a:noFill/>
          </a:ln>
        </p:spPr>
        <p:txBody>
          <a:bodyPr anchorCtr="0" anchor="t" bIns="0" lIns="0" spcFirstLastPara="1" rIns="0" wrap="square" tIns="0">
            <a:normAutofit/>
          </a:bodyPr>
          <a:lstStyle/>
          <a:p>
            <a:pPr indent="0" lvl="0" marL="0" marR="0" rtl="0" algn="l">
              <a:lnSpc>
                <a:spcPct val="100000"/>
              </a:lnSpc>
              <a:spcBef>
                <a:spcPts val="0"/>
              </a:spcBef>
              <a:spcAft>
                <a:spcPts val="0"/>
              </a:spcAft>
              <a:buClr>
                <a:schemeClr val="dk1"/>
              </a:buClr>
              <a:buSzPts val="1700"/>
              <a:buFont typeface="Arial"/>
              <a:buNone/>
            </a:pPr>
            <a:r>
              <a:rPr b="0" i="0" lang="en-US" spc="0" sz="1900" u="none" cap="none" strike="noStrike">
                <a:solidFill>
                  <a:srgbClr val="565A32"/>
                </a:solidFill>
                <a:latin typeface="Raleway Light"/>
                <a:ea typeface="Raleway Light"/>
                <a:cs typeface="Raleway Light"/>
                <a:sym typeface="Raleway Light"/>
              </a:rPr>
              <a:t>A draft launch path. Funding is still to decide.</a:t>
            </a:r>
            <a:endParaRPr b="0" i="0" spc="0" sz="1900" u="none" cap="none" strike="noStrike">
              <a:solidFill>
                <a:schemeClr val="dk1"/>
              </a:solidFill>
              <a:latin typeface="Raleway Light"/>
              <a:ea typeface="Raleway Light"/>
              <a:cs typeface="Raleway Light"/>
              <a:sym typeface="Raleway Light"/>
            </a:endParaRPr>
          </a:p>
        </p:txBody>
      </p:sp>
      <p:sp>
        <p:nvSpPr>
          <p:cNvPr id="1032" name="Google Shape;1032;p72"/>
          <p:cNvSpPr/>
          <p:nvPr/>
        </p:nvSpPr>
        <p:spPr>
          <a:xfrm>
            <a:off x="9262872" y="457200"/>
            <a:ext cx="2377440" cy="384048"/>
          </a:xfrm>
          <a:prstGeom prst="roundRect">
            <a:avLst>
              <a:gd fmla="val 50000" name="adj"/>
            </a:avLst>
          </a:prstGeom>
          <a:solidFill>
            <a:srgbClr val="EFEAE0"/>
          </a:solidFill>
          <a:ln cap="flat" cmpd="sng" w="12700">
            <a:solidFill>
              <a:srgbClr val="565A32"/>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1" i="0" lang="en-US" spc="0" sz="1400" u="none" cap="none" strike="noStrike">
                <a:solidFill>
                  <a:srgbClr val="565A32"/>
                </a:solidFill>
                <a:latin typeface="Raleway SemiBold"/>
                <a:ea typeface="Raleway SemiBold"/>
                <a:cs typeface="Raleway SemiBold"/>
                <a:sym typeface="Raleway SemiBold"/>
              </a:rPr>
              <a:t>INTERNAL</a:t>
            </a:r>
            <a:endParaRPr b="0" i="0" spc="0" sz="1400" u="none" cap="none" strike="noStrike">
              <a:solidFill>
                <a:srgbClr val="000000"/>
              </a:solidFill>
              <a:latin typeface="Arial"/>
              <a:ea typeface="Arial"/>
              <a:cs typeface="Arial"/>
              <a:sym typeface="Arial"/>
            </a:endParaRPr>
          </a:p>
        </p:txBody>
      </p:sp>
      <p:sp>
        <p:nvSpPr>
          <p:cNvPr id="1033" name="Google Shape;1033;p72"/>
          <p:cNvSpPr/>
          <p:nvPr/>
        </p:nvSpPr>
        <p:spPr>
          <a:xfrm>
            <a:off x="685800" y="1691640"/>
            <a:ext cx="457200" cy="457200"/>
          </a:xfrm>
          <a:prstGeom prst="ellipse">
            <a:avLst/>
          </a:prstGeom>
          <a:solidFill>
            <a:srgbClr val="565A3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pc="0" sz="1400" u="none" cap="none" strike="noStrike">
                <a:solidFill>
                  <a:srgbClr val="EFEAE0"/>
                </a:solidFill>
                <a:latin typeface="Raleway SemiBold"/>
                <a:ea typeface="Raleway SemiBold"/>
                <a:cs typeface="Raleway SemiBold"/>
                <a:sym typeface="Raleway SemiBold"/>
              </a:rPr>
              <a:t>1</a:t>
            </a:r>
            <a:endParaRPr/>
          </a:p>
        </p:txBody>
      </p:sp>
      <p:sp>
        <p:nvSpPr>
          <p:cNvPr id="1034" name="Google Shape;1034;p72"/>
          <p:cNvSpPr txBox="1"/>
          <p:nvPr/>
        </p:nvSpPr>
        <p:spPr>
          <a:xfrm>
            <a:off x="1325880" y="1673352"/>
            <a:ext cx="5120640" cy="914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pc="0" sz="1400" u="none" cap="none" strike="noStrike">
                <a:solidFill>
                  <a:srgbClr val="565A32"/>
                </a:solidFill>
                <a:latin typeface="Raleway SemiBold"/>
                <a:ea typeface="Raleway SemiBold"/>
                <a:cs typeface="Raleway SemiBold"/>
                <a:sym typeface="Raleway SemiBold"/>
              </a:rPr>
              <a:t>Now</a:t>
            </a:r>
            <a:endParaRPr/>
          </a:p>
          <a:p>
            <a:pPr indent="0" lvl="0" marL="0" marR="0" rtl="0" algn="l">
              <a:lnSpc>
                <a:spcPct val="100000"/>
              </a:lnSpc>
              <a:spcBef>
                <a:spcPts val="0"/>
              </a:spcBef>
              <a:spcAft>
                <a:spcPts val="0"/>
              </a:spcAft>
              <a:buNone/>
            </a:pPr>
            <a:r>
              <a:rPr b="0" i="0" lang="en-US" spc="0" sz="1200" u="none" cap="none" strike="noStrike">
                <a:solidFill>
                  <a:srgbClr val="565A32"/>
                </a:solidFill>
                <a:latin typeface="Raleway Light"/>
                <a:ea typeface="Raleway Light"/>
                <a:cs typeface="Raleway Light"/>
                <a:sym typeface="Raleway Light"/>
              </a:rPr>
              <a:t>Prototype and playtesting. The game is playable; the app, Partner Mode and Event Mode work live as prototypes.</a:t>
            </a:r>
            <a:endParaRPr/>
          </a:p>
        </p:txBody>
      </p:sp>
      <p:sp>
        <p:nvSpPr>
          <p:cNvPr id="1035" name="Google Shape;1035;p72"/>
          <p:cNvSpPr/>
          <p:nvPr/>
        </p:nvSpPr>
        <p:spPr>
          <a:xfrm>
            <a:off x="685800" y="2697480"/>
            <a:ext cx="457200" cy="457200"/>
          </a:xfrm>
          <a:prstGeom prst="ellipse">
            <a:avLst/>
          </a:prstGeom>
          <a:solidFill>
            <a:srgbClr val="565A3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pc="0" sz="1400" u="none" cap="none" strike="noStrike">
                <a:solidFill>
                  <a:srgbClr val="EFEAE0"/>
                </a:solidFill>
                <a:latin typeface="Raleway SemiBold"/>
                <a:ea typeface="Raleway SemiBold"/>
                <a:cs typeface="Raleway SemiBold"/>
                <a:sym typeface="Raleway SemiBold"/>
              </a:rPr>
              <a:t>2</a:t>
            </a:r>
            <a:endParaRPr/>
          </a:p>
        </p:txBody>
      </p:sp>
      <p:sp>
        <p:nvSpPr>
          <p:cNvPr id="1036" name="Google Shape;1036;p72"/>
          <p:cNvSpPr txBox="1"/>
          <p:nvPr/>
        </p:nvSpPr>
        <p:spPr>
          <a:xfrm>
            <a:off x="1325880" y="2679192"/>
            <a:ext cx="5120640" cy="914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pc="0" sz="1400" u="none" cap="none" strike="noStrike">
                <a:solidFill>
                  <a:srgbClr val="565A32"/>
                </a:solidFill>
                <a:latin typeface="Raleway SemiBold"/>
                <a:ea typeface="Raleway SemiBold"/>
                <a:cs typeface="Raleway SemiBold"/>
                <a:sym typeface="Raleway SemiBold"/>
              </a:rPr>
              <a:t>Before the first real event</a:t>
            </a:r>
            <a:endParaRPr/>
          </a:p>
          <a:p>
            <a:pPr indent="0" lvl="0" marL="0" marR="0" rtl="0" algn="l">
              <a:lnSpc>
                <a:spcPct val="100000"/>
              </a:lnSpc>
              <a:spcBef>
                <a:spcPts val="0"/>
              </a:spcBef>
              <a:spcAft>
                <a:spcPts val="0"/>
              </a:spcAft>
              <a:buNone/>
            </a:pPr>
            <a:r>
              <a:rPr b="0" i="0" lang="en-US" spc="0" sz="1200" u="none" cap="none" strike="noStrike">
                <a:solidFill>
                  <a:srgbClr val="565A32"/>
                </a:solidFill>
                <a:latin typeface="Raleway Light"/>
                <a:ea typeface="Raleway Light"/>
                <a:cs typeface="Raleway Light"/>
                <a:sym typeface="Raleway Light"/>
              </a:rPr>
              <a:t>Production readiness (BR1–BR3), privacy notice and legal review (L1), multi-device Event testing. Fizz Fest: date to confirm.</a:t>
            </a:r>
            <a:endParaRPr/>
          </a:p>
        </p:txBody>
      </p:sp>
      <p:sp>
        <p:nvSpPr>
          <p:cNvPr id="1037" name="Google Shape;1037;p72"/>
          <p:cNvSpPr/>
          <p:nvPr/>
        </p:nvSpPr>
        <p:spPr>
          <a:xfrm>
            <a:off x="685800" y="3703320"/>
            <a:ext cx="457200" cy="457200"/>
          </a:xfrm>
          <a:prstGeom prst="ellipse">
            <a:avLst/>
          </a:prstGeom>
          <a:solidFill>
            <a:srgbClr val="565A3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pc="0" sz="1400" u="none" cap="none" strike="noStrike">
                <a:solidFill>
                  <a:srgbClr val="EFEAE0"/>
                </a:solidFill>
                <a:latin typeface="Raleway SemiBold"/>
                <a:ea typeface="Raleway SemiBold"/>
                <a:cs typeface="Raleway SemiBold"/>
                <a:sym typeface="Raleway SemiBold"/>
              </a:rPr>
              <a:t>3</a:t>
            </a:r>
            <a:endParaRPr/>
          </a:p>
        </p:txBody>
      </p:sp>
      <p:sp>
        <p:nvSpPr>
          <p:cNvPr id="1038" name="Google Shape;1038;p72"/>
          <p:cNvSpPr txBox="1"/>
          <p:nvPr/>
        </p:nvSpPr>
        <p:spPr>
          <a:xfrm>
            <a:off x="1325880" y="3685032"/>
            <a:ext cx="5120640" cy="914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pc="0" sz="1400" u="none" cap="none" strike="noStrike">
                <a:solidFill>
                  <a:srgbClr val="565A32"/>
                </a:solidFill>
                <a:latin typeface="Raleway SemiBold"/>
                <a:ea typeface="Raleway SemiBold"/>
                <a:cs typeface="Raleway SemiBold"/>
                <a:sym typeface="Raleway SemiBold"/>
              </a:rPr>
              <a:t>Company formed</a:t>
            </a:r>
            <a:endParaRPr/>
          </a:p>
          <a:p>
            <a:pPr indent="0" lvl="0" marL="0" marR="0" rtl="0" algn="l">
              <a:lnSpc>
                <a:spcPct val="100000"/>
              </a:lnSpc>
              <a:spcBef>
                <a:spcPts val="0"/>
              </a:spcBef>
              <a:spcAft>
                <a:spcPts val="0"/>
              </a:spcAft>
              <a:buNone/>
            </a:pPr>
            <a:r>
              <a:rPr b="0" i="0" lang="en-US" spc="0" sz="1200" u="none" cap="none" strike="noStrike">
                <a:solidFill>
                  <a:srgbClr val="565A32"/>
                </a:solidFill>
                <a:latin typeface="Raleway Light"/>
                <a:ea typeface="Raleway Light"/>
                <a:cs typeface="Raleway Light"/>
                <a:sym typeface="Raleway Light"/>
              </a:rPr>
              <a:t>Readiness level 1, and the data controller confirmed.</a:t>
            </a:r>
            <a:endParaRPr/>
          </a:p>
        </p:txBody>
      </p:sp>
      <p:sp>
        <p:nvSpPr>
          <p:cNvPr id="1039" name="Google Shape;1039;p72"/>
          <p:cNvSpPr/>
          <p:nvPr/>
        </p:nvSpPr>
        <p:spPr>
          <a:xfrm>
            <a:off x="685800" y="4709160"/>
            <a:ext cx="457200" cy="457200"/>
          </a:xfrm>
          <a:prstGeom prst="ellipse">
            <a:avLst/>
          </a:prstGeom>
          <a:solidFill>
            <a:srgbClr val="565A3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pc="0" sz="1400" u="none" cap="none" strike="noStrike">
                <a:solidFill>
                  <a:srgbClr val="EFEAE0"/>
                </a:solidFill>
                <a:latin typeface="Raleway SemiBold"/>
                <a:ea typeface="Raleway SemiBold"/>
                <a:cs typeface="Raleway SemiBold"/>
                <a:sym typeface="Raleway SemiBold"/>
              </a:rPr>
              <a:t>4</a:t>
            </a:r>
            <a:endParaRPr/>
          </a:p>
        </p:txBody>
      </p:sp>
      <p:sp>
        <p:nvSpPr>
          <p:cNvPr id="1040" name="Google Shape;1040;p72"/>
          <p:cNvSpPr txBox="1"/>
          <p:nvPr/>
        </p:nvSpPr>
        <p:spPr>
          <a:xfrm>
            <a:off x="1325880" y="4690872"/>
            <a:ext cx="5120640" cy="914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pc="0" sz="1400" u="none" cap="none" strike="noStrike">
                <a:solidFill>
                  <a:srgbClr val="565A32"/>
                </a:solidFill>
                <a:latin typeface="Raleway SemiBold"/>
                <a:ea typeface="Raleway SemiBold"/>
                <a:cs typeface="Raleway SemiBold"/>
                <a:sym typeface="Raleway SemiBold"/>
              </a:rPr>
              <a:t>Physical game route</a:t>
            </a:r>
            <a:endParaRPr/>
          </a:p>
          <a:p>
            <a:pPr indent="0" lvl="0" marL="0" marR="0" rtl="0" algn="l">
              <a:lnSpc>
                <a:spcPct val="100000"/>
              </a:lnSpc>
              <a:spcBef>
                <a:spcPts val="0"/>
              </a:spcBef>
              <a:spcAft>
                <a:spcPts val="0"/>
              </a:spcAft>
              <a:buNone/>
            </a:pPr>
            <a:r>
              <a:rPr b="0" i="0" lang="en-US" spc="0" sz="1200" u="none" cap="none" strike="noStrike">
                <a:solidFill>
                  <a:srgbClr val="565A32"/>
                </a:solidFill>
                <a:latin typeface="Raleway Light"/>
                <a:ea typeface="Raleway Light"/>
                <a:cs typeface="Raleway Light"/>
                <a:sym typeface="Raleway Light"/>
              </a:rPr>
              <a:t>Licence or self-manufacture decided. Stock likely from May 2027 (hypothesis).</a:t>
            </a:r>
            <a:endParaRPr/>
          </a:p>
        </p:txBody>
      </p:sp>
      <p:sp>
        <p:nvSpPr>
          <p:cNvPr id="1041" name="Google Shape;1041;p72"/>
          <p:cNvSpPr/>
          <p:nvPr/>
        </p:nvSpPr>
        <p:spPr>
          <a:xfrm>
            <a:off x="6812280" y="1691640"/>
            <a:ext cx="4663440" cy="3566160"/>
          </a:xfrm>
          <a:prstGeom prst="roundRect">
            <a:avLst>
              <a:gd fmla="val 5217" name="adj"/>
            </a:avLst>
          </a:prstGeom>
          <a:solidFill>
            <a:srgbClr val="FFFFFF"/>
          </a:solidFill>
          <a:ln cap="flat" cmpd="sng" w="12700">
            <a:solidFill>
              <a:srgbClr val="FFFFFF"/>
            </a:solidFill>
            <a:prstDash val="solid"/>
            <a:round/>
            <a:headEnd len="sm" w="sm" type="none"/>
            <a:tailEnd len="sm" w="sm" type="none"/>
          </a:ln>
          <a:effectLst>
            <a:outerShdw blurRad="76200" rotWithShape="0" algn="bl" dir="5400000" dist="25400">
              <a:srgbClr val="565A32">
                <a:alpha val="12157"/>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042" name="Google Shape;1042;p72"/>
          <p:cNvSpPr txBox="1"/>
          <p:nvPr/>
        </p:nvSpPr>
        <p:spPr>
          <a:xfrm>
            <a:off x="7086600" y="1874519"/>
            <a:ext cx="4160520" cy="3291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pc="0" sz="1400" u="none" cap="none" strike="noStrike">
                <a:solidFill>
                  <a:srgbClr val="565A32"/>
                </a:solidFill>
                <a:latin typeface="Raleway SemiBold"/>
                <a:ea typeface="Raleway SemiBold"/>
                <a:cs typeface="Raleway SemiBold"/>
                <a:sym typeface="Raleway SemiBold"/>
              </a:rPr>
              <a:t>Funding: to decide</a:t>
            </a:r>
            <a:endParaRPr/>
          </a:p>
          <a:p>
            <a:pPr indent="0" lvl="0" marL="0" marR="0" rtl="0" algn="l">
              <a:lnSpc>
                <a:spcPct val="100000"/>
              </a:lnSpc>
              <a:spcBef>
                <a:spcPts val="0"/>
              </a:spcBef>
              <a:spcAft>
                <a:spcPts val="0"/>
              </a:spcAft>
              <a:buNone/>
            </a:pPr>
            <a:r>
              <a:rPr b="0" i="0" lang="en-US" spc="0" sz="1200" u="none" cap="none" strike="noStrike">
                <a:solidFill>
                  <a:srgbClr val="565A32"/>
                </a:solidFill>
                <a:latin typeface="Raleway Light"/>
                <a:ea typeface="Raleway Light"/>
                <a:cs typeface="Raleway Light"/>
                <a:sym typeface="Raleway Light"/>
              </a:rPr>
              <a:t>No funding figures yet. Investors are deferred in the Brand Brain.</a:t>
            </a:r>
            <a:endParaRPr/>
          </a:p>
          <a:p>
            <a:pPr indent="0" lvl="0" marL="0" marR="0" rtl="0" algn="l">
              <a:lnSpc>
                <a:spcPct val="100000"/>
              </a:lnSpc>
              <a:spcBef>
                <a:spcPts val="0"/>
              </a:spcBef>
              <a:spcAft>
                <a:spcPts val="0"/>
              </a:spcAft>
              <a:buNone/>
            </a:pPr>
            <a:r>
              <a:rPr b="0" i="0" lang="en-US" spc="0" sz="600" u="none" cap="none" strike="noStrike">
                <a:solidFill>
                  <a:srgbClr val="565A32"/>
                </a:solidFill>
                <a:latin typeface="Raleway Light"/>
                <a:ea typeface="Raleway Light"/>
                <a:cs typeface="Raleway Light"/>
                <a:sym typeface="Raleway Light"/>
              </a:rPr>
              <a:t> </a:t>
            </a:r>
            <a:endParaRPr/>
          </a:p>
          <a:p>
            <a:pPr indent="0" lvl="0" marL="0" marR="0" rtl="0" algn="l">
              <a:lnSpc>
                <a:spcPct val="100000"/>
              </a:lnSpc>
              <a:spcBef>
                <a:spcPts val="0"/>
              </a:spcBef>
              <a:spcAft>
                <a:spcPts val="0"/>
              </a:spcAft>
              <a:buNone/>
            </a:pPr>
            <a:r>
              <a:rPr b="1" i="0" lang="en-US" spc="0" sz="1200" u="none" cap="none" strike="noStrike">
                <a:solidFill>
                  <a:srgbClr val="565A32"/>
                </a:solidFill>
                <a:latin typeface="Raleway SemiBold"/>
                <a:ea typeface="Raleway SemiBold"/>
                <a:cs typeface="Raleway SemiBold"/>
                <a:sym typeface="Raleway SemiBold"/>
              </a:rPr>
              <a:t>What launch needs funding</a:t>
            </a:r>
            <a:endParaRPr/>
          </a:p>
          <a:p>
            <a:pPr indent="0" lvl="0" marL="0" marR="0" rtl="0" algn="l">
              <a:lnSpc>
                <a:spcPct val="100000"/>
              </a:lnSpc>
              <a:spcBef>
                <a:spcPts val="0"/>
              </a:spcBef>
              <a:spcAft>
                <a:spcPts val="0"/>
              </a:spcAft>
              <a:buNone/>
            </a:pPr>
            <a:r>
              <a:rPr b="0" i="0" lang="en-US" spc="0" sz="1200" u="none" cap="none" strike="noStrike">
                <a:solidFill>
                  <a:srgbClr val="565A32"/>
                </a:solidFill>
                <a:latin typeface="Raleway Light"/>
                <a:ea typeface="Raleway Light"/>
                <a:cs typeface="Raleway Light"/>
                <a:sym typeface="Raleway Light"/>
              </a:rPr>
              <a:t>The physical game route, app production readiness, legal review and the first events.</a:t>
            </a:r>
            <a:endParaRPr/>
          </a:p>
          <a:p>
            <a:pPr indent="0" lvl="0" marL="0" marR="0" rtl="0" algn="l">
              <a:lnSpc>
                <a:spcPct val="100000"/>
              </a:lnSpc>
              <a:spcBef>
                <a:spcPts val="0"/>
              </a:spcBef>
              <a:spcAft>
                <a:spcPts val="0"/>
              </a:spcAft>
              <a:buNone/>
            </a:pPr>
            <a:r>
              <a:rPr b="0" i="0" lang="en-US" spc="0" sz="600" u="none" cap="none" strike="noStrike">
                <a:solidFill>
                  <a:srgbClr val="565A32"/>
                </a:solidFill>
                <a:latin typeface="Raleway Light"/>
                <a:ea typeface="Raleway Light"/>
                <a:cs typeface="Raleway Light"/>
                <a:sym typeface="Raleway Light"/>
              </a:rPr>
              <a:t> </a:t>
            </a:r>
            <a:endParaRPr/>
          </a:p>
          <a:p>
            <a:pPr indent="0" lvl="0" marL="0" marR="0" rtl="0" algn="l">
              <a:lnSpc>
                <a:spcPct val="100000"/>
              </a:lnSpc>
              <a:spcBef>
                <a:spcPts val="0"/>
              </a:spcBef>
              <a:spcAft>
                <a:spcPts val="0"/>
              </a:spcAft>
              <a:buNone/>
            </a:pPr>
            <a:r>
              <a:rPr b="1" i="0" lang="en-US" spc="0" sz="1200" u="none" cap="none" strike="noStrike">
                <a:solidFill>
                  <a:srgbClr val="565A32"/>
                </a:solidFill>
                <a:latin typeface="Raleway SemiBold"/>
                <a:ea typeface="Raleway SemiBold"/>
                <a:cs typeface="Raleway SemiBold"/>
                <a:sym typeface="Raleway SemiBold"/>
              </a:rPr>
              <a:t>How it could be funded</a:t>
            </a:r>
            <a:endParaRPr/>
          </a:p>
          <a:p>
            <a:pPr indent="0" lvl="0" marL="0" marR="0" rtl="0" algn="l">
              <a:lnSpc>
                <a:spcPct val="100000"/>
              </a:lnSpc>
              <a:spcBef>
                <a:spcPts val="0"/>
              </a:spcBef>
              <a:spcAft>
                <a:spcPts val="0"/>
              </a:spcAft>
              <a:buNone/>
            </a:pPr>
            <a:r>
              <a:rPr b="0" i="0" lang="en-US" spc="0" sz="1200" u="none" cap="none" strike="noStrike">
                <a:solidFill>
                  <a:srgbClr val="565A32"/>
                </a:solidFill>
                <a:latin typeface="Raleway Light"/>
                <a:ea typeface="Raleway Light"/>
                <a:cs typeface="Raleway Light"/>
                <a:sym typeface="Raleway Light"/>
              </a:rPr>
              <a:t>The founder and shareholders (slide 39), income from first partners, or investment if you decide to seek it.</a:t>
            </a:r>
            <a:endParaRPr/>
          </a:p>
        </p:txBody>
      </p:sp>
      <p:sp>
        <p:nvSpPr>
          <p:cNvPr id="1043" name="Google Shape;1043;p72"/>
          <p:cNvSpPr/>
          <p:nvPr/>
        </p:nvSpPr>
        <p:spPr>
          <a:xfrm>
            <a:off x="0" y="0"/>
            <a:ext cx="12191700" cy="329100"/>
          </a:xfrm>
          <a:prstGeom prst="rect">
            <a:avLst/>
          </a:prstGeom>
          <a:solidFill>
            <a:srgbClr val="565A32"/>
          </a:solidFill>
          <a:ln cap="flat" cmpd="sng" w="12700">
            <a:solidFill>
              <a:srgbClr val="565A3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
        <p:nvSpPr>
          <p:cNvPr id="1044" name="Slide number"/>
          <p:cNvSpPr txBox="1"/>
          <p:nvPr>
            <p:ph idx="4294967295" type="sldNum"/>
          </p:nvPr>
        </p:nvSpPr>
        <p:spPr>
          <a:xfrm>
            <a:off x="9372600" y="5971032"/>
            <a:ext cx="548640" cy="27432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1000"/>
              <a:buNone/>
            </a:pPr>
            <a:fld id="{00000000-1234-1234-1234-123412341234}" type="slidenum">
              <a:rPr b="0" i="0" lang="en-US" sz="1000" u="none" cap="none" strike="noStrike">
                <a:solidFill>
                  <a:schemeClr val="dk1"/>
                </a:solidFill>
                <a:latin typeface="Raleway Light"/>
                <a:ea typeface="Raleway Light"/>
                <a:cs typeface="Raleway Light"/>
                <a:sym typeface="Raleway Light"/>
              </a:rPr>
              <a:t>‹#›</a:t>
            </a:fld>
            <a:endParaRPr b="0" i="0" sz="1000" u="none" cap="none" strike="noStrike">
              <a:solidFill>
                <a:schemeClr val="dk1"/>
              </a:solidFill>
              <a:latin typeface="Raleway Light"/>
              <a:ea typeface="Raleway Light"/>
              <a:cs typeface="Raleway Light"/>
              <a:sym typeface="Raleway Light"/>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8" name="Shape 1048"/>
        <p:cNvGrpSpPr/>
        <p:nvPr/>
      </p:nvGrpSpPr>
      <p:grpSpPr>
        <a:xfrm>
          <a:off x="0" y="0"/>
          <a:ext cx="0" cy="0"/>
          <a:chOff x="0" y="0"/>
          <a:chExt cx="0" cy="0"/>
        </a:xfrm>
      </p:grpSpPr>
      <p:sp>
        <p:nvSpPr>
          <p:cNvPr id="1049" name="Google Shape;1049;p73"/>
          <p:cNvSpPr txBox="1"/>
          <p:nvPr>
            <p:ph type="title"/>
          </p:nvPr>
        </p:nvSpPr>
        <p:spPr>
          <a:xfrm>
            <a:off x="548640" y="411480"/>
            <a:ext cx="8138100" cy="685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3600"/>
              <a:buNone/>
            </a:pPr>
            <a:r>
              <a:rPr lang="en-US"/>
              <a:t>Why work with Entre Amis</a:t>
            </a:r>
            <a:endParaRPr/>
          </a:p>
        </p:txBody>
      </p:sp>
      <p:sp>
        <p:nvSpPr>
          <p:cNvPr id="1050" name="Google Shape;1050;p73"/>
          <p:cNvSpPr txBox="1"/>
          <p:nvPr>
            <p:ph idx="1" type="body"/>
          </p:nvPr>
        </p:nvSpPr>
        <p:spPr>
          <a:xfrm>
            <a:off x="548640" y="1115568"/>
            <a:ext cx="11094300" cy="411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800"/>
              <a:buNone/>
            </a:pPr>
            <a:r>
              <a:rPr lang="en-US"/>
              <a:t>A founder-led business with a wider world of expertise.</a:t>
            </a:r>
            <a:endParaRPr/>
          </a:p>
        </p:txBody>
      </p:sp>
      <p:sp>
        <p:nvSpPr>
          <p:cNvPr id="1051" name="Google Shape;1051;p73"/>
          <p:cNvSpPr txBox="1"/>
          <p:nvPr/>
        </p:nvSpPr>
        <p:spPr>
          <a:xfrm>
            <a:off x="548650" y="1727850"/>
            <a:ext cx="7694100" cy="3402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0"/>
              </a:spcAft>
              <a:buClr>
                <a:srgbClr val="000000"/>
              </a:buClr>
              <a:buSzPts val="1500"/>
              <a:buFont typeface="Arial"/>
              <a:buNone/>
            </a:pPr>
            <a:r>
              <a:rPr b="0" i="0" lang="en-US" spc="0" sz="1500" u="none" cap="none" strike="noStrike">
                <a:solidFill>
                  <a:schemeClr val="dk1"/>
                </a:solidFill>
                <a:latin typeface="Raleway Light"/>
                <a:ea typeface="Raleway Light"/>
                <a:cs typeface="Raleway Light"/>
                <a:sym typeface="Raleway Light"/>
              </a:rPr>
              <a:t>Entre Amis brings together a passion for wine with decades of experience building brands, engaging customers and developing commercially valuable experiences.</a:t>
            </a:r>
            <a:endParaRPr b="0" i="0" spc="0" sz="1500" u="none" cap="none" strike="noStrike">
              <a:solidFill>
                <a:schemeClr val="dk1"/>
              </a:solidFill>
              <a:latin typeface="Raleway Light"/>
              <a:ea typeface="Raleway Light"/>
              <a:cs typeface="Raleway Light"/>
              <a:sym typeface="Raleway Light"/>
            </a:endParaRPr>
          </a:p>
          <a:p>
            <a:pPr indent="0" lvl="0" marL="0" marR="0" rtl="0" algn="l">
              <a:lnSpc>
                <a:spcPct val="115000"/>
              </a:lnSpc>
              <a:spcBef>
                <a:spcPts val="1200"/>
              </a:spcBef>
              <a:spcAft>
                <a:spcPts val="0"/>
              </a:spcAft>
              <a:buClr>
                <a:srgbClr val="000000"/>
              </a:buClr>
              <a:buSzPts val="1500"/>
              <a:buFont typeface="Arial"/>
              <a:buNone/>
            </a:pPr>
            <a:r>
              <a:rPr b="1" i="0" lang="en-US" spc="0" sz="1500" u="none" cap="none" strike="noStrike">
                <a:solidFill>
                  <a:schemeClr val="dk1"/>
                </a:solidFill>
                <a:latin typeface="Raleway"/>
                <a:ea typeface="Raleway"/>
                <a:cs typeface="Raleway"/>
                <a:sym typeface="Raleway"/>
              </a:rPr>
              <a:t>Commercial experience</a:t>
            </a:r>
            <a:endParaRPr b="1" i="0" spc="0" sz="1500" u="none" cap="none" strike="noStrike">
              <a:solidFill>
                <a:schemeClr val="dk1"/>
              </a:solidFill>
              <a:latin typeface="Raleway"/>
              <a:ea typeface="Raleway"/>
              <a:cs typeface="Raleway"/>
              <a:sym typeface="Raleway"/>
            </a:endParaRPr>
          </a:p>
          <a:p>
            <a:pPr indent="0" lvl="0" marL="0" marR="0" rtl="0" algn="l">
              <a:lnSpc>
                <a:spcPct val="115000"/>
              </a:lnSpc>
              <a:spcBef>
                <a:spcPts val="1200"/>
              </a:spcBef>
              <a:spcAft>
                <a:spcPts val="0"/>
              </a:spcAft>
              <a:buClr>
                <a:srgbClr val="000000"/>
              </a:buClr>
              <a:buSzPts val="1500"/>
              <a:buFont typeface="Arial"/>
              <a:buNone/>
            </a:pPr>
            <a:r>
              <a:rPr b="0" i="0" lang="en-US" spc="0" sz="1500" u="none" cap="none" strike="noStrike">
                <a:solidFill>
                  <a:schemeClr val="dk1"/>
                </a:solidFill>
                <a:latin typeface="Raleway Light"/>
                <a:ea typeface="Raleway Light"/>
                <a:cs typeface="Raleway Light"/>
                <a:sym typeface="Raleway Light"/>
              </a:rPr>
              <a:t>Founded by Caroline, a senior marketing and commercial leader with over 30 years’ experience across consumer brands, retail, heritage and customer experience, and WSET Level 3 with Distinction.</a:t>
            </a:r>
            <a:endParaRPr b="0" i="0" spc="0" sz="1500" u="none" cap="none" strike="noStrike">
              <a:solidFill>
                <a:schemeClr val="dk1"/>
              </a:solidFill>
              <a:latin typeface="Raleway Light"/>
              <a:ea typeface="Raleway Light"/>
              <a:cs typeface="Raleway Light"/>
              <a:sym typeface="Raleway Light"/>
            </a:endParaRPr>
          </a:p>
          <a:p>
            <a:pPr indent="0" lvl="0" marL="0" marR="0" rtl="0" algn="l">
              <a:lnSpc>
                <a:spcPct val="115000"/>
              </a:lnSpc>
              <a:spcBef>
                <a:spcPts val="1200"/>
              </a:spcBef>
              <a:spcAft>
                <a:spcPts val="0"/>
              </a:spcAft>
              <a:buClr>
                <a:srgbClr val="000000"/>
              </a:buClr>
              <a:buSzPts val="1500"/>
              <a:buFont typeface="Arial"/>
              <a:buNone/>
            </a:pPr>
            <a:r>
              <a:rPr b="1" i="0" lang="en-US" spc="0" sz="1500" u="none" cap="none" strike="noStrike">
                <a:solidFill>
                  <a:schemeClr val="dk1"/>
                </a:solidFill>
                <a:latin typeface="Raleway"/>
                <a:ea typeface="Raleway"/>
                <a:cs typeface="Raleway"/>
                <a:sym typeface="Raleway"/>
              </a:rPr>
              <a:t>Creative thinking</a:t>
            </a:r>
            <a:endParaRPr b="1" i="0" spc="0" sz="1500" u="none" cap="none" strike="noStrike">
              <a:solidFill>
                <a:schemeClr val="dk1"/>
              </a:solidFill>
              <a:latin typeface="Raleway"/>
              <a:ea typeface="Raleway"/>
              <a:cs typeface="Raleway"/>
              <a:sym typeface="Raleway"/>
            </a:endParaRPr>
          </a:p>
          <a:p>
            <a:pPr indent="0" lvl="0" marL="0" marR="0" rtl="0" algn="l">
              <a:lnSpc>
                <a:spcPct val="115000"/>
              </a:lnSpc>
              <a:spcBef>
                <a:spcPts val="1200"/>
              </a:spcBef>
              <a:spcAft>
                <a:spcPts val="0"/>
              </a:spcAft>
              <a:buClr>
                <a:srgbClr val="000000"/>
              </a:buClr>
              <a:buSzPts val="1500"/>
              <a:buFont typeface="Arial"/>
              <a:buNone/>
            </a:pPr>
            <a:r>
              <a:rPr b="0" i="0" lang="en-US" spc="0" sz="1500" u="none" cap="none" strike="noStrike">
                <a:solidFill>
                  <a:schemeClr val="dk1"/>
                </a:solidFill>
                <a:latin typeface="Raleway Light"/>
                <a:ea typeface="Raleway Light"/>
                <a:cs typeface="Raleway Light"/>
                <a:sym typeface="Raleway Light"/>
              </a:rPr>
              <a:t>A distinctive approach to brand, game design, digital experiences and storytelling, with access to specialist creative and design expertise.</a:t>
            </a:r>
            <a:endParaRPr b="0" i="0" spc="0" sz="1500" u="none" cap="none" strike="noStrike">
              <a:solidFill>
                <a:schemeClr val="dk1"/>
              </a:solidFill>
              <a:latin typeface="Raleway Light"/>
              <a:ea typeface="Raleway Light"/>
              <a:cs typeface="Raleway Light"/>
              <a:sym typeface="Raleway Light"/>
            </a:endParaRPr>
          </a:p>
          <a:p>
            <a:pPr indent="0" lvl="0" marL="0" marR="0" rtl="0" algn="l">
              <a:lnSpc>
                <a:spcPct val="115000"/>
              </a:lnSpc>
              <a:spcBef>
                <a:spcPts val="1200"/>
              </a:spcBef>
              <a:spcAft>
                <a:spcPts val="0"/>
              </a:spcAft>
              <a:buClr>
                <a:srgbClr val="000000"/>
              </a:buClr>
              <a:buSzPts val="1500"/>
              <a:buFont typeface="Arial"/>
              <a:buNone/>
            </a:pPr>
            <a:r>
              <a:rPr b="1" i="0" lang="en-US" spc="0" sz="1500" u="none" cap="none" strike="noStrike">
                <a:solidFill>
                  <a:schemeClr val="dk1"/>
                </a:solidFill>
                <a:latin typeface="Raleway"/>
                <a:ea typeface="Raleway"/>
                <a:cs typeface="Raleway"/>
                <a:sym typeface="Raleway"/>
              </a:rPr>
              <a:t>A connected network</a:t>
            </a:r>
            <a:endParaRPr b="1" i="0" spc="0" sz="1500" u="none" cap="none" strike="noStrike">
              <a:solidFill>
                <a:schemeClr val="dk1"/>
              </a:solidFill>
              <a:latin typeface="Raleway"/>
              <a:ea typeface="Raleway"/>
              <a:cs typeface="Raleway"/>
              <a:sym typeface="Raleway"/>
            </a:endParaRPr>
          </a:p>
          <a:p>
            <a:pPr indent="0" lvl="0" marL="0" marR="0" rtl="0" algn="l">
              <a:lnSpc>
                <a:spcPct val="115000"/>
              </a:lnSpc>
              <a:spcBef>
                <a:spcPts val="1200"/>
              </a:spcBef>
              <a:spcAft>
                <a:spcPts val="0"/>
              </a:spcAft>
              <a:buClr>
                <a:srgbClr val="000000"/>
              </a:buClr>
              <a:buSzPts val="1500"/>
              <a:buFont typeface="Arial"/>
              <a:buNone/>
            </a:pPr>
            <a:r>
              <a:rPr b="0" i="0" lang="en-US" spc="0" sz="1500" u="none" cap="none" strike="noStrike">
                <a:solidFill>
                  <a:schemeClr val="dk1"/>
                </a:solidFill>
                <a:latin typeface="Raleway Light"/>
                <a:ea typeface="Raleway Light"/>
                <a:cs typeface="Raleway Light"/>
                <a:sym typeface="Raleway Light"/>
              </a:rPr>
              <a:t>Relationships across buying, brand leadership, advertising, design and the arts, creating opportunities to bring complementary expertise into selected collaborations.</a:t>
            </a:r>
            <a:endParaRPr b="0" i="0" spc="0" sz="1500" u="none" cap="none" strike="noStrike">
              <a:solidFill>
                <a:schemeClr val="dk1"/>
              </a:solidFill>
              <a:latin typeface="Raleway Light"/>
              <a:ea typeface="Raleway Light"/>
              <a:cs typeface="Raleway Light"/>
              <a:sym typeface="Raleway Light"/>
            </a:endParaRPr>
          </a:p>
          <a:p>
            <a:pPr indent="0" lvl="0" marL="0" marR="0" rtl="0" algn="l">
              <a:lnSpc>
                <a:spcPct val="100000"/>
              </a:lnSpc>
              <a:spcBef>
                <a:spcPts val="1200"/>
              </a:spcBef>
              <a:spcAft>
                <a:spcPts val="0"/>
              </a:spcAft>
              <a:buClr>
                <a:srgbClr val="000000"/>
              </a:buClr>
              <a:buSzPts val="1500"/>
              <a:buFont typeface="Arial"/>
              <a:buNone/>
            </a:pPr>
            <a:r>
              <a:t/>
            </a:r>
            <a:endParaRPr b="0" i="0" spc="0" sz="1500" u="none" cap="none" strike="noStrike">
              <a:solidFill>
                <a:schemeClr val="dk1"/>
              </a:solidFill>
              <a:latin typeface="Raleway Light"/>
              <a:ea typeface="Raleway Light"/>
              <a:cs typeface="Raleway Light"/>
              <a:sym typeface="Raleway Light"/>
            </a:endParaRPr>
          </a:p>
        </p:txBody>
      </p:sp>
      <p:pic>
        <p:nvPicPr>
          <p:cNvPr id="1052" name="Google Shape;1052;p73" title="Warm Café Portrait of a Smiling Professional Woman.png"/>
          <p:cNvPicPr preferRelativeResize="0"/>
          <p:nvPr/>
        </p:nvPicPr>
        <p:blipFill rotWithShape="1">
          <a:blip r:embed="rId3">
            <a:alphaModFix/>
          </a:blip>
          <a:srcRect b="0" l="0" r="0" t="0"/>
          <a:stretch/>
        </p:blipFill>
        <p:spPr>
          <a:xfrm>
            <a:off x="8603475" y="1995176"/>
            <a:ext cx="2612501" cy="3134973"/>
          </a:xfrm>
          <a:prstGeom prst="rect">
            <a:avLst/>
          </a:prstGeom>
          <a:noFill/>
          <a:ln>
            <a:noFill/>
          </a:ln>
        </p:spPr>
      </p:pic>
      <p:sp>
        <p:nvSpPr>
          <p:cNvPr id="1053" name="Google Shape;1053;p73"/>
          <p:cNvSpPr/>
          <p:nvPr/>
        </p:nvSpPr>
        <p:spPr>
          <a:xfrm>
            <a:off x="0" y="0"/>
            <a:ext cx="12191700" cy="329100"/>
          </a:xfrm>
          <a:prstGeom prst="rect">
            <a:avLst/>
          </a:prstGeom>
          <a:solidFill>
            <a:srgbClr val="565A32"/>
          </a:solidFill>
          <a:ln cap="flat" cmpd="sng" w="12700">
            <a:solidFill>
              <a:srgbClr val="565A32">
                <a:alpha val="0"/>
              </a:srgbClr>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565A32"/>
              </a:solidFill>
              <a:latin typeface="Raleway Light"/>
              <a:ea typeface="Raleway Light"/>
              <a:cs typeface="Raleway Light"/>
              <a:sym typeface="Raleway Light"/>
            </a:endParaRPr>
          </a:p>
        </p:txBody>
      </p:sp>
      <p:sp>
        <p:nvSpPr>
          <p:cNvPr id="1054" name="Slide number"/>
          <p:cNvSpPr txBox="1"/>
          <p:nvPr>
            <p:ph idx="4294967295" type="sldNum"/>
          </p:nvPr>
        </p:nvSpPr>
        <p:spPr>
          <a:xfrm>
            <a:off x="10180015" y="6355080"/>
            <a:ext cx="365760" cy="2743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000"/>
              <a:buNone/>
            </a:pPr>
            <a:fld id="{00000000-1234-1234-1234-123412341234}" type="slidenum">
              <a:rPr b="0" i="0" lang="en-US" sz="1000" u="none" cap="none" strike="noStrike">
                <a:solidFill>
                  <a:schemeClr val="dk1"/>
                </a:solidFill>
                <a:latin typeface="Raleway Light"/>
                <a:ea typeface="Raleway Light"/>
                <a:cs typeface="Raleway Light"/>
                <a:sym typeface="Raleway Light"/>
              </a:rPr>
              <a:t>‹#›</a:t>
            </a:fld>
            <a:endParaRPr b="0" i="0" sz="1000" u="none" cap="none" strike="noStrike">
              <a:solidFill>
                <a:schemeClr val="dk1"/>
              </a:solidFill>
              <a:latin typeface="Raleway Light"/>
              <a:ea typeface="Raleway Light"/>
              <a:cs typeface="Raleway Light"/>
              <a:sym typeface="Raleway Light"/>
            </a:endParaRPr>
          </a:p>
        </p:txBody>
      </p:sp>
    </p:spTree>
  </p:cSld>
  <p:clrMapOvr>
    <a:masterClrMapping/>
  </p:clrMapOvr>
</p:sld>
</file>

<file path=ppt/theme/theme1.xml><?xml version="1.0" encoding="utf-8"?>
<a:theme xmlns:a="http://schemas.openxmlformats.org/drawingml/2006/main" xmlns:r="http://schemas.openxmlformats.org/officeDocument/2006/relationships" name="Entre Amis Sous-bois">
  <a:themeElements>
    <a:clrScheme name="Entre Amis Sous-bois">
      <a:dk1>
        <a:srgbClr val="565A32"/>
      </a:dk1>
      <a:lt1>
        <a:srgbClr val="FFFFFF"/>
      </a:lt1>
      <a:dk2>
        <a:srgbClr val="565A32"/>
      </a:dk2>
      <a:lt2>
        <a:srgbClr val="EFEAE0"/>
      </a:lt2>
      <a:accent1>
        <a:srgbClr val="565A32"/>
      </a:accent1>
      <a:accent2>
        <a:srgbClr val="8B8B5C"/>
      </a:accent2>
      <a:accent3>
        <a:srgbClr val="B9BC9A"/>
      </a:accent3>
      <a:accent4>
        <a:srgbClr val="E3AC9A"/>
      </a:accent4>
      <a:accent5>
        <a:srgbClr val="EFEAE0"/>
      </a:accent5>
      <a:accent6>
        <a:srgbClr val="565A32"/>
      </a:accent6>
      <a:hlink>
        <a:srgbClr val="565A32"/>
      </a:hlink>
      <a:folHlink>
        <a:srgbClr val="8B8B5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Entre Amis Sous-bois">
  <a:themeElements>
    <a:clrScheme name="Entre Amis Sous-bois">
      <a:dk1>
        <a:srgbClr val="565A32"/>
      </a:dk1>
      <a:lt1>
        <a:srgbClr val="FFFFFF"/>
      </a:lt1>
      <a:dk2>
        <a:srgbClr val="565A32"/>
      </a:dk2>
      <a:lt2>
        <a:srgbClr val="EFEAE0"/>
      </a:lt2>
      <a:accent1>
        <a:srgbClr val="565A32"/>
      </a:accent1>
      <a:accent2>
        <a:srgbClr val="8B8B5C"/>
      </a:accent2>
      <a:accent3>
        <a:srgbClr val="B9BC9A"/>
      </a:accent3>
      <a:accent4>
        <a:srgbClr val="E3AC9A"/>
      </a:accent4>
      <a:accent5>
        <a:srgbClr val="EFEAE0"/>
      </a:accent5>
      <a:accent6>
        <a:srgbClr val="565A32"/>
      </a:accent6>
      <a:hlink>
        <a:srgbClr val="565A32"/>
      </a:hlink>
      <a:folHlink>
        <a:srgbClr val="8B8B5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Entre Amis Sous-bois">
  <a:themeElements>
    <a:clrScheme name="Entre Amis Sous-bois">
      <a:dk1>
        <a:srgbClr val="565A32"/>
      </a:dk1>
      <a:lt1>
        <a:srgbClr val="FFFFFF"/>
      </a:lt1>
      <a:dk2>
        <a:srgbClr val="565A32"/>
      </a:dk2>
      <a:lt2>
        <a:srgbClr val="EFEAE0"/>
      </a:lt2>
      <a:accent1>
        <a:srgbClr val="565A32"/>
      </a:accent1>
      <a:accent2>
        <a:srgbClr val="8B8B5C"/>
      </a:accent2>
      <a:accent3>
        <a:srgbClr val="B9BC9A"/>
      </a:accent3>
      <a:accent4>
        <a:srgbClr val="E3AC9A"/>
      </a:accent4>
      <a:accent5>
        <a:srgbClr val="EFEAE0"/>
      </a:accent5>
      <a:accent6>
        <a:srgbClr val="565A32"/>
      </a:accent6>
      <a:hlink>
        <a:srgbClr val="565A32"/>
      </a:hlink>
      <a:folHlink>
        <a:srgbClr val="8B8B5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Entre Amis Sous-bois">
  <a:themeElements>
    <a:clrScheme name="Entre Amis Sous-bois">
      <a:dk1>
        <a:srgbClr val="565A32"/>
      </a:dk1>
      <a:lt1>
        <a:srgbClr val="FFFFFF"/>
      </a:lt1>
      <a:dk2>
        <a:srgbClr val="565A32"/>
      </a:dk2>
      <a:lt2>
        <a:srgbClr val="EFEAE0"/>
      </a:lt2>
      <a:accent1>
        <a:srgbClr val="565A32"/>
      </a:accent1>
      <a:accent2>
        <a:srgbClr val="8B8B5C"/>
      </a:accent2>
      <a:accent3>
        <a:srgbClr val="B9BC9A"/>
      </a:accent3>
      <a:accent4>
        <a:srgbClr val="E3AC9A"/>
      </a:accent4>
      <a:accent5>
        <a:srgbClr val="EFEAE0"/>
      </a:accent5>
      <a:accent6>
        <a:srgbClr val="565A32"/>
      </a:accent6>
      <a:hlink>
        <a:srgbClr val="565A32"/>
      </a:hlink>
      <a:folHlink>
        <a:srgbClr val="8B8B5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xmlns:r="http://schemas.openxmlformats.org/officeDocument/2006/relationships" name="Entre Amis Sous-bois">
  <a:themeElements>
    <a:clrScheme name="Entre Amis Sous-bois">
      <a:dk1>
        <a:srgbClr val="565A32"/>
      </a:dk1>
      <a:lt1>
        <a:srgbClr val="FFFFFF"/>
      </a:lt1>
      <a:dk2>
        <a:srgbClr val="565A32"/>
      </a:dk2>
      <a:lt2>
        <a:srgbClr val="EFEAE0"/>
      </a:lt2>
      <a:accent1>
        <a:srgbClr val="565A32"/>
      </a:accent1>
      <a:accent2>
        <a:srgbClr val="8B8B5C"/>
      </a:accent2>
      <a:accent3>
        <a:srgbClr val="B9BC9A"/>
      </a:accent3>
      <a:accent4>
        <a:srgbClr val="E3AC9A"/>
      </a:accent4>
      <a:accent5>
        <a:srgbClr val="EFEAE0"/>
      </a:accent5>
      <a:accent6>
        <a:srgbClr val="565A32"/>
      </a:accent6>
      <a:hlink>
        <a:srgbClr val="565A32"/>
      </a:hlink>
      <a:folHlink>
        <a:srgbClr val="8B8B5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