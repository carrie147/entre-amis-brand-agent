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 id="2147483675" r:id="rId6"/>
    <p:sldMasterId id="2147483676" r:id="rId7"/>
    <p:sldMasterId id="2147483677" r:id="rId8"/>
    <p:sldMasterId id="2147483678"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Lst>
  <p:sldSz cy="6858000" cx="12192000"/>
  <p:notesSz cx="6858000" cy="12192000"/>
  <p:embeddedFontLst>
    <p:embeddedFont>
      <p:font typeface="Raleway SemiBold"/>
      <p:regular r:id="rId53"/>
      <p:bold r:id="rId54"/>
      <p:italic r:id="rId55"/>
      <p:boldItalic r:id="rId56"/>
    </p:embeddedFont>
    <p:embeddedFont>
      <p:font typeface="Raleway"/>
      <p:regular r:id="rId57"/>
      <p:bold r:id="rId58"/>
      <p:italic r:id="rId59"/>
      <p:boldItalic r:id="rId60"/>
    </p:embeddedFont>
    <p:embeddedFont>
      <p:font typeface="Raleway Light"/>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5FC373-D6BC-4E09-A9F9-84234A3C0306}">
  <a:tblStyle styleId="{655FC373-D6BC-4E09-A9F9-84234A3C030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1FAD5FD-ADFC-4D4B-842D-70D263419EB3}"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FD34F20-732D-4E8D-BD15-E54F2CFFFAEF}" styleName="Table_2">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font" Target="fonts/RalewayLight-bold.fntdata"/><Relationship Id="rId61" Type="http://schemas.openxmlformats.org/officeDocument/2006/relationships/font" Target="fonts/RalewayLight-regular.fntdata"/><Relationship Id="rId20" Type="http://schemas.openxmlformats.org/officeDocument/2006/relationships/slide" Target="slides/slide10.xml"/><Relationship Id="rId64" Type="http://schemas.openxmlformats.org/officeDocument/2006/relationships/font" Target="fonts/RalewayLight-boldItalic.fntdata"/><Relationship Id="rId63" Type="http://schemas.openxmlformats.org/officeDocument/2006/relationships/font" Target="fonts/RalewayLight-italic.fntdata"/><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60" Type="http://schemas.openxmlformats.org/officeDocument/2006/relationships/font" Target="fonts/Raleway-boldItalic.fntdata"/><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font" Target="fonts/RalewaySemiBold-regular.fntdata"/><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font" Target="fonts/RalewaySemiBold-italic.fntdata"/><Relationship Id="rId10" Type="http://schemas.openxmlformats.org/officeDocument/2006/relationships/notesMaster" Target="notesMasters/notesMaster1.xml"/><Relationship Id="rId54" Type="http://schemas.openxmlformats.org/officeDocument/2006/relationships/font" Target="fonts/RalewaySemiBold-bold.fntdata"/><Relationship Id="rId13" Type="http://schemas.openxmlformats.org/officeDocument/2006/relationships/slide" Target="slides/slide3.xml"/><Relationship Id="rId57" Type="http://schemas.openxmlformats.org/officeDocument/2006/relationships/font" Target="fonts/Raleway-regular.fntdata"/><Relationship Id="rId12" Type="http://schemas.openxmlformats.org/officeDocument/2006/relationships/slide" Target="slides/slide2.xml"/><Relationship Id="rId56" Type="http://schemas.openxmlformats.org/officeDocument/2006/relationships/font" Target="fonts/RalewaySemiBold-boldItalic.fntdata"/><Relationship Id="rId15" Type="http://schemas.openxmlformats.org/officeDocument/2006/relationships/slide" Target="slides/slide5.xml"/><Relationship Id="rId59" Type="http://schemas.openxmlformats.org/officeDocument/2006/relationships/font" Target="fonts/Raleway-italic.fntdata"/><Relationship Id="rId14" Type="http://schemas.openxmlformats.org/officeDocument/2006/relationships/slide" Target="slides/slide4.xml"/><Relationship Id="rId58" Type="http://schemas.openxmlformats.org/officeDocument/2006/relationships/font" Target="fonts/Raleway-bold.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Raleway Light"/>
                <a:ea typeface="Raleway Light"/>
                <a:cs typeface="Raleway Light"/>
                <a:sym typeface="Raleway Light"/>
              </a:rPr>
              <a:t>‹#›</a:t>
            </a:fld>
            <a:endParaRPr b="0" i="0" spc="0" sz="1200" u="none" cap="none" strike="noStrike">
              <a:solidFill>
                <a:schemeClr val="dk1"/>
              </a:solidFill>
              <a:latin typeface="Raleway Light"/>
              <a:ea typeface="Raleway Light"/>
              <a:cs typeface="Raleway Light"/>
              <a:sym typeface="Raleway Light"/>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Cover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Added the supporting line and an internal-master label (remove the label in any shared version).</a:t>
            </a:r>
            <a:endParaRPr/>
          </a:p>
        </p:txBody>
      </p:sp>
      <p:sp>
        <p:nvSpPr>
          <p:cNvPr id="133" name="Google Shape;133;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 (purpose and vision are internal, not consumer lines)</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LINE HIERARCHY (founder): one line per job. Purpose: Where human connection thrives (sits above the vision). Vision: merged from the two earlier purpose and vision lines. Approach: the brand journey. Brand line: The setting changes. The spirit never does. "Everyone has something worth saying" stays a supporting line, off this slide. Queued for the Brand Brain.</a:t>
            </a:r>
            <a:endParaRPr/>
          </a:p>
        </p:txBody>
      </p:sp>
      <p:sp>
        <p:nvSpPr>
          <p:cNvPr id="143" name="Google Shape;143;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Confirmed idea wording; claim "conversations are better" and benefit claim "makes it easier" removed; bottle line replaced (responsible drinking).</a:t>
            </a:r>
            <a:endParaRPr/>
          </a:p>
        </p:txBody>
      </p:sp>
      <p:sp>
        <p:nvSpPr>
          <p:cNvPr id="150" name="Google Shape;150;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Added "Warm, never worthy" so all four tone pairs show, in Brand Brain order. Subtitle uses the first confirmed behaviour.</a:t>
            </a:r>
            <a:endParaRPr/>
          </a:p>
        </p:txBody>
      </p:sp>
      <p:sp>
        <p:nvSpPr>
          <p:cNvPr id="173" name="Google Shape;1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as the brand journey. Personalisation line kept and made plain; the Brand Brain does not mention personalisation yet (flagged).</a:t>
            </a:r>
            <a:endParaRPr/>
          </a:p>
        </p:txBody>
      </p:sp>
      <p:sp>
        <p:nvSpPr>
          <p:cNvPr id="201" name="Google Shape;201;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 · Brand story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so it does not duplicate slide 7. Section colours approved (28 October). Stays shown as part of the vision (approved 28 October). Contains internal language (economics, insight) - internal use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4 (28 OCT): rebuilt on an even five-column grid with more space; arrows now in brand colours (deep olive for consumers and the platform, blush for partners). Stays shown as part of the vision.</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Stays card shortened (founder, 28 Oct). Moved here: in Provence; built when the brand and economics are ready. Location kept off this overview slide; Provence stays on slide 17.</a:t>
            </a:r>
            <a:endParaRPr/>
          </a:p>
        </p:txBody>
      </p:sp>
      <p:sp>
        <p:nvSpPr>
          <p:cNvPr id="215" name="Google Shape;21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DOES THIS DUPLICATE SLIDE 7</a:t>
            </a:r>
            <a:r>
              <a:rPr b="0" i="0" lang="en-US" spc="0" sz="1200" u="none" cap="none" strike="noStrike">
                <a:solidFill>
                  <a:schemeClr val="dk1"/>
                </a:solidFill>
                <a:latin typeface="Raleway Light"/>
                <a:ea typeface="Raleway Light"/>
                <a:cs typeface="Raleway Light"/>
                <a:sym typeface="Raleway Light"/>
              </a:rPr>
              <a:t>USE IN: Brand story ·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Subtitle widened beyond tasting: connection doesn't end when the table clears.</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The journey is the confirmed Inspire → Discover → Experience → Belong (Brand Brain 00; founder, 21 October). The v2 line 'Discover → Play → Remember → Experience → Belong' is replaced: Play is not shown as a step.</a:t>
            </a:r>
            <a:br>
              <a:rPr b="0" i="0" lang="en-US" spc="0" sz="1200" u="none" cap="none" strike="noStrike">
                <a:solidFill>
                  <a:schemeClr val="dk1"/>
                </a:solidFill>
                <a:latin typeface="Raleway Light"/>
                <a:ea typeface="Raleway Light"/>
                <a:cs typeface="Raleway Light"/>
                <a:sym typeface="Raleway Light"/>
              </a:rPr>
            </a:br>
            <a:br>
              <a:rPr b="0" i="0" lang="en-US" spc="0" sz="1200" u="none" cap="none" strike="noStrike">
                <a:solidFill>
                  <a:schemeClr val="dk1"/>
                </a:solidFill>
                <a:latin typeface="Raleway Light"/>
                <a:ea typeface="Raleway Light"/>
                <a:cs typeface="Raleway Light"/>
                <a:sym typeface="Raleway Light"/>
              </a:rPr>
            </a:br>
            <a:r>
              <a:rPr b="0" i="0" lang="en-US" spc="0" sz="1200" u="none" cap="none" strike="noStrike">
                <a:solidFill>
                  <a:schemeClr val="dk1"/>
                </a:solidFill>
                <a:latin typeface="Raleway Light"/>
                <a:ea typeface="Raleway Light"/>
                <a:cs typeface="Raleway Light"/>
                <a:sym typeface="Raleway Light"/>
              </a:rPr>
              <a:t>Four parts of the Entre Amis world, all in development (nothing is launched); the tags are off the slide to let people imagine it (founder, v4 review). The game photo is the founder's prototype. Stays are left off (founder, 21 October). Event Mode: in development, and we're looking for a launch partner (founder, 21 October).</a:t>
            </a:r>
            <a:endParaRPr/>
          </a:p>
        </p:txBody>
      </p:sp>
      <p:sp>
        <p:nvSpPr>
          <p:cNvPr id="243" name="Google Shape;243;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Rebuilt as editable PowerPoint shapes (founder, 28 October): the story, Sophie and the photos are kept; every word, tag and number is now editable. Real wines on the phone replaced with fictional ones (wine type, region, year; no producers). Tags use the section colours. Stop 7 shows stays as part of the vision. Sophie is illustrative, not a persona (personas are still TODO). Photos are crops of the original artwork; replace them with higher-resolution versions if you have them.</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numbers removed (the journey is not a sequence; the coloured product tags carry the link to each product). 1–4 now down the left, 5–7 down the right. Curved links run from every experience back to the one account, restoring the organic link to the core. The phone shows My wines as a listing, as the app does today.</a:t>
            </a:r>
            <a:endParaRPr/>
          </a:p>
        </p:txBody>
      </p:sp>
      <p:sp>
        <p:nvSpPr>
          <p:cNvPr id="270" name="Google Shape;270;p8:notes"/>
          <p:cNvSpPr/>
          <p:nvPr>
            <p:ph idx="2" type="sldImg"/>
          </p:nvPr>
        </p:nvSpPr>
        <p:spPr>
          <a:xfrm>
            <a:off x="719864" y="914400"/>
            <a:ext cx="54189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game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App-only Word Play/Wine Knowledge line replaced with Pour. Added confirmed game facts, the corks rule and the game line Talk. Laugh. Remember. Time-neutral wording.</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card family chips added in the game colours (Brand Brain 04: game colours may appear when they signify a family).</a:t>
            </a:r>
            <a:endParaRPr/>
          </a:p>
        </p:txBody>
      </p:sp>
      <p:sp>
        <p:nvSpPr>
          <p:cNvPr id="340" name="Google Shape;340;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app</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"Personal wine library" is now My wines. Label photo, Wine 101, Just tasting and the 18+ gate added, all claimable as in development.</a:t>
            </a:r>
            <a:endParaRPr/>
          </a:p>
        </p:txBody>
      </p:sp>
      <p:sp>
        <p:nvSpPr>
          <p:cNvPr id="380" name="Google Shape;3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 Event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Lets a host see where they fit, and points organisers to the Event Mode pack.</a:t>
            </a:r>
            <a:endParaRPr/>
          </a:p>
        </p:txBody>
      </p:sp>
      <p:sp>
        <p:nvSpPr>
          <p:cNvPr id="402" name="Google Shape;4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Contradiction fixed: events are Event Mode, not Partner Mode. Partner line added. "More memorable" benefit claim removed. Consent added to insight.</a:t>
            </a:r>
            <a:endParaRPr/>
          </a:p>
        </p:txBody>
      </p:sp>
      <p:sp>
        <p:nvSpPr>
          <p:cNvPr id="419" name="Google Shape;419;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Quizzes framed as discoveries (Brand Brain 00).</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From your description (12 October): hosted tasting; Savour and Pour cards as an option; host-specific questions and quizzes; interactive voting shared as a learning experience; guests collate and share notes; information about the wines and the vineyard; favourite and store wines in a profile.</a:t>
            </a:r>
            <a:endParaRPr/>
          </a:p>
        </p:txBody>
      </p:sp>
      <p:sp>
        <p:nvSpPr>
          <p:cNvPr id="434" name="Google Shape;43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app</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New content, built only from confirmed functionality (Just tasting, label recognition, My wines on every device). Screens still to add.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status box removed: Just tasting is built to the same level as the other ways to play (founder).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screens added from the screen walkthrough (17 Oct). No screens of Just tasting itself were captured yet: the welcome and set-up screens stand in, and are captioned honestly. Replace with Just tasting screens when you have them.</a:t>
            </a:r>
            <a:endParaRPr/>
          </a:p>
        </p:txBody>
      </p:sp>
      <p:sp>
        <p:nvSpPr>
          <p:cNvPr id="463" name="Google Shape;463;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Save screen now full size like the others (it shows the organiser vote "Best red of the day"; see the ranking point). The four principles now sit in one centred panel because they apply across the whole day. Updated journey screens to follow from the next live version.</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screens from the screen walkthrough (17 Oct), demo event with made-up producers. Save is cropped above the organiser votes, and the results screen is not used: both show producers ranked by percentage, which conflicts with the "No public ranking" promise (slides 21 and 26). Revisit shows a saved day in My wines from a host game.</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Card bodies expand the October line: 'Quick to use. Optional questions. No compulsory tasting. Able to be tailored to enhance physical experience and help create lasting memories.' 'Enhance' and 'lasting memories' were benefit claims, so they're reworded.</a:t>
            </a:r>
            <a:endParaRPr/>
          </a:p>
        </p:txBody>
      </p:sp>
      <p:sp>
        <p:nvSpPr>
          <p:cNvPr id="486" name="Google Shape;486;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app</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New content, built only from confirmed functionality. INTERNAL: the data behind My wines and Wine 101 isn't fully logging yet; never say this externally, and never describe either as complete.</a:t>
            </a:r>
            <a:endParaRPr/>
          </a:p>
        </p:txBody>
      </p:sp>
      <p:sp>
        <p:nvSpPr>
          <p:cNvPr id="522" name="Google Shape;522;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Stays</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Stays may be referenced as part of the vision (founder, 28 October). "Pour another glass" removed (responsible drinking).</a:t>
            </a:r>
            <a:endParaRPr/>
          </a:p>
        </p:txBody>
      </p:sp>
      <p:sp>
        <p:nvSpPr>
          <p:cNvPr id="545" name="Google Shape;545;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Placeholder only. Early thinking is never described externally.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drafted from Brand Brain 00 (early thinking, stays), 06 (themed editions, trend reports) and the build and release plan (improvements after the port). Nothing new invented.</a:t>
            </a:r>
            <a:endParaRPr/>
          </a:p>
        </p:txBody>
      </p:sp>
      <p:sp>
        <p:nvSpPr>
          <p:cNvPr id="560" name="Google Shape;560;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Aligned to the Brand Brain and slide 29: a small table or corner with comfortable seats, never the centre of the event. Fee line kept and labelled as a commercial note.</a:t>
            </a:r>
            <a:endParaRPr/>
          </a:p>
        </p:txBody>
      </p:sp>
      <p:sp>
        <p:nvSpPr>
          <p:cNvPr id="585" name="Google Shape;585;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 Event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"Customer" is now "Guest". "Not shared by default" made absolute (founder, 28 October). Contacts stay pending legal review.</a:t>
            </a:r>
            <a:endParaRPr/>
          </a:p>
        </p:txBody>
      </p:sp>
      <p:sp>
        <p:nvSpPr>
          <p:cNvPr id="610" name="Google Shape;610;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 Event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Marker covers both modes. Promises made absolute (founder, 28 October); the TO DECIDE box is resolved and removed.</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Built from the confirmed Partner Mode data rules ('That trust is the brand — Say what you really think only works if people are safe to do so') and the promises from the October deck's 'Three layers of insight'.</a:t>
            </a:r>
            <a:endParaRPr/>
          </a:p>
        </p:txBody>
      </p:sp>
      <p:sp>
        <p:nvSpPr>
          <p:cNvPr id="646" name="Google Shape;64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Divider, restyled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divider recoloured deep olive for clearer sections.</a:t>
            </a:r>
            <a:endParaRPr/>
          </a:p>
        </p:txBody>
      </p:sp>
      <p:sp>
        <p:nvSpPr>
          <p:cNvPr id="668" name="Google Shape;668;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Subtitle and status note updated to the Brand Brain (reports built 16 October). Three of six benefits are not claimable externally yet.</a:t>
            </a:r>
            <a:endParaRPr/>
          </a:p>
        </p:txBody>
      </p:sp>
      <p:sp>
        <p:nvSpPr>
          <p:cNvPr id="676" name="Google Shape;67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 Insight bank #12 (WineGB Tourism Report 2024) could support the problem, cited with caveats.</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Rewritten from 'The event opportunity: a real gap' so it speaks to the organiser's problem first. Ticket buyers and 'one person may buy eight tickets' are your points. 'Where do all the wines you discovered go?' becomes the third card.</a:t>
            </a:r>
            <a:endParaRPr/>
          </a:p>
        </p:txBody>
      </p:sp>
      <p:sp>
        <p:nvSpPr>
          <p:cNvPr id="699" name="Google Shape;69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 Consider reusing the slide 27 report design here.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example report drafted. Every number is illustrative, like slide 27. The Cellar House and Lune Basse are the made-up demo names from the screen walkthrough. Reactions use the four app reactions; the question and its fact follow the partner tasting screens. Reports for businesses are built but not claimable yet.</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In Partner Mode, contacts go to that one host only (proposed, Brand Brain 03). Wider Entre Amis trends are not promised in Partner Mode: they depend on how it is built (founder, 12 October).</a:t>
            </a:r>
            <a:endParaRPr/>
          </a:p>
        </p:txBody>
      </p:sp>
      <p:sp>
        <p:nvSpPr>
          <p:cNvPr id="718" name="Google Shape;718;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Promises made absolute (founder, 28 October); the TO DECIDE box is resolved and removed. Contacts stay pending legal review.</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In the October deck the labels and descriptions didn't match ('Event insight' described wider trends). Renamed 'Your event', 'Visitor contacts' and 'Wider trends'. 'Insight' removed from headings (internal language). 'Remove re-identification risk' reworded as 'No risk of identifying anyone'.</a:t>
            </a:r>
            <a:endParaRPr/>
          </a:p>
        </p:txBody>
      </p:sp>
      <p:sp>
        <p:nvSpPr>
          <p:cNvPr id="770" name="Google Shape;770;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Title updated per the v4 review note (was What Hambledon Vineyard could learn; built for the Hambledon application). Producer rankings ("Best sparkling: Vineyard A") replaced: they broke wine neutrality and contradicted slide 26. Visitor comments labelled illustrative.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Saved wine memories, producer stories and aggregate insight, from the v2 copy.</a:t>
            </a:r>
            <a:br>
              <a:rPr b="0" i="0" lang="en-US" spc="0" sz="1200" u="none" cap="none" strike="noStrike">
                <a:solidFill>
                  <a:schemeClr val="dk1"/>
                </a:solidFill>
                <a:latin typeface="Raleway Light"/>
                <a:ea typeface="Raleway Light"/>
                <a:cs typeface="Raleway Light"/>
                <a:sym typeface="Raleway Light"/>
              </a:rPr>
            </a:br>
            <a:br>
              <a:rPr b="0" i="0" lang="en-US" spc="0" sz="1200" u="none" cap="none" strike="noStrike">
                <a:solidFill>
                  <a:schemeClr val="dk1"/>
                </a:solidFill>
                <a:latin typeface="Raleway Light"/>
                <a:ea typeface="Raleway Light"/>
                <a:cs typeface="Raleway Light"/>
                <a:sym typeface="Raleway Light"/>
              </a:rPr>
            </a:br>
            <a:r>
              <a:rPr b="0" i="0" lang="en-US" spc="0" sz="1200" u="none" cap="none" strike="noStrike">
                <a:solidFill>
                  <a:schemeClr val="dk1"/>
                </a:solidFill>
                <a:latin typeface="Raleway Light"/>
                <a:ea typeface="Raleway Light"/>
                <a:cs typeface="Raleway Light"/>
                <a:sym typeface="Raleway Light"/>
              </a:rPr>
              <a:t>Audit, 21 October: producer pages with stories are built (stories entered by Entre Amis for now); Save my day to My wines is built; a producer report sees only its own wines and questions, never the votes, and refuses anything under five people. Built in code, not yet live-tested. Meet the Maker videos are not built, so 'videos' is left off the slide.</a:t>
            </a:r>
            <a:br>
              <a:rPr b="0" i="0" lang="en-US" spc="0" sz="1200" u="none" cap="none" strike="noStrike">
                <a:solidFill>
                  <a:schemeClr val="dk1"/>
                </a:solidFill>
                <a:latin typeface="Raleway Light"/>
                <a:ea typeface="Raleway Light"/>
                <a:cs typeface="Raleway Light"/>
                <a:sym typeface="Raleway Light"/>
              </a:rPr>
            </a:br>
            <a:br>
              <a:rPr b="0" i="0" lang="en-US" spc="0" sz="1200" u="none" cap="none" strike="noStrike">
                <a:solidFill>
                  <a:schemeClr val="dk1"/>
                </a:solidFill>
                <a:latin typeface="Raleway Light"/>
                <a:ea typeface="Raleway Light"/>
                <a:cs typeface="Raleway Light"/>
                <a:sym typeface="Raleway Light"/>
              </a:rPr>
            </a:br>
            <a:r>
              <a:rPr b="0" i="0" lang="en-US" spc="0" sz="1200" u="none" cap="none" strike="noStrike">
                <a:solidFill>
                  <a:schemeClr val="dk1"/>
                </a:solidFill>
                <a:latin typeface="Raleway Light"/>
                <a:ea typeface="Raleway Light"/>
                <a:cs typeface="Raleway Light"/>
                <a:sym typeface="Raleway Light"/>
              </a:rPr>
              <a:t>Nothing suggests personal data is shared automatically. Producer contact permission is separate, unticked by default and explicit, per the contact-details rule the founder confirmed on 21 October; the wording still needs legal review. The producer summary and the visitor comments are illustrative: made up to show the kind of feedback a vineyard would see, never attributed to anyone (founder, v4 review). Title shortened to 'Value for every vineyard' and row status tags removed (founder, v4 review).</a:t>
            </a:r>
            <a:endParaRPr/>
          </a:p>
        </p:txBody>
      </p:sp>
      <p:sp>
        <p:nvSpPr>
          <p:cNvPr id="792" name="Google Shape;792;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Quizzes are in both Partner Mode and Event Mode (founder, 28 October). Meet the Maker videos marked as to come. Prize draw still awaits the legal check.</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New spine for the pack, as you suggested. Visitor side from the October 'During / Personal / After' slide. Quizzes and prizes left off until decided: quizzes need to fit 'no wrong answers', and prizes near alcohol need checking against CAP and Portman Group rules. 'Save wines in seconds' isn't used: it's a speed claim.</a:t>
            </a:r>
            <a:endParaRPr/>
          </a:p>
        </p:txBody>
      </p:sp>
      <p:sp>
        <p:nvSpPr>
          <p:cNvPr id="845" name="Google Shape;845;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'Hosted Entre Amis Table' is now 'a small Entre Amis corner', in line with how Entre Amis shows up at events.</a:t>
            </a:r>
            <a:endParaRPr/>
          </a:p>
        </p:txBody>
      </p:sp>
      <p:sp>
        <p:nvSpPr>
          <p:cNvPr id="861" name="Google Shape;86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Status note updated to 16 October.</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From 'Before we build event partner mode'. The 'Ecosystem story' card was a note about the deck itself, so it's left out.</a:t>
            </a:r>
            <a:endParaRPr/>
          </a:p>
        </p:txBody>
      </p:sp>
      <p:sp>
        <p:nvSpPr>
          <p:cNvPr id="878" name="Google Shape;87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Founding partnership terms agreed (founder, 28 October). Still belongs in an individual organiser proposal.</a:t>
            </a:r>
            <a:endParaRPr/>
          </a:p>
        </p:txBody>
      </p:sp>
      <p:sp>
        <p:nvSpPr>
          <p:cNvPr id="895" name="Google Shape;895;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Divider, restyled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divider recoloured deep olive for clearer sections.</a:t>
            </a:r>
            <a:endParaRPr/>
          </a:p>
        </p:txBody>
      </p:sp>
      <p:sp>
        <p:nvSpPr>
          <p:cNvPr id="907" name="Google Shape;907;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"Why now": this is a point of view, not customer research (evidence still TODO). Typo fixed. Strong opener for shared versions.</a:t>
            </a:r>
            <a:endParaRPr/>
          </a:p>
        </p:txBody>
      </p:sp>
      <p:sp>
        <p:nvSpPr>
          <p:cNvPr id="915" name="Google Shape;91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SPIEL Essen 2026 figures are not in the insight bank: source-check and add as PROPOSED. Comparison with other wine games is a claim to flag before external use.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p:txBody>
      </p:sp>
      <p:sp>
        <p:nvSpPr>
          <p:cNvPr id="938" name="Google Shape;93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Competitor names approved for this master (founder, 28 October).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p:txBody>
      </p:sp>
      <p:sp>
        <p:nvSpPr>
          <p:cNvPr id="950" name="Google Shape;95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Content approved as is (founder, 28 October). App payment model is still TODO in Brand Brain 06.</a:t>
            </a:r>
            <a:endParaRPr/>
          </a:p>
        </p:txBody>
      </p:sp>
      <p:sp>
        <p:nvSpPr>
          <p:cNvPr id="963" name="Google Shape;963;p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Fizz Fest spelling corrected (founder, 28 October). "Manufacturer quotes underway" still conflicts with Brand Brain 06.</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route numbers removed; nothing else in the deck refers to them.</a:t>
            </a:r>
            <a:endParaRPr/>
          </a:p>
        </p:txBody>
      </p:sp>
      <p:sp>
        <p:nvSpPr>
          <p:cNvPr id="975" name="Google Shape;975;p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6" name="Google Shape;986;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Unfinished. Placeholder only; nothing invented.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unit cost and availability now under investigation (founder).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drafted from Brand Brain 06 and the commercial decisions brief (24 Oct). Nothing added beyond what those hold; the ex-VAT price and royalty range are 06's own arithmetic.</a:t>
            </a:r>
            <a:endParaRPr/>
          </a:p>
        </p:txBody>
      </p:sp>
      <p:sp>
        <p:nvSpPr>
          <p:cNvPr id="987" name="Google Shape;987;p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9" name="Google Shape;999;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Image not edited. GameCo/ExperienceCo, IP and ecosystem are internal language.</a:t>
            </a:r>
            <a:endParaRPr/>
          </a:p>
        </p:txBody>
      </p:sp>
      <p:sp>
        <p:nvSpPr>
          <p:cNvPr id="1000" name="Google Shape;1000;p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2" name="Google Shape;1012;p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Trade mark status and equity are never external. Brand Brain spells it "trade mark".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box headings set in Raleway Bold, larger, so they stand out.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p:txBody>
      </p:sp>
      <p:sp>
        <p:nvSpPr>
          <p:cNvPr id="1013" name="Google Shape;1013;p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Unfinished. Placeholder only; investors are deferred in the Brand Brain.</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launch path drafted from the build and release plan (22 Oct), the commercial decisions brief and Brand Brain 06. Funding holds questions only: no amounts are invented.</a:t>
            </a:r>
            <a:endParaRPr/>
          </a:p>
        </p:txBody>
      </p:sp>
      <p:sp>
        <p:nvSpPr>
          <p:cNvPr id="1026" name="Google Shape;1026;p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p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 · Brand story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Founder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"More than 25 years" corrected to "over 30 years". Founder facts approved as written (28 October); Brand Brain 01 to be updated to match. Surname to add.</a:t>
            </a:r>
            <a:endParaRPr/>
          </a:p>
        </p:txBody>
      </p:sp>
      <p:sp>
        <p:nvSpPr>
          <p:cNvPr id="1047" name="Google Shape;1047;p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2" name="Shape 12"/>
        <p:cNvGrpSpPr/>
        <p:nvPr/>
      </p:nvGrpSpPr>
      <p:grpSpPr>
        <a:xfrm>
          <a:off x="0" y="0"/>
          <a:ext cx="0" cy="0"/>
          <a:chOff x="0" y="0"/>
          <a:chExt cx="0" cy="0"/>
        </a:xfrm>
      </p:grpSpPr>
      <p:sp>
        <p:nvSpPr>
          <p:cNvPr id="13" name="Google Shape;13;p3"/>
          <p:cNvSpPr txBox="1"/>
          <p:nvPr/>
        </p:nvSpPr>
        <p:spPr>
          <a:xfrm>
            <a:off x="548640" y="635508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4" name="Google Shape;14;p3"/>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5" name="Google Shape;15;p3"/>
          <p:cNvSpPr txBox="1"/>
          <p:nvPr>
            <p:ph type="title"/>
          </p:nvPr>
        </p:nvSpPr>
        <p:spPr>
          <a:xfrm>
            <a:off x="548640" y="411480"/>
            <a:ext cx="813816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6" name="Google Shape;16;p3"/>
          <p:cNvSpPr txBox="1"/>
          <p:nvPr>
            <p:ph idx="1" type="body"/>
          </p:nvPr>
        </p:nvSpPr>
        <p:spPr>
          <a:xfrm>
            <a:off x="548640" y="1115568"/>
            <a:ext cx="11094415" cy="4114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7" name="Google Shape;17;p3"/>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7"/>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23" name="Google Shape;23;p7"/>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24" name="Google Shape;24;p7"/>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
        <p:nvSpPr>
          <p:cNvPr id="32" name="Google Shape;32;p9"/>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3" name="Google Shape;33;p9"/>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4" name="Google Shape;34;p9"/>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10"/>
          <p:cNvSpPr txBox="1"/>
          <p:nvPr>
            <p:ph type="ctrTitle"/>
          </p:nvPr>
        </p:nvSpPr>
        <p:spPr>
          <a:xfrm>
            <a:off x="609600" y="1597819"/>
            <a:ext cx="6908700" cy="11025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7" name="Google Shape;37;p10"/>
          <p:cNvSpPr txBox="1"/>
          <p:nvPr>
            <p:ph idx="1" type="subTitle"/>
          </p:nvPr>
        </p:nvSpPr>
        <p:spPr>
          <a:xfrm>
            <a:off x="1219200" y="2914650"/>
            <a:ext cx="5689500" cy="1314600"/>
          </a:xfrm>
          <a:prstGeom prst="rect">
            <a:avLst/>
          </a:prstGeom>
          <a:noFill/>
          <a:ln>
            <a:noFill/>
          </a:ln>
        </p:spPr>
        <p:txBody>
          <a:bodyPr anchorCtr="0" anchor="t" bIns="38500" lIns="77025" spcFirstLastPara="1" rIns="77025" wrap="square" tIns="38500">
            <a:normAutofit/>
          </a:bodyPr>
          <a:lstStyle>
            <a:lvl1pPr lvl="0" algn="ctr">
              <a:lnSpc>
                <a:spcPct val="100000"/>
              </a:lnSpc>
              <a:spcBef>
                <a:spcPts val="500"/>
              </a:spcBef>
              <a:spcAft>
                <a:spcPts val="0"/>
              </a:spcAft>
              <a:buClr>
                <a:srgbClr val="888888"/>
              </a:buClr>
              <a:buSzPts val="2700"/>
              <a:buNone/>
              <a:defRPr>
                <a:solidFill>
                  <a:srgbClr val="888888"/>
                </a:solidFill>
              </a:defRPr>
            </a:lvl1pPr>
            <a:lvl2pPr lvl="1" algn="ctr">
              <a:lnSpc>
                <a:spcPct val="100000"/>
              </a:lnSpc>
              <a:spcBef>
                <a:spcPts val="500"/>
              </a:spcBef>
              <a:spcAft>
                <a:spcPts val="0"/>
              </a:spcAft>
              <a:buClr>
                <a:srgbClr val="888888"/>
              </a:buClr>
              <a:buSzPts val="2400"/>
              <a:buNone/>
              <a:defRPr>
                <a:solidFill>
                  <a:srgbClr val="888888"/>
                </a:solidFill>
              </a:defRPr>
            </a:lvl2pPr>
            <a:lvl3pPr lvl="2" algn="ctr">
              <a:lnSpc>
                <a:spcPct val="100000"/>
              </a:lnSpc>
              <a:spcBef>
                <a:spcPts val="400"/>
              </a:spcBef>
              <a:spcAft>
                <a:spcPts val="0"/>
              </a:spcAft>
              <a:buClr>
                <a:srgbClr val="888888"/>
              </a:buClr>
              <a:buSzPts val="2000"/>
              <a:buNone/>
              <a:defRPr>
                <a:solidFill>
                  <a:srgbClr val="888888"/>
                </a:solidFill>
              </a:defRPr>
            </a:lvl3pPr>
            <a:lvl4pPr lvl="3" algn="ctr">
              <a:lnSpc>
                <a:spcPct val="100000"/>
              </a:lnSpc>
              <a:spcBef>
                <a:spcPts val="300"/>
              </a:spcBef>
              <a:spcAft>
                <a:spcPts val="0"/>
              </a:spcAft>
              <a:buClr>
                <a:srgbClr val="888888"/>
              </a:buClr>
              <a:buSzPts val="1700"/>
              <a:buNone/>
              <a:defRPr>
                <a:solidFill>
                  <a:srgbClr val="888888"/>
                </a:solidFill>
              </a:defRPr>
            </a:lvl4pPr>
            <a:lvl5pPr lvl="4" algn="ctr">
              <a:lnSpc>
                <a:spcPct val="100000"/>
              </a:lnSpc>
              <a:spcBef>
                <a:spcPts val="300"/>
              </a:spcBef>
              <a:spcAft>
                <a:spcPts val="0"/>
              </a:spcAft>
              <a:buClr>
                <a:srgbClr val="888888"/>
              </a:buClr>
              <a:buSzPts val="1700"/>
              <a:buNone/>
              <a:defRPr>
                <a:solidFill>
                  <a:srgbClr val="888888"/>
                </a:solidFill>
              </a:defRPr>
            </a:lvl5pPr>
            <a:lvl6pPr lvl="5" algn="ctr">
              <a:lnSpc>
                <a:spcPct val="100000"/>
              </a:lnSpc>
              <a:spcBef>
                <a:spcPts val="300"/>
              </a:spcBef>
              <a:spcAft>
                <a:spcPts val="0"/>
              </a:spcAft>
              <a:buClr>
                <a:srgbClr val="888888"/>
              </a:buClr>
              <a:buSzPts val="1700"/>
              <a:buNone/>
              <a:defRPr>
                <a:solidFill>
                  <a:srgbClr val="888888"/>
                </a:solidFill>
              </a:defRPr>
            </a:lvl6pPr>
            <a:lvl7pPr lvl="6" algn="ctr">
              <a:lnSpc>
                <a:spcPct val="100000"/>
              </a:lnSpc>
              <a:spcBef>
                <a:spcPts val="300"/>
              </a:spcBef>
              <a:spcAft>
                <a:spcPts val="0"/>
              </a:spcAft>
              <a:buClr>
                <a:srgbClr val="888888"/>
              </a:buClr>
              <a:buSzPts val="1700"/>
              <a:buNone/>
              <a:defRPr>
                <a:solidFill>
                  <a:srgbClr val="888888"/>
                </a:solidFill>
              </a:defRPr>
            </a:lvl7pPr>
            <a:lvl8pPr lvl="7" algn="ctr">
              <a:lnSpc>
                <a:spcPct val="100000"/>
              </a:lnSpc>
              <a:spcBef>
                <a:spcPts val="300"/>
              </a:spcBef>
              <a:spcAft>
                <a:spcPts val="0"/>
              </a:spcAft>
              <a:buClr>
                <a:srgbClr val="888888"/>
              </a:buClr>
              <a:buSzPts val="1700"/>
              <a:buNone/>
              <a:defRPr>
                <a:solidFill>
                  <a:srgbClr val="888888"/>
                </a:solidFill>
              </a:defRPr>
            </a:lvl8pPr>
            <a:lvl9pPr lvl="8" algn="ctr">
              <a:lnSpc>
                <a:spcPct val="100000"/>
              </a:lnSpc>
              <a:spcBef>
                <a:spcPts val="300"/>
              </a:spcBef>
              <a:spcAft>
                <a:spcPts val="0"/>
              </a:spcAft>
              <a:buClr>
                <a:srgbClr val="888888"/>
              </a:buClr>
              <a:buSzPts val="1700"/>
              <a:buNone/>
              <a:defRPr>
                <a:solidFill>
                  <a:srgbClr val="888888"/>
                </a:solidFill>
              </a:defRPr>
            </a:lvl9pPr>
          </a:lstStyle>
          <a:p/>
        </p:txBody>
      </p:sp>
      <p:sp>
        <p:nvSpPr>
          <p:cNvPr id="38" name="Google Shape;38;p10"/>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9" name="Google Shape;39;p10"/>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0" name="Google Shape;40;p10"/>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11"/>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3" name="Google Shape;43;p11"/>
          <p:cNvSpPr txBox="1"/>
          <p:nvPr>
            <p:ph idx="1" type="body"/>
          </p:nvPr>
        </p:nvSpPr>
        <p:spPr>
          <a:xfrm>
            <a:off x="406400" y="1200150"/>
            <a:ext cx="7315200" cy="3394500"/>
          </a:xfrm>
          <a:prstGeom prst="rect">
            <a:avLst/>
          </a:prstGeom>
          <a:noFill/>
          <a:ln>
            <a:noFill/>
          </a:ln>
        </p:spPr>
        <p:txBody>
          <a:bodyPr anchorCtr="0" anchor="t" bIns="38500" lIns="77025" spcFirstLastPara="1" rIns="77025" wrap="square" tIns="38500">
            <a:normAutofit/>
          </a:bodyPr>
          <a:lstStyle>
            <a:lvl1pPr indent="-323850" lvl="0" marL="457200" algn="l">
              <a:lnSpc>
                <a:spcPct val="100000"/>
              </a:lnSpc>
              <a:spcBef>
                <a:spcPts val="300"/>
              </a:spcBef>
              <a:spcAft>
                <a:spcPts val="0"/>
              </a:spcAft>
              <a:buClr>
                <a:schemeClr val="dk1"/>
              </a:buClr>
              <a:buSzPts val="1500"/>
              <a:buChar char="•"/>
              <a:defRPr/>
            </a:lvl1pPr>
            <a:lvl2pPr indent="-323850" lvl="1" marL="914400" algn="l">
              <a:lnSpc>
                <a:spcPct val="100000"/>
              </a:lnSpc>
              <a:spcBef>
                <a:spcPts val="300"/>
              </a:spcBef>
              <a:spcAft>
                <a:spcPts val="0"/>
              </a:spcAft>
              <a:buClr>
                <a:schemeClr val="dk1"/>
              </a:buClr>
              <a:buSzPts val="1500"/>
              <a:buChar char="–"/>
              <a:defRPr/>
            </a:lvl2pPr>
            <a:lvl3pPr indent="-323850" lvl="2" marL="1371600" algn="l">
              <a:lnSpc>
                <a:spcPct val="100000"/>
              </a:lnSpc>
              <a:spcBef>
                <a:spcPts val="300"/>
              </a:spcBef>
              <a:spcAft>
                <a:spcPts val="0"/>
              </a:spcAft>
              <a:buClr>
                <a:schemeClr val="dk1"/>
              </a:buClr>
              <a:buSzPts val="1500"/>
              <a:buChar char="•"/>
              <a:defRPr/>
            </a:lvl3pPr>
            <a:lvl4pPr indent="-323850" lvl="3" marL="1828800" algn="l">
              <a:lnSpc>
                <a:spcPct val="100000"/>
              </a:lnSpc>
              <a:spcBef>
                <a:spcPts val="300"/>
              </a:spcBef>
              <a:spcAft>
                <a:spcPts val="0"/>
              </a:spcAft>
              <a:buClr>
                <a:schemeClr val="dk1"/>
              </a:buClr>
              <a:buSzPts val="1500"/>
              <a:buChar char="–"/>
              <a:defRPr/>
            </a:lvl4pPr>
            <a:lvl5pPr indent="-323850" lvl="4" marL="2286000" algn="l">
              <a:lnSpc>
                <a:spcPct val="100000"/>
              </a:lnSpc>
              <a:spcBef>
                <a:spcPts val="300"/>
              </a:spcBef>
              <a:spcAft>
                <a:spcPts val="0"/>
              </a:spcAft>
              <a:buClr>
                <a:schemeClr val="dk1"/>
              </a:buClr>
              <a:buSzPts val="1500"/>
              <a:buChar char="»"/>
              <a:defRPr/>
            </a:lvl5pPr>
            <a:lvl6pPr indent="-323850" lvl="5" marL="2743200" algn="l">
              <a:lnSpc>
                <a:spcPct val="100000"/>
              </a:lnSpc>
              <a:spcBef>
                <a:spcPts val="300"/>
              </a:spcBef>
              <a:spcAft>
                <a:spcPts val="0"/>
              </a:spcAft>
              <a:buClr>
                <a:schemeClr val="dk1"/>
              </a:buClr>
              <a:buSzPts val="1500"/>
              <a:buChar char="•"/>
              <a:defRPr/>
            </a:lvl6pPr>
            <a:lvl7pPr indent="-323850" lvl="6" marL="3200400" algn="l">
              <a:lnSpc>
                <a:spcPct val="100000"/>
              </a:lnSpc>
              <a:spcBef>
                <a:spcPts val="300"/>
              </a:spcBef>
              <a:spcAft>
                <a:spcPts val="0"/>
              </a:spcAft>
              <a:buClr>
                <a:schemeClr val="dk1"/>
              </a:buClr>
              <a:buSzPts val="1500"/>
              <a:buChar char="•"/>
              <a:defRPr/>
            </a:lvl7pPr>
            <a:lvl8pPr indent="-323850" lvl="7" marL="3657600" algn="l">
              <a:lnSpc>
                <a:spcPct val="100000"/>
              </a:lnSpc>
              <a:spcBef>
                <a:spcPts val="300"/>
              </a:spcBef>
              <a:spcAft>
                <a:spcPts val="0"/>
              </a:spcAft>
              <a:buClr>
                <a:schemeClr val="dk1"/>
              </a:buClr>
              <a:buSzPts val="1500"/>
              <a:buChar char="•"/>
              <a:defRPr/>
            </a:lvl8pPr>
            <a:lvl9pPr indent="-323850" lvl="8" marL="4114800" algn="l">
              <a:lnSpc>
                <a:spcPct val="100000"/>
              </a:lnSpc>
              <a:spcBef>
                <a:spcPts val="300"/>
              </a:spcBef>
              <a:spcAft>
                <a:spcPts val="0"/>
              </a:spcAft>
              <a:buClr>
                <a:schemeClr val="dk1"/>
              </a:buClr>
              <a:buSzPts val="1500"/>
              <a:buChar char="•"/>
              <a:defRPr/>
            </a:lvl9pPr>
          </a:lstStyle>
          <a:p/>
        </p:txBody>
      </p:sp>
      <p:sp>
        <p:nvSpPr>
          <p:cNvPr id="44" name="Google Shape;44;p11"/>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5" name="Google Shape;45;p11"/>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6" name="Google Shape;46;p11"/>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12"/>
          <p:cNvSpPr txBox="1"/>
          <p:nvPr>
            <p:ph type="title"/>
          </p:nvPr>
        </p:nvSpPr>
        <p:spPr>
          <a:xfrm>
            <a:off x="642056" y="3305175"/>
            <a:ext cx="6908700" cy="1021500"/>
          </a:xfrm>
          <a:prstGeom prst="rect">
            <a:avLst/>
          </a:prstGeom>
          <a:noFill/>
          <a:ln>
            <a:noFill/>
          </a:ln>
        </p:spPr>
        <p:txBody>
          <a:bodyPr anchorCtr="0" anchor="t" bIns="38500" lIns="77025" spcFirstLastPara="1" rIns="77025" wrap="square" tIns="38500">
            <a:normAutofit/>
          </a:bodyPr>
          <a:lstStyle>
            <a:lvl1pPr lvl="0" algn="l">
              <a:lnSpc>
                <a:spcPct val="100000"/>
              </a:lnSpc>
              <a:spcBef>
                <a:spcPts val="0"/>
              </a:spcBef>
              <a:spcAft>
                <a:spcPts val="0"/>
              </a:spcAft>
              <a:buClr>
                <a:schemeClr val="dk1"/>
              </a:buClr>
              <a:buSzPts val="3400"/>
              <a:buFont typeface="Calibri"/>
              <a:buNone/>
              <a:defRPr b="1" sz="3400" cap="none"/>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9" name="Google Shape;49;p12"/>
          <p:cNvSpPr txBox="1"/>
          <p:nvPr>
            <p:ph idx="1" type="body"/>
          </p:nvPr>
        </p:nvSpPr>
        <p:spPr>
          <a:xfrm>
            <a:off x="642056" y="2180035"/>
            <a:ext cx="6908700" cy="1125300"/>
          </a:xfrm>
          <a:prstGeom prst="rect">
            <a:avLst/>
          </a:prstGeom>
          <a:noFill/>
          <a:ln>
            <a:noFill/>
          </a:ln>
        </p:spPr>
        <p:txBody>
          <a:bodyPr anchorCtr="0" anchor="b" bIns="38500" lIns="77025" spcFirstLastPara="1" rIns="77025" wrap="square" tIns="38500">
            <a:normAutofit/>
          </a:bodyPr>
          <a:lstStyle>
            <a:lvl1pPr indent="-228600" lvl="0" marL="457200" algn="l">
              <a:lnSpc>
                <a:spcPct val="100000"/>
              </a:lnSpc>
              <a:spcBef>
                <a:spcPts val="300"/>
              </a:spcBef>
              <a:spcAft>
                <a:spcPts val="0"/>
              </a:spcAft>
              <a:buClr>
                <a:srgbClr val="888888"/>
              </a:buClr>
              <a:buSzPts val="1700"/>
              <a:buNone/>
              <a:defRPr sz="1700">
                <a:solidFill>
                  <a:srgbClr val="888888"/>
                </a:solidFill>
              </a:defRPr>
            </a:lvl1pPr>
            <a:lvl2pPr indent="-228600" lvl="1" marL="914400" algn="l">
              <a:lnSpc>
                <a:spcPct val="100000"/>
              </a:lnSpc>
              <a:spcBef>
                <a:spcPts val="3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300"/>
              <a:buNone/>
              <a:defRPr sz="1300">
                <a:solidFill>
                  <a:srgbClr val="888888"/>
                </a:solidFill>
              </a:defRPr>
            </a:lvl3pPr>
            <a:lvl4pPr indent="-228600" lvl="3" marL="1828800" algn="l">
              <a:lnSpc>
                <a:spcPct val="100000"/>
              </a:lnSpc>
              <a:spcBef>
                <a:spcPts val="200"/>
              </a:spcBef>
              <a:spcAft>
                <a:spcPts val="0"/>
              </a:spcAft>
              <a:buClr>
                <a:srgbClr val="888888"/>
              </a:buClr>
              <a:buSzPts val="1200"/>
              <a:buNone/>
              <a:defRPr sz="1200">
                <a:solidFill>
                  <a:srgbClr val="888888"/>
                </a:solidFill>
              </a:defRPr>
            </a:lvl4pPr>
            <a:lvl5pPr indent="-228600" lvl="4" marL="2286000" algn="l">
              <a:lnSpc>
                <a:spcPct val="100000"/>
              </a:lnSpc>
              <a:spcBef>
                <a:spcPts val="200"/>
              </a:spcBef>
              <a:spcAft>
                <a:spcPts val="0"/>
              </a:spcAft>
              <a:buClr>
                <a:srgbClr val="888888"/>
              </a:buClr>
              <a:buSzPts val="1200"/>
              <a:buNone/>
              <a:defRPr sz="1200">
                <a:solidFill>
                  <a:srgbClr val="888888"/>
                </a:solidFill>
              </a:defRPr>
            </a:lvl5pPr>
            <a:lvl6pPr indent="-228600" lvl="5" marL="2743200" algn="l">
              <a:lnSpc>
                <a:spcPct val="100000"/>
              </a:lnSpc>
              <a:spcBef>
                <a:spcPts val="200"/>
              </a:spcBef>
              <a:spcAft>
                <a:spcPts val="0"/>
              </a:spcAft>
              <a:buClr>
                <a:srgbClr val="888888"/>
              </a:buClr>
              <a:buSzPts val="1200"/>
              <a:buNone/>
              <a:defRPr sz="1200">
                <a:solidFill>
                  <a:srgbClr val="888888"/>
                </a:solidFill>
              </a:defRPr>
            </a:lvl6pPr>
            <a:lvl7pPr indent="-228600" lvl="6" marL="3200400" algn="l">
              <a:lnSpc>
                <a:spcPct val="100000"/>
              </a:lnSpc>
              <a:spcBef>
                <a:spcPts val="200"/>
              </a:spcBef>
              <a:spcAft>
                <a:spcPts val="0"/>
              </a:spcAft>
              <a:buClr>
                <a:srgbClr val="888888"/>
              </a:buClr>
              <a:buSzPts val="1200"/>
              <a:buNone/>
              <a:defRPr sz="1200">
                <a:solidFill>
                  <a:srgbClr val="888888"/>
                </a:solidFill>
              </a:defRPr>
            </a:lvl7pPr>
            <a:lvl8pPr indent="-228600" lvl="7" marL="3657600" algn="l">
              <a:lnSpc>
                <a:spcPct val="100000"/>
              </a:lnSpc>
              <a:spcBef>
                <a:spcPts val="200"/>
              </a:spcBef>
              <a:spcAft>
                <a:spcPts val="0"/>
              </a:spcAft>
              <a:buClr>
                <a:srgbClr val="888888"/>
              </a:buClr>
              <a:buSzPts val="1200"/>
              <a:buNone/>
              <a:defRPr sz="1200">
                <a:solidFill>
                  <a:srgbClr val="888888"/>
                </a:solidFill>
              </a:defRPr>
            </a:lvl8pPr>
            <a:lvl9pPr indent="-228600" lvl="8" marL="4114800" algn="l">
              <a:lnSpc>
                <a:spcPct val="100000"/>
              </a:lnSpc>
              <a:spcBef>
                <a:spcPts val="200"/>
              </a:spcBef>
              <a:spcAft>
                <a:spcPts val="0"/>
              </a:spcAft>
              <a:buClr>
                <a:srgbClr val="888888"/>
              </a:buClr>
              <a:buSzPts val="1200"/>
              <a:buNone/>
              <a:defRPr sz="1200">
                <a:solidFill>
                  <a:srgbClr val="888888"/>
                </a:solidFill>
              </a:defRPr>
            </a:lvl9pPr>
          </a:lstStyle>
          <a:p/>
        </p:txBody>
      </p:sp>
      <p:sp>
        <p:nvSpPr>
          <p:cNvPr id="50" name="Google Shape;50;p12"/>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1" name="Google Shape;51;p12"/>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2" name="Google Shape;52;p12"/>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13"/>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5" name="Google Shape;55;p13"/>
          <p:cNvSpPr txBox="1"/>
          <p:nvPr>
            <p:ph idx="1" type="body"/>
          </p:nvPr>
        </p:nvSpPr>
        <p:spPr>
          <a:xfrm>
            <a:off x="406400" y="1200150"/>
            <a:ext cx="3589800" cy="3394500"/>
          </a:xfrm>
          <a:prstGeom prst="rect">
            <a:avLst/>
          </a:prstGeom>
          <a:noFill/>
          <a:ln>
            <a:noFill/>
          </a:ln>
        </p:spPr>
        <p:txBody>
          <a:bodyPr anchorCtr="0" anchor="t" bIns="38500" lIns="77025" spcFirstLastPara="1" rIns="77025" wrap="square" tIns="38500">
            <a:normAutofit/>
          </a:bodyPr>
          <a:lstStyle>
            <a:lvl1pPr indent="-381000" lvl="0" marL="457200" algn="l">
              <a:lnSpc>
                <a:spcPct val="100000"/>
              </a:lnSpc>
              <a:spcBef>
                <a:spcPts val="50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36550" lvl="2" marL="1371600" algn="l">
              <a:lnSpc>
                <a:spcPct val="100000"/>
              </a:lnSpc>
              <a:spcBef>
                <a:spcPts val="300"/>
              </a:spcBef>
              <a:spcAft>
                <a:spcPts val="0"/>
              </a:spcAft>
              <a:buClr>
                <a:schemeClr val="dk1"/>
              </a:buClr>
              <a:buSzPts val="1700"/>
              <a:buChar char="•"/>
              <a:defRPr sz="17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6" name="Google Shape;56;p13"/>
          <p:cNvSpPr txBox="1"/>
          <p:nvPr>
            <p:ph idx="2" type="body"/>
          </p:nvPr>
        </p:nvSpPr>
        <p:spPr>
          <a:xfrm>
            <a:off x="4131733" y="1200150"/>
            <a:ext cx="3589800" cy="3394500"/>
          </a:xfrm>
          <a:prstGeom prst="rect">
            <a:avLst/>
          </a:prstGeom>
          <a:noFill/>
          <a:ln>
            <a:noFill/>
          </a:ln>
        </p:spPr>
        <p:txBody>
          <a:bodyPr anchorCtr="0" anchor="t" bIns="38500" lIns="77025" spcFirstLastPara="1" rIns="77025" wrap="square" tIns="38500">
            <a:normAutofit/>
          </a:bodyPr>
          <a:lstStyle>
            <a:lvl1pPr indent="-381000" lvl="0" marL="457200" algn="l">
              <a:lnSpc>
                <a:spcPct val="100000"/>
              </a:lnSpc>
              <a:spcBef>
                <a:spcPts val="50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36550" lvl="2" marL="1371600" algn="l">
              <a:lnSpc>
                <a:spcPct val="100000"/>
              </a:lnSpc>
              <a:spcBef>
                <a:spcPts val="300"/>
              </a:spcBef>
              <a:spcAft>
                <a:spcPts val="0"/>
              </a:spcAft>
              <a:buClr>
                <a:schemeClr val="dk1"/>
              </a:buClr>
              <a:buSzPts val="1700"/>
              <a:buChar char="•"/>
              <a:defRPr sz="17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7" name="Google Shape;57;p13"/>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8" name="Google Shape;58;p13"/>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9" name="Google Shape;59;p13"/>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14"/>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3700"/>
              <a:buFont typeface="Calibri"/>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2" name="Google Shape;62;p14"/>
          <p:cNvSpPr txBox="1"/>
          <p:nvPr>
            <p:ph idx="1" type="body"/>
          </p:nvPr>
        </p:nvSpPr>
        <p:spPr>
          <a:xfrm>
            <a:off x="406400" y="1151335"/>
            <a:ext cx="3591300" cy="480000"/>
          </a:xfrm>
          <a:prstGeom prst="rect">
            <a:avLst/>
          </a:prstGeom>
          <a:noFill/>
          <a:ln>
            <a:noFill/>
          </a:ln>
        </p:spPr>
        <p:txBody>
          <a:bodyPr anchorCtr="0" anchor="b" bIns="38500" lIns="77025" spcFirstLastPara="1" rIns="77025" wrap="square" tIns="38500">
            <a:normAutofit/>
          </a:bodyPr>
          <a:lstStyle>
            <a:lvl1pPr indent="-228600" lvl="0" marL="457200" algn="l">
              <a:lnSpc>
                <a:spcPct val="100000"/>
              </a:lnSpc>
              <a:spcBef>
                <a:spcPts val="400"/>
              </a:spcBef>
              <a:spcAft>
                <a:spcPts val="0"/>
              </a:spcAft>
              <a:buClr>
                <a:schemeClr val="dk1"/>
              </a:buClr>
              <a:buSzPts val="2000"/>
              <a:buNone/>
              <a:defRPr b="1" sz="2000"/>
            </a:lvl1pPr>
            <a:lvl2pPr indent="-228600" lvl="1" marL="914400" algn="l">
              <a:lnSpc>
                <a:spcPct val="100000"/>
              </a:lnSpc>
              <a:spcBef>
                <a:spcPts val="300"/>
              </a:spcBef>
              <a:spcAft>
                <a:spcPts val="0"/>
              </a:spcAft>
              <a:buClr>
                <a:schemeClr val="dk1"/>
              </a:buClr>
              <a:buSzPts val="1700"/>
              <a:buNone/>
              <a:defRPr b="1" sz="1700"/>
            </a:lvl2pPr>
            <a:lvl3pPr indent="-228600" lvl="2" marL="1371600" algn="l">
              <a:lnSpc>
                <a:spcPct val="100000"/>
              </a:lnSpc>
              <a:spcBef>
                <a:spcPts val="300"/>
              </a:spcBef>
              <a:spcAft>
                <a:spcPts val="0"/>
              </a:spcAft>
              <a:buClr>
                <a:schemeClr val="dk1"/>
              </a:buClr>
              <a:buSzPts val="1500"/>
              <a:buNone/>
              <a:defRPr b="1" sz="1500"/>
            </a:lvl3pPr>
            <a:lvl4pPr indent="-228600" lvl="3" marL="1828800" algn="l">
              <a:lnSpc>
                <a:spcPct val="100000"/>
              </a:lnSpc>
              <a:spcBef>
                <a:spcPts val="300"/>
              </a:spcBef>
              <a:spcAft>
                <a:spcPts val="0"/>
              </a:spcAft>
              <a:buClr>
                <a:schemeClr val="dk1"/>
              </a:buClr>
              <a:buSzPts val="1300"/>
              <a:buNone/>
              <a:defRPr b="1" sz="1300"/>
            </a:lvl4pPr>
            <a:lvl5pPr indent="-228600" lvl="4" marL="2286000" algn="l">
              <a:lnSpc>
                <a:spcPct val="100000"/>
              </a:lnSpc>
              <a:spcBef>
                <a:spcPts val="300"/>
              </a:spcBef>
              <a:spcAft>
                <a:spcPts val="0"/>
              </a:spcAft>
              <a:buClr>
                <a:schemeClr val="dk1"/>
              </a:buClr>
              <a:buSzPts val="1300"/>
              <a:buNone/>
              <a:defRPr b="1" sz="1300"/>
            </a:lvl5pPr>
            <a:lvl6pPr indent="-228600" lvl="5" marL="2743200" algn="l">
              <a:lnSpc>
                <a:spcPct val="100000"/>
              </a:lnSpc>
              <a:spcBef>
                <a:spcPts val="300"/>
              </a:spcBef>
              <a:spcAft>
                <a:spcPts val="0"/>
              </a:spcAft>
              <a:buClr>
                <a:schemeClr val="dk1"/>
              </a:buClr>
              <a:buSzPts val="1300"/>
              <a:buNone/>
              <a:defRPr b="1" sz="1300"/>
            </a:lvl6pPr>
            <a:lvl7pPr indent="-228600" lvl="6" marL="3200400" algn="l">
              <a:lnSpc>
                <a:spcPct val="100000"/>
              </a:lnSpc>
              <a:spcBef>
                <a:spcPts val="300"/>
              </a:spcBef>
              <a:spcAft>
                <a:spcPts val="0"/>
              </a:spcAft>
              <a:buClr>
                <a:schemeClr val="dk1"/>
              </a:buClr>
              <a:buSzPts val="1300"/>
              <a:buNone/>
              <a:defRPr b="1" sz="1300"/>
            </a:lvl7pPr>
            <a:lvl8pPr indent="-228600" lvl="7" marL="3657600" algn="l">
              <a:lnSpc>
                <a:spcPct val="100000"/>
              </a:lnSpc>
              <a:spcBef>
                <a:spcPts val="300"/>
              </a:spcBef>
              <a:spcAft>
                <a:spcPts val="0"/>
              </a:spcAft>
              <a:buClr>
                <a:schemeClr val="dk1"/>
              </a:buClr>
              <a:buSzPts val="1300"/>
              <a:buNone/>
              <a:defRPr b="1" sz="1300"/>
            </a:lvl8pPr>
            <a:lvl9pPr indent="-228600" lvl="8" marL="4114800" algn="l">
              <a:lnSpc>
                <a:spcPct val="100000"/>
              </a:lnSpc>
              <a:spcBef>
                <a:spcPts val="300"/>
              </a:spcBef>
              <a:spcAft>
                <a:spcPts val="0"/>
              </a:spcAft>
              <a:buClr>
                <a:schemeClr val="dk1"/>
              </a:buClr>
              <a:buSzPts val="1300"/>
              <a:buNone/>
              <a:defRPr b="1" sz="1300"/>
            </a:lvl9pPr>
          </a:lstStyle>
          <a:p/>
        </p:txBody>
      </p:sp>
      <p:sp>
        <p:nvSpPr>
          <p:cNvPr id="63" name="Google Shape;63;p14"/>
          <p:cNvSpPr txBox="1"/>
          <p:nvPr>
            <p:ph idx="2" type="body"/>
          </p:nvPr>
        </p:nvSpPr>
        <p:spPr>
          <a:xfrm>
            <a:off x="406400" y="1631156"/>
            <a:ext cx="3591300" cy="2963400"/>
          </a:xfrm>
          <a:prstGeom prst="rect">
            <a:avLst/>
          </a:prstGeom>
          <a:noFill/>
          <a:ln>
            <a:noFill/>
          </a:ln>
        </p:spPr>
        <p:txBody>
          <a:bodyPr anchorCtr="0" anchor="t" bIns="38500" lIns="77025" spcFirstLastPara="1" rIns="77025" wrap="square" tIns="38500">
            <a:normAutofit/>
          </a:bodyPr>
          <a:lstStyle>
            <a:lvl1pPr indent="-355600" lvl="0" marL="457200" algn="l">
              <a:lnSpc>
                <a:spcPct val="100000"/>
              </a:lnSpc>
              <a:spcBef>
                <a:spcPts val="400"/>
              </a:spcBef>
              <a:spcAft>
                <a:spcPts val="0"/>
              </a:spcAft>
              <a:buClr>
                <a:schemeClr val="dk1"/>
              </a:buClr>
              <a:buSzPts val="2000"/>
              <a:buChar char="•"/>
              <a:defRPr sz="2000"/>
            </a:lvl1pPr>
            <a:lvl2pPr indent="-336550" lvl="1" marL="914400" algn="l">
              <a:lnSpc>
                <a:spcPct val="100000"/>
              </a:lnSpc>
              <a:spcBef>
                <a:spcPts val="300"/>
              </a:spcBef>
              <a:spcAft>
                <a:spcPts val="0"/>
              </a:spcAft>
              <a:buClr>
                <a:schemeClr val="dk1"/>
              </a:buClr>
              <a:buSzPts val="1700"/>
              <a:buChar char="–"/>
              <a:defRPr sz="1700"/>
            </a:lvl2pPr>
            <a:lvl3pPr indent="-323850" lvl="2" marL="1371600" algn="l">
              <a:lnSpc>
                <a:spcPct val="100000"/>
              </a:lnSpc>
              <a:spcBef>
                <a:spcPts val="300"/>
              </a:spcBef>
              <a:spcAft>
                <a:spcPts val="0"/>
              </a:spcAft>
              <a:buClr>
                <a:schemeClr val="dk1"/>
              </a:buClr>
              <a:buSzPts val="1500"/>
              <a:buChar char="•"/>
              <a:defRPr sz="1500"/>
            </a:lvl3pPr>
            <a:lvl4pPr indent="-311150" lvl="3" marL="1828800" algn="l">
              <a:lnSpc>
                <a:spcPct val="100000"/>
              </a:lnSpc>
              <a:spcBef>
                <a:spcPts val="300"/>
              </a:spcBef>
              <a:spcAft>
                <a:spcPts val="0"/>
              </a:spcAft>
              <a:buClr>
                <a:schemeClr val="dk1"/>
              </a:buClr>
              <a:buSzPts val="1300"/>
              <a:buChar char="–"/>
              <a:defRPr sz="1300"/>
            </a:lvl4pPr>
            <a:lvl5pPr indent="-311150" lvl="4" marL="2286000" algn="l">
              <a:lnSpc>
                <a:spcPct val="100000"/>
              </a:lnSpc>
              <a:spcBef>
                <a:spcPts val="300"/>
              </a:spcBef>
              <a:spcAft>
                <a:spcPts val="0"/>
              </a:spcAft>
              <a:buClr>
                <a:schemeClr val="dk1"/>
              </a:buClr>
              <a:buSzPts val="1300"/>
              <a:buChar char="»"/>
              <a:defRPr sz="1300"/>
            </a:lvl5pPr>
            <a:lvl6pPr indent="-311150" lvl="5" marL="2743200" algn="l">
              <a:lnSpc>
                <a:spcPct val="100000"/>
              </a:lnSpc>
              <a:spcBef>
                <a:spcPts val="300"/>
              </a:spcBef>
              <a:spcAft>
                <a:spcPts val="0"/>
              </a:spcAft>
              <a:buClr>
                <a:schemeClr val="dk1"/>
              </a:buClr>
              <a:buSzPts val="1300"/>
              <a:buChar char="•"/>
              <a:defRPr sz="1300"/>
            </a:lvl6pPr>
            <a:lvl7pPr indent="-311150" lvl="6" marL="3200400" algn="l">
              <a:lnSpc>
                <a:spcPct val="100000"/>
              </a:lnSpc>
              <a:spcBef>
                <a:spcPts val="300"/>
              </a:spcBef>
              <a:spcAft>
                <a:spcPts val="0"/>
              </a:spcAft>
              <a:buClr>
                <a:schemeClr val="dk1"/>
              </a:buClr>
              <a:buSzPts val="1300"/>
              <a:buChar char="•"/>
              <a:defRPr sz="1300"/>
            </a:lvl7pPr>
            <a:lvl8pPr indent="-311150" lvl="7" marL="3657600" algn="l">
              <a:lnSpc>
                <a:spcPct val="100000"/>
              </a:lnSpc>
              <a:spcBef>
                <a:spcPts val="300"/>
              </a:spcBef>
              <a:spcAft>
                <a:spcPts val="0"/>
              </a:spcAft>
              <a:buClr>
                <a:schemeClr val="dk1"/>
              </a:buClr>
              <a:buSzPts val="1300"/>
              <a:buChar char="•"/>
              <a:defRPr sz="1300"/>
            </a:lvl8pPr>
            <a:lvl9pPr indent="-311150" lvl="8" marL="4114800" algn="l">
              <a:lnSpc>
                <a:spcPct val="100000"/>
              </a:lnSpc>
              <a:spcBef>
                <a:spcPts val="300"/>
              </a:spcBef>
              <a:spcAft>
                <a:spcPts val="0"/>
              </a:spcAft>
              <a:buClr>
                <a:schemeClr val="dk1"/>
              </a:buClr>
              <a:buSzPts val="1300"/>
              <a:buChar char="•"/>
              <a:defRPr sz="1300"/>
            </a:lvl9pPr>
          </a:lstStyle>
          <a:p/>
        </p:txBody>
      </p:sp>
      <p:sp>
        <p:nvSpPr>
          <p:cNvPr id="64" name="Google Shape;64;p14"/>
          <p:cNvSpPr txBox="1"/>
          <p:nvPr>
            <p:ph idx="3" type="body"/>
          </p:nvPr>
        </p:nvSpPr>
        <p:spPr>
          <a:xfrm>
            <a:off x="4128911" y="1151335"/>
            <a:ext cx="3592800" cy="480000"/>
          </a:xfrm>
          <a:prstGeom prst="rect">
            <a:avLst/>
          </a:prstGeom>
          <a:noFill/>
          <a:ln>
            <a:noFill/>
          </a:ln>
        </p:spPr>
        <p:txBody>
          <a:bodyPr anchorCtr="0" anchor="b" bIns="38500" lIns="77025" spcFirstLastPara="1" rIns="77025" wrap="square" tIns="38500">
            <a:normAutofit/>
          </a:bodyPr>
          <a:lstStyle>
            <a:lvl1pPr indent="-228600" lvl="0" marL="457200" algn="l">
              <a:lnSpc>
                <a:spcPct val="100000"/>
              </a:lnSpc>
              <a:spcBef>
                <a:spcPts val="400"/>
              </a:spcBef>
              <a:spcAft>
                <a:spcPts val="0"/>
              </a:spcAft>
              <a:buClr>
                <a:schemeClr val="dk1"/>
              </a:buClr>
              <a:buSzPts val="2000"/>
              <a:buNone/>
              <a:defRPr b="1" sz="2000"/>
            </a:lvl1pPr>
            <a:lvl2pPr indent="-228600" lvl="1" marL="914400" algn="l">
              <a:lnSpc>
                <a:spcPct val="100000"/>
              </a:lnSpc>
              <a:spcBef>
                <a:spcPts val="300"/>
              </a:spcBef>
              <a:spcAft>
                <a:spcPts val="0"/>
              </a:spcAft>
              <a:buClr>
                <a:schemeClr val="dk1"/>
              </a:buClr>
              <a:buSzPts val="1700"/>
              <a:buNone/>
              <a:defRPr b="1" sz="1700"/>
            </a:lvl2pPr>
            <a:lvl3pPr indent="-228600" lvl="2" marL="1371600" algn="l">
              <a:lnSpc>
                <a:spcPct val="100000"/>
              </a:lnSpc>
              <a:spcBef>
                <a:spcPts val="300"/>
              </a:spcBef>
              <a:spcAft>
                <a:spcPts val="0"/>
              </a:spcAft>
              <a:buClr>
                <a:schemeClr val="dk1"/>
              </a:buClr>
              <a:buSzPts val="1500"/>
              <a:buNone/>
              <a:defRPr b="1" sz="1500"/>
            </a:lvl3pPr>
            <a:lvl4pPr indent="-228600" lvl="3" marL="1828800" algn="l">
              <a:lnSpc>
                <a:spcPct val="100000"/>
              </a:lnSpc>
              <a:spcBef>
                <a:spcPts val="300"/>
              </a:spcBef>
              <a:spcAft>
                <a:spcPts val="0"/>
              </a:spcAft>
              <a:buClr>
                <a:schemeClr val="dk1"/>
              </a:buClr>
              <a:buSzPts val="1300"/>
              <a:buNone/>
              <a:defRPr b="1" sz="1300"/>
            </a:lvl4pPr>
            <a:lvl5pPr indent="-228600" lvl="4" marL="2286000" algn="l">
              <a:lnSpc>
                <a:spcPct val="100000"/>
              </a:lnSpc>
              <a:spcBef>
                <a:spcPts val="300"/>
              </a:spcBef>
              <a:spcAft>
                <a:spcPts val="0"/>
              </a:spcAft>
              <a:buClr>
                <a:schemeClr val="dk1"/>
              </a:buClr>
              <a:buSzPts val="1300"/>
              <a:buNone/>
              <a:defRPr b="1" sz="1300"/>
            </a:lvl5pPr>
            <a:lvl6pPr indent="-228600" lvl="5" marL="2743200" algn="l">
              <a:lnSpc>
                <a:spcPct val="100000"/>
              </a:lnSpc>
              <a:spcBef>
                <a:spcPts val="300"/>
              </a:spcBef>
              <a:spcAft>
                <a:spcPts val="0"/>
              </a:spcAft>
              <a:buClr>
                <a:schemeClr val="dk1"/>
              </a:buClr>
              <a:buSzPts val="1300"/>
              <a:buNone/>
              <a:defRPr b="1" sz="1300"/>
            </a:lvl6pPr>
            <a:lvl7pPr indent="-228600" lvl="6" marL="3200400" algn="l">
              <a:lnSpc>
                <a:spcPct val="100000"/>
              </a:lnSpc>
              <a:spcBef>
                <a:spcPts val="300"/>
              </a:spcBef>
              <a:spcAft>
                <a:spcPts val="0"/>
              </a:spcAft>
              <a:buClr>
                <a:schemeClr val="dk1"/>
              </a:buClr>
              <a:buSzPts val="1300"/>
              <a:buNone/>
              <a:defRPr b="1" sz="1300"/>
            </a:lvl7pPr>
            <a:lvl8pPr indent="-228600" lvl="7" marL="3657600" algn="l">
              <a:lnSpc>
                <a:spcPct val="100000"/>
              </a:lnSpc>
              <a:spcBef>
                <a:spcPts val="300"/>
              </a:spcBef>
              <a:spcAft>
                <a:spcPts val="0"/>
              </a:spcAft>
              <a:buClr>
                <a:schemeClr val="dk1"/>
              </a:buClr>
              <a:buSzPts val="1300"/>
              <a:buNone/>
              <a:defRPr b="1" sz="1300"/>
            </a:lvl8pPr>
            <a:lvl9pPr indent="-228600" lvl="8" marL="4114800" algn="l">
              <a:lnSpc>
                <a:spcPct val="100000"/>
              </a:lnSpc>
              <a:spcBef>
                <a:spcPts val="300"/>
              </a:spcBef>
              <a:spcAft>
                <a:spcPts val="0"/>
              </a:spcAft>
              <a:buClr>
                <a:schemeClr val="dk1"/>
              </a:buClr>
              <a:buSzPts val="1300"/>
              <a:buNone/>
              <a:defRPr b="1" sz="1300"/>
            </a:lvl9pPr>
          </a:lstStyle>
          <a:p/>
        </p:txBody>
      </p:sp>
      <p:sp>
        <p:nvSpPr>
          <p:cNvPr id="65" name="Google Shape;65;p14"/>
          <p:cNvSpPr txBox="1"/>
          <p:nvPr>
            <p:ph idx="4" type="body"/>
          </p:nvPr>
        </p:nvSpPr>
        <p:spPr>
          <a:xfrm>
            <a:off x="4128911" y="1631156"/>
            <a:ext cx="3592800" cy="2963400"/>
          </a:xfrm>
          <a:prstGeom prst="rect">
            <a:avLst/>
          </a:prstGeom>
          <a:noFill/>
          <a:ln>
            <a:noFill/>
          </a:ln>
        </p:spPr>
        <p:txBody>
          <a:bodyPr anchorCtr="0" anchor="t" bIns="38500" lIns="77025" spcFirstLastPara="1" rIns="77025" wrap="square" tIns="38500">
            <a:normAutofit/>
          </a:bodyPr>
          <a:lstStyle>
            <a:lvl1pPr indent="-355600" lvl="0" marL="457200" algn="l">
              <a:lnSpc>
                <a:spcPct val="100000"/>
              </a:lnSpc>
              <a:spcBef>
                <a:spcPts val="400"/>
              </a:spcBef>
              <a:spcAft>
                <a:spcPts val="0"/>
              </a:spcAft>
              <a:buClr>
                <a:schemeClr val="dk1"/>
              </a:buClr>
              <a:buSzPts val="2000"/>
              <a:buChar char="•"/>
              <a:defRPr sz="2000"/>
            </a:lvl1pPr>
            <a:lvl2pPr indent="-336550" lvl="1" marL="914400" algn="l">
              <a:lnSpc>
                <a:spcPct val="100000"/>
              </a:lnSpc>
              <a:spcBef>
                <a:spcPts val="300"/>
              </a:spcBef>
              <a:spcAft>
                <a:spcPts val="0"/>
              </a:spcAft>
              <a:buClr>
                <a:schemeClr val="dk1"/>
              </a:buClr>
              <a:buSzPts val="1700"/>
              <a:buChar char="–"/>
              <a:defRPr sz="1700"/>
            </a:lvl2pPr>
            <a:lvl3pPr indent="-323850" lvl="2" marL="1371600" algn="l">
              <a:lnSpc>
                <a:spcPct val="100000"/>
              </a:lnSpc>
              <a:spcBef>
                <a:spcPts val="300"/>
              </a:spcBef>
              <a:spcAft>
                <a:spcPts val="0"/>
              </a:spcAft>
              <a:buClr>
                <a:schemeClr val="dk1"/>
              </a:buClr>
              <a:buSzPts val="1500"/>
              <a:buChar char="•"/>
              <a:defRPr sz="1500"/>
            </a:lvl3pPr>
            <a:lvl4pPr indent="-311150" lvl="3" marL="1828800" algn="l">
              <a:lnSpc>
                <a:spcPct val="100000"/>
              </a:lnSpc>
              <a:spcBef>
                <a:spcPts val="300"/>
              </a:spcBef>
              <a:spcAft>
                <a:spcPts val="0"/>
              </a:spcAft>
              <a:buClr>
                <a:schemeClr val="dk1"/>
              </a:buClr>
              <a:buSzPts val="1300"/>
              <a:buChar char="–"/>
              <a:defRPr sz="1300"/>
            </a:lvl4pPr>
            <a:lvl5pPr indent="-311150" lvl="4" marL="2286000" algn="l">
              <a:lnSpc>
                <a:spcPct val="100000"/>
              </a:lnSpc>
              <a:spcBef>
                <a:spcPts val="300"/>
              </a:spcBef>
              <a:spcAft>
                <a:spcPts val="0"/>
              </a:spcAft>
              <a:buClr>
                <a:schemeClr val="dk1"/>
              </a:buClr>
              <a:buSzPts val="1300"/>
              <a:buChar char="»"/>
              <a:defRPr sz="1300"/>
            </a:lvl5pPr>
            <a:lvl6pPr indent="-311150" lvl="5" marL="2743200" algn="l">
              <a:lnSpc>
                <a:spcPct val="100000"/>
              </a:lnSpc>
              <a:spcBef>
                <a:spcPts val="300"/>
              </a:spcBef>
              <a:spcAft>
                <a:spcPts val="0"/>
              </a:spcAft>
              <a:buClr>
                <a:schemeClr val="dk1"/>
              </a:buClr>
              <a:buSzPts val="1300"/>
              <a:buChar char="•"/>
              <a:defRPr sz="1300"/>
            </a:lvl6pPr>
            <a:lvl7pPr indent="-311150" lvl="6" marL="3200400" algn="l">
              <a:lnSpc>
                <a:spcPct val="100000"/>
              </a:lnSpc>
              <a:spcBef>
                <a:spcPts val="300"/>
              </a:spcBef>
              <a:spcAft>
                <a:spcPts val="0"/>
              </a:spcAft>
              <a:buClr>
                <a:schemeClr val="dk1"/>
              </a:buClr>
              <a:buSzPts val="1300"/>
              <a:buChar char="•"/>
              <a:defRPr sz="1300"/>
            </a:lvl7pPr>
            <a:lvl8pPr indent="-311150" lvl="7" marL="3657600" algn="l">
              <a:lnSpc>
                <a:spcPct val="100000"/>
              </a:lnSpc>
              <a:spcBef>
                <a:spcPts val="300"/>
              </a:spcBef>
              <a:spcAft>
                <a:spcPts val="0"/>
              </a:spcAft>
              <a:buClr>
                <a:schemeClr val="dk1"/>
              </a:buClr>
              <a:buSzPts val="1300"/>
              <a:buChar char="•"/>
              <a:defRPr sz="1300"/>
            </a:lvl8pPr>
            <a:lvl9pPr indent="-311150" lvl="8" marL="4114800" algn="l">
              <a:lnSpc>
                <a:spcPct val="100000"/>
              </a:lnSpc>
              <a:spcBef>
                <a:spcPts val="300"/>
              </a:spcBef>
              <a:spcAft>
                <a:spcPts val="0"/>
              </a:spcAft>
              <a:buClr>
                <a:schemeClr val="dk1"/>
              </a:buClr>
              <a:buSzPts val="1300"/>
              <a:buChar char="•"/>
              <a:defRPr sz="1300"/>
            </a:lvl9pPr>
          </a:lstStyle>
          <a:p/>
        </p:txBody>
      </p:sp>
      <p:sp>
        <p:nvSpPr>
          <p:cNvPr id="66" name="Google Shape;66;p14"/>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7" name="Google Shape;67;p14"/>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8" name="Google Shape;68;p14"/>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5"/>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1" name="Google Shape;71;p15"/>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2" name="Google Shape;72;p15"/>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3" name="Google Shape;73;p15"/>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16"/>
          <p:cNvSpPr txBox="1"/>
          <p:nvPr>
            <p:ph type="title"/>
          </p:nvPr>
        </p:nvSpPr>
        <p:spPr>
          <a:xfrm>
            <a:off x="406400" y="204788"/>
            <a:ext cx="2674200" cy="871800"/>
          </a:xfrm>
          <a:prstGeom prst="rect">
            <a:avLst/>
          </a:prstGeom>
          <a:noFill/>
          <a:ln>
            <a:noFill/>
          </a:ln>
        </p:spPr>
        <p:txBody>
          <a:bodyPr anchorCtr="0" anchor="b" bIns="38500" lIns="77025" spcFirstLastPara="1" rIns="77025" wrap="square" tIns="38500">
            <a:normAutofit/>
          </a:bodyPr>
          <a:lstStyle>
            <a:lvl1pPr lvl="0" algn="l">
              <a:lnSpc>
                <a:spcPct val="100000"/>
              </a:lnSpc>
              <a:spcBef>
                <a:spcPts val="0"/>
              </a:spcBef>
              <a:spcAft>
                <a:spcPts val="0"/>
              </a:spcAft>
              <a:buClr>
                <a:schemeClr val="dk1"/>
              </a:buClr>
              <a:buSzPts val="1700"/>
              <a:buFont typeface="Calibri"/>
              <a:buNone/>
              <a:defRPr b="1" sz="17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6" name="Google Shape;76;p16"/>
          <p:cNvSpPr txBox="1"/>
          <p:nvPr>
            <p:ph idx="1" type="body"/>
          </p:nvPr>
        </p:nvSpPr>
        <p:spPr>
          <a:xfrm>
            <a:off x="3177822" y="204788"/>
            <a:ext cx="4543800" cy="4389900"/>
          </a:xfrm>
          <a:prstGeom prst="rect">
            <a:avLst/>
          </a:prstGeom>
          <a:noFill/>
          <a:ln>
            <a:noFill/>
          </a:ln>
        </p:spPr>
        <p:txBody>
          <a:bodyPr anchorCtr="0" anchor="t" bIns="38500" lIns="77025" spcFirstLastPara="1" rIns="77025" wrap="square" tIns="38500">
            <a:normAutofit/>
          </a:bodyPr>
          <a:lstStyle>
            <a:lvl1pPr indent="-400050" lvl="0" marL="457200" algn="l">
              <a:lnSpc>
                <a:spcPct val="100000"/>
              </a:lnSpc>
              <a:spcBef>
                <a:spcPts val="500"/>
              </a:spcBef>
              <a:spcAft>
                <a:spcPts val="0"/>
              </a:spcAft>
              <a:buClr>
                <a:schemeClr val="dk1"/>
              </a:buClr>
              <a:buSzPts val="2700"/>
              <a:buChar char="•"/>
              <a:defRPr sz="2700"/>
            </a:lvl1pPr>
            <a:lvl2pPr indent="-381000" lvl="1" marL="914400" algn="l">
              <a:lnSpc>
                <a:spcPct val="100000"/>
              </a:lnSpc>
              <a:spcBef>
                <a:spcPts val="50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36550" lvl="3" marL="1828800" algn="l">
              <a:lnSpc>
                <a:spcPct val="100000"/>
              </a:lnSpc>
              <a:spcBef>
                <a:spcPts val="300"/>
              </a:spcBef>
              <a:spcAft>
                <a:spcPts val="0"/>
              </a:spcAft>
              <a:buClr>
                <a:schemeClr val="dk1"/>
              </a:buClr>
              <a:buSzPts val="1700"/>
              <a:buChar char="–"/>
              <a:defRPr sz="1700"/>
            </a:lvl4pPr>
            <a:lvl5pPr indent="-336550" lvl="4" marL="2286000" algn="l">
              <a:lnSpc>
                <a:spcPct val="100000"/>
              </a:lnSpc>
              <a:spcBef>
                <a:spcPts val="300"/>
              </a:spcBef>
              <a:spcAft>
                <a:spcPts val="0"/>
              </a:spcAft>
              <a:buClr>
                <a:schemeClr val="dk1"/>
              </a:buClr>
              <a:buSzPts val="1700"/>
              <a:buChar char="»"/>
              <a:defRPr sz="1700"/>
            </a:lvl5pPr>
            <a:lvl6pPr indent="-336550" lvl="5" marL="2743200" algn="l">
              <a:lnSpc>
                <a:spcPct val="100000"/>
              </a:lnSpc>
              <a:spcBef>
                <a:spcPts val="300"/>
              </a:spcBef>
              <a:spcAft>
                <a:spcPts val="0"/>
              </a:spcAft>
              <a:buClr>
                <a:schemeClr val="dk1"/>
              </a:buClr>
              <a:buSzPts val="1700"/>
              <a:buChar char="•"/>
              <a:defRPr sz="1700"/>
            </a:lvl6pPr>
            <a:lvl7pPr indent="-336550" lvl="6" marL="3200400" algn="l">
              <a:lnSpc>
                <a:spcPct val="100000"/>
              </a:lnSpc>
              <a:spcBef>
                <a:spcPts val="300"/>
              </a:spcBef>
              <a:spcAft>
                <a:spcPts val="0"/>
              </a:spcAft>
              <a:buClr>
                <a:schemeClr val="dk1"/>
              </a:buClr>
              <a:buSzPts val="1700"/>
              <a:buChar char="•"/>
              <a:defRPr sz="1700"/>
            </a:lvl7pPr>
            <a:lvl8pPr indent="-336550" lvl="7" marL="3657600" algn="l">
              <a:lnSpc>
                <a:spcPct val="100000"/>
              </a:lnSpc>
              <a:spcBef>
                <a:spcPts val="300"/>
              </a:spcBef>
              <a:spcAft>
                <a:spcPts val="0"/>
              </a:spcAft>
              <a:buClr>
                <a:schemeClr val="dk1"/>
              </a:buClr>
              <a:buSzPts val="1700"/>
              <a:buChar char="•"/>
              <a:defRPr sz="1700"/>
            </a:lvl8pPr>
            <a:lvl9pPr indent="-336550" lvl="8" marL="4114800" algn="l">
              <a:lnSpc>
                <a:spcPct val="100000"/>
              </a:lnSpc>
              <a:spcBef>
                <a:spcPts val="300"/>
              </a:spcBef>
              <a:spcAft>
                <a:spcPts val="0"/>
              </a:spcAft>
              <a:buClr>
                <a:schemeClr val="dk1"/>
              </a:buClr>
              <a:buSzPts val="1700"/>
              <a:buChar char="•"/>
              <a:defRPr sz="1700"/>
            </a:lvl9pPr>
          </a:lstStyle>
          <a:p/>
        </p:txBody>
      </p:sp>
      <p:sp>
        <p:nvSpPr>
          <p:cNvPr id="77" name="Google Shape;77;p16"/>
          <p:cNvSpPr txBox="1"/>
          <p:nvPr>
            <p:ph idx="2" type="body"/>
          </p:nvPr>
        </p:nvSpPr>
        <p:spPr>
          <a:xfrm>
            <a:off x="406400" y="1076325"/>
            <a:ext cx="2674200" cy="3518400"/>
          </a:xfrm>
          <a:prstGeom prst="rect">
            <a:avLst/>
          </a:prstGeom>
          <a:noFill/>
          <a:ln>
            <a:noFill/>
          </a:ln>
        </p:spPr>
        <p:txBody>
          <a:bodyPr anchorCtr="0" anchor="t" bIns="38500" lIns="77025" spcFirstLastPara="1" rIns="77025" wrap="square" tIns="38500">
            <a:normAutofit/>
          </a:bodyPr>
          <a:lstStyle>
            <a:lvl1pPr indent="-228600" lvl="0" marL="457200" algn="l">
              <a:lnSpc>
                <a:spcPct val="100000"/>
              </a:lnSpc>
              <a:spcBef>
                <a:spcPts val="200"/>
              </a:spcBef>
              <a:spcAft>
                <a:spcPts val="0"/>
              </a:spcAft>
              <a:buClr>
                <a:schemeClr val="dk1"/>
              </a:buClr>
              <a:buSzPts val="1200"/>
              <a:buNone/>
              <a:defRPr sz="1200"/>
            </a:lvl1pPr>
            <a:lvl2pPr indent="-228600" lvl="1" marL="914400" algn="l">
              <a:lnSpc>
                <a:spcPct val="100000"/>
              </a:lnSpc>
              <a:spcBef>
                <a:spcPts val="200"/>
              </a:spcBef>
              <a:spcAft>
                <a:spcPts val="0"/>
              </a:spcAft>
              <a:buClr>
                <a:schemeClr val="dk1"/>
              </a:buClr>
              <a:buSzPts val="1000"/>
              <a:buNone/>
              <a:defRPr sz="10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200"/>
              </a:spcBef>
              <a:spcAft>
                <a:spcPts val="0"/>
              </a:spcAft>
              <a:buClr>
                <a:schemeClr val="dk1"/>
              </a:buClr>
              <a:buSzPts val="800"/>
              <a:buNone/>
              <a:defRPr sz="800"/>
            </a:lvl4pPr>
            <a:lvl5pPr indent="-228600" lvl="4" marL="2286000" algn="l">
              <a:lnSpc>
                <a:spcPct val="100000"/>
              </a:lnSpc>
              <a:spcBef>
                <a:spcPts val="200"/>
              </a:spcBef>
              <a:spcAft>
                <a:spcPts val="0"/>
              </a:spcAft>
              <a:buClr>
                <a:schemeClr val="dk1"/>
              </a:buClr>
              <a:buSzPts val="800"/>
              <a:buNone/>
              <a:defRPr sz="800"/>
            </a:lvl5pPr>
            <a:lvl6pPr indent="-228600" lvl="5" marL="2743200" algn="l">
              <a:lnSpc>
                <a:spcPct val="100000"/>
              </a:lnSpc>
              <a:spcBef>
                <a:spcPts val="200"/>
              </a:spcBef>
              <a:spcAft>
                <a:spcPts val="0"/>
              </a:spcAft>
              <a:buClr>
                <a:schemeClr val="dk1"/>
              </a:buClr>
              <a:buSzPts val="800"/>
              <a:buNone/>
              <a:defRPr sz="800"/>
            </a:lvl6pPr>
            <a:lvl7pPr indent="-228600" lvl="6" marL="3200400" algn="l">
              <a:lnSpc>
                <a:spcPct val="100000"/>
              </a:lnSpc>
              <a:spcBef>
                <a:spcPts val="200"/>
              </a:spcBef>
              <a:spcAft>
                <a:spcPts val="0"/>
              </a:spcAft>
              <a:buClr>
                <a:schemeClr val="dk1"/>
              </a:buClr>
              <a:buSzPts val="800"/>
              <a:buNone/>
              <a:defRPr sz="800"/>
            </a:lvl7pPr>
            <a:lvl8pPr indent="-228600" lvl="7" marL="3657600" algn="l">
              <a:lnSpc>
                <a:spcPct val="100000"/>
              </a:lnSpc>
              <a:spcBef>
                <a:spcPts val="200"/>
              </a:spcBef>
              <a:spcAft>
                <a:spcPts val="0"/>
              </a:spcAft>
              <a:buClr>
                <a:schemeClr val="dk1"/>
              </a:buClr>
              <a:buSzPts val="800"/>
              <a:buNone/>
              <a:defRPr sz="800"/>
            </a:lvl8pPr>
            <a:lvl9pPr indent="-228600" lvl="8" marL="4114800" algn="l">
              <a:lnSpc>
                <a:spcPct val="100000"/>
              </a:lnSpc>
              <a:spcBef>
                <a:spcPts val="200"/>
              </a:spcBef>
              <a:spcAft>
                <a:spcPts val="0"/>
              </a:spcAft>
              <a:buClr>
                <a:schemeClr val="dk1"/>
              </a:buClr>
              <a:buSzPts val="800"/>
              <a:buNone/>
              <a:defRPr sz="800"/>
            </a:lvl9pPr>
          </a:lstStyle>
          <a:p/>
        </p:txBody>
      </p:sp>
      <p:sp>
        <p:nvSpPr>
          <p:cNvPr id="78" name="Google Shape;78;p16"/>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9" name="Google Shape;79;p16"/>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0" name="Google Shape;80;p16"/>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17"/>
          <p:cNvSpPr txBox="1"/>
          <p:nvPr>
            <p:ph type="title"/>
          </p:nvPr>
        </p:nvSpPr>
        <p:spPr>
          <a:xfrm>
            <a:off x="1593145" y="3600450"/>
            <a:ext cx="4876800" cy="425100"/>
          </a:xfrm>
          <a:prstGeom prst="rect">
            <a:avLst/>
          </a:prstGeom>
          <a:noFill/>
          <a:ln>
            <a:noFill/>
          </a:ln>
        </p:spPr>
        <p:txBody>
          <a:bodyPr anchorCtr="0" anchor="b" bIns="38500" lIns="77025" spcFirstLastPara="1" rIns="77025" wrap="square" tIns="38500">
            <a:normAutofit/>
          </a:bodyPr>
          <a:lstStyle>
            <a:lvl1pPr lvl="0" algn="l">
              <a:lnSpc>
                <a:spcPct val="100000"/>
              </a:lnSpc>
              <a:spcBef>
                <a:spcPts val="0"/>
              </a:spcBef>
              <a:spcAft>
                <a:spcPts val="0"/>
              </a:spcAft>
              <a:buClr>
                <a:schemeClr val="dk1"/>
              </a:buClr>
              <a:buSzPts val="1700"/>
              <a:buFont typeface="Calibri"/>
              <a:buNone/>
              <a:defRPr b="1" sz="17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3" name="Google Shape;83;p17"/>
          <p:cNvSpPr/>
          <p:nvPr>
            <p:ph idx="2" type="pic"/>
          </p:nvPr>
        </p:nvSpPr>
        <p:spPr>
          <a:xfrm>
            <a:off x="1593145" y="459581"/>
            <a:ext cx="4876800" cy="3086100"/>
          </a:xfrm>
          <a:prstGeom prst="rect">
            <a:avLst/>
          </a:prstGeom>
          <a:noFill/>
          <a:ln>
            <a:noFill/>
          </a:ln>
        </p:spPr>
      </p:sp>
      <p:sp>
        <p:nvSpPr>
          <p:cNvPr id="84" name="Google Shape;84;p17"/>
          <p:cNvSpPr txBox="1"/>
          <p:nvPr>
            <p:ph idx="1" type="body"/>
          </p:nvPr>
        </p:nvSpPr>
        <p:spPr>
          <a:xfrm>
            <a:off x="1593145" y="4025504"/>
            <a:ext cx="4876800" cy="603600"/>
          </a:xfrm>
          <a:prstGeom prst="rect">
            <a:avLst/>
          </a:prstGeom>
          <a:noFill/>
          <a:ln>
            <a:noFill/>
          </a:ln>
        </p:spPr>
        <p:txBody>
          <a:bodyPr anchorCtr="0" anchor="t" bIns="38500" lIns="77025" spcFirstLastPara="1" rIns="77025" wrap="square" tIns="38500">
            <a:normAutofit/>
          </a:bodyPr>
          <a:lstStyle>
            <a:lvl1pPr indent="-228600" lvl="0" marL="457200" algn="l">
              <a:lnSpc>
                <a:spcPct val="100000"/>
              </a:lnSpc>
              <a:spcBef>
                <a:spcPts val="200"/>
              </a:spcBef>
              <a:spcAft>
                <a:spcPts val="0"/>
              </a:spcAft>
              <a:buClr>
                <a:schemeClr val="dk1"/>
              </a:buClr>
              <a:buSzPts val="1200"/>
              <a:buNone/>
              <a:defRPr sz="1200"/>
            </a:lvl1pPr>
            <a:lvl2pPr indent="-228600" lvl="1" marL="914400" algn="l">
              <a:lnSpc>
                <a:spcPct val="100000"/>
              </a:lnSpc>
              <a:spcBef>
                <a:spcPts val="200"/>
              </a:spcBef>
              <a:spcAft>
                <a:spcPts val="0"/>
              </a:spcAft>
              <a:buClr>
                <a:schemeClr val="dk1"/>
              </a:buClr>
              <a:buSzPts val="1000"/>
              <a:buNone/>
              <a:defRPr sz="10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200"/>
              </a:spcBef>
              <a:spcAft>
                <a:spcPts val="0"/>
              </a:spcAft>
              <a:buClr>
                <a:schemeClr val="dk1"/>
              </a:buClr>
              <a:buSzPts val="800"/>
              <a:buNone/>
              <a:defRPr sz="800"/>
            </a:lvl4pPr>
            <a:lvl5pPr indent="-228600" lvl="4" marL="2286000" algn="l">
              <a:lnSpc>
                <a:spcPct val="100000"/>
              </a:lnSpc>
              <a:spcBef>
                <a:spcPts val="200"/>
              </a:spcBef>
              <a:spcAft>
                <a:spcPts val="0"/>
              </a:spcAft>
              <a:buClr>
                <a:schemeClr val="dk1"/>
              </a:buClr>
              <a:buSzPts val="800"/>
              <a:buNone/>
              <a:defRPr sz="800"/>
            </a:lvl5pPr>
            <a:lvl6pPr indent="-228600" lvl="5" marL="2743200" algn="l">
              <a:lnSpc>
                <a:spcPct val="100000"/>
              </a:lnSpc>
              <a:spcBef>
                <a:spcPts val="200"/>
              </a:spcBef>
              <a:spcAft>
                <a:spcPts val="0"/>
              </a:spcAft>
              <a:buClr>
                <a:schemeClr val="dk1"/>
              </a:buClr>
              <a:buSzPts val="800"/>
              <a:buNone/>
              <a:defRPr sz="800"/>
            </a:lvl6pPr>
            <a:lvl7pPr indent="-228600" lvl="6" marL="3200400" algn="l">
              <a:lnSpc>
                <a:spcPct val="100000"/>
              </a:lnSpc>
              <a:spcBef>
                <a:spcPts val="200"/>
              </a:spcBef>
              <a:spcAft>
                <a:spcPts val="0"/>
              </a:spcAft>
              <a:buClr>
                <a:schemeClr val="dk1"/>
              </a:buClr>
              <a:buSzPts val="800"/>
              <a:buNone/>
              <a:defRPr sz="800"/>
            </a:lvl7pPr>
            <a:lvl8pPr indent="-228600" lvl="7" marL="3657600" algn="l">
              <a:lnSpc>
                <a:spcPct val="100000"/>
              </a:lnSpc>
              <a:spcBef>
                <a:spcPts val="200"/>
              </a:spcBef>
              <a:spcAft>
                <a:spcPts val="0"/>
              </a:spcAft>
              <a:buClr>
                <a:schemeClr val="dk1"/>
              </a:buClr>
              <a:buSzPts val="800"/>
              <a:buNone/>
              <a:defRPr sz="800"/>
            </a:lvl8pPr>
            <a:lvl9pPr indent="-228600" lvl="8" marL="4114800" algn="l">
              <a:lnSpc>
                <a:spcPct val="100000"/>
              </a:lnSpc>
              <a:spcBef>
                <a:spcPts val="200"/>
              </a:spcBef>
              <a:spcAft>
                <a:spcPts val="0"/>
              </a:spcAft>
              <a:buClr>
                <a:schemeClr val="dk1"/>
              </a:buClr>
              <a:buSzPts val="800"/>
              <a:buNone/>
              <a:defRPr sz="800"/>
            </a:lvl9pPr>
          </a:lstStyle>
          <a:p/>
        </p:txBody>
      </p:sp>
      <p:sp>
        <p:nvSpPr>
          <p:cNvPr id="85" name="Google Shape;85;p17"/>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6" name="Google Shape;86;p17"/>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7" name="Google Shape;87;p17"/>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8"/>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0" name="Google Shape;90;p18"/>
          <p:cNvSpPr txBox="1"/>
          <p:nvPr>
            <p:ph idx="1" type="body"/>
          </p:nvPr>
        </p:nvSpPr>
        <p:spPr>
          <a:xfrm rot="5400000">
            <a:off x="2366750" y="-760200"/>
            <a:ext cx="3394500" cy="7315200"/>
          </a:xfrm>
          <a:prstGeom prst="rect">
            <a:avLst/>
          </a:prstGeom>
          <a:noFill/>
          <a:ln>
            <a:noFill/>
          </a:ln>
        </p:spPr>
        <p:txBody>
          <a:bodyPr anchorCtr="0" anchor="t" bIns="38500" lIns="77025" spcFirstLastPara="1" rIns="77025" wrap="square" tIns="38500">
            <a:normAutofit/>
          </a:bodyPr>
          <a:lstStyle>
            <a:lvl1pPr indent="-323850" lvl="0" marL="457200" algn="l">
              <a:lnSpc>
                <a:spcPct val="100000"/>
              </a:lnSpc>
              <a:spcBef>
                <a:spcPts val="300"/>
              </a:spcBef>
              <a:spcAft>
                <a:spcPts val="0"/>
              </a:spcAft>
              <a:buClr>
                <a:schemeClr val="dk1"/>
              </a:buClr>
              <a:buSzPts val="1500"/>
              <a:buChar char="•"/>
              <a:defRPr/>
            </a:lvl1pPr>
            <a:lvl2pPr indent="-323850" lvl="1" marL="914400" algn="l">
              <a:lnSpc>
                <a:spcPct val="100000"/>
              </a:lnSpc>
              <a:spcBef>
                <a:spcPts val="300"/>
              </a:spcBef>
              <a:spcAft>
                <a:spcPts val="0"/>
              </a:spcAft>
              <a:buClr>
                <a:schemeClr val="dk1"/>
              </a:buClr>
              <a:buSzPts val="1500"/>
              <a:buChar char="–"/>
              <a:defRPr/>
            </a:lvl2pPr>
            <a:lvl3pPr indent="-323850" lvl="2" marL="1371600" algn="l">
              <a:lnSpc>
                <a:spcPct val="100000"/>
              </a:lnSpc>
              <a:spcBef>
                <a:spcPts val="300"/>
              </a:spcBef>
              <a:spcAft>
                <a:spcPts val="0"/>
              </a:spcAft>
              <a:buClr>
                <a:schemeClr val="dk1"/>
              </a:buClr>
              <a:buSzPts val="1500"/>
              <a:buChar char="•"/>
              <a:defRPr/>
            </a:lvl3pPr>
            <a:lvl4pPr indent="-323850" lvl="3" marL="1828800" algn="l">
              <a:lnSpc>
                <a:spcPct val="100000"/>
              </a:lnSpc>
              <a:spcBef>
                <a:spcPts val="300"/>
              </a:spcBef>
              <a:spcAft>
                <a:spcPts val="0"/>
              </a:spcAft>
              <a:buClr>
                <a:schemeClr val="dk1"/>
              </a:buClr>
              <a:buSzPts val="1500"/>
              <a:buChar char="–"/>
              <a:defRPr/>
            </a:lvl4pPr>
            <a:lvl5pPr indent="-323850" lvl="4" marL="2286000" algn="l">
              <a:lnSpc>
                <a:spcPct val="100000"/>
              </a:lnSpc>
              <a:spcBef>
                <a:spcPts val="300"/>
              </a:spcBef>
              <a:spcAft>
                <a:spcPts val="0"/>
              </a:spcAft>
              <a:buClr>
                <a:schemeClr val="dk1"/>
              </a:buClr>
              <a:buSzPts val="1500"/>
              <a:buChar char="»"/>
              <a:defRPr/>
            </a:lvl5pPr>
            <a:lvl6pPr indent="-323850" lvl="5" marL="2743200" algn="l">
              <a:lnSpc>
                <a:spcPct val="100000"/>
              </a:lnSpc>
              <a:spcBef>
                <a:spcPts val="300"/>
              </a:spcBef>
              <a:spcAft>
                <a:spcPts val="0"/>
              </a:spcAft>
              <a:buClr>
                <a:schemeClr val="dk1"/>
              </a:buClr>
              <a:buSzPts val="1500"/>
              <a:buChar char="•"/>
              <a:defRPr/>
            </a:lvl6pPr>
            <a:lvl7pPr indent="-323850" lvl="6" marL="3200400" algn="l">
              <a:lnSpc>
                <a:spcPct val="100000"/>
              </a:lnSpc>
              <a:spcBef>
                <a:spcPts val="300"/>
              </a:spcBef>
              <a:spcAft>
                <a:spcPts val="0"/>
              </a:spcAft>
              <a:buClr>
                <a:schemeClr val="dk1"/>
              </a:buClr>
              <a:buSzPts val="1500"/>
              <a:buChar char="•"/>
              <a:defRPr/>
            </a:lvl7pPr>
            <a:lvl8pPr indent="-323850" lvl="7" marL="3657600" algn="l">
              <a:lnSpc>
                <a:spcPct val="100000"/>
              </a:lnSpc>
              <a:spcBef>
                <a:spcPts val="300"/>
              </a:spcBef>
              <a:spcAft>
                <a:spcPts val="0"/>
              </a:spcAft>
              <a:buClr>
                <a:schemeClr val="dk1"/>
              </a:buClr>
              <a:buSzPts val="1500"/>
              <a:buChar char="•"/>
              <a:defRPr/>
            </a:lvl8pPr>
            <a:lvl9pPr indent="-323850" lvl="8" marL="4114800" algn="l">
              <a:lnSpc>
                <a:spcPct val="100000"/>
              </a:lnSpc>
              <a:spcBef>
                <a:spcPts val="300"/>
              </a:spcBef>
              <a:spcAft>
                <a:spcPts val="0"/>
              </a:spcAft>
              <a:buClr>
                <a:schemeClr val="dk1"/>
              </a:buClr>
              <a:buSzPts val="1500"/>
              <a:buChar char="•"/>
              <a:defRPr/>
            </a:lvl9pPr>
          </a:lstStyle>
          <a:p/>
        </p:txBody>
      </p:sp>
      <p:sp>
        <p:nvSpPr>
          <p:cNvPr id="91" name="Google Shape;91;p18"/>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2" name="Google Shape;92;p18"/>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3" name="Google Shape;93;p18"/>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9"/>
          <p:cNvSpPr txBox="1"/>
          <p:nvPr>
            <p:ph type="title"/>
          </p:nvPr>
        </p:nvSpPr>
        <p:spPr>
          <a:xfrm rot="5400000">
            <a:off x="4612850" y="1485929"/>
            <a:ext cx="4388700" cy="18288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6" name="Google Shape;96;p19"/>
          <p:cNvSpPr txBox="1"/>
          <p:nvPr>
            <p:ph idx="1" type="body"/>
          </p:nvPr>
        </p:nvSpPr>
        <p:spPr>
          <a:xfrm rot="5400000">
            <a:off x="887583" y="-275071"/>
            <a:ext cx="4388700" cy="5350800"/>
          </a:xfrm>
          <a:prstGeom prst="rect">
            <a:avLst/>
          </a:prstGeom>
          <a:noFill/>
          <a:ln>
            <a:noFill/>
          </a:ln>
        </p:spPr>
        <p:txBody>
          <a:bodyPr anchorCtr="0" anchor="t" bIns="38500" lIns="77025" spcFirstLastPara="1" rIns="77025" wrap="square" tIns="38500">
            <a:normAutofit/>
          </a:bodyPr>
          <a:lstStyle>
            <a:lvl1pPr indent="-323850" lvl="0" marL="457200" algn="l">
              <a:lnSpc>
                <a:spcPct val="100000"/>
              </a:lnSpc>
              <a:spcBef>
                <a:spcPts val="300"/>
              </a:spcBef>
              <a:spcAft>
                <a:spcPts val="0"/>
              </a:spcAft>
              <a:buClr>
                <a:schemeClr val="dk1"/>
              </a:buClr>
              <a:buSzPts val="1500"/>
              <a:buChar char="•"/>
              <a:defRPr/>
            </a:lvl1pPr>
            <a:lvl2pPr indent="-323850" lvl="1" marL="914400" algn="l">
              <a:lnSpc>
                <a:spcPct val="100000"/>
              </a:lnSpc>
              <a:spcBef>
                <a:spcPts val="300"/>
              </a:spcBef>
              <a:spcAft>
                <a:spcPts val="0"/>
              </a:spcAft>
              <a:buClr>
                <a:schemeClr val="dk1"/>
              </a:buClr>
              <a:buSzPts val="1500"/>
              <a:buChar char="–"/>
              <a:defRPr/>
            </a:lvl2pPr>
            <a:lvl3pPr indent="-323850" lvl="2" marL="1371600" algn="l">
              <a:lnSpc>
                <a:spcPct val="100000"/>
              </a:lnSpc>
              <a:spcBef>
                <a:spcPts val="300"/>
              </a:spcBef>
              <a:spcAft>
                <a:spcPts val="0"/>
              </a:spcAft>
              <a:buClr>
                <a:schemeClr val="dk1"/>
              </a:buClr>
              <a:buSzPts val="1500"/>
              <a:buChar char="•"/>
              <a:defRPr/>
            </a:lvl3pPr>
            <a:lvl4pPr indent="-323850" lvl="3" marL="1828800" algn="l">
              <a:lnSpc>
                <a:spcPct val="100000"/>
              </a:lnSpc>
              <a:spcBef>
                <a:spcPts val="300"/>
              </a:spcBef>
              <a:spcAft>
                <a:spcPts val="0"/>
              </a:spcAft>
              <a:buClr>
                <a:schemeClr val="dk1"/>
              </a:buClr>
              <a:buSzPts val="1500"/>
              <a:buChar char="–"/>
              <a:defRPr/>
            </a:lvl4pPr>
            <a:lvl5pPr indent="-323850" lvl="4" marL="2286000" algn="l">
              <a:lnSpc>
                <a:spcPct val="100000"/>
              </a:lnSpc>
              <a:spcBef>
                <a:spcPts val="300"/>
              </a:spcBef>
              <a:spcAft>
                <a:spcPts val="0"/>
              </a:spcAft>
              <a:buClr>
                <a:schemeClr val="dk1"/>
              </a:buClr>
              <a:buSzPts val="1500"/>
              <a:buChar char="»"/>
              <a:defRPr/>
            </a:lvl5pPr>
            <a:lvl6pPr indent="-323850" lvl="5" marL="2743200" algn="l">
              <a:lnSpc>
                <a:spcPct val="100000"/>
              </a:lnSpc>
              <a:spcBef>
                <a:spcPts val="300"/>
              </a:spcBef>
              <a:spcAft>
                <a:spcPts val="0"/>
              </a:spcAft>
              <a:buClr>
                <a:schemeClr val="dk1"/>
              </a:buClr>
              <a:buSzPts val="1500"/>
              <a:buChar char="•"/>
              <a:defRPr/>
            </a:lvl6pPr>
            <a:lvl7pPr indent="-323850" lvl="6" marL="3200400" algn="l">
              <a:lnSpc>
                <a:spcPct val="100000"/>
              </a:lnSpc>
              <a:spcBef>
                <a:spcPts val="300"/>
              </a:spcBef>
              <a:spcAft>
                <a:spcPts val="0"/>
              </a:spcAft>
              <a:buClr>
                <a:schemeClr val="dk1"/>
              </a:buClr>
              <a:buSzPts val="1500"/>
              <a:buChar char="•"/>
              <a:defRPr/>
            </a:lvl7pPr>
            <a:lvl8pPr indent="-323850" lvl="7" marL="3657600" algn="l">
              <a:lnSpc>
                <a:spcPct val="100000"/>
              </a:lnSpc>
              <a:spcBef>
                <a:spcPts val="300"/>
              </a:spcBef>
              <a:spcAft>
                <a:spcPts val="0"/>
              </a:spcAft>
              <a:buClr>
                <a:schemeClr val="dk1"/>
              </a:buClr>
              <a:buSzPts val="1500"/>
              <a:buChar char="•"/>
              <a:defRPr/>
            </a:lvl8pPr>
            <a:lvl9pPr indent="-323850" lvl="8" marL="4114800" algn="l">
              <a:lnSpc>
                <a:spcPct val="100000"/>
              </a:lnSpc>
              <a:spcBef>
                <a:spcPts val="300"/>
              </a:spcBef>
              <a:spcAft>
                <a:spcPts val="0"/>
              </a:spcAft>
              <a:buClr>
                <a:schemeClr val="dk1"/>
              </a:buClr>
              <a:buSzPts val="1500"/>
              <a:buChar char="•"/>
              <a:defRPr/>
            </a:lvl9pPr>
          </a:lstStyle>
          <a:p/>
        </p:txBody>
      </p:sp>
      <p:sp>
        <p:nvSpPr>
          <p:cNvPr id="97" name="Google Shape;97;p19"/>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8" name="Google Shape;98;p19"/>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9" name="Google Shape;99;p19"/>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02" name="Shape 102"/>
        <p:cNvGrpSpPr/>
        <p:nvPr/>
      </p:nvGrpSpPr>
      <p:grpSpPr>
        <a:xfrm>
          <a:off x="0" y="0"/>
          <a:ext cx="0" cy="0"/>
          <a:chOff x="0" y="0"/>
          <a:chExt cx="0" cy="0"/>
        </a:xfrm>
      </p:grpSpPr>
      <p:sp>
        <p:nvSpPr>
          <p:cNvPr id="103" name="Google Shape;103;p21"/>
          <p:cNvSpPr txBox="1"/>
          <p:nvPr/>
        </p:nvSpPr>
        <p:spPr>
          <a:xfrm>
            <a:off x="548640" y="635508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04" name="Google Shape;104;p21"/>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05" name="Google Shape;105;p21"/>
          <p:cNvSpPr txBox="1"/>
          <p:nvPr>
            <p:ph type="title"/>
          </p:nvPr>
        </p:nvSpPr>
        <p:spPr>
          <a:xfrm>
            <a:off x="548640" y="411480"/>
            <a:ext cx="813816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06" name="Google Shape;106;p21"/>
          <p:cNvSpPr txBox="1"/>
          <p:nvPr>
            <p:ph idx="1" type="body"/>
          </p:nvPr>
        </p:nvSpPr>
        <p:spPr>
          <a:xfrm>
            <a:off x="548640" y="1115568"/>
            <a:ext cx="11094415" cy="4114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07" name="Google Shape;107;p21"/>
          <p:cNvSpPr txBox="1"/>
          <p:nvPr>
            <p:ph idx="12"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08" name="Shape 108"/>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9" name="Shape 109"/>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12" name="Shape 112"/>
        <p:cNvGrpSpPr/>
        <p:nvPr/>
      </p:nvGrpSpPr>
      <p:grpSpPr>
        <a:xfrm>
          <a:off x="0" y="0"/>
          <a:ext cx="0" cy="0"/>
          <a:chOff x="0" y="0"/>
          <a:chExt cx="0" cy="0"/>
        </a:xfrm>
      </p:grpSpPr>
      <p:sp>
        <p:nvSpPr>
          <p:cNvPr id="113" name="Google Shape;113;p25"/>
          <p:cNvSpPr txBox="1"/>
          <p:nvPr/>
        </p:nvSpPr>
        <p:spPr>
          <a:xfrm>
            <a:off x="548640" y="635508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14" name="Google Shape;114;p25"/>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15" name="Google Shape;115;p25"/>
          <p:cNvSpPr txBox="1"/>
          <p:nvPr>
            <p:ph type="title"/>
          </p:nvPr>
        </p:nvSpPr>
        <p:spPr>
          <a:xfrm>
            <a:off x="548640" y="411480"/>
            <a:ext cx="813816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16" name="Google Shape;116;p25"/>
          <p:cNvSpPr txBox="1"/>
          <p:nvPr>
            <p:ph idx="1" type="body"/>
          </p:nvPr>
        </p:nvSpPr>
        <p:spPr>
          <a:xfrm>
            <a:off x="548640" y="1115568"/>
            <a:ext cx="11094415" cy="4114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17" name="Google Shape;117;p25"/>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18" name="Shape 118"/>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9" name="Shape 11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22" name="Shape 122"/>
        <p:cNvGrpSpPr/>
        <p:nvPr/>
      </p:nvGrpSpPr>
      <p:grpSpPr>
        <a:xfrm>
          <a:off x="0" y="0"/>
          <a:ext cx="0" cy="0"/>
          <a:chOff x="0" y="0"/>
          <a:chExt cx="0" cy="0"/>
        </a:xfrm>
      </p:grpSpPr>
      <p:sp>
        <p:nvSpPr>
          <p:cNvPr id="123" name="Google Shape;123;p29"/>
          <p:cNvSpPr txBox="1"/>
          <p:nvPr/>
        </p:nvSpPr>
        <p:spPr>
          <a:xfrm>
            <a:off x="548640" y="6355080"/>
            <a:ext cx="4572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24" name="Google Shape;124;p29"/>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25" name="Google Shape;125;p29"/>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26" name="Google Shape;126;p29"/>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27" name="Google Shape;127;p29"/>
          <p:cNvSpPr txBox="1"/>
          <p:nvPr>
            <p:ph idx="12"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28" name="Shape 128"/>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9" name="Shape 1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2" Type="http://schemas.openxmlformats.org/officeDocument/2006/relationships/theme" Target="../theme/theme5.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theme" Target="../theme/theme3.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sp>
        <p:nvSpPr>
          <p:cNvPr id="26" name="Google Shape;26;p8"/>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marR="0" rtl="0" algn="ctr">
              <a:lnSpc>
                <a:spcPct val="100000"/>
              </a:lnSpc>
              <a:spcBef>
                <a:spcPts val="0"/>
              </a:spcBef>
              <a:spcAft>
                <a:spcPts val="0"/>
              </a:spcAft>
              <a:buClr>
                <a:schemeClr val="dk1"/>
              </a:buClr>
              <a:buSzPts val="3700"/>
              <a:buFont typeface="Calibri"/>
              <a:buNone/>
              <a:defRPr b="0" i="0" spc="0" sz="37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9pPr>
          </a:lstStyle>
          <a:p/>
        </p:txBody>
      </p:sp>
      <p:sp>
        <p:nvSpPr>
          <p:cNvPr id="27" name="Google Shape;27;p8"/>
          <p:cNvSpPr txBox="1"/>
          <p:nvPr>
            <p:ph idx="1" type="body"/>
          </p:nvPr>
        </p:nvSpPr>
        <p:spPr>
          <a:xfrm>
            <a:off x="406400" y="1200150"/>
            <a:ext cx="7315200" cy="3394500"/>
          </a:xfrm>
          <a:prstGeom prst="rect">
            <a:avLst/>
          </a:prstGeom>
          <a:noFill/>
          <a:ln>
            <a:noFill/>
          </a:ln>
        </p:spPr>
        <p:txBody>
          <a:bodyPr anchorCtr="0" anchor="t" bIns="38500" lIns="77025" spcFirstLastPara="1" rIns="77025" wrap="square" tIns="38500">
            <a:normAutofit/>
          </a:bodyPr>
          <a:lstStyle>
            <a:lvl1pPr indent="-400050" lvl="0" marL="457200" marR="0" rtl="0" algn="l">
              <a:lnSpc>
                <a:spcPct val="100000"/>
              </a:lnSpc>
              <a:spcBef>
                <a:spcPts val="500"/>
              </a:spcBef>
              <a:spcAft>
                <a:spcPts val="0"/>
              </a:spcAft>
              <a:buClr>
                <a:schemeClr val="dk1"/>
              </a:buClr>
              <a:buSzPts val="2700"/>
              <a:buFont typeface="Arial"/>
              <a:buChar char="•"/>
              <a:defRPr b="0" i="0" spc="0" sz="2700" u="none" cap="none" strike="noStrike">
                <a:solidFill>
                  <a:schemeClr val="dk1"/>
                </a:solidFill>
                <a:latin typeface="Calibri"/>
                <a:ea typeface="Calibri"/>
                <a:cs typeface="Calibri"/>
                <a:sym typeface="Calibri"/>
              </a:defRPr>
            </a:lvl1pPr>
            <a:lvl2pPr indent="-381000" lvl="1" marL="914400" marR="0" rtl="0" algn="l">
              <a:lnSpc>
                <a:spcPct val="100000"/>
              </a:lnSpc>
              <a:spcBef>
                <a:spcPts val="500"/>
              </a:spcBef>
              <a:spcAft>
                <a:spcPts val="0"/>
              </a:spcAft>
              <a:buClr>
                <a:schemeClr val="dk1"/>
              </a:buClr>
              <a:buSzPts val="2400"/>
              <a:buFont typeface="Arial"/>
              <a:buChar char="–"/>
              <a:defRPr b="0" i="0" spc="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3pPr>
            <a:lvl4pPr indent="-336550" lvl="3" marL="18288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4pPr>
            <a:lvl5pPr indent="-336550" lvl="4" marL="22860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5pPr>
            <a:lvl6pPr indent="-336550" lvl="5" marL="27432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6pPr>
            <a:lvl7pPr indent="-336550" lvl="6" marL="32004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7pPr>
            <a:lvl8pPr indent="-336550" lvl="7" marL="36576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8pPr>
            <a:lvl9pPr indent="-336550" lvl="8" marL="41148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9pPr>
          </a:lstStyle>
          <a:p/>
        </p:txBody>
      </p:sp>
      <p:sp>
        <p:nvSpPr>
          <p:cNvPr id="28" name="Google Shape;28;p8"/>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marR="0" rtl="0" algn="l">
              <a:lnSpc>
                <a:spcPct val="100000"/>
              </a:lnSpc>
              <a:spcBef>
                <a:spcPts val="0"/>
              </a:spcBef>
              <a:spcAft>
                <a:spcPts val="0"/>
              </a:spcAft>
              <a:buClr>
                <a:srgbClr val="000000"/>
              </a:buClr>
              <a:buSzPts val="1200"/>
              <a:buFont typeface="Arial"/>
              <a:buNone/>
              <a:defRPr b="0" i="0" spc="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9pPr>
          </a:lstStyle>
          <a:p/>
        </p:txBody>
      </p:sp>
      <p:sp>
        <p:nvSpPr>
          <p:cNvPr id="29" name="Google Shape;29;p8"/>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marR="0" rtl="0" algn="ctr">
              <a:lnSpc>
                <a:spcPct val="100000"/>
              </a:lnSpc>
              <a:spcBef>
                <a:spcPts val="0"/>
              </a:spcBef>
              <a:spcAft>
                <a:spcPts val="0"/>
              </a:spcAft>
              <a:buClr>
                <a:srgbClr val="000000"/>
              </a:buClr>
              <a:buSzPts val="1200"/>
              <a:buFont typeface="Arial"/>
              <a:buNone/>
              <a:defRPr b="0" i="0" spc="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9pPr>
          </a:lstStyle>
          <a:p/>
        </p:txBody>
      </p:sp>
      <p:sp>
        <p:nvSpPr>
          <p:cNvPr id="30" name="Google Shape;30;p8"/>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2"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ph idx="12"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7.png"/><Relationship Id="rId5" Type="http://schemas.openxmlformats.org/officeDocument/2006/relationships/image" Target="../media/image2.jpg"/><Relationship Id="rId6"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4.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image" Target="../media/image19.jpg"/><Relationship Id="rId5"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22.jpg"/><Relationship Id="rId4" Type="http://schemas.openxmlformats.org/officeDocument/2006/relationships/image" Target="../media/image14.jpg"/><Relationship Id="rId9"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23.jpg"/><Relationship Id="rId7" Type="http://schemas.openxmlformats.org/officeDocument/2006/relationships/image" Target="../media/image11.jpg"/><Relationship Id="rId8"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34" name="Shape 134"/>
        <p:cNvGrpSpPr/>
        <p:nvPr/>
      </p:nvGrpSpPr>
      <p:grpSpPr>
        <a:xfrm>
          <a:off x="0" y="0"/>
          <a:ext cx="0" cy="0"/>
          <a:chOff x="0" y="0"/>
          <a:chExt cx="0" cy="0"/>
        </a:xfrm>
      </p:grpSpPr>
      <p:sp>
        <p:nvSpPr>
          <p:cNvPr id="135" name="Google Shape;135;p3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36" name="Google Shape;136;p32"/>
          <p:cNvSpPr/>
          <p:nvPr/>
        </p:nvSpPr>
        <p:spPr>
          <a:xfrm>
            <a:off x="868680" y="2194339"/>
            <a:ext cx="5989200" cy="237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8200"/>
              <a:buFont typeface="Raleway Light"/>
              <a:buNone/>
            </a:pPr>
            <a:r>
              <a:t/>
            </a:r>
            <a:endParaRPr b="0" i="0" spc="0" sz="7200" u="none" cap="none" strike="noStrike">
              <a:solidFill>
                <a:schemeClr val="dk1"/>
              </a:solidFill>
              <a:latin typeface="Raleway Light"/>
              <a:ea typeface="Raleway Light"/>
              <a:cs typeface="Raleway Light"/>
              <a:sym typeface="Raleway Light"/>
            </a:endParaRPr>
          </a:p>
        </p:txBody>
      </p:sp>
      <p:pic>
        <p:nvPicPr>
          <p:cNvPr id="137" name="Google Shape;137;p32" title="Copy_of_Untitled-removebg-preview.png"/>
          <p:cNvPicPr preferRelativeResize="0"/>
          <p:nvPr/>
        </p:nvPicPr>
        <p:blipFill rotWithShape="1">
          <a:blip r:embed="rId3">
            <a:alphaModFix/>
          </a:blip>
          <a:srcRect b="0" l="0" r="0" t="0"/>
          <a:stretch/>
        </p:blipFill>
        <p:spPr>
          <a:xfrm>
            <a:off x="3608000" y="1051550"/>
            <a:ext cx="4754900" cy="4754900"/>
          </a:xfrm>
          <a:prstGeom prst="rect">
            <a:avLst/>
          </a:prstGeom>
          <a:noFill/>
          <a:ln>
            <a:noFill/>
          </a:ln>
        </p:spPr>
      </p:pic>
      <p:sp>
        <p:nvSpPr>
          <p:cNvPr id="138" name="Google Shape;138;p32"/>
          <p:cNvSpPr txBox="1"/>
          <p:nvPr/>
        </p:nvSpPr>
        <p:spPr>
          <a:xfrm>
            <a:off x="1527048" y="4892040"/>
            <a:ext cx="914400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600"/>
              <a:buFont typeface="Arial"/>
              <a:buNone/>
            </a:pPr>
            <a:r>
              <a:rPr b="0" i="0" lang="en-US" spc="0" sz="2600" u="none" cap="none" strike="noStrike">
                <a:solidFill>
                  <a:srgbClr val="565A32"/>
                </a:solidFill>
                <a:latin typeface="Raleway Light"/>
                <a:ea typeface="Raleway Light"/>
                <a:cs typeface="Raleway Light"/>
                <a:sym typeface="Raleway Light"/>
              </a:rPr>
              <a:t>The setting changes. The spirit never does.</a:t>
            </a:r>
            <a:endParaRPr b="0" i="0" spc="0" sz="1400" u="none" cap="none" strike="noStrike">
              <a:solidFill>
                <a:srgbClr val="000000"/>
              </a:solidFill>
              <a:latin typeface="Arial"/>
              <a:ea typeface="Arial"/>
              <a:cs typeface="Arial"/>
              <a:sym typeface="Arial"/>
            </a:endParaRPr>
          </a:p>
        </p:txBody>
      </p:sp>
      <p:sp>
        <p:nvSpPr>
          <p:cNvPr id="139" name="Google Shape;139;p32"/>
          <p:cNvSpPr txBox="1"/>
          <p:nvPr/>
        </p:nvSpPr>
        <p:spPr>
          <a:xfrm>
            <a:off x="1527048" y="5989320"/>
            <a:ext cx="914400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pc="0" sz="1100" u="none" cap="none" strike="noStrike">
                <a:solidFill>
                  <a:srgbClr val="8B8B5C"/>
                </a:solidFill>
                <a:latin typeface="Raleway SemiBold"/>
                <a:ea typeface="Raleway SemiBold"/>
                <a:cs typeface="Raleway SemiBold"/>
                <a:sym typeface="Raleway SemiBold"/>
              </a:rPr>
              <a:t>INTERNAL WORKING MASTER  ·  NOT FOR SHARING  ·  28 OCTOBER 2026</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3"/>
          <p:cNvSpPr txBox="1"/>
          <p:nvPr>
            <p:ph idx="1" type="body"/>
          </p:nvPr>
        </p:nvSpPr>
        <p:spPr>
          <a:xfrm>
            <a:off x="548690" y="1626293"/>
            <a:ext cx="11094300" cy="411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Our purpose</a:t>
            </a:r>
            <a:r>
              <a:rPr lang="en-US" sz="2300"/>
              <a:t>: Where human connection thrives.</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Our vision</a:t>
            </a:r>
            <a:r>
              <a:rPr lang="en-US" sz="2300"/>
              <a:t>: A world where shared experiences create lasting connections, memories and a sense of belonging.</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Our approach</a:t>
            </a:r>
            <a:r>
              <a:rPr lang="en-US" sz="2300"/>
              <a:t>: Inspire. Discover. Experience. Belong.</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The setting changes. The spirit never does.</a:t>
            </a:r>
            <a:endParaRPr b="1" sz="2300">
              <a:latin typeface="Raleway"/>
              <a:ea typeface="Raleway"/>
              <a:cs typeface="Raleway"/>
              <a:sym typeface="Raleway"/>
            </a:endParaRPr>
          </a:p>
          <a:p>
            <a:pPr indent="0" lvl="0" marL="0" rtl="0" algn="ctr">
              <a:lnSpc>
                <a:spcPct val="100000"/>
              </a:lnSpc>
              <a:spcBef>
                <a:spcPts val="360"/>
              </a:spcBef>
              <a:spcAft>
                <a:spcPts val="0"/>
              </a:spcAft>
              <a:buSzPts val="1800"/>
              <a:buNone/>
            </a:pPr>
            <a:r>
              <a:t/>
            </a:r>
            <a:endParaRPr b="1" sz="2700">
              <a:latin typeface="Raleway"/>
              <a:ea typeface="Raleway"/>
              <a:cs typeface="Raleway"/>
              <a:sym typeface="Raleway"/>
            </a:endParaRPr>
          </a:p>
        </p:txBody>
      </p:sp>
      <p:sp>
        <p:nvSpPr>
          <p:cNvPr id="146" name="Google Shape;146;p33"/>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51" name="Shape 151"/>
        <p:cNvGrpSpPr/>
        <p:nvPr/>
      </p:nvGrpSpPr>
      <p:grpSpPr>
        <a:xfrm>
          <a:off x="0" y="0"/>
          <a:ext cx="0" cy="0"/>
          <a:chOff x="0" y="0"/>
          <a:chExt cx="0" cy="0"/>
        </a:xfrm>
      </p:grpSpPr>
      <p:sp>
        <p:nvSpPr>
          <p:cNvPr id="152" name="Google Shape;152;p34"/>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53" name="Google Shape;153;p34"/>
          <p:cNvSpPr txBox="1"/>
          <p:nvPr/>
        </p:nvSpPr>
        <p:spPr>
          <a:xfrm>
            <a:off x="595975" y="722313"/>
            <a:ext cx="8229600" cy="5304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dk1"/>
              </a:buClr>
              <a:buSzPts val="3100"/>
              <a:buFont typeface="Raleway Light"/>
              <a:buNone/>
            </a:pPr>
            <a:r>
              <a:rPr b="1" lang="en-US" sz="2800">
                <a:solidFill>
                  <a:schemeClr val="dk1"/>
                </a:solidFill>
                <a:latin typeface="Raleway"/>
                <a:ea typeface="Raleway"/>
                <a:cs typeface="Raleway"/>
                <a:sym typeface="Raleway"/>
              </a:rPr>
              <a:t>The setting changes. The spirit never does.</a:t>
            </a:r>
            <a:endParaRPr b="1" i="0" spc="0" sz="3800" u="none" cap="none" strike="noStrike">
              <a:solidFill>
                <a:schemeClr val="dk1"/>
              </a:solidFill>
              <a:latin typeface="Raleway"/>
              <a:ea typeface="Raleway"/>
              <a:cs typeface="Raleway"/>
              <a:sym typeface="Raleway"/>
            </a:endParaRPr>
          </a:p>
        </p:txBody>
      </p:sp>
      <p:sp>
        <p:nvSpPr>
          <p:cNvPr id="154" name="Google Shape;154;p34"/>
          <p:cNvSpPr txBox="1"/>
          <p:nvPr/>
        </p:nvSpPr>
        <p:spPr>
          <a:xfrm>
            <a:off x="595975" y="1614466"/>
            <a:ext cx="10332000" cy="1143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2400"/>
              <a:buFont typeface="Raleway Light"/>
              <a:buNone/>
            </a:pPr>
            <a:r>
              <a:rPr lang="en-US" sz="2000">
                <a:solidFill>
                  <a:srgbClr val="565A32"/>
                </a:solidFill>
                <a:latin typeface="Raleway Light"/>
                <a:ea typeface="Raleway Light"/>
                <a:cs typeface="Raleway Light"/>
                <a:sym typeface="Raleway Light"/>
              </a:rPr>
              <a:t>Everything we do </a:t>
            </a:r>
            <a:r>
              <a:rPr b="0" i="0" lang="en-US" spc="0" sz="2000" u="none" cap="none" strike="noStrike">
                <a:solidFill>
                  <a:srgbClr val="565A32"/>
                </a:solidFill>
                <a:latin typeface="Raleway Light"/>
                <a:ea typeface="Raleway Light"/>
                <a:cs typeface="Raleway Light"/>
                <a:sym typeface="Raleway Light"/>
              </a:rPr>
              <a:t> start</a:t>
            </a:r>
            <a:r>
              <a:rPr lang="en-US" sz="2000">
                <a:solidFill>
                  <a:srgbClr val="565A32"/>
                </a:solidFill>
                <a:latin typeface="Raleway Light"/>
                <a:ea typeface="Raleway Light"/>
                <a:cs typeface="Raleway Light"/>
                <a:sym typeface="Raleway Light"/>
              </a:rPr>
              <a:t>s </a:t>
            </a:r>
            <a:r>
              <a:rPr b="0" i="0" lang="en-US" spc="0" sz="2000" u="none" cap="none" strike="noStrike">
                <a:solidFill>
                  <a:srgbClr val="565A32"/>
                </a:solidFill>
                <a:latin typeface="Raleway Light"/>
                <a:ea typeface="Raleway Light"/>
                <a:cs typeface="Raleway Light"/>
                <a:sym typeface="Raleway Light"/>
              </a:rPr>
              <a:t>with a simple belief: conversation flows when nobody is worried about getting it right. C</a:t>
            </a:r>
            <a:r>
              <a:rPr lang="en-US" sz="2000">
                <a:solidFill>
                  <a:srgbClr val="565A32"/>
                </a:solidFill>
                <a:latin typeface="Raleway Light"/>
                <a:ea typeface="Raleway Light"/>
                <a:cs typeface="Raleway Light"/>
                <a:sym typeface="Raleway Light"/>
              </a:rPr>
              <a:t>onversation not knowledge. </a:t>
            </a:r>
            <a:endParaRPr b="0" i="0" spc="0" sz="2000" u="none" cap="none" strike="noStrike">
              <a:solidFill>
                <a:schemeClr val="dk1"/>
              </a:solidFill>
              <a:latin typeface="Raleway Light"/>
              <a:ea typeface="Raleway Light"/>
              <a:cs typeface="Raleway Light"/>
              <a:sym typeface="Raleway Light"/>
            </a:endParaRPr>
          </a:p>
        </p:txBody>
      </p:sp>
      <p:sp>
        <p:nvSpPr>
          <p:cNvPr id="155" name="Google Shape;155;p34"/>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156" name="Google Shape;156;p34"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57" name="Google Shape;157;p34"/>
          <p:cNvSpPr/>
          <p:nvPr/>
        </p:nvSpPr>
        <p:spPr>
          <a:xfrm>
            <a:off x="708679"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58" name="Google Shape;158;p34"/>
          <p:cNvSpPr/>
          <p:nvPr/>
        </p:nvSpPr>
        <p:spPr>
          <a:xfrm>
            <a:off x="708679" y="3364286"/>
            <a:ext cx="343200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59" name="Google Shape;159;p34"/>
          <p:cNvSpPr txBox="1"/>
          <p:nvPr/>
        </p:nvSpPr>
        <p:spPr>
          <a:xfrm>
            <a:off x="909829"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Entre Amis is French for “between friends”. Everyone is welcome, and everyone has something worth saying.</a:t>
            </a:r>
            <a:endParaRPr b="0" i="0" spc="0" sz="1400" u="none" cap="none" strike="noStrike">
              <a:solidFill>
                <a:srgbClr val="565A32"/>
              </a:solidFill>
              <a:latin typeface="Raleway Light"/>
              <a:ea typeface="Raleway Light"/>
              <a:cs typeface="Raleway Light"/>
              <a:sym typeface="Raleway Light"/>
            </a:endParaRPr>
          </a:p>
        </p:txBody>
      </p:sp>
      <p:sp>
        <p:nvSpPr>
          <p:cNvPr id="160" name="Google Shape;160;p34"/>
          <p:cNvSpPr txBox="1"/>
          <p:nvPr/>
        </p:nvSpPr>
        <p:spPr>
          <a:xfrm>
            <a:off x="909829"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Among friends</a:t>
            </a:r>
            <a:endParaRPr b="0" i="0" spc="0" sz="1400" u="none" cap="none" strike="noStrike">
              <a:solidFill>
                <a:srgbClr val="565A32"/>
              </a:solidFill>
              <a:latin typeface="Raleway Light"/>
              <a:ea typeface="Raleway Light"/>
              <a:cs typeface="Raleway Light"/>
              <a:sym typeface="Raleway Light"/>
            </a:endParaRPr>
          </a:p>
        </p:txBody>
      </p:sp>
      <p:sp>
        <p:nvSpPr>
          <p:cNvPr id="161" name="Google Shape;161;p34"/>
          <p:cNvSpPr/>
          <p:nvPr/>
        </p:nvSpPr>
        <p:spPr>
          <a:xfrm>
            <a:off x="4402575"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2" name="Google Shape;162;p34"/>
          <p:cNvSpPr/>
          <p:nvPr/>
        </p:nvSpPr>
        <p:spPr>
          <a:xfrm>
            <a:off x="4402575" y="3364286"/>
            <a:ext cx="343200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3" name="Google Shape;163;p34"/>
          <p:cNvSpPr txBox="1"/>
          <p:nvPr/>
        </p:nvSpPr>
        <p:spPr>
          <a:xfrm>
            <a:off x="4603725"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What people take away</a:t>
            </a:r>
            <a:endParaRPr b="0" i="0" spc="0" sz="1400" u="none" cap="none" strike="noStrike">
              <a:solidFill>
                <a:srgbClr val="565A32"/>
              </a:solidFill>
              <a:latin typeface="Raleway Light"/>
              <a:ea typeface="Raleway Light"/>
              <a:cs typeface="Raleway Light"/>
              <a:sym typeface="Raleway Light"/>
            </a:endParaRPr>
          </a:p>
        </p:txBody>
      </p:sp>
      <p:sp>
        <p:nvSpPr>
          <p:cNvPr id="164" name="Google Shape;164;p34"/>
          <p:cNvSpPr txBox="1"/>
          <p:nvPr/>
        </p:nvSpPr>
        <p:spPr>
          <a:xfrm>
            <a:off x="4603725" y="4355963"/>
            <a:ext cx="3029700" cy="78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Not a score or a lesson. Stories, discoveries, people and moments worth returning to.</a:t>
            </a:r>
            <a:endParaRPr b="0" i="0" spc="0" sz="1400" u="none" cap="none" strike="noStrike">
              <a:solidFill>
                <a:srgbClr val="565A32"/>
              </a:solidFill>
              <a:latin typeface="Raleway Light"/>
              <a:ea typeface="Raleway Light"/>
              <a:cs typeface="Raleway Light"/>
              <a:sym typeface="Raleway Light"/>
            </a:endParaRPr>
          </a:p>
        </p:txBody>
      </p:sp>
      <p:sp>
        <p:nvSpPr>
          <p:cNvPr id="165" name="Google Shape;165;p34"/>
          <p:cNvSpPr/>
          <p:nvPr/>
        </p:nvSpPr>
        <p:spPr>
          <a:xfrm>
            <a:off x="8016245" y="3425325"/>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6" name="Google Shape;166;p34"/>
          <p:cNvSpPr/>
          <p:nvPr/>
        </p:nvSpPr>
        <p:spPr>
          <a:xfrm>
            <a:off x="8016245" y="3364286"/>
            <a:ext cx="343200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7" name="Google Shape;167;p34"/>
          <p:cNvSpPr txBox="1"/>
          <p:nvPr/>
        </p:nvSpPr>
        <p:spPr>
          <a:xfrm>
            <a:off x="8217395" y="3654999"/>
            <a:ext cx="3029700" cy="677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Wine is our first invitation</a:t>
            </a:r>
            <a:endParaRPr b="0" i="0" spc="0" sz="1400" u="none" cap="none" strike="noStrike">
              <a:solidFill>
                <a:srgbClr val="565A32"/>
              </a:solidFill>
              <a:latin typeface="Raleway Light"/>
              <a:ea typeface="Raleway Light"/>
              <a:cs typeface="Raleway Light"/>
              <a:sym typeface="Raleway Light"/>
            </a:endParaRPr>
          </a:p>
        </p:txBody>
      </p:sp>
      <p:sp>
        <p:nvSpPr>
          <p:cNvPr id="168" name="Google Shape;168;p34"/>
          <p:cNvSpPr txBox="1"/>
          <p:nvPr/>
        </p:nvSpPr>
        <p:spPr>
          <a:xfrm>
            <a:off x="8217395"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A glass on the table is a natural place to start a conversation. Wine is where we begin, not where we stop.</a:t>
            </a:r>
            <a:endParaRPr b="0" i="0" spc="0" sz="1400" u="none" cap="none" strike="noStrike">
              <a:solidFill>
                <a:srgbClr val="565A32"/>
              </a:solidFill>
              <a:latin typeface="Raleway Light"/>
              <a:ea typeface="Raleway Light"/>
              <a:cs typeface="Raleway Light"/>
              <a:sym typeface="Raleway Light"/>
            </a:endParaRPr>
          </a:p>
        </p:txBody>
      </p:sp>
      <p:sp>
        <p:nvSpPr>
          <p:cNvPr id="169" name="Google Shape;169;p3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74" name="Shape 174"/>
        <p:cNvGrpSpPr/>
        <p:nvPr/>
      </p:nvGrpSpPr>
      <p:grpSpPr>
        <a:xfrm>
          <a:off x="0" y="0"/>
          <a:ext cx="0" cy="0"/>
          <a:chOff x="0" y="0"/>
          <a:chExt cx="0" cy="0"/>
        </a:xfrm>
      </p:grpSpPr>
      <p:sp>
        <p:nvSpPr>
          <p:cNvPr id="175" name="Google Shape;175;p35"/>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76" name="Google Shape;176;p35"/>
          <p:cNvSpPr txBox="1"/>
          <p:nvPr/>
        </p:nvSpPr>
        <p:spPr>
          <a:xfrm>
            <a:off x="685800" y="598897"/>
            <a:ext cx="8229600" cy="530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3800"/>
              <a:buFont typeface="Raleway Light"/>
              <a:buNone/>
            </a:pPr>
            <a:r>
              <a:rPr b="1" i="0" lang="en-US" spc="0" sz="2800" u="none" cap="none" strike="noStrike">
                <a:solidFill>
                  <a:srgbClr val="565A32"/>
                </a:solidFill>
                <a:latin typeface="Raleway"/>
                <a:ea typeface="Raleway"/>
                <a:cs typeface="Raleway"/>
                <a:sym typeface="Raleway"/>
              </a:rPr>
              <a:t>The friend you want at the table</a:t>
            </a:r>
            <a:endParaRPr b="1" i="0" spc="0" sz="2800" u="none" cap="none" strike="noStrike">
              <a:solidFill>
                <a:schemeClr val="dk1"/>
              </a:solidFill>
              <a:latin typeface="Raleway"/>
              <a:ea typeface="Raleway"/>
              <a:cs typeface="Raleway"/>
              <a:sym typeface="Raleway"/>
            </a:endParaRPr>
          </a:p>
        </p:txBody>
      </p:sp>
      <p:sp>
        <p:nvSpPr>
          <p:cNvPr id="177" name="Google Shape;177;p35"/>
          <p:cNvSpPr txBox="1"/>
          <p:nvPr/>
        </p:nvSpPr>
        <p:spPr>
          <a:xfrm>
            <a:off x="685800" y="1236350"/>
            <a:ext cx="10657800" cy="34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700"/>
              <a:buFont typeface="Arial"/>
              <a:buNone/>
            </a:pPr>
            <a:r>
              <a:rPr b="0" i="0" lang="en-US" spc="0" sz="2100" u="none" cap="none" strike="noStrike">
                <a:solidFill>
                  <a:srgbClr val="565A32"/>
                </a:solidFill>
                <a:latin typeface="Raleway Light"/>
                <a:ea typeface="Raleway Light"/>
                <a:cs typeface="Raleway Light"/>
                <a:sym typeface="Raleway Light"/>
              </a:rPr>
              <a:t>Knows enough to make things interesting. Never makes anyone feel left out.</a:t>
            </a:r>
            <a:endParaRPr b="0" i="0" spc="0" sz="2100" u="none" cap="none" strike="noStrike">
              <a:solidFill>
                <a:schemeClr val="dk1"/>
              </a:solidFill>
              <a:latin typeface="Raleway Light"/>
              <a:ea typeface="Raleway Light"/>
              <a:cs typeface="Raleway Light"/>
              <a:sym typeface="Raleway Light"/>
            </a:endParaRPr>
          </a:p>
        </p:txBody>
      </p:sp>
      <p:sp>
        <p:nvSpPr>
          <p:cNvPr id="178" name="Google Shape;178;p35"/>
          <p:cNvSpPr txBox="1"/>
          <p:nvPr/>
        </p:nvSpPr>
        <p:spPr>
          <a:xfrm>
            <a:off x="630925" y="5189275"/>
            <a:ext cx="11042400" cy="11658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565A32"/>
              </a:buClr>
              <a:buSzPts val="3100"/>
              <a:buFont typeface="Raleway Light"/>
              <a:buNone/>
            </a:pPr>
            <a:r>
              <a:rPr b="0" i="1" lang="en-US" spc="0" sz="2300" u="none" cap="none" strike="noStrike">
                <a:solidFill>
                  <a:srgbClr val="565A32"/>
                </a:solidFill>
                <a:latin typeface="Raleway Light"/>
                <a:ea typeface="Raleway Light"/>
                <a:cs typeface="Raleway Light"/>
                <a:sym typeface="Raleway Light"/>
              </a:rPr>
              <a:t>When you’re at an Entre Amis table, nobody has </a:t>
            </a:r>
            <a:endParaRPr b="0" i="1" spc="0" sz="23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565A32"/>
              </a:buClr>
              <a:buSzPts val="3100"/>
              <a:buFont typeface="Raleway Light"/>
              <a:buNone/>
            </a:pPr>
            <a:r>
              <a:rPr b="0" i="1" lang="en-US" spc="0" sz="2300" u="none" cap="none" strike="noStrike">
                <a:solidFill>
                  <a:srgbClr val="565A32"/>
                </a:solidFill>
                <a:latin typeface="Raleway Light"/>
                <a:ea typeface="Raleway Light"/>
                <a:cs typeface="Raleway Light"/>
                <a:sym typeface="Raleway Light"/>
              </a:rPr>
              <a:t>to prove they belong there.</a:t>
            </a:r>
            <a:endParaRPr b="0" i="1" spc="0" sz="2300" u="none" cap="none" strike="noStrike">
              <a:solidFill>
                <a:schemeClr val="dk1"/>
              </a:solidFill>
              <a:latin typeface="Raleway Light"/>
              <a:ea typeface="Raleway Light"/>
              <a:cs typeface="Raleway Light"/>
              <a:sym typeface="Raleway Light"/>
            </a:endParaRPr>
          </a:p>
        </p:txBody>
      </p:sp>
      <p:sp>
        <p:nvSpPr>
          <p:cNvPr id="179" name="Google Shape;179;p35"/>
          <p:cNvSpPr txBox="1"/>
          <p:nvPr/>
        </p:nvSpPr>
        <p:spPr>
          <a:xfrm>
            <a:off x="685800" y="6355080"/>
            <a:ext cx="4114800" cy="237744"/>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180" name="Google Shape;180;p35"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81" name="Google Shape;181;p35"/>
          <p:cNvSpPr/>
          <p:nvPr/>
        </p:nvSpPr>
        <p:spPr>
          <a:xfrm>
            <a:off x="61173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2" name="Google Shape;182;p35"/>
          <p:cNvSpPr/>
          <p:nvPr/>
        </p:nvSpPr>
        <p:spPr>
          <a:xfrm>
            <a:off x="6117336" y="2350008"/>
            <a:ext cx="260604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3" name="Google Shape;183;p35"/>
          <p:cNvSpPr txBox="1"/>
          <p:nvPr/>
        </p:nvSpPr>
        <p:spPr>
          <a:xfrm>
            <a:off x="6300216"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Considered design and materials. Relaxed enough to use. Beautiful enough to belong on the table.</a:t>
            </a:r>
            <a:endParaRPr b="0" i="0" spc="0" sz="1400" u="none" cap="none" strike="noStrike">
              <a:solidFill>
                <a:srgbClr val="565A32"/>
              </a:solidFill>
              <a:latin typeface="Raleway Light"/>
              <a:ea typeface="Raleway Light"/>
              <a:cs typeface="Raleway Light"/>
              <a:sym typeface="Raleway Light"/>
            </a:endParaRPr>
          </a:p>
        </p:txBody>
      </p:sp>
      <p:sp>
        <p:nvSpPr>
          <p:cNvPr id="184" name="Google Shape;184;p35"/>
          <p:cNvSpPr txBox="1"/>
          <p:nvPr/>
        </p:nvSpPr>
        <p:spPr>
          <a:xfrm>
            <a:off x="6300216"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Premium, never precious</a:t>
            </a:r>
            <a:endParaRPr b="1" i="0" spc="0" sz="1900" u="none" cap="none" strike="noStrike">
              <a:solidFill>
                <a:srgbClr val="565A32"/>
              </a:solidFill>
              <a:latin typeface="Raleway"/>
              <a:ea typeface="Raleway"/>
              <a:cs typeface="Raleway"/>
              <a:sym typeface="Raleway"/>
            </a:endParaRPr>
          </a:p>
        </p:txBody>
      </p:sp>
      <p:sp>
        <p:nvSpPr>
          <p:cNvPr id="185" name="Google Shape;185;p35"/>
          <p:cNvSpPr/>
          <p:nvPr/>
        </p:nvSpPr>
        <p:spPr>
          <a:xfrm>
            <a:off x="88605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6" name="Google Shape;186;p35"/>
          <p:cNvSpPr/>
          <p:nvPr/>
        </p:nvSpPr>
        <p:spPr>
          <a:xfrm>
            <a:off x="8860536" y="2350008"/>
            <a:ext cx="2606040" cy="73200"/>
          </a:xfrm>
          <a:prstGeom prst="rect">
            <a:avLst/>
          </a:prstGeom>
          <a:solidFill>
            <a:srgbClr val="8B8B5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7" name="Google Shape;187;p35"/>
          <p:cNvSpPr txBox="1"/>
          <p:nvPr/>
        </p:nvSpPr>
        <p:spPr>
          <a:xfrm>
            <a:off x="9043415"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Playful, never silly</a:t>
            </a:r>
            <a:endParaRPr b="1" i="0" spc="0" sz="1400" u="none" cap="none" strike="noStrike">
              <a:solidFill>
                <a:srgbClr val="565A32"/>
              </a:solidFill>
              <a:latin typeface="Raleway"/>
              <a:ea typeface="Raleway"/>
              <a:cs typeface="Raleway"/>
              <a:sym typeface="Raleway"/>
            </a:endParaRPr>
          </a:p>
        </p:txBody>
      </p:sp>
      <p:sp>
        <p:nvSpPr>
          <p:cNvPr id="188" name="Google Shape;188;p35"/>
          <p:cNvSpPr txBox="1"/>
          <p:nvPr/>
        </p:nvSpPr>
        <p:spPr>
          <a:xfrm>
            <a:off x="9043415"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Wit, conversation and a little mischief, but always grown-up and inclusive.</a:t>
            </a:r>
            <a:endParaRPr b="0" i="0" spc="0" sz="1400" u="none" cap="none" strike="noStrike">
              <a:solidFill>
                <a:srgbClr val="565A32"/>
              </a:solidFill>
              <a:latin typeface="Raleway Light"/>
              <a:ea typeface="Raleway Light"/>
              <a:cs typeface="Raleway Light"/>
              <a:sym typeface="Raleway Light"/>
            </a:endParaRPr>
          </a:p>
        </p:txBody>
      </p:sp>
      <p:sp>
        <p:nvSpPr>
          <p:cNvPr id="189" name="Google Shape;189;p35"/>
          <p:cNvSpPr/>
          <p:nvPr/>
        </p:nvSpPr>
        <p:spPr>
          <a:xfrm>
            <a:off x="33741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0" name="Google Shape;190;p35"/>
          <p:cNvSpPr/>
          <p:nvPr/>
        </p:nvSpPr>
        <p:spPr>
          <a:xfrm>
            <a:off x="3374136" y="2350008"/>
            <a:ext cx="260604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1" name="Google Shape;191;p35"/>
          <p:cNvSpPr txBox="1"/>
          <p:nvPr/>
        </p:nvSpPr>
        <p:spPr>
          <a:xfrm>
            <a:off x="3557016"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Curious, never corrective</a:t>
            </a:r>
            <a:endParaRPr b="1" i="0" spc="0" sz="1400" u="none" cap="none" strike="noStrike">
              <a:solidFill>
                <a:srgbClr val="565A32"/>
              </a:solidFill>
              <a:latin typeface="Raleway"/>
              <a:ea typeface="Raleway"/>
              <a:cs typeface="Raleway"/>
              <a:sym typeface="Raleway"/>
            </a:endParaRPr>
          </a:p>
        </p:txBody>
      </p:sp>
      <p:sp>
        <p:nvSpPr>
          <p:cNvPr id="192" name="Google Shape;192;p35"/>
          <p:cNvSpPr txBox="1"/>
          <p:nvPr/>
        </p:nvSpPr>
        <p:spPr>
          <a:xfrm>
            <a:off x="3557016"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Any wine belongs. Every opinion counts. We help people discover; we never correct.</a:t>
            </a:r>
            <a:endParaRPr b="0" i="0" spc="0" sz="1400" u="none" cap="none" strike="noStrike">
              <a:solidFill>
                <a:srgbClr val="565A32"/>
              </a:solidFill>
              <a:latin typeface="Raleway Light"/>
              <a:ea typeface="Raleway Light"/>
              <a:cs typeface="Raleway Light"/>
              <a:sym typeface="Raleway Light"/>
            </a:endParaRPr>
          </a:p>
        </p:txBody>
      </p:sp>
      <p:sp>
        <p:nvSpPr>
          <p:cNvPr id="193" name="Google Shape;193;p35"/>
          <p:cNvSpPr/>
          <p:nvPr/>
        </p:nvSpPr>
        <p:spPr>
          <a:xfrm>
            <a:off x="6309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4" name="Google Shape;194;p35"/>
          <p:cNvSpPr/>
          <p:nvPr/>
        </p:nvSpPr>
        <p:spPr>
          <a:xfrm>
            <a:off x="630936" y="2350008"/>
            <a:ext cx="260604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5" name="Google Shape;195;p35"/>
          <p:cNvSpPr txBox="1"/>
          <p:nvPr/>
        </p:nvSpPr>
        <p:spPr>
          <a:xfrm>
            <a:off x="813815"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Knowledge is shared generously, never used as status.</a:t>
            </a:r>
            <a:endParaRPr b="0" i="0" spc="0" sz="1400" u="none" cap="none" strike="noStrike">
              <a:solidFill>
                <a:srgbClr val="565A32"/>
              </a:solidFill>
              <a:latin typeface="Raleway Light"/>
              <a:ea typeface="Raleway Light"/>
              <a:cs typeface="Raleway Light"/>
              <a:sym typeface="Raleway Light"/>
            </a:endParaRPr>
          </a:p>
        </p:txBody>
      </p:sp>
      <p:sp>
        <p:nvSpPr>
          <p:cNvPr id="196" name="Google Shape;196;p35"/>
          <p:cNvSpPr txBox="1"/>
          <p:nvPr/>
        </p:nvSpPr>
        <p:spPr>
          <a:xfrm>
            <a:off x="813815"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Warm, never worthy</a:t>
            </a:r>
            <a:endParaRPr b="1" i="0" spc="0" sz="1900" u="none" cap="none" strike="noStrike">
              <a:solidFill>
                <a:srgbClr val="565A32"/>
              </a:solidFill>
              <a:latin typeface="Raleway"/>
              <a:ea typeface="Raleway"/>
              <a:cs typeface="Raleway"/>
              <a:sym typeface="Raleway"/>
            </a:endParaRPr>
          </a:p>
        </p:txBody>
      </p:sp>
      <p:sp>
        <p:nvSpPr>
          <p:cNvPr id="197" name="Google Shape;197;p3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202" name="Shape 202"/>
        <p:cNvGrpSpPr/>
        <p:nvPr/>
      </p:nvGrpSpPr>
      <p:grpSpPr>
        <a:xfrm>
          <a:off x="0" y="0"/>
          <a:ext cx="0" cy="0"/>
          <a:chOff x="0" y="0"/>
          <a:chExt cx="0" cy="0"/>
        </a:xfrm>
      </p:grpSpPr>
      <p:sp>
        <p:nvSpPr>
          <p:cNvPr id="203" name="Google Shape;203;p36"/>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Entre Amis journey</a:t>
            </a:r>
            <a:endParaRPr b="1" i="0" spc="0" sz="2700" u="none" cap="none" strike="noStrike">
              <a:solidFill>
                <a:srgbClr val="565A32"/>
              </a:solidFill>
              <a:latin typeface="Raleway SemiBold"/>
              <a:ea typeface="Raleway SemiBold"/>
              <a:cs typeface="Raleway SemiBold"/>
              <a:sym typeface="Raleway SemiBold"/>
            </a:endParaRPr>
          </a:p>
        </p:txBody>
      </p:sp>
      <p:sp>
        <p:nvSpPr>
          <p:cNvPr id="204" name="Google Shape;204;p36"/>
          <p:cNvSpPr txBox="1"/>
          <p:nvPr/>
        </p:nvSpPr>
        <p:spPr>
          <a:xfrm>
            <a:off x="882163" y="1965960"/>
            <a:ext cx="9985800" cy="658368"/>
          </a:xfrm>
          <a:prstGeom prst="rect">
            <a:avLst/>
          </a:prstGeom>
          <a:solidFill>
            <a:srgbClr val="565A32">
              <a:alpha val="94902"/>
            </a:srgbClr>
          </a:solidFill>
          <a:ln>
            <a:noFill/>
          </a:ln>
        </p:spPr>
        <p:txBody>
          <a:bodyPr anchorCtr="0" anchor="ctr" bIns="0" lIns="0" spcFirstLastPara="1" rIns="0" wrap="square" tIns="0">
            <a:normAutofit lnSpcReduction="10000"/>
          </a:bodyPr>
          <a:lstStyle/>
          <a:p>
            <a:pPr indent="0" lvl="0" marL="0" marR="0" rtl="0" algn="ctr">
              <a:lnSpc>
                <a:spcPct val="100000"/>
              </a:lnSpc>
              <a:spcBef>
                <a:spcPts val="0"/>
              </a:spcBef>
              <a:spcAft>
                <a:spcPts val="0"/>
              </a:spcAft>
              <a:buClr>
                <a:srgbClr val="565A32"/>
              </a:buClr>
              <a:buSzPts val="3000"/>
              <a:buFont typeface="Raleway Light"/>
              <a:buNone/>
            </a:pPr>
            <a:r>
              <a:rPr b="0" i="0" lang="en-US" spc="0" sz="3000" u="none" cap="none" strike="noStrike">
                <a:solidFill>
                  <a:srgbClr val="EFEAE0"/>
                </a:solidFill>
                <a:latin typeface="Raleway Light"/>
                <a:ea typeface="Raleway Light"/>
                <a:cs typeface="Raleway Light"/>
                <a:sym typeface="Raleway Light"/>
              </a:rPr>
              <a:t>Inspire  →  Discover  →  Experience  →  Belong</a:t>
            </a:r>
            <a:endParaRPr b="0" i="0" spc="0" sz="3000" u="none" cap="none" strike="noStrike">
              <a:solidFill>
                <a:schemeClr val="dk1"/>
              </a:solidFill>
              <a:latin typeface="Raleway Light"/>
              <a:ea typeface="Raleway Light"/>
              <a:cs typeface="Raleway Light"/>
              <a:sym typeface="Raleway Light"/>
            </a:endParaRPr>
          </a:p>
        </p:txBody>
      </p:sp>
      <p:sp>
        <p:nvSpPr>
          <p:cNvPr id="205" name="Google Shape;205;p36"/>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206" name="Google Shape;206;p36"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207" name="Google Shape;207;p36"/>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208" name="Google Shape;208;p36"/>
          <p:cNvSpPr txBox="1"/>
          <p:nvPr/>
        </p:nvSpPr>
        <p:spPr>
          <a:xfrm>
            <a:off x="685800" y="1097280"/>
            <a:ext cx="100584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Connection, discovery, shared experiences and memories. Wine is the first place we bring them to life.</a:t>
            </a:r>
            <a:endParaRPr b="0" i="0" spc="0" sz="1900" u="none" cap="none" strike="noStrike">
              <a:solidFill>
                <a:schemeClr val="dk1"/>
              </a:solidFill>
              <a:latin typeface="Raleway Light"/>
              <a:ea typeface="Raleway Light"/>
              <a:cs typeface="Raleway Light"/>
              <a:sym typeface="Raleway Light"/>
            </a:endParaRPr>
          </a:p>
        </p:txBody>
      </p:sp>
      <p:sp>
        <p:nvSpPr>
          <p:cNvPr id="209" name="Google Shape;209;p36"/>
          <p:cNvSpPr txBox="1"/>
          <p:nvPr/>
        </p:nvSpPr>
        <p:spPr>
          <a:xfrm>
            <a:off x="882175" y="2887125"/>
            <a:ext cx="9985800" cy="22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Inspire</a:t>
            </a:r>
            <a:r>
              <a:rPr b="0" i="0" lang="en-US" spc="0" sz="1800" u="none" cap="none" strike="noStrike">
                <a:solidFill>
                  <a:srgbClr val="565A32"/>
                </a:solidFill>
                <a:latin typeface="Raleway Light"/>
                <a:ea typeface="Raleway Light"/>
                <a:cs typeface="Raleway Light"/>
                <a:sym typeface="Raleway Light"/>
              </a:rPr>
              <a:t>: Open the door to ideas, places, people and occasions</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Discover</a:t>
            </a:r>
            <a:r>
              <a:rPr b="0" i="0" lang="en-US" spc="0" sz="1800" u="none" cap="none" strike="noStrike">
                <a:solidFill>
                  <a:srgbClr val="565A32"/>
                </a:solidFill>
                <a:latin typeface="Raleway Light"/>
                <a:ea typeface="Raleway Light"/>
                <a:cs typeface="Raleway Light"/>
                <a:sym typeface="Raleway Light"/>
              </a:rPr>
              <a:t>: Explore, learn and enjoy</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Experience: </a:t>
            </a:r>
            <a:r>
              <a:rPr b="0" i="0" lang="en-US" spc="0" sz="1800" u="none" cap="none" strike="noStrike">
                <a:solidFill>
                  <a:srgbClr val="565A32"/>
                </a:solidFill>
                <a:latin typeface="Raleway Light"/>
                <a:ea typeface="Raleway Light"/>
                <a:cs typeface="Raleway Light"/>
                <a:sym typeface="Raleway Light"/>
              </a:rPr>
              <a:t>Take part, play, connect and share</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Belong: </a:t>
            </a:r>
            <a:r>
              <a:rPr b="0" i="0" lang="en-US" spc="0" sz="1800" u="none" cap="none" strike="noStrike">
                <a:solidFill>
                  <a:srgbClr val="565A32"/>
                </a:solidFill>
                <a:latin typeface="Raleway Light"/>
                <a:ea typeface="Raleway Light"/>
                <a:cs typeface="Raleway Light"/>
                <a:sym typeface="Raleway Light"/>
              </a:rPr>
              <a:t>Keep memories, deepen relationships and have reasons to return</a:t>
            </a:r>
            <a:endParaRPr b="0" i="0" spc="0" sz="1800" u="none" cap="none" strike="noStrike">
              <a:solidFill>
                <a:srgbClr val="565A32"/>
              </a:solidFill>
              <a:latin typeface="Raleway Light"/>
              <a:ea typeface="Raleway Light"/>
              <a:cs typeface="Raleway Light"/>
              <a:sym typeface="Raleway Light"/>
            </a:endParaRPr>
          </a:p>
        </p:txBody>
      </p:sp>
      <p:sp>
        <p:nvSpPr>
          <p:cNvPr id="210" name="Google Shape;210;p36"/>
          <p:cNvSpPr txBox="1"/>
          <p:nvPr/>
        </p:nvSpPr>
        <p:spPr>
          <a:xfrm>
            <a:off x="882175" y="5467575"/>
            <a:ext cx="89529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Personalisation connects the journey: one account, so each experience can build on the last.</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Play can happen at any stage. It isn’t always the first step.</a:t>
            </a:r>
            <a:endParaRPr b="0" i="0" spc="0" sz="1600" u="none" cap="none" strike="noStrike">
              <a:solidFill>
                <a:srgbClr val="565A32"/>
              </a:solidFill>
              <a:latin typeface="Raleway Light"/>
              <a:ea typeface="Raleway Light"/>
              <a:cs typeface="Raleway Light"/>
              <a:sym typeface="Raleway Light"/>
            </a:endParaRPr>
          </a:p>
        </p:txBody>
      </p:sp>
      <p:sp>
        <p:nvSpPr>
          <p:cNvPr id="211" name="Google Shape;211;p3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216" name="Shape 216"/>
        <p:cNvGrpSpPr/>
        <p:nvPr/>
      </p:nvGrpSpPr>
      <p:grpSpPr>
        <a:xfrm>
          <a:off x="0" y="0"/>
          <a:ext cx="0" cy="0"/>
          <a:chOff x="0" y="0"/>
          <a:chExt cx="0" cy="0"/>
        </a:xfrm>
      </p:grpSpPr>
      <p:sp>
        <p:nvSpPr>
          <p:cNvPr id="217" name="Google Shape;217;p37"/>
          <p:cNvSpPr txBox="1"/>
          <p:nvPr/>
        </p:nvSpPr>
        <p:spPr>
          <a:xfrm>
            <a:off x="685800" y="411480"/>
            <a:ext cx="99858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Two audiences, one connected brand</a:t>
            </a:r>
            <a:endParaRPr b="1" i="0" spc="0" sz="2700" u="none" cap="none" strike="noStrike">
              <a:solidFill>
                <a:srgbClr val="565A32"/>
              </a:solidFill>
              <a:latin typeface="Raleway SemiBold"/>
              <a:ea typeface="Raleway SemiBold"/>
              <a:cs typeface="Raleway SemiBold"/>
              <a:sym typeface="Raleway SemiBold"/>
            </a:endParaRPr>
          </a:p>
        </p:txBody>
      </p:sp>
      <p:sp>
        <p:nvSpPr>
          <p:cNvPr id="218" name="Google Shape;218;p37"/>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219" name="Google Shape;219;p37"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220" name="Google Shape;220;p37"/>
          <p:cNvSpPr txBox="1"/>
          <p:nvPr/>
        </p:nvSpPr>
        <p:spPr>
          <a:xfrm>
            <a:off x="685800" y="1097280"/>
            <a:ext cx="100584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One brand. Different ways to connect, discover and experience.</a:t>
            </a:r>
            <a:endParaRPr b="0" i="0" spc="0" sz="1900" u="none" cap="none" strike="noStrike">
              <a:solidFill>
                <a:schemeClr val="dk1"/>
              </a:solidFill>
              <a:latin typeface="Raleway Light"/>
              <a:ea typeface="Raleway Light"/>
              <a:cs typeface="Raleway Light"/>
              <a:sym typeface="Raleway Light"/>
            </a:endParaRPr>
          </a:p>
        </p:txBody>
      </p:sp>
      <p:sp>
        <p:nvSpPr>
          <p:cNvPr id="221" name="Google Shape;221;p37"/>
          <p:cNvSpPr/>
          <p:nvPr/>
        </p:nvSpPr>
        <p:spPr>
          <a:xfrm>
            <a:off x="548640" y="1645920"/>
            <a:ext cx="6400800" cy="384048"/>
          </a:xfrm>
          <a:prstGeom prst="leftRightArrow">
            <a:avLst>
              <a:gd fmla="val 50000" name="adj1"/>
              <a:gd fmla="val 50000" name="adj2"/>
            </a:avLst>
          </a:prstGeom>
          <a:solidFill>
            <a:srgbClr val="565A32"/>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200" u="none" cap="none" strike="noStrike">
                <a:solidFill>
                  <a:srgbClr val="EFEAE0"/>
                </a:solidFill>
                <a:latin typeface="Raleway SemiBold"/>
                <a:ea typeface="Raleway SemiBold"/>
                <a:cs typeface="Raleway SemiBold"/>
                <a:sym typeface="Raleway SemiBold"/>
              </a:rPr>
              <a:t>DIRECT TO CONSUMERS</a:t>
            </a:r>
            <a:endParaRPr/>
          </a:p>
        </p:txBody>
      </p:sp>
      <p:sp>
        <p:nvSpPr>
          <p:cNvPr id="222" name="Google Shape;222;p37"/>
          <p:cNvSpPr/>
          <p:nvPr/>
        </p:nvSpPr>
        <p:spPr>
          <a:xfrm>
            <a:off x="7434072" y="1645920"/>
            <a:ext cx="4206240" cy="384048"/>
          </a:xfrm>
          <a:prstGeom prst="leftRightArrow">
            <a:avLst>
              <a:gd fmla="val 50000" name="adj1"/>
              <a:gd fmla="val 50000" name="adj2"/>
            </a:avLst>
          </a:prstGeom>
          <a:solidFill>
            <a:srgbClr val="E3A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COMMERCIAL PARTNERS</a:t>
            </a:r>
            <a:endParaRPr/>
          </a:p>
        </p:txBody>
      </p:sp>
      <p:sp>
        <p:nvSpPr>
          <p:cNvPr id="223" name="Google Shape;223;p37"/>
          <p:cNvSpPr/>
          <p:nvPr/>
        </p:nvSpPr>
        <p:spPr>
          <a:xfrm>
            <a:off x="548640" y="2212848"/>
            <a:ext cx="2011680" cy="402336"/>
          </a:xfrm>
          <a:prstGeom prst="roundRect">
            <a:avLst>
              <a:gd fmla="val 50000" name="adj"/>
            </a:avLst>
          </a:prstGeom>
          <a:solidFill>
            <a:srgbClr val="565A32"/>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The game</a:t>
            </a:r>
            <a:endParaRPr/>
          </a:p>
        </p:txBody>
      </p:sp>
      <p:sp>
        <p:nvSpPr>
          <p:cNvPr id="224" name="Google Shape;224;p37"/>
          <p:cNvSpPr/>
          <p:nvPr/>
        </p:nvSpPr>
        <p:spPr>
          <a:xfrm>
            <a:off x="548640"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 name="Google Shape;225;p37"/>
          <p:cNvSpPr txBox="1"/>
          <p:nvPr/>
        </p:nvSpPr>
        <p:spPr>
          <a:xfrm>
            <a:off x="713232"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Premium, giftable and designed for real tables.</a:t>
            </a:r>
            <a:endParaRPr/>
          </a:p>
        </p:txBody>
      </p:sp>
      <p:sp>
        <p:nvSpPr>
          <p:cNvPr id="226" name="Google Shape;226;p37"/>
          <p:cNvSpPr/>
          <p:nvPr/>
        </p:nvSpPr>
        <p:spPr>
          <a:xfrm>
            <a:off x="2743200" y="2212848"/>
            <a:ext cx="2011680" cy="402336"/>
          </a:xfrm>
          <a:prstGeom prst="roundRect">
            <a:avLst>
              <a:gd fmla="val 50000" name="adj"/>
            </a:avLst>
          </a:prstGeom>
          <a:solidFill>
            <a:srgbClr val="8B8B5C"/>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FFFFFF"/>
                </a:solidFill>
                <a:latin typeface="Raleway SemiBold"/>
                <a:ea typeface="Raleway SemiBold"/>
                <a:cs typeface="Raleway SemiBold"/>
                <a:sym typeface="Raleway SemiBold"/>
              </a:rPr>
              <a:t>The app</a:t>
            </a:r>
            <a:endParaRPr/>
          </a:p>
        </p:txBody>
      </p:sp>
      <p:sp>
        <p:nvSpPr>
          <p:cNvPr id="227" name="Google Shape;227;p37"/>
          <p:cNvSpPr/>
          <p:nvPr/>
        </p:nvSpPr>
        <p:spPr>
          <a:xfrm>
            <a:off x="2743200"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 name="Google Shape;228;p37"/>
          <p:cNvSpPr txBox="1"/>
          <p:nvPr/>
        </p:nvSpPr>
        <p:spPr>
          <a:xfrm>
            <a:off x="2907792"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Supports play and discovery, and keeps the moments people want to return to.</a:t>
            </a:r>
            <a:endParaRPr/>
          </a:p>
        </p:txBody>
      </p:sp>
      <p:sp>
        <p:nvSpPr>
          <p:cNvPr id="229" name="Google Shape;229;p37"/>
          <p:cNvSpPr/>
          <p:nvPr/>
        </p:nvSpPr>
        <p:spPr>
          <a:xfrm>
            <a:off x="4937760" y="2212848"/>
            <a:ext cx="2011680" cy="402336"/>
          </a:xfrm>
          <a:prstGeom prst="roundRect">
            <a:avLst>
              <a:gd fmla="val 50000" name="adj"/>
            </a:avLst>
          </a:prstGeom>
          <a:solidFill>
            <a:srgbClr val="B9B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Entre Amis stays</a:t>
            </a:r>
            <a:endParaRPr/>
          </a:p>
        </p:txBody>
      </p:sp>
      <p:sp>
        <p:nvSpPr>
          <p:cNvPr id="230" name="Google Shape;230;p37"/>
          <p:cNvSpPr/>
          <p:nvPr/>
        </p:nvSpPr>
        <p:spPr>
          <a:xfrm>
            <a:off x="4937760"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1" name="Google Shape;231;p37"/>
          <p:cNvSpPr txBox="1"/>
          <p:nvPr/>
        </p:nvSpPr>
        <p:spPr>
          <a:xfrm>
            <a:off x="5102352"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The vision: Entre Amis, lived for a few days.</a:t>
            </a:r>
            <a:endParaRPr/>
          </a:p>
        </p:txBody>
      </p:sp>
      <p:sp>
        <p:nvSpPr>
          <p:cNvPr id="232" name="Google Shape;232;p37"/>
          <p:cNvSpPr/>
          <p:nvPr/>
        </p:nvSpPr>
        <p:spPr>
          <a:xfrm>
            <a:off x="7434072" y="2212848"/>
            <a:ext cx="2011680" cy="402336"/>
          </a:xfrm>
          <a:prstGeom prst="roundRect">
            <a:avLst>
              <a:gd fmla="val 50000" name="adj"/>
            </a:avLst>
          </a:prstGeom>
          <a:solidFill>
            <a:srgbClr val="E3A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Partner Mode</a:t>
            </a:r>
            <a:endParaRPr/>
          </a:p>
        </p:txBody>
      </p:sp>
      <p:sp>
        <p:nvSpPr>
          <p:cNvPr id="233" name="Google Shape;233;p37"/>
          <p:cNvSpPr/>
          <p:nvPr/>
        </p:nvSpPr>
        <p:spPr>
          <a:xfrm>
            <a:off x="7434072"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37"/>
          <p:cNvSpPr txBox="1"/>
          <p:nvPr/>
        </p:nvSpPr>
        <p:spPr>
          <a:xfrm>
            <a:off x="7598664"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Hosted tastings for one venue or producer: engagement, relationships and insight.</a:t>
            </a:r>
            <a:endParaRPr/>
          </a:p>
        </p:txBody>
      </p:sp>
      <p:sp>
        <p:nvSpPr>
          <p:cNvPr id="235" name="Google Shape;235;p37"/>
          <p:cNvSpPr/>
          <p:nvPr/>
        </p:nvSpPr>
        <p:spPr>
          <a:xfrm>
            <a:off x="9628632" y="2212848"/>
            <a:ext cx="2011680" cy="402336"/>
          </a:xfrm>
          <a:prstGeom prst="roundRect">
            <a:avLst>
              <a:gd fmla="val 50000" name="adj"/>
            </a:avLst>
          </a:prstGeom>
          <a:solidFill>
            <a:srgbClr val="E3A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Event Mode</a:t>
            </a:r>
            <a:endParaRPr/>
          </a:p>
        </p:txBody>
      </p:sp>
      <p:sp>
        <p:nvSpPr>
          <p:cNvPr id="236" name="Google Shape;236;p37"/>
          <p:cNvSpPr/>
          <p:nvPr/>
        </p:nvSpPr>
        <p:spPr>
          <a:xfrm>
            <a:off x="9628632"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37"/>
          <p:cNvSpPr txBox="1"/>
          <p:nvPr/>
        </p:nvSpPr>
        <p:spPr>
          <a:xfrm>
            <a:off x="9793224"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Entre Amis across a combined event, for visitors, producers and organisers.</a:t>
            </a:r>
            <a:endParaRPr/>
          </a:p>
        </p:txBody>
      </p:sp>
      <p:sp>
        <p:nvSpPr>
          <p:cNvPr id="238" name="Google Shape;238;p37"/>
          <p:cNvSpPr/>
          <p:nvPr/>
        </p:nvSpPr>
        <p:spPr>
          <a:xfrm>
            <a:off x="548640" y="4736592"/>
            <a:ext cx="11091672" cy="868680"/>
          </a:xfrm>
          <a:prstGeom prst="leftRightArrow">
            <a:avLst>
              <a:gd fmla="val 62000" name="adj1"/>
              <a:gd fmla="val 32000" name="adj2"/>
            </a:avLst>
          </a:prstGeom>
          <a:solidFill>
            <a:srgbClr val="565A32"/>
          </a:solidFill>
          <a:ln>
            <a:noFill/>
          </a:ln>
        </p:spPr>
        <p:txBody>
          <a:bodyPr anchorCtr="0" anchor="ctr" bIns="18275" lIns="822950" spcFirstLastPara="1" rIns="822950" wrap="square" tIns="18275">
            <a:noAutofit/>
          </a:bodyPr>
          <a:lstStyle/>
          <a:p>
            <a:pPr indent="0" lvl="0" marL="0" marR="0" rtl="0" algn="ctr">
              <a:lnSpc>
                <a:spcPct val="100000"/>
              </a:lnSpc>
              <a:spcBef>
                <a:spcPts val="0"/>
              </a:spcBef>
              <a:spcAft>
                <a:spcPts val="0"/>
              </a:spcAft>
              <a:buNone/>
            </a:pPr>
            <a:r>
              <a:rPr b="1" i="0" lang="en-US" spc="0" sz="1200" u="none" cap="none" strike="noStrike">
                <a:solidFill>
                  <a:srgbClr val="EFEAE0"/>
                </a:solidFill>
                <a:latin typeface="Raleway SemiBold"/>
                <a:ea typeface="Raleway SemiBold"/>
                <a:cs typeface="Raleway SemiBold"/>
                <a:sym typeface="Raleway SemiBold"/>
              </a:rPr>
              <a:t>CONNECTED PLATFORM, DATA AND INSIGHT</a:t>
            </a:r>
            <a:endParaRPr/>
          </a:p>
          <a:p>
            <a:pPr indent="0" lvl="0" marL="0" marR="0" rtl="0" algn="ctr">
              <a:lnSpc>
                <a:spcPct val="100000"/>
              </a:lnSpc>
              <a:spcBef>
                <a:spcPts val="0"/>
              </a:spcBef>
              <a:spcAft>
                <a:spcPts val="0"/>
              </a:spcAft>
              <a:buNone/>
            </a:pPr>
            <a:r>
              <a:rPr b="0" i="0" lang="en-US" spc="0" sz="1200" u="none" cap="none" strike="noStrike">
                <a:solidFill>
                  <a:srgbClr val="EFEAE0"/>
                </a:solidFill>
                <a:latin typeface="Raleway Light"/>
                <a:ea typeface="Raleway Light"/>
                <a:cs typeface="Raleway Light"/>
                <a:sym typeface="Raleway Light"/>
              </a:rPr>
              <a:t>One connected experience across Entre Amis, built with consent: personalisation, useful insight and reasons to return.</a:t>
            </a:r>
            <a:endParaRPr/>
          </a:p>
        </p:txBody>
      </p:sp>
      <p:sp>
        <p:nvSpPr>
          <p:cNvPr id="239" name="Google Shape;239;p3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8"/>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The Entre Amis world</a:t>
            </a:r>
            <a:endParaRPr sz="3600"/>
          </a:p>
        </p:txBody>
      </p:sp>
      <p:sp>
        <p:nvSpPr>
          <p:cNvPr id="246" name="Google Shape;246;p38"/>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Connection doesn’t end when the table clears.</a:t>
            </a:r>
            <a:endParaRPr sz="1800"/>
          </a:p>
        </p:txBody>
      </p:sp>
      <p:sp>
        <p:nvSpPr>
          <p:cNvPr id="247" name="Google Shape;247;p38"/>
          <p:cNvSpPr/>
          <p:nvPr/>
        </p:nvSpPr>
        <p:spPr>
          <a:xfrm>
            <a:off x="1843888" y="1783080"/>
            <a:ext cx="1783200" cy="4572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800"/>
              <a:buFont typeface="Raleway Light"/>
              <a:buNone/>
            </a:pPr>
            <a:r>
              <a:rPr b="0" i="0" lang="en-US" spc="0" sz="1800" u="none" cap="none" strike="noStrike">
                <a:solidFill>
                  <a:schemeClr val="lt2"/>
                </a:solidFill>
                <a:latin typeface="Raleway Light"/>
                <a:ea typeface="Raleway Light"/>
                <a:cs typeface="Raleway Light"/>
                <a:sym typeface="Raleway Light"/>
              </a:rPr>
              <a:t>Inspire</a:t>
            </a:r>
            <a:endParaRPr b="0" i="0" spc="0" sz="1800" u="none" cap="none" strike="noStrike">
              <a:solidFill>
                <a:schemeClr val="dk1"/>
              </a:solidFill>
              <a:latin typeface="Raleway Light"/>
              <a:ea typeface="Raleway Light"/>
              <a:cs typeface="Raleway Light"/>
              <a:sym typeface="Raleway Light"/>
            </a:endParaRPr>
          </a:p>
        </p:txBody>
      </p:sp>
      <p:sp>
        <p:nvSpPr>
          <p:cNvPr id="248" name="Google Shape;248;p38"/>
          <p:cNvSpPr/>
          <p:nvPr/>
        </p:nvSpPr>
        <p:spPr>
          <a:xfrm>
            <a:off x="3736696" y="1901952"/>
            <a:ext cx="283500" cy="2196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249" name="Google Shape;249;p38"/>
          <p:cNvSpPr/>
          <p:nvPr/>
        </p:nvSpPr>
        <p:spPr>
          <a:xfrm>
            <a:off x="4084168" y="1783080"/>
            <a:ext cx="1783200" cy="4572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800"/>
              <a:buFont typeface="Raleway Light"/>
              <a:buNone/>
            </a:pPr>
            <a:r>
              <a:rPr b="0" i="0" lang="en-US" spc="0" sz="1800" u="none" cap="none" strike="noStrike">
                <a:solidFill>
                  <a:schemeClr val="lt2"/>
                </a:solidFill>
                <a:latin typeface="Raleway Light"/>
                <a:ea typeface="Raleway Light"/>
                <a:cs typeface="Raleway Light"/>
                <a:sym typeface="Raleway Light"/>
              </a:rPr>
              <a:t>Discover</a:t>
            </a:r>
            <a:endParaRPr b="0" i="0" spc="0" sz="1800" u="none" cap="none" strike="noStrike">
              <a:solidFill>
                <a:schemeClr val="dk1"/>
              </a:solidFill>
              <a:latin typeface="Raleway Light"/>
              <a:ea typeface="Raleway Light"/>
              <a:cs typeface="Raleway Light"/>
              <a:sym typeface="Raleway Light"/>
            </a:endParaRPr>
          </a:p>
        </p:txBody>
      </p:sp>
      <p:sp>
        <p:nvSpPr>
          <p:cNvPr id="250" name="Google Shape;250;p38"/>
          <p:cNvSpPr/>
          <p:nvPr/>
        </p:nvSpPr>
        <p:spPr>
          <a:xfrm>
            <a:off x="5976976" y="1901952"/>
            <a:ext cx="283500" cy="2196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251" name="Google Shape;251;p38"/>
          <p:cNvSpPr/>
          <p:nvPr/>
        </p:nvSpPr>
        <p:spPr>
          <a:xfrm>
            <a:off x="6324448" y="1783080"/>
            <a:ext cx="1783200" cy="4572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800"/>
              <a:buFont typeface="Raleway Light"/>
              <a:buNone/>
            </a:pPr>
            <a:r>
              <a:rPr b="0" i="0" lang="en-US" spc="0" sz="1800" u="none" cap="none" strike="noStrike">
                <a:solidFill>
                  <a:schemeClr val="lt2"/>
                </a:solidFill>
                <a:latin typeface="Raleway Light"/>
                <a:ea typeface="Raleway Light"/>
                <a:cs typeface="Raleway Light"/>
                <a:sym typeface="Raleway Light"/>
              </a:rPr>
              <a:t>Experience</a:t>
            </a:r>
            <a:endParaRPr b="0" i="0" spc="0" sz="1800" u="none" cap="none" strike="noStrike">
              <a:solidFill>
                <a:schemeClr val="dk1"/>
              </a:solidFill>
              <a:latin typeface="Raleway Light"/>
              <a:ea typeface="Raleway Light"/>
              <a:cs typeface="Raleway Light"/>
              <a:sym typeface="Raleway Light"/>
            </a:endParaRPr>
          </a:p>
        </p:txBody>
      </p:sp>
      <p:sp>
        <p:nvSpPr>
          <p:cNvPr id="252" name="Google Shape;252;p38"/>
          <p:cNvSpPr/>
          <p:nvPr/>
        </p:nvSpPr>
        <p:spPr>
          <a:xfrm>
            <a:off x="8217256" y="1901952"/>
            <a:ext cx="283500" cy="2196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253" name="Google Shape;253;p38"/>
          <p:cNvSpPr/>
          <p:nvPr/>
        </p:nvSpPr>
        <p:spPr>
          <a:xfrm>
            <a:off x="8564728" y="1783080"/>
            <a:ext cx="1783200" cy="4572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800"/>
              <a:buFont typeface="Raleway Light"/>
              <a:buNone/>
            </a:pPr>
            <a:r>
              <a:rPr b="0" i="0" lang="en-US" spc="0" sz="1800" u="none" cap="none" strike="noStrike">
                <a:solidFill>
                  <a:schemeClr val="lt2"/>
                </a:solidFill>
                <a:latin typeface="Raleway Light"/>
                <a:ea typeface="Raleway Light"/>
                <a:cs typeface="Raleway Light"/>
                <a:sym typeface="Raleway Light"/>
              </a:rPr>
              <a:t>Belong</a:t>
            </a:r>
            <a:endParaRPr b="0" i="0" spc="0" sz="1800" u="none" cap="none" strike="noStrike">
              <a:solidFill>
                <a:schemeClr val="dk1"/>
              </a:solidFill>
              <a:latin typeface="Raleway Light"/>
              <a:ea typeface="Raleway Light"/>
              <a:cs typeface="Raleway Light"/>
              <a:sym typeface="Raleway Light"/>
            </a:endParaRPr>
          </a:p>
        </p:txBody>
      </p:sp>
      <p:sp>
        <p:nvSpPr>
          <p:cNvPr id="254" name="Google Shape;254;p38"/>
          <p:cNvSpPr/>
          <p:nvPr/>
        </p:nvSpPr>
        <p:spPr>
          <a:xfrm>
            <a:off x="548640" y="2468880"/>
            <a:ext cx="2568000" cy="3520500"/>
          </a:xfrm>
          <a:prstGeom prst="roundRect">
            <a:avLst>
              <a:gd fmla="val 3561"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pic>
        <p:nvPicPr>
          <p:cNvPr descr="The boxed game on a table: cards, spinner and crown, glasses beside it" id="255" name="Google Shape;255;p38"/>
          <p:cNvPicPr preferRelativeResize="0"/>
          <p:nvPr/>
        </p:nvPicPr>
        <p:blipFill rotWithShape="1">
          <a:blip r:embed="rId3">
            <a:alphaModFix/>
          </a:blip>
          <a:srcRect b="0" l="0" r="0" t="0"/>
          <a:stretch/>
        </p:blipFill>
        <p:spPr>
          <a:xfrm>
            <a:off x="548640" y="2468880"/>
            <a:ext cx="2567863" cy="1371601"/>
          </a:xfrm>
          <a:prstGeom prst="rect">
            <a:avLst/>
          </a:prstGeom>
          <a:noFill/>
          <a:ln>
            <a:noFill/>
          </a:ln>
        </p:spPr>
      </p:pic>
      <p:sp>
        <p:nvSpPr>
          <p:cNvPr id="256" name="Google Shape;256;p38"/>
          <p:cNvSpPr txBox="1"/>
          <p:nvPr/>
        </p:nvSpPr>
        <p:spPr>
          <a:xfrm>
            <a:off x="749808" y="4023360"/>
            <a:ext cx="2165400" cy="178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THE GAME</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500"/>
              <a:buFont typeface="Raleway Light"/>
              <a:buNone/>
            </a:pPr>
            <a:r>
              <a:rPr b="0" i="0" lang="en-US" spc="0" sz="500" u="none" cap="none" strike="noStrike">
                <a:solidFill>
                  <a:schemeClr val="dk1"/>
                </a:solidFill>
                <a:latin typeface="Raleway Light"/>
                <a:ea typeface="Raleway Light"/>
                <a:cs typeface="Raleway Light"/>
                <a:sym typeface="Raleway Light"/>
              </a:rPr>
              <a:t> </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A table game that turns any wine into conversation, for two to eight players.</a:t>
            </a:r>
            <a:endParaRPr b="0" i="0" spc="0" sz="1400" u="none" cap="none" strike="noStrike">
              <a:solidFill>
                <a:schemeClr val="dk1"/>
              </a:solidFill>
              <a:latin typeface="Raleway Light"/>
              <a:ea typeface="Raleway Light"/>
              <a:cs typeface="Raleway Light"/>
              <a:sym typeface="Raleway Light"/>
            </a:endParaRPr>
          </a:p>
        </p:txBody>
      </p:sp>
      <p:sp>
        <p:nvSpPr>
          <p:cNvPr id="257" name="Google Shape;257;p38"/>
          <p:cNvSpPr/>
          <p:nvPr/>
        </p:nvSpPr>
        <p:spPr>
          <a:xfrm>
            <a:off x="3390824" y="2468880"/>
            <a:ext cx="2568000" cy="3520500"/>
          </a:xfrm>
          <a:prstGeom prst="roundRect">
            <a:avLst>
              <a:gd fmla="val 3561"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pic>
        <p:nvPicPr>
          <p:cNvPr id="258" name="Google Shape;258;p38" title="Screenshot 2026-10-22 at 07.57.31.png"/>
          <p:cNvPicPr preferRelativeResize="0"/>
          <p:nvPr/>
        </p:nvPicPr>
        <p:blipFill rotWithShape="1">
          <a:blip r:embed="rId4">
            <a:alphaModFix/>
          </a:blip>
          <a:srcRect b="33349" l="0" r="0" t="9655"/>
          <a:stretch/>
        </p:blipFill>
        <p:spPr>
          <a:xfrm>
            <a:off x="3390824" y="2468880"/>
            <a:ext cx="2567864" cy="1371600"/>
          </a:xfrm>
          <a:prstGeom prst="rect">
            <a:avLst/>
          </a:prstGeom>
          <a:noFill/>
          <a:ln>
            <a:noFill/>
          </a:ln>
        </p:spPr>
      </p:pic>
      <p:sp>
        <p:nvSpPr>
          <p:cNvPr id="259" name="Google Shape;259;p38"/>
          <p:cNvSpPr txBox="1"/>
          <p:nvPr/>
        </p:nvSpPr>
        <p:spPr>
          <a:xfrm>
            <a:off x="3591992" y="4023360"/>
            <a:ext cx="2165400" cy="178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THE APP</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500"/>
              <a:buFont typeface="Raleway Light"/>
              <a:buNone/>
            </a:pPr>
            <a:r>
              <a:rPr b="0" i="0" lang="en-US" spc="0" sz="500" u="none" cap="none" strike="noStrike">
                <a:solidFill>
                  <a:schemeClr val="dk1"/>
                </a:solidFill>
                <a:latin typeface="Raleway Light"/>
                <a:ea typeface="Raleway Light"/>
                <a:cs typeface="Raleway Light"/>
                <a:sym typeface="Raleway Light"/>
              </a:rPr>
              <a:t> </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Hosts the game, explains wine in plain English, and keeps My wines: a record of tastings and favourites.</a:t>
            </a:r>
            <a:endParaRPr b="0" i="0" spc="0" sz="1400" u="none" cap="none" strike="noStrike">
              <a:solidFill>
                <a:schemeClr val="dk1"/>
              </a:solidFill>
              <a:latin typeface="Raleway Light"/>
              <a:ea typeface="Raleway Light"/>
              <a:cs typeface="Raleway Light"/>
              <a:sym typeface="Raleway Light"/>
            </a:endParaRPr>
          </a:p>
        </p:txBody>
      </p:sp>
      <p:sp>
        <p:nvSpPr>
          <p:cNvPr id="260" name="Google Shape;260;p38"/>
          <p:cNvSpPr/>
          <p:nvPr/>
        </p:nvSpPr>
        <p:spPr>
          <a:xfrm>
            <a:off x="6233008" y="2468880"/>
            <a:ext cx="2568000" cy="3520500"/>
          </a:xfrm>
          <a:prstGeom prst="roundRect">
            <a:avLst>
              <a:gd fmla="val 3561"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pic>
        <p:nvPicPr>
          <p:cNvPr id="261" name="Google Shape;261;p38" title="IMG_7882.jpeg"/>
          <p:cNvPicPr preferRelativeResize="0"/>
          <p:nvPr/>
        </p:nvPicPr>
        <p:blipFill rotWithShape="1">
          <a:blip r:embed="rId5">
            <a:alphaModFix/>
          </a:blip>
          <a:srcRect b="29677" l="24460" r="0" t="40062"/>
          <a:stretch/>
        </p:blipFill>
        <p:spPr>
          <a:xfrm>
            <a:off x="6233008" y="2468880"/>
            <a:ext cx="2567862" cy="1371602"/>
          </a:xfrm>
          <a:prstGeom prst="rect">
            <a:avLst/>
          </a:prstGeom>
          <a:noFill/>
          <a:ln>
            <a:noFill/>
          </a:ln>
        </p:spPr>
      </p:pic>
      <p:sp>
        <p:nvSpPr>
          <p:cNvPr id="262" name="Google Shape;262;p38"/>
          <p:cNvSpPr txBox="1"/>
          <p:nvPr/>
        </p:nvSpPr>
        <p:spPr>
          <a:xfrm>
            <a:off x="6434176" y="4023360"/>
            <a:ext cx="2165400" cy="178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PARTNER MODE</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500"/>
              <a:buFont typeface="Raleway Light"/>
              <a:buNone/>
            </a:pPr>
            <a:r>
              <a:rPr b="0" i="0" lang="en-US" spc="0" sz="500" u="none" cap="none" strike="noStrike">
                <a:solidFill>
                  <a:schemeClr val="dk1"/>
                </a:solidFill>
                <a:latin typeface="Raleway Light"/>
                <a:ea typeface="Raleway Light"/>
                <a:cs typeface="Raleway Light"/>
                <a:sym typeface="Raleway Light"/>
              </a:rPr>
              <a:t> </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A hosted tasting that guests join, for a vineyard, bar, restaurant, retailer or wine club.</a:t>
            </a:r>
            <a:endParaRPr b="0" i="0" spc="0" sz="1400" u="none" cap="none" strike="noStrike">
              <a:solidFill>
                <a:schemeClr val="dk1"/>
              </a:solidFill>
              <a:latin typeface="Raleway Light"/>
              <a:ea typeface="Raleway Light"/>
              <a:cs typeface="Raleway Light"/>
              <a:sym typeface="Raleway Light"/>
            </a:endParaRPr>
          </a:p>
        </p:txBody>
      </p:sp>
      <p:sp>
        <p:nvSpPr>
          <p:cNvPr id="263" name="Google Shape;263;p38"/>
          <p:cNvSpPr/>
          <p:nvPr/>
        </p:nvSpPr>
        <p:spPr>
          <a:xfrm>
            <a:off x="9075191" y="2468880"/>
            <a:ext cx="2568000" cy="3520500"/>
          </a:xfrm>
          <a:prstGeom prst="roundRect">
            <a:avLst>
              <a:gd fmla="val 3561"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pic>
        <p:nvPicPr>
          <p:cNvPr descr="Visitors at a stand scanning a QR card with their phones" id="264" name="Google Shape;264;p38"/>
          <p:cNvPicPr preferRelativeResize="0"/>
          <p:nvPr/>
        </p:nvPicPr>
        <p:blipFill rotWithShape="1">
          <a:blip r:embed="rId6">
            <a:alphaModFix/>
          </a:blip>
          <a:srcRect b="0" l="0" r="0" t="0"/>
          <a:stretch/>
        </p:blipFill>
        <p:spPr>
          <a:xfrm>
            <a:off x="9075191" y="2468880"/>
            <a:ext cx="2567864" cy="1371600"/>
          </a:xfrm>
          <a:prstGeom prst="rect">
            <a:avLst/>
          </a:prstGeom>
          <a:noFill/>
          <a:ln>
            <a:noFill/>
          </a:ln>
        </p:spPr>
      </p:pic>
      <p:sp>
        <p:nvSpPr>
          <p:cNvPr id="265" name="Google Shape;265;p38"/>
          <p:cNvSpPr txBox="1"/>
          <p:nvPr/>
        </p:nvSpPr>
        <p:spPr>
          <a:xfrm>
            <a:off x="9276359" y="4023360"/>
            <a:ext cx="2165400" cy="178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500"/>
              <a:buFont typeface="Raleway Light"/>
              <a:buNone/>
            </a:pPr>
            <a:r>
              <a:rPr b="0" i="0" lang="en-US" spc="0" sz="500" u="none" cap="none" strike="noStrike">
                <a:solidFill>
                  <a:schemeClr val="dk1"/>
                </a:solidFill>
                <a:latin typeface="Raleway Light"/>
                <a:ea typeface="Raleway Light"/>
                <a:cs typeface="Raleway Light"/>
                <a:sym typeface="Raleway Light"/>
              </a:rPr>
              <a:t> </a:t>
            </a:r>
            <a:endParaRPr b="0" i="0" spc="0" sz="14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Entre Amis across a whole event, for organisers, producers and visitors. We're looking for a launch partner.</a:t>
            </a:r>
            <a:endParaRPr b="0" i="0" spc="0" sz="1400" u="none" cap="none" strike="noStrike">
              <a:solidFill>
                <a:schemeClr val="dk1"/>
              </a:solidFill>
              <a:latin typeface="Raleway Light"/>
              <a:ea typeface="Raleway Light"/>
              <a:cs typeface="Raleway Light"/>
              <a:sym typeface="Raleway Light"/>
            </a:endParaRPr>
          </a:p>
        </p:txBody>
      </p:sp>
      <p:sp>
        <p:nvSpPr>
          <p:cNvPr id="266" name="Google Shape;266;p38"/>
          <p:cNvSpPr txBox="1"/>
          <p:nvPr>
            <p:ph idx="4294967295" type="sldNum"/>
          </p:nvPr>
        </p:nvSpPr>
        <p:spPr>
          <a:xfrm>
            <a:off x="10177272"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Raleway Light"/>
                <a:ea typeface="Raleway Light"/>
                <a:cs typeface="Raleway Light"/>
                <a:sym typeface="Raleway Light"/>
              </a:rPr>
              <a:t>‹#›</a:t>
            </a:fld>
            <a:endParaRPr b="0" i="0" sz="1200" u="none" cap="none" strike="noStrike">
              <a:solidFill>
                <a:schemeClr val="dk1"/>
              </a:solidFill>
              <a:latin typeface="Raleway Light"/>
              <a:ea typeface="Raleway Light"/>
              <a:cs typeface="Raleway Light"/>
              <a:sym typeface="Raleway Light"/>
            </a:endParaRPr>
          </a:p>
        </p:txBody>
      </p:sp>
      <p:sp>
        <p:nvSpPr>
          <p:cNvPr id="267" name="Google Shape;267;p38"/>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271" name="Shape 271"/>
        <p:cNvGrpSpPr/>
        <p:nvPr/>
      </p:nvGrpSpPr>
      <p:grpSpPr>
        <a:xfrm>
          <a:off x="0" y="0"/>
          <a:ext cx="0" cy="0"/>
          <a:chOff x="0" y="0"/>
          <a:chExt cx="0" cy="0"/>
        </a:xfrm>
      </p:grpSpPr>
      <p:cxnSp>
        <p:nvCxnSpPr>
          <p:cNvPr id="272" name="Google Shape;272;p39"/>
          <p:cNvCxnSpPr>
            <a:endCxn id="273" idx="1"/>
          </p:cNvCxnSpPr>
          <p:nvPr/>
        </p:nvCxnSpPr>
        <p:spPr>
          <a:xfrm>
            <a:off x="4544628" y="2020680"/>
            <a:ext cx="594300" cy="2196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40"/>
              </a:srgbClr>
            </a:outerShdw>
          </a:effectLst>
        </p:spPr>
      </p:cxnSp>
      <p:cxnSp>
        <p:nvCxnSpPr>
          <p:cNvPr id="274" name="Google Shape;274;p39"/>
          <p:cNvCxnSpPr/>
          <p:nvPr/>
        </p:nvCxnSpPr>
        <p:spPr>
          <a:xfrm flipH="1" rot="10800000">
            <a:off x="4544568" y="2926056"/>
            <a:ext cx="411600" cy="2652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75" name="Google Shape;275;p39"/>
          <p:cNvCxnSpPr/>
          <p:nvPr/>
        </p:nvCxnSpPr>
        <p:spPr>
          <a:xfrm rot="-5400000">
            <a:off x="4489818" y="3895338"/>
            <a:ext cx="521100" cy="4116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76" name="Google Shape;276;p39"/>
          <p:cNvCxnSpPr/>
          <p:nvPr/>
        </p:nvCxnSpPr>
        <p:spPr>
          <a:xfrm rot="-5400000">
            <a:off x="4361718" y="4937670"/>
            <a:ext cx="777300" cy="4116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77" name="Google Shape;277;p39"/>
          <p:cNvCxnSpPr>
            <a:endCxn id="278" idx="3"/>
          </p:cNvCxnSpPr>
          <p:nvPr/>
        </p:nvCxnSpPr>
        <p:spPr>
          <a:xfrm rot="10800000">
            <a:off x="6967728" y="1984248"/>
            <a:ext cx="576000" cy="3015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40"/>
              </a:srgbClr>
            </a:outerShdw>
          </a:effectLst>
        </p:spPr>
      </p:cxnSp>
      <p:cxnSp>
        <p:nvCxnSpPr>
          <p:cNvPr id="279" name="Google Shape;279;p39"/>
          <p:cNvCxnSpPr/>
          <p:nvPr/>
        </p:nvCxnSpPr>
        <p:spPr>
          <a:xfrm rot="10800000">
            <a:off x="7168800" y="3566268"/>
            <a:ext cx="375000" cy="2925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80" name="Google Shape;280;p39"/>
          <p:cNvCxnSpPr/>
          <p:nvPr/>
        </p:nvCxnSpPr>
        <p:spPr>
          <a:xfrm flipH="1" rot="5400000">
            <a:off x="7063650" y="4951386"/>
            <a:ext cx="585300" cy="3750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281" name="Google Shape;281;p39"/>
          <p:cNvSpPr txBox="1"/>
          <p:nvPr/>
        </p:nvSpPr>
        <p:spPr>
          <a:xfrm>
            <a:off x="548640" y="384048"/>
            <a:ext cx="82296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0" i="0" lang="en-US" spc="0" sz="3800" u="none" cap="none" strike="noStrike">
                <a:solidFill>
                  <a:srgbClr val="565A32"/>
                </a:solidFill>
                <a:latin typeface="Raleway Light"/>
                <a:ea typeface="Raleway Light"/>
                <a:cs typeface="Raleway Light"/>
                <a:sym typeface="Raleway Light"/>
              </a:rPr>
              <a:t>Sophie's Entre Amis life</a:t>
            </a:r>
            <a:endParaRPr b="0" i="0" spc="0" sz="1400" u="none" cap="none" strike="noStrike">
              <a:solidFill>
                <a:srgbClr val="000000"/>
              </a:solidFill>
              <a:latin typeface="Arial"/>
              <a:ea typeface="Arial"/>
              <a:cs typeface="Arial"/>
              <a:sym typeface="Arial"/>
            </a:endParaRPr>
          </a:p>
        </p:txBody>
      </p:sp>
      <p:sp>
        <p:nvSpPr>
          <p:cNvPr id="282" name="Google Shape;282;p39"/>
          <p:cNvSpPr txBox="1"/>
          <p:nvPr/>
        </p:nvSpPr>
        <p:spPr>
          <a:xfrm>
            <a:off x="548640" y="1024128"/>
            <a:ext cx="82296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0" i="0" lang="en-US" spc="0" sz="1900" u="none" cap="none" strike="noStrike">
                <a:solidFill>
                  <a:srgbClr val="565A32"/>
                </a:solidFill>
                <a:latin typeface="Raleway Light"/>
                <a:ea typeface="Raleway Light"/>
                <a:cs typeface="Raleway Light"/>
                <a:sym typeface="Raleway Light"/>
              </a:rPr>
              <a:t>Different experiences. One account. A richer relationship over time.</a:t>
            </a:r>
            <a:endParaRPr b="0" i="0" spc="0" sz="1400" u="none" cap="none" strike="noStrike">
              <a:solidFill>
                <a:srgbClr val="000000"/>
              </a:solidFill>
              <a:latin typeface="Arial"/>
              <a:ea typeface="Arial"/>
              <a:cs typeface="Arial"/>
              <a:sym typeface="Arial"/>
            </a:endParaRPr>
          </a:p>
        </p:txBody>
      </p:sp>
      <p:sp>
        <p:nvSpPr>
          <p:cNvPr id="283" name="Google Shape;283;p39"/>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ILLUSTRATIVE</a:t>
            </a:r>
            <a:endParaRPr b="0" i="0" spc="0" sz="1400" u="none" cap="none" strike="noStrike">
              <a:solidFill>
                <a:srgbClr val="000000"/>
              </a:solidFill>
              <a:latin typeface="Arial"/>
              <a:ea typeface="Arial"/>
              <a:cs typeface="Arial"/>
              <a:sym typeface="Arial"/>
            </a:endParaRPr>
          </a:p>
        </p:txBody>
      </p:sp>
      <p:pic>
        <p:nvPicPr>
          <p:cNvPr descr="sophie_1.png" id="284" name="Google Shape;284;p39"/>
          <p:cNvPicPr preferRelativeResize="0"/>
          <p:nvPr/>
        </p:nvPicPr>
        <p:blipFill rotWithShape="1">
          <a:blip r:embed="rId3">
            <a:alphaModFix/>
          </a:blip>
          <a:srcRect b="0" l="0" r="0" t="0"/>
          <a:stretch/>
        </p:blipFill>
        <p:spPr>
          <a:xfrm>
            <a:off x="3520440" y="1508760"/>
            <a:ext cx="1024128" cy="1024128"/>
          </a:xfrm>
          <a:prstGeom prst="rect">
            <a:avLst/>
          </a:prstGeom>
          <a:noFill/>
          <a:ln>
            <a:noFill/>
          </a:ln>
        </p:spPr>
      </p:pic>
      <p:sp>
        <p:nvSpPr>
          <p:cNvPr id="285" name="Google Shape;285;p39"/>
          <p:cNvSpPr/>
          <p:nvPr/>
        </p:nvSpPr>
        <p:spPr>
          <a:xfrm>
            <a:off x="3520440" y="1508760"/>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6" name="Google Shape;286;p39"/>
          <p:cNvSpPr txBox="1"/>
          <p:nvPr/>
        </p:nvSpPr>
        <p:spPr>
          <a:xfrm>
            <a:off x="548640" y="1490472"/>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Hosting at home</a:t>
            </a:r>
            <a:endParaRPr b="0" i="0" spc="0" sz="1400" u="none" cap="none" strike="noStrike">
              <a:solidFill>
                <a:srgbClr val="000000"/>
              </a:solidFill>
              <a:latin typeface="Arial"/>
              <a:ea typeface="Arial"/>
              <a:cs typeface="Arial"/>
              <a:sym typeface="Arial"/>
            </a:endParaRPr>
          </a:p>
        </p:txBody>
      </p:sp>
      <p:sp>
        <p:nvSpPr>
          <p:cNvPr id="287" name="Google Shape;287;p39"/>
          <p:cNvSpPr txBox="1"/>
          <p:nvPr/>
        </p:nvSpPr>
        <p:spPr>
          <a:xfrm>
            <a:off x="548640" y="1764792"/>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hosts her first Entre Amis game. Everyone joins in, and new favourites go into her collection.</a:t>
            </a:r>
            <a:endParaRPr b="0" i="0" spc="0" sz="1400" u="none" cap="none" strike="noStrike">
              <a:solidFill>
                <a:srgbClr val="000000"/>
              </a:solidFill>
              <a:latin typeface="Arial"/>
              <a:ea typeface="Arial"/>
              <a:cs typeface="Arial"/>
              <a:sym typeface="Arial"/>
            </a:endParaRPr>
          </a:p>
        </p:txBody>
      </p:sp>
      <p:sp>
        <p:nvSpPr>
          <p:cNvPr id="288" name="Google Shape;288;p39"/>
          <p:cNvSpPr/>
          <p:nvPr/>
        </p:nvSpPr>
        <p:spPr>
          <a:xfrm>
            <a:off x="548640" y="2313432"/>
            <a:ext cx="1600200" cy="237744"/>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EFEAE0"/>
                </a:solidFill>
                <a:latin typeface="Raleway SemiBold"/>
                <a:ea typeface="Raleway SemiBold"/>
                <a:cs typeface="Raleway SemiBold"/>
                <a:sym typeface="Raleway SemiBold"/>
              </a:rPr>
              <a:t>The game + app</a:t>
            </a:r>
            <a:endParaRPr b="0" i="0" spc="0" sz="1400" u="none" cap="none" strike="noStrike">
              <a:solidFill>
                <a:srgbClr val="000000"/>
              </a:solidFill>
              <a:latin typeface="Arial"/>
              <a:ea typeface="Arial"/>
              <a:cs typeface="Arial"/>
              <a:sym typeface="Arial"/>
            </a:endParaRPr>
          </a:p>
        </p:txBody>
      </p:sp>
      <p:pic>
        <p:nvPicPr>
          <p:cNvPr descr="sophie_2.png" id="289" name="Google Shape;289;p39"/>
          <p:cNvPicPr preferRelativeResize="0"/>
          <p:nvPr/>
        </p:nvPicPr>
        <p:blipFill rotWithShape="1">
          <a:blip r:embed="rId4">
            <a:alphaModFix/>
          </a:blip>
          <a:srcRect b="0" l="0" r="0" t="0"/>
          <a:stretch/>
        </p:blipFill>
        <p:spPr>
          <a:xfrm>
            <a:off x="3520440" y="2679191"/>
            <a:ext cx="1024128" cy="1024128"/>
          </a:xfrm>
          <a:prstGeom prst="rect">
            <a:avLst/>
          </a:prstGeom>
          <a:noFill/>
          <a:ln>
            <a:noFill/>
          </a:ln>
        </p:spPr>
      </p:pic>
      <p:sp>
        <p:nvSpPr>
          <p:cNvPr id="290" name="Google Shape;290;p39"/>
          <p:cNvSpPr/>
          <p:nvPr/>
        </p:nvSpPr>
        <p:spPr>
          <a:xfrm>
            <a:off x="3520440" y="2679191"/>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1" name="Google Shape;291;p39"/>
          <p:cNvSpPr txBox="1"/>
          <p:nvPr/>
        </p:nvSpPr>
        <p:spPr>
          <a:xfrm>
            <a:off x="548640" y="2660903"/>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At a friend’s table</a:t>
            </a:r>
            <a:endParaRPr b="0" i="0" spc="0" sz="1400" u="none" cap="none" strike="noStrike">
              <a:solidFill>
                <a:srgbClr val="000000"/>
              </a:solidFill>
              <a:latin typeface="Arial"/>
              <a:ea typeface="Arial"/>
              <a:cs typeface="Arial"/>
              <a:sym typeface="Arial"/>
            </a:endParaRPr>
          </a:p>
        </p:txBody>
      </p:sp>
      <p:sp>
        <p:nvSpPr>
          <p:cNvPr id="292" name="Google Shape;292;p39"/>
          <p:cNvSpPr txBox="1"/>
          <p:nvPr/>
        </p:nvSpPr>
        <p:spPr>
          <a:xfrm>
            <a:off x="548640" y="2935223"/>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joins a game at a friend’s house: good conversation, new wines and an occasion to remember.</a:t>
            </a:r>
            <a:endParaRPr b="0" i="0" spc="0" sz="1400" u="none" cap="none" strike="noStrike">
              <a:solidFill>
                <a:srgbClr val="000000"/>
              </a:solidFill>
              <a:latin typeface="Arial"/>
              <a:ea typeface="Arial"/>
              <a:cs typeface="Arial"/>
              <a:sym typeface="Arial"/>
            </a:endParaRPr>
          </a:p>
        </p:txBody>
      </p:sp>
      <p:sp>
        <p:nvSpPr>
          <p:cNvPr id="293" name="Google Shape;293;p39"/>
          <p:cNvSpPr/>
          <p:nvPr/>
        </p:nvSpPr>
        <p:spPr>
          <a:xfrm>
            <a:off x="548640" y="3483863"/>
            <a:ext cx="1600200" cy="237744"/>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EFEAE0"/>
                </a:solidFill>
                <a:latin typeface="Raleway SemiBold"/>
                <a:ea typeface="Raleway SemiBold"/>
                <a:cs typeface="Raleway SemiBold"/>
                <a:sym typeface="Raleway SemiBold"/>
              </a:rPr>
              <a:t>The game + app</a:t>
            </a:r>
            <a:endParaRPr b="0" i="0" spc="0" sz="1400" u="none" cap="none" strike="noStrike">
              <a:solidFill>
                <a:srgbClr val="000000"/>
              </a:solidFill>
              <a:latin typeface="Arial"/>
              <a:ea typeface="Arial"/>
              <a:cs typeface="Arial"/>
              <a:sym typeface="Arial"/>
            </a:endParaRPr>
          </a:p>
        </p:txBody>
      </p:sp>
      <p:pic>
        <p:nvPicPr>
          <p:cNvPr descr="sophie_3.png" id="294" name="Google Shape;294;p39"/>
          <p:cNvPicPr preferRelativeResize="0"/>
          <p:nvPr/>
        </p:nvPicPr>
        <p:blipFill rotWithShape="1">
          <a:blip r:embed="rId5">
            <a:alphaModFix/>
          </a:blip>
          <a:srcRect b="0" l="0" r="0" t="0"/>
          <a:stretch/>
        </p:blipFill>
        <p:spPr>
          <a:xfrm>
            <a:off x="3520440" y="3849624"/>
            <a:ext cx="1024128" cy="1024128"/>
          </a:xfrm>
          <a:prstGeom prst="rect">
            <a:avLst/>
          </a:prstGeom>
          <a:noFill/>
          <a:ln>
            <a:noFill/>
          </a:ln>
        </p:spPr>
      </p:pic>
      <p:sp>
        <p:nvSpPr>
          <p:cNvPr id="295" name="Google Shape;295;p39"/>
          <p:cNvSpPr/>
          <p:nvPr/>
        </p:nvSpPr>
        <p:spPr>
          <a:xfrm>
            <a:off x="3520440" y="3849624"/>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6" name="Google Shape;296;p39"/>
          <p:cNvSpPr txBox="1"/>
          <p:nvPr/>
        </p:nvSpPr>
        <p:spPr>
          <a:xfrm>
            <a:off x="548640" y="3831336"/>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A vineyard visit</a:t>
            </a:r>
            <a:endParaRPr b="0" i="0" spc="0" sz="1400" u="none" cap="none" strike="noStrike">
              <a:solidFill>
                <a:srgbClr val="000000"/>
              </a:solidFill>
              <a:latin typeface="Arial"/>
              <a:ea typeface="Arial"/>
              <a:cs typeface="Arial"/>
              <a:sym typeface="Arial"/>
            </a:endParaRPr>
          </a:p>
        </p:txBody>
      </p:sp>
      <p:sp>
        <p:nvSpPr>
          <p:cNvPr id="297" name="Google Shape;297;p39"/>
          <p:cNvSpPr txBox="1"/>
          <p:nvPr/>
        </p:nvSpPr>
        <p:spPr>
          <a:xfrm>
            <a:off x="548640" y="4105656"/>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joins a hosted tasting at a vineyard. She discovers new wines and a connection to the place and its story.</a:t>
            </a:r>
            <a:endParaRPr b="0" i="0" spc="0" sz="1400" u="none" cap="none" strike="noStrike">
              <a:solidFill>
                <a:srgbClr val="000000"/>
              </a:solidFill>
              <a:latin typeface="Arial"/>
              <a:ea typeface="Arial"/>
              <a:cs typeface="Arial"/>
              <a:sym typeface="Arial"/>
            </a:endParaRPr>
          </a:p>
        </p:txBody>
      </p:sp>
      <p:sp>
        <p:nvSpPr>
          <p:cNvPr id="298" name="Google Shape;298;p39"/>
          <p:cNvSpPr/>
          <p:nvPr/>
        </p:nvSpPr>
        <p:spPr>
          <a:xfrm>
            <a:off x="548640" y="4654296"/>
            <a:ext cx="1600200" cy="237744"/>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565A32"/>
                </a:solidFill>
                <a:latin typeface="Raleway SemiBold"/>
                <a:ea typeface="Raleway SemiBold"/>
                <a:cs typeface="Raleway SemiBold"/>
                <a:sym typeface="Raleway SemiBold"/>
              </a:rPr>
              <a:t>Partner Mode</a:t>
            </a:r>
            <a:endParaRPr b="0" i="0" spc="0" sz="1400" u="none" cap="none" strike="noStrike">
              <a:solidFill>
                <a:srgbClr val="000000"/>
              </a:solidFill>
              <a:latin typeface="Arial"/>
              <a:ea typeface="Arial"/>
              <a:cs typeface="Arial"/>
              <a:sym typeface="Arial"/>
            </a:endParaRPr>
          </a:p>
        </p:txBody>
      </p:sp>
      <p:pic>
        <p:nvPicPr>
          <p:cNvPr descr="sophie_4.png" id="299" name="Google Shape;299;p39"/>
          <p:cNvPicPr preferRelativeResize="0"/>
          <p:nvPr/>
        </p:nvPicPr>
        <p:blipFill rotWithShape="1">
          <a:blip r:embed="rId6">
            <a:alphaModFix/>
          </a:blip>
          <a:srcRect b="0" l="0" r="0" t="0"/>
          <a:stretch/>
        </p:blipFill>
        <p:spPr>
          <a:xfrm>
            <a:off x="3520440" y="5020056"/>
            <a:ext cx="1024128" cy="1024128"/>
          </a:xfrm>
          <a:prstGeom prst="rect">
            <a:avLst/>
          </a:prstGeom>
          <a:noFill/>
          <a:ln>
            <a:noFill/>
          </a:ln>
        </p:spPr>
      </p:pic>
      <p:sp>
        <p:nvSpPr>
          <p:cNvPr id="300" name="Google Shape;300;p39"/>
          <p:cNvSpPr/>
          <p:nvPr/>
        </p:nvSpPr>
        <p:spPr>
          <a:xfrm>
            <a:off x="3520440" y="5020056"/>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1" name="Google Shape;301;p39"/>
          <p:cNvSpPr txBox="1"/>
          <p:nvPr/>
        </p:nvSpPr>
        <p:spPr>
          <a:xfrm>
            <a:off x="548640" y="5001768"/>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Her own discoveries</a:t>
            </a:r>
            <a:endParaRPr b="0" i="0" spc="0" sz="1400" u="none" cap="none" strike="noStrike">
              <a:solidFill>
                <a:srgbClr val="000000"/>
              </a:solidFill>
              <a:latin typeface="Arial"/>
              <a:ea typeface="Arial"/>
              <a:cs typeface="Arial"/>
              <a:sym typeface="Arial"/>
            </a:endParaRPr>
          </a:p>
        </p:txBody>
      </p:sp>
      <p:sp>
        <p:nvSpPr>
          <p:cNvPr id="302" name="Google Shape;302;p39"/>
          <p:cNvSpPr txBox="1"/>
          <p:nvPr/>
        </p:nvSpPr>
        <p:spPr>
          <a:xfrm>
            <a:off x="548640" y="5276088"/>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With Just tasting, Sophie explores wines on her own, saves favourites and builds her collection over time.</a:t>
            </a:r>
            <a:endParaRPr b="0" i="0" spc="0" sz="1400" u="none" cap="none" strike="noStrike">
              <a:solidFill>
                <a:srgbClr val="000000"/>
              </a:solidFill>
              <a:latin typeface="Arial"/>
              <a:ea typeface="Arial"/>
              <a:cs typeface="Arial"/>
              <a:sym typeface="Arial"/>
            </a:endParaRPr>
          </a:p>
        </p:txBody>
      </p:sp>
      <p:sp>
        <p:nvSpPr>
          <p:cNvPr id="303" name="Google Shape;303;p39"/>
          <p:cNvSpPr/>
          <p:nvPr/>
        </p:nvSpPr>
        <p:spPr>
          <a:xfrm>
            <a:off x="548640" y="5824728"/>
            <a:ext cx="1600200" cy="237744"/>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pic>
        <p:nvPicPr>
          <p:cNvPr descr="sophie_7.png" id="304" name="Google Shape;304;p39"/>
          <p:cNvPicPr preferRelativeResize="0"/>
          <p:nvPr/>
        </p:nvPicPr>
        <p:blipFill rotWithShape="1">
          <a:blip r:embed="rId7">
            <a:alphaModFix/>
          </a:blip>
          <a:srcRect b="0" l="0" r="0" t="0"/>
          <a:stretch/>
        </p:blipFill>
        <p:spPr>
          <a:xfrm>
            <a:off x="7543800" y="4837176"/>
            <a:ext cx="1188720" cy="1188720"/>
          </a:xfrm>
          <a:prstGeom prst="rect">
            <a:avLst/>
          </a:prstGeom>
          <a:noFill/>
          <a:ln>
            <a:noFill/>
          </a:ln>
        </p:spPr>
      </p:pic>
      <p:sp>
        <p:nvSpPr>
          <p:cNvPr id="305" name="Google Shape;305;p39"/>
          <p:cNvSpPr/>
          <p:nvPr/>
        </p:nvSpPr>
        <p:spPr>
          <a:xfrm>
            <a:off x="7543800" y="4837176"/>
            <a:ext cx="1188720" cy="1188720"/>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6" name="Google Shape;306;p39"/>
          <p:cNvSpPr txBox="1"/>
          <p:nvPr/>
        </p:nvSpPr>
        <p:spPr>
          <a:xfrm>
            <a:off x="8915400" y="4882896"/>
            <a:ext cx="2743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Taking it further</a:t>
            </a:r>
            <a:endParaRPr b="0" i="0" spc="0" sz="1400" u="none" cap="none" strike="noStrike">
              <a:solidFill>
                <a:srgbClr val="000000"/>
              </a:solidFill>
              <a:latin typeface="Arial"/>
              <a:ea typeface="Arial"/>
              <a:cs typeface="Arial"/>
              <a:sym typeface="Arial"/>
            </a:endParaRPr>
          </a:p>
        </p:txBody>
      </p:sp>
      <p:sp>
        <p:nvSpPr>
          <p:cNvPr id="307" name="Google Shape;307;p39"/>
          <p:cNvSpPr txBox="1"/>
          <p:nvPr/>
        </p:nvSpPr>
        <p:spPr>
          <a:xfrm>
            <a:off x="8915400" y="5157216"/>
            <a:ext cx="27432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brings Entre Amis on her travels, and one day joins an Entre Amis stay: new places, new people.</a:t>
            </a:r>
            <a:endParaRPr b="0" i="0" spc="0" sz="1400" u="none" cap="none" strike="noStrike">
              <a:solidFill>
                <a:srgbClr val="000000"/>
              </a:solidFill>
              <a:latin typeface="Arial"/>
              <a:ea typeface="Arial"/>
              <a:cs typeface="Arial"/>
              <a:sym typeface="Arial"/>
            </a:endParaRPr>
          </a:p>
        </p:txBody>
      </p:sp>
      <p:sp>
        <p:nvSpPr>
          <p:cNvPr id="308" name="Google Shape;308;p39"/>
          <p:cNvSpPr/>
          <p:nvPr/>
        </p:nvSpPr>
        <p:spPr>
          <a:xfrm>
            <a:off x="8915400" y="5705856"/>
            <a:ext cx="1600200" cy="237744"/>
          </a:xfrm>
          <a:prstGeom prst="roundRect">
            <a:avLst>
              <a:gd fmla="val 50000" name="adj"/>
            </a:avLst>
          </a:prstGeom>
          <a:solidFill>
            <a:srgbClr val="B9B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565A32"/>
                </a:solidFill>
                <a:latin typeface="Raleway SemiBold"/>
                <a:ea typeface="Raleway SemiBold"/>
                <a:cs typeface="Raleway SemiBold"/>
                <a:sym typeface="Raleway SemiBold"/>
              </a:rPr>
              <a:t>Stays · the vision</a:t>
            </a:r>
            <a:endParaRPr b="0" i="0" spc="0" sz="1400" u="none" cap="none" strike="noStrike">
              <a:solidFill>
                <a:srgbClr val="000000"/>
              </a:solidFill>
              <a:latin typeface="Arial"/>
              <a:ea typeface="Arial"/>
              <a:cs typeface="Arial"/>
              <a:sym typeface="Arial"/>
            </a:endParaRPr>
          </a:p>
        </p:txBody>
      </p:sp>
      <p:pic>
        <p:nvPicPr>
          <p:cNvPr descr="sophie_6.png" id="309" name="Google Shape;309;p39"/>
          <p:cNvPicPr preferRelativeResize="0"/>
          <p:nvPr/>
        </p:nvPicPr>
        <p:blipFill rotWithShape="1">
          <a:blip r:embed="rId8">
            <a:alphaModFix/>
          </a:blip>
          <a:srcRect b="0" l="0" r="0" t="0"/>
          <a:stretch/>
        </p:blipFill>
        <p:spPr>
          <a:xfrm>
            <a:off x="7543800" y="3264408"/>
            <a:ext cx="1188720" cy="1188720"/>
          </a:xfrm>
          <a:prstGeom prst="rect">
            <a:avLst/>
          </a:prstGeom>
          <a:noFill/>
          <a:ln>
            <a:noFill/>
          </a:ln>
        </p:spPr>
      </p:pic>
      <p:sp>
        <p:nvSpPr>
          <p:cNvPr id="310" name="Google Shape;310;p39"/>
          <p:cNvSpPr/>
          <p:nvPr/>
        </p:nvSpPr>
        <p:spPr>
          <a:xfrm>
            <a:off x="7543800" y="3264408"/>
            <a:ext cx="1188720" cy="1188720"/>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1" name="Google Shape;311;p39"/>
          <p:cNvSpPr txBox="1"/>
          <p:nvPr/>
        </p:nvSpPr>
        <p:spPr>
          <a:xfrm>
            <a:off x="8915400" y="3310128"/>
            <a:ext cx="2743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Gifting and sharing</a:t>
            </a:r>
            <a:endParaRPr b="0" i="0" spc="0" sz="1400" u="none" cap="none" strike="noStrike">
              <a:solidFill>
                <a:srgbClr val="000000"/>
              </a:solidFill>
              <a:latin typeface="Arial"/>
              <a:ea typeface="Arial"/>
              <a:cs typeface="Arial"/>
              <a:sym typeface="Arial"/>
            </a:endParaRPr>
          </a:p>
        </p:txBody>
      </p:sp>
      <p:sp>
        <p:nvSpPr>
          <p:cNvPr id="312" name="Google Shape;312;p39"/>
          <p:cNvSpPr txBox="1"/>
          <p:nvPr/>
        </p:nvSpPr>
        <p:spPr>
          <a:xfrm>
            <a:off x="8915400" y="3584448"/>
            <a:ext cx="27432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gives Entre Amis as a gift and shares the experience with friends and family.</a:t>
            </a:r>
            <a:endParaRPr b="0" i="0" spc="0" sz="1400" u="none" cap="none" strike="noStrike">
              <a:solidFill>
                <a:srgbClr val="000000"/>
              </a:solidFill>
              <a:latin typeface="Arial"/>
              <a:ea typeface="Arial"/>
              <a:cs typeface="Arial"/>
              <a:sym typeface="Arial"/>
            </a:endParaRPr>
          </a:p>
        </p:txBody>
      </p:sp>
      <p:sp>
        <p:nvSpPr>
          <p:cNvPr id="313" name="Google Shape;313;p39"/>
          <p:cNvSpPr/>
          <p:nvPr/>
        </p:nvSpPr>
        <p:spPr>
          <a:xfrm>
            <a:off x="8915400" y="4133088"/>
            <a:ext cx="1600200" cy="237744"/>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EFEAE0"/>
                </a:solidFill>
                <a:latin typeface="Raleway SemiBold"/>
                <a:ea typeface="Raleway SemiBold"/>
                <a:cs typeface="Raleway SemiBold"/>
                <a:sym typeface="Raleway SemiBold"/>
              </a:rPr>
              <a:t>The game</a:t>
            </a:r>
            <a:endParaRPr b="0" i="0" spc="0" sz="1400" u="none" cap="none" strike="noStrike">
              <a:solidFill>
                <a:srgbClr val="000000"/>
              </a:solidFill>
              <a:latin typeface="Arial"/>
              <a:ea typeface="Arial"/>
              <a:cs typeface="Arial"/>
              <a:sym typeface="Arial"/>
            </a:endParaRPr>
          </a:p>
        </p:txBody>
      </p:sp>
      <p:pic>
        <p:nvPicPr>
          <p:cNvPr descr="sophie_5.png" id="314" name="Google Shape;314;p39"/>
          <p:cNvPicPr preferRelativeResize="0"/>
          <p:nvPr/>
        </p:nvPicPr>
        <p:blipFill rotWithShape="1">
          <a:blip r:embed="rId9">
            <a:alphaModFix/>
          </a:blip>
          <a:srcRect b="0" l="0" r="0" t="0"/>
          <a:stretch/>
        </p:blipFill>
        <p:spPr>
          <a:xfrm>
            <a:off x="7543800" y="1691640"/>
            <a:ext cx="1188720" cy="1188720"/>
          </a:xfrm>
          <a:prstGeom prst="rect">
            <a:avLst/>
          </a:prstGeom>
          <a:noFill/>
          <a:ln>
            <a:noFill/>
          </a:ln>
        </p:spPr>
      </p:pic>
      <p:sp>
        <p:nvSpPr>
          <p:cNvPr id="315" name="Google Shape;315;p39"/>
          <p:cNvSpPr/>
          <p:nvPr/>
        </p:nvSpPr>
        <p:spPr>
          <a:xfrm>
            <a:off x="7543800" y="1691640"/>
            <a:ext cx="1188720" cy="1188720"/>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6" name="Google Shape;316;p39"/>
          <p:cNvSpPr txBox="1"/>
          <p:nvPr/>
        </p:nvSpPr>
        <p:spPr>
          <a:xfrm>
            <a:off x="8915400" y="1737360"/>
            <a:ext cx="2743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A special event</a:t>
            </a:r>
            <a:endParaRPr b="0" i="0" spc="0" sz="1400" u="none" cap="none" strike="noStrike">
              <a:solidFill>
                <a:srgbClr val="000000"/>
              </a:solidFill>
              <a:latin typeface="Arial"/>
              <a:ea typeface="Arial"/>
              <a:cs typeface="Arial"/>
              <a:sym typeface="Arial"/>
            </a:endParaRPr>
          </a:p>
        </p:txBody>
      </p:sp>
      <p:sp>
        <p:nvSpPr>
          <p:cNvPr id="317" name="Google Shape;317;p39"/>
          <p:cNvSpPr txBox="1"/>
          <p:nvPr/>
        </p:nvSpPr>
        <p:spPr>
          <a:xfrm>
            <a:off x="8915400" y="2011680"/>
            <a:ext cx="27432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goes to a wine event. It’s welcoming and fun, with new people, new wines and lasting memories.</a:t>
            </a:r>
            <a:endParaRPr b="0" i="0" spc="0" sz="1400" u="none" cap="none" strike="noStrike">
              <a:solidFill>
                <a:srgbClr val="000000"/>
              </a:solidFill>
              <a:latin typeface="Arial"/>
              <a:ea typeface="Arial"/>
              <a:cs typeface="Arial"/>
              <a:sym typeface="Arial"/>
            </a:endParaRPr>
          </a:p>
        </p:txBody>
      </p:sp>
      <p:sp>
        <p:nvSpPr>
          <p:cNvPr id="318" name="Google Shape;318;p39"/>
          <p:cNvSpPr/>
          <p:nvPr/>
        </p:nvSpPr>
        <p:spPr>
          <a:xfrm>
            <a:off x="8915400" y="2560320"/>
            <a:ext cx="1600200" cy="237744"/>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319" name="Google Shape;319;p39"/>
          <p:cNvSpPr/>
          <p:nvPr/>
        </p:nvSpPr>
        <p:spPr>
          <a:xfrm>
            <a:off x="4956048" y="1627632"/>
            <a:ext cx="2212848" cy="3913632"/>
          </a:xfrm>
          <a:prstGeom prst="roundRect">
            <a:avLst>
              <a:gd fmla="val 12000" name="adj"/>
            </a:avLst>
          </a:prstGeom>
          <a:solidFill>
            <a:srgbClr val="FFFFFF"/>
          </a:solidFill>
          <a:ln cap="flat" cmpd="sng" w="31750">
            <a:solidFill>
              <a:srgbClr val="565A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8" name="Google Shape;278;p39"/>
          <p:cNvSpPr txBox="1"/>
          <p:nvPr/>
        </p:nvSpPr>
        <p:spPr>
          <a:xfrm>
            <a:off x="5138928" y="1847088"/>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565A32"/>
                </a:solidFill>
                <a:latin typeface="Raleway SemiBold"/>
                <a:ea typeface="Raleway SemiBold"/>
                <a:cs typeface="Raleway SemiBold"/>
                <a:sym typeface="Raleway SemiBold"/>
              </a:rPr>
              <a:t>My wines</a:t>
            </a:r>
            <a:endParaRPr b="0" i="0" spc="0" sz="1400" u="none" cap="none" strike="noStrike">
              <a:solidFill>
                <a:srgbClr val="000000"/>
              </a:solidFill>
              <a:latin typeface="Arial"/>
              <a:ea typeface="Arial"/>
              <a:cs typeface="Arial"/>
              <a:sym typeface="Arial"/>
            </a:endParaRPr>
          </a:p>
        </p:txBody>
      </p:sp>
      <p:sp>
        <p:nvSpPr>
          <p:cNvPr id="273" name="Google Shape;273;p39"/>
          <p:cNvSpPr txBox="1"/>
          <p:nvPr/>
        </p:nvSpPr>
        <p:spPr>
          <a:xfrm>
            <a:off x="5138928" y="2139696"/>
            <a:ext cx="1828800"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pc="0" sz="800" u="none" cap="none" strike="noStrike">
                <a:solidFill>
                  <a:srgbClr val="8B8B5C"/>
                </a:solidFill>
                <a:latin typeface="Raleway Light"/>
                <a:ea typeface="Raleway Light"/>
                <a:cs typeface="Raleway Light"/>
                <a:sym typeface="Raleway Light"/>
              </a:rPr>
              <a:t>My wines     Wine 101</a:t>
            </a:r>
            <a:endParaRPr b="0" i="0" spc="0" sz="1400" u="none" cap="none" strike="noStrike">
              <a:solidFill>
                <a:srgbClr val="000000"/>
              </a:solidFill>
              <a:latin typeface="Arial"/>
              <a:ea typeface="Arial"/>
              <a:cs typeface="Arial"/>
              <a:sym typeface="Arial"/>
            </a:endParaRPr>
          </a:p>
        </p:txBody>
      </p:sp>
      <p:sp>
        <p:nvSpPr>
          <p:cNvPr id="320" name="Google Shape;320;p39"/>
          <p:cNvSpPr txBox="1"/>
          <p:nvPr/>
        </p:nvSpPr>
        <p:spPr>
          <a:xfrm>
            <a:off x="4572000" y="5687568"/>
            <a:ext cx="30175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0" i="0" lang="en-US" spc="0" sz="1300" u="none" cap="none" strike="noStrike">
                <a:solidFill>
                  <a:srgbClr val="565A32"/>
                </a:solidFill>
                <a:latin typeface="Raleway Light"/>
                <a:ea typeface="Raleway Light"/>
                <a:cs typeface="Raleway Light"/>
                <a:sym typeface="Raleway Light"/>
              </a:rPr>
              <a:t>One account for every favourite, memory and connection.</a:t>
            </a:r>
            <a:endParaRPr b="0" i="0" spc="0" sz="1400" u="none" cap="none" strike="noStrike">
              <a:solidFill>
                <a:srgbClr val="000000"/>
              </a:solidFill>
              <a:latin typeface="Arial"/>
              <a:ea typeface="Arial"/>
              <a:cs typeface="Arial"/>
              <a:sym typeface="Arial"/>
            </a:endParaRPr>
          </a:p>
        </p:txBody>
      </p:sp>
      <p:sp>
        <p:nvSpPr>
          <p:cNvPr id="321" name="Google Shape;321;p39"/>
          <p:cNvSpPr txBox="1"/>
          <p:nvPr/>
        </p:nvSpPr>
        <p:spPr>
          <a:xfrm>
            <a:off x="548640" y="6355080"/>
            <a:ext cx="41148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565A32"/>
                </a:solidFill>
                <a:latin typeface="Raleway Light"/>
                <a:ea typeface="Raleway Light"/>
                <a:cs typeface="Raleway Light"/>
                <a:sym typeface="Raleway Light"/>
              </a:rPr>
              <a:t>Say what you really think.</a:t>
            </a:r>
            <a:endParaRPr b="0" i="0" spc="0" sz="1400" u="none" cap="none" strike="noStrike">
              <a:solidFill>
                <a:srgbClr val="000000"/>
              </a:solidFill>
              <a:latin typeface="Arial"/>
              <a:ea typeface="Arial"/>
              <a:cs typeface="Arial"/>
              <a:sym typeface="Arial"/>
            </a:endParaRPr>
          </a:p>
        </p:txBody>
      </p:sp>
      <p:sp>
        <p:nvSpPr>
          <p:cNvPr id="322" name="Google Shape;322;p39"/>
          <p:cNvSpPr txBox="1"/>
          <p:nvPr/>
        </p:nvSpPr>
        <p:spPr>
          <a:xfrm>
            <a:off x="5138928" y="248716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Rosé</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Provence · 2024</a:t>
            </a:r>
            <a:endParaRPr/>
          </a:p>
        </p:txBody>
      </p:sp>
      <p:sp>
        <p:nvSpPr>
          <p:cNvPr id="323" name="Google Shape;323;p39"/>
          <p:cNvSpPr/>
          <p:nvPr/>
        </p:nvSpPr>
        <p:spPr>
          <a:xfrm>
            <a:off x="6793992" y="2578608"/>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24" name="Google Shape;324;p39"/>
          <p:cNvCxnSpPr/>
          <p:nvPr/>
        </p:nvCxnSpPr>
        <p:spPr>
          <a:xfrm>
            <a:off x="5138928" y="297180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25" name="Google Shape;325;p39"/>
          <p:cNvSpPr txBox="1"/>
          <p:nvPr/>
        </p:nvSpPr>
        <p:spPr>
          <a:xfrm>
            <a:off x="5138928" y="303580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Sparkling</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England · 2021</a:t>
            </a:r>
            <a:endParaRPr/>
          </a:p>
        </p:txBody>
      </p:sp>
      <p:sp>
        <p:nvSpPr>
          <p:cNvPr id="326" name="Google Shape;326;p39"/>
          <p:cNvSpPr/>
          <p:nvPr/>
        </p:nvSpPr>
        <p:spPr>
          <a:xfrm>
            <a:off x="6793992" y="3127248"/>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27" name="Google Shape;327;p39"/>
          <p:cNvCxnSpPr/>
          <p:nvPr/>
        </p:nvCxnSpPr>
        <p:spPr>
          <a:xfrm>
            <a:off x="5138928" y="352044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28" name="Google Shape;328;p39"/>
          <p:cNvSpPr txBox="1"/>
          <p:nvPr/>
        </p:nvSpPr>
        <p:spPr>
          <a:xfrm>
            <a:off x="5138928" y="358444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Red</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Rioja · 2020</a:t>
            </a:r>
            <a:endParaRPr/>
          </a:p>
        </p:txBody>
      </p:sp>
      <p:sp>
        <p:nvSpPr>
          <p:cNvPr id="329" name="Google Shape;329;p39"/>
          <p:cNvSpPr/>
          <p:nvPr/>
        </p:nvSpPr>
        <p:spPr>
          <a:xfrm>
            <a:off x="6793992" y="3675887"/>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30" name="Google Shape;330;p39"/>
          <p:cNvCxnSpPr/>
          <p:nvPr/>
        </p:nvCxnSpPr>
        <p:spPr>
          <a:xfrm>
            <a:off x="5138928" y="406908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31" name="Google Shape;331;p39"/>
          <p:cNvSpPr txBox="1"/>
          <p:nvPr/>
        </p:nvSpPr>
        <p:spPr>
          <a:xfrm>
            <a:off x="5138928" y="4133087"/>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White</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Loire · 2023</a:t>
            </a:r>
            <a:endParaRPr/>
          </a:p>
        </p:txBody>
      </p:sp>
      <p:sp>
        <p:nvSpPr>
          <p:cNvPr id="332" name="Google Shape;332;p39"/>
          <p:cNvSpPr/>
          <p:nvPr/>
        </p:nvSpPr>
        <p:spPr>
          <a:xfrm>
            <a:off x="6793992" y="4224527"/>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33" name="Google Shape;333;p39"/>
          <p:cNvCxnSpPr/>
          <p:nvPr/>
        </p:nvCxnSpPr>
        <p:spPr>
          <a:xfrm>
            <a:off x="5138928" y="461772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34" name="Google Shape;334;p39"/>
          <p:cNvSpPr txBox="1"/>
          <p:nvPr/>
        </p:nvSpPr>
        <p:spPr>
          <a:xfrm>
            <a:off x="5138928" y="468172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Orange</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Georgia · 2022</a:t>
            </a:r>
            <a:endParaRPr/>
          </a:p>
        </p:txBody>
      </p:sp>
      <p:sp>
        <p:nvSpPr>
          <p:cNvPr id="335" name="Google Shape;335;p39"/>
          <p:cNvSpPr/>
          <p:nvPr/>
        </p:nvSpPr>
        <p:spPr>
          <a:xfrm>
            <a:off x="6793992" y="4773168"/>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36" name="Google Shape;336;p3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341" name="Shape 341"/>
        <p:cNvGrpSpPr/>
        <p:nvPr/>
      </p:nvGrpSpPr>
      <p:grpSpPr>
        <a:xfrm>
          <a:off x="0" y="0"/>
          <a:ext cx="0" cy="0"/>
          <a:chOff x="0" y="0"/>
          <a:chExt cx="0" cy="0"/>
        </a:xfrm>
      </p:grpSpPr>
      <p:sp>
        <p:nvSpPr>
          <p:cNvPr id="342" name="Google Shape;342;p40"/>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343" name="Google Shape;343;p40"/>
          <p:cNvSpPr/>
          <p:nvPr/>
        </p:nvSpPr>
        <p:spPr>
          <a:xfrm>
            <a:off x="6642600" y="1710100"/>
            <a:ext cx="4575600" cy="399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344" name="Google Shape;344;p40"/>
          <p:cNvSpPr txBox="1"/>
          <p:nvPr/>
        </p:nvSpPr>
        <p:spPr>
          <a:xfrm>
            <a:off x="685800" y="475499"/>
            <a:ext cx="7269300" cy="518100"/>
          </a:xfrm>
          <a:prstGeom prst="rect">
            <a:avLst/>
          </a:prstGeom>
          <a:noFill/>
          <a:ln>
            <a:noFill/>
          </a:ln>
        </p:spPr>
        <p:txBody>
          <a:bodyPr anchorCtr="0" anchor="t" bIns="0" lIns="0" spcFirstLastPara="1" rIns="0" wrap="square" tIns="0">
            <a:normAutofit lnSpcReduction="2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physical game</a:t>
            </a:r>
            <a:endParaRPr b="0" i="0" spc="0" sz="3800" u="none" cap="none" strike="noStrike">
              <a:solidFill>
                <a:schemeClr val="dk1"/>
              </a:solidFill>
              <a:latin typeface="Raleway Light"/>
              <a:ea typeface="Raleway Light"/>
              <a:cs typeface="Raleway Light"/>
              <a:sym typeface="Raleway Light"/>
            </a:endParaRPr>
          </a:p>
        </p:txBody>
      </p:sp>
      <p:sp>
        <p:nvSpPr>
          <p:cNvPr id="345" name="Google Shape;345;p40"/>
          <p:cNvSpPr txBox="1"/>
          <p:nvPr/>
        </p:nvSpPr>
        <p:spPr>
          <a:xfrm>
            <a:off x="685800" y="1042415"/>
            <a:ext cx="9919200" cy="38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A wine game for people who would rather have an opinion than know the answer.</a:t>
            </a:r>
            <a:endParaRPr b="0" i="0" spc="0" sz="2500" u="none" cap="none" strike="noStrike">
              <a:solidFill>
                <a:schemeClr val="dk1"/>
              </a:solidFill>
              <a:latin typeface="Raleway Light"/>
              <a:ea typeface="Raleway Light"/>
              <a:cs typeface="Raleway Light"/>
              <a:sym typeface="Raleway Light"/>
            </a:endParaRPr>
          </a:p>
        </p:txBody>
      </p:sp>
      <p:sp>
        <p:nvSpPr>
          <p:cNvPr id="346" name="Google Shape;346;p40"/>
          <p:cNvSpPr txBox="1"/>
          <p:nvPr/>
        </p:nvSpPr>
        <p:spPr>
          <a:xfrm>
            <a:off x="716038" y="2249396"/>
            <a:ext cx="5393400" cy="25713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565A32"/>
              </a:buClr>
              <a:buSzPts val="2418"/>
              <a:buFont typeface="Raleway Light"/>
              <a:buNone/>
            </a:pPr>
            <a:r>
              <a:rPr b="0" i="0" lang="en-US" spc="0" sz="1800" u="none" cap="none" strike="noStrike">
                <a:solidFill>
                  <a:srgbClr val="565A32"/>
                </a:solidFill>
                <a:latin typeface="Raleway Light"/>
                <a:ea typeface="Raleway Light"/>
                <a:cs typeface="Raleway Light"/>
                <a:sym typeface="Raleway Light"/>
              </a:rPr>
              <a:t>A beautifully made game, designed to sit at the centre of the table without taking it over.</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1319"/>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Savour the wine.</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Talk to the people at the table.</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Picture where and when a wine belongs.</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Take on Secret Missions.</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Add a little mischief.</a:t>
            </a:r>
            <a:endParaRPr b="0" i="0" spc="0" sz="2108" u="none" cap="none" strike="noStrike">
              <a:solidFill>
                <a:srgbClr val="565A32"/>
              </a:solidFill>
              <a:latin typeface="Raleway Light"/>
              <a:ea typeface="Raleway Light"/>
              <a:cs typeface="Raleway Light"/>
              <a:sym typeface="Raleway Light"/>
            </a:endParaRPr>
          </a:p>
          <a:p>
            <a:pPr indent="0" lvl="0" marL="0" marR="0" rtl="0" algn="l">
              <a:lnSpc>
                <a:spcPct val="80000"/>
              </a:lnSpc>
              <a:spcBef>
                <a:spcPts val="1319"/>
              </a:spcBef>
              <a:spcAft>
                <a:spcPts val="0"/>
              </a:spcAft>
              <a:buClr>
                <a:srgbClr val="565A32"/>
              </a:buClr>
              <a:buSzPts val="2418"/>
              <a:buFont typeface="Raleway Light"/>
              <a:buNone/>
            </a:pPr>
            <a:r>
              <a:t/>
            </a:r>
            <a:endParaRPr b="0" i="0" spc="0" sz="2108" u="none" cap="none" strike="noStrike">
              <a:solidFill>
                <a:srgbClr val="565A32"/>
              </a:solidFill>
              <a:latin typeface="Raleway Light"/>
              <a:ea typeface="Raleway Light"/>
              <a:cs typeface="Raleway Light"/>
              <a:sym typeface="Raleway Light"/>
            </a:endParaRPr>
          </a:p>
        </p:txBody>
      </p:sp>
      <p:sp>
        <p:nvSpPr>
          <p:cNvPr id="347" name="Google Shape;347;p40"/>
          <p:cNvSpPr txBox="1"/>
          <p:nvPr/>
        </p:nvSpPr>
        <p:spPr>
          <a:xfrm>
            <a:off x="6985150" y="1939974"/>
            <a:ext cx="3948000" cy="25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587"/>
              <a:buFont typeface="Raleway Light"/>
              <a:buNone/>
            </a:pPr>
            <a:r>
              <a:rPr b="0" i="0" lang="en-US" spc="0" sz="2000" u="none" cap="none" strike="noStrike">
                <a:solidFill>
                  <a:srgbClr val="565A32"/>
                </a:solidFill>
                <a:latin typeface="Raleway Light"/>
                <a:ea typeface="Raleway Light"/>
                <a:cs typeface="Raleway Light"/>
                <a:sym typeface="Raleway Light"/>
              </a:rPr>
              <a:t>POUR, SPIN, PLAY, TALK</a:t>
            </a:r>
            <a:endParaRPr b="0" i="0" spc="0" sz="2000" u="none" cap="none" strike="noStrike">
              <a:solidFill>
                <a:schemeClr val="dk1"/>
              </a:solidFill>
              <a:latin typeface="Raleway Light"/>
              <a:ea typeface="Raleway Light"/>
              <a:cs typeface="Raleway Light"/>
              <a:sym typeface="Raleway Light"/>
            </a:endParaRPr>
          </a:p>
        </p:txBody>
      </p:sp>
      <p:sp>
        <p:nvSpPr>
          <p:cNvPr id="348" name="Google Shape;348;p40"/>
          <p:cNvSpPr txBox="1"/>
          <p:nvPr/>
        </p:nvSpPr>
        <p:spPr>
          <a:xfrm>
            <a:off x="6985150" y="2302674"/>
            <a:ext cx="3948000" cy="518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2267"/>
              <a:buFont typeface="Raleway Light"/>
              <a:buNone/>
            </a:pPr>
            <a:r>
              <a:rPr b="0" i="0" lang="en-US" spc="0" sz="1500" u="none" cap="none" strike="noStrike">
                <a:solidFill>
                  <a:srgbClr val="565A32"/>
                </a:solidFill>
                <a:latin typeface="Raleway Light"/>
                <a:ea typeface="Raleway Light"/>
                <a:cs typeface="Raleway Light"/>
                <a:sym typeface="Raleway Light"/>
              </a:rPr>
              <a:t>Savour, Pour, Wild and Mischief cards, Secret Missions, and a crown for the table’s favourite wine.</a:t>
            </a:r>
            <a:endParaRPr b="0" i="0" spc="0" sz="1900" u="none" cap="none" strike="noStrike">
              <a:solidFill>
                <a:schemeClr val="dk1"/>
              </a:solidFill>
              <a:latin typeface="Raleway Light"/>
              <a:ea typeface="Raleway Light"/>
              <a:cs typeface="Raleway Light"/>
              <a:sym typeface="Raleway Light"/>
            </a:endParaRPr>
          </a:p>
        </p:txBody>
      </p:sp>
      <p:sp>
        <p:nvSpPr>
          <p:cNvPr id="349" name="Google Shape;349;p40"/>
          <p:cNvSpPr txBox="1"/>
          <p:nvPr/>
        </p:nvSpPr>
        <p:spPr>
          <a:xfrm>
            <a:off x="6985150" y="3170639"/>
            <a:ext cx="3831600" cy="23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587"/>
              <a:buFont typeface="Raleway Light"/>
              <a:buNone/>
            </a:pPr>
            <a:r>
              <a:rPr b="0" i="0" lang="en-US" spc="0" sz="2000" u="none" cap="none" strike="noStrike">
                <a:solidFill>
                  <a:srgbClr val="565A32"/>
                </a:solidFill>
                <a:latin typeface="Raleway Light"/>
                <a:ea typeface="Raleway Light"/>
                <a:cs typeface="Raleway Light"/>
                <a:sym typeface="Raleway Light"/>
              </a:rPr>
              <a:t>DESIGNED TO BE SHARED</a:t>
            </a:r>
            <a:endParaRPr b="0" i="0" spc="0" sz="2000" u="none" cap="none" strike="noStrike">
              <a:solidFill>
                <a:schemeClr val="dk1"/>
              </a:solidFill>
              <a:latin typeface="Raleway Light"/>
              <a:ea typeface="Raleway Light"/>
              <a:cs typeface="Raleway Light"/>
              <a:sym typeface="Raleway Light"/>
            </a:endParaRPr>
          </a:p>
        </p:txBody>
      </p:sp>
      <p:sp>
        <p:nvSpPr>
          <p:cNvPr id="350" name="Google Shape;350;p40"/>
          <p:cNvSpPr txBox="1"/>
          <p:nvPr/>
        </p:nvSpPr>
        <p:spPr>
          <a:xfrm>
            <a:off x="6873000" y="3562050"/>
            <a:ext cx="4114800" cy="518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Premium packaging, tactile quality and an object people are pleased to receive and use.</a:t>
            </a:r>
            <a:endParaRPr b="0" i="0" spc="0" sz="1900" u="none" cap="none" strike="noStrike">
              <a:solidFill>
                <a:schemeClr val="dk1"/>
              </a:solidFill>
              <a:latin typeface="Raleway Light"/>
              <a:ea typeface="Raleway Light"/>
              <a:cs typeface="Raleway Light"/>
              <a:sym typeface="Raleway Light"/>
            </a:endParaRPr>
          </a:p>
        </p:txBody>
      </p:sp>
      <p:sp>
        <p:nvSpPr>
          <p:cNvPr id="351" name="Google Shape;351;p40"/>
          <p:cNvSpPr txBox="1"/>
          <p:nvPr/>
        </p:nvSpPr>
        <p:spPr>
          <a:xfrm>
            <a:off x="6960781" y="4351050"/>
            <a:ext cx="3948000" cy="23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587"/>
              <a:buFont typeface="Raleway Light"/>
              <a:buNone/>
            </a:pPr>
            <a:r>
              <a:rPr b="0" i="0" lang="en-US" spc="0" sz="2000" u="none" cap="none" strike="noStrike">
                <a:solidFill>
                  <a:srgbClr val="565A32"/>
                </a:solidFill>
                <a:latin typeface="Raleway Light"/>
                <a:ea typeface="Raleway Light"/>
                <a:cs typeface="Raleway Light"/>
                <a:sym typeface="Raleway Light"/>
              </a:rPr>
              <a:t>CONNECTED, NOT DEPENDENT</a:t>
            </a:r>
            <a:endParaRPr b="0" i="0" spc="0" sz="2000" u="none" cap="none" strike="noStrike">
              <a:solidFill>
                <a:schemeClr val="dk1"/>
              </a:solidFill>
              <a:latin typeface="Raleway Light"/>
              <a:ea typeface="Raleway Light"/>
              <a:cs typeface="Raleway Light"/>
              <a:sym typeface="Raleway Light"/>
            </a:endParaRPr>
          </a:p>
        </p:txBody>
      </p:sp>
      <p:sp>
        <p:nvSpPr>
          <p:cNvPr id="352" name="Google Shape;352;p40"/>
          <p:cNvSpPr txBox="1"/>
          <p:nvPr/>
        </p:nvSpPr>
        <p:spPr>
          <a:xfrm>
            <a:off x="6960781" y="4713749"/>
            <a:ext cx="3948000" cy="518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Complete without the app. The app adds more, and supports the table without becoming it.</a:t>
            </a:r>
            <a:endParaRPr b="0" i="0" spc="0" sz="1900" u="none" cap="none" strike="noStrike">
              <a:solidFill>
                <a:schemeClr val="dk1"/>
              </a:solidFill>
              <a:latin typeface="Raleway Light"/>
              <a:ea typeface="Raleway Light"/>
              <a:cs typeface="Raleway Light"/>
              <a:sym typeface="Raleway Light"/>
            </a:endParaRPr>
          </a:p>
        </p:txBody>
      </p:sp>
      <p:sp>
        <p:nvSpPr>
          <p:cNvPr id="353" name="Google Shape;353;p40"/>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cxnSp>
        <p:nvCxnSpPr>
          <p:cNvPr id="354" name="Google Shape;354;p40"/>
          <p:cNvCxnSpPr/>
          <p:nvPr/>
        </p:nvCxnSpPr>
        <p:spPr>
          <a:xfrm>
            <a:off x="7408113" y="3077307"/>
            <a:ext cx="3108900" cy="0"/>
          </a:xfrm>
          <a:prstGeom prst="straightConnector1">
            <a:avLst/>
          </a:prstGeom>
          <a:noFill/>
          <a:ln cap="flat" cmpd="sng" w="15225">
            <a:solidFill>
              <a:srgbClr val="E3AC9A"/>
            </a:solidFill>
            <a:prstDash val="solid"/>
            <a:round/>
            <a:headEnd len="sm" w="sm" type="none"/>
            <a:tailEnd len="sm" w="sm" type="none"/>
          </a:ln>
        </p:spPr>
      </p:cxnSp>
      <p:cxnSp>
        <p:nvCxnSpPr>
          <p:cNvPr id="355" name="Google Shape;355;p40"/>
          <p:cNvCxnSpPr/>
          <p:nvPr/>
        </p:nvCxnSpPr>
        <p:spPr>
          <a:xfrm>
            <a:off x="7375938" y="4233657"/>
            <a:ext cx="3108900" cy="0"/>
          </a:xfrm>
          <a:prstGeom prst="straightConnector1">
            <a:avLst/>
          </a:prstGeom>
          <a:noFill/>
          <a:ln cap="flat" cmpd="sng" w="15225">
            <a:solidFill>
              <a:srgbClr val="E3AC9A"/>
            </a:solidFill>
            <a:prstDash val="solid"/>
            <a:round/>
            <a:headEnd len="sm" w="sm" type="none"/>
            <a:tailEnd len="sm" w="sm" type="none"/>
          </a:ln>
        </p:spPr>
      </p:cxnSp>
      <p:pic>
        <p:nvPicPr>
          <p:cNvPr id="356" name="Google Shape;356;p40"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357" name="Google Shape;357;p40"/>
          <p:cNvSpPr txBox="1"/>
          <p:nvPr/>
        </p:nvSpPr>
        <p:spPr>
          <a:xfrm>
            <a:off x="713232" y="5074920"/>
            <a:ext cx="5669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565A32"/>
                </a:solidFill>
                <a:latin typeface="Raleway SemiBold"/>
                <a:ea typeface="Raleway SemiBold"/>
                <a:cs typeface="Raleway SemiBold"/>
                <a:sym typeface="Raleway SemiBold"/>
              </a:rPr>
              <a:t>2–8 PLAYERS  ·  ANY WINE  ·  A SINGLE GLASS IS ENOUGH  ·  18+</a:t>
            </a:r>
            <a:endParaRPr b="0" i="0" spc="0" sz="1400" u="none" cap="none" strike="noStrike">
              <a:solidFill>
                <a:srgbClr val="000000"/>
              </a:solidFill>
              <a:latin typeface="Arial"/>
              <a:ea typeface="Arial"/>
              <a:cs typeface="Arial"/>
              <a:sym typeface="Arial"/>
            </a:endParaRPr>
          </a:p>
        </p:txBody>
      </p:sp>
      <p:sp>
        <p:nvSpPr>
          <p:cNvPr id="358" name="Google Shape;358;p40"/>
          <p:cNvSpPr txBox="1"/>
          <p:nvPr/>
        </p:nvSpPr>
        <p:spPr>
          <a:xfrm>
            <a:off x="713232" y="5376672"/>
            <a:ext cx="56692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565A32"/>
                </a:solidFill>
                <a:latin typeface="Raleway Light"/>
                <a:ea typeface="Raleway Light"/>
                <a:cs typeface="Raleway Light"/>
                <a:sym typeface="Raleway Light"/>
              </a:rPr>
              <a:t>Corks are won for conversation, never for how much anyone drinks.</a:t>
            </a:r>
            <a:endParaRPr b="0" i="0" spc="0" sz="1400" u="none" cap="none" strike="noStrike">
              <a:solidFill>
                <a:srgbClr val="000000"/>
              </a:solidFill>
              <a:latin typeface="Arial"/>
              <a:ea typeface="Arial"/>
              <a:cs typeface="Arial"/>
              <a:sym typeface="Arial"/>
            </a:endParaRPr>
          </a:p>
        </p:txBody>
      </p:sp>
      <p:sp>
        <p:nvSpPr>
          <p:cNvPr id="359" name="Google Shape;359;p40"/>
          <p:cNvSpPr/>
          <p:nvPr/>
        </p:nvSpPr>
        <p:spPr>
          <a:xfrm>
            <a:off x="9262872" y="457200"/>
            <a:ext cx="2377440" cy="384048"/>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EFEAE0"/>
                </a:solidFill>
                <a:latin typeface="Raleway SemiBold"/>
                <a:ea typeface="Raleway SemiBold"/>
                <a:cs typeface="Raleway SemiBold"/>
                <a:sym typeface="Raleway SemiBold"/>
              </a:rPr>
              <a:t>THE GAME</a:t>
            </a:r>
            <a:endParaRPr b="0" i="0" spc="0" sz="1400" u="none" cap="none" strike="noStrike">
              <a:solidFill>
                <a:srgbClr val="000000"/>
              </a:solidFill>
              <a:latin typeface="Arial"/>
              <a:ea typeface="Arial"/>
              <a:cs typeface="Arial"/>
              <a:sym typeface="Arial"/>
            </a:endParaRPr>
          </a:p>
        </p:txBody>
      </p:sp>
      <p:sp>
        <p:nvSpPr>
          <p:cNvPr id="360" name="Google Shape;360;p40"/>
          <p:cNvSpPr/>
          <p:nvPr/>
        </p:nvSpPr>
        <p:spPr>
          <a:xfrm>
            <a:off x="713232" y="1700784"/>
            <a:ext cx="850392" cy="310896"/>
          </a:xfrm>
          <a:prstGeom prst="roundRect">
            <a:avLst>
              <a:gd fmla="val 50000" name="adj"/>
            </a:avLst>
          </a:prstGeom>
          <a:solidFill>
            <a:srgbClr val="FFFFFF"/>
          </a:solidFill>
          <a:ln cap="flat" cmpd="sng" w="22225">
            <a:solidFill>
              <a:srgbClr val="8D84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1" name="Google Shape;361;p40"/>
          <p:cNvSpPr/>
          <p:nvPr/>
        </p:nvSpPr>
        <p:spPr>
          <a:xfrm>
            <a:off x="804672" y="1792224"/>
            <a:ext cx="128016" cy="128016"/>
          </a:xfrm>
          <a:prstGeom prst="ellipse">
            <a:avLst/>
          </a:prstGeom>
          <a:solidFill>
            <a:srgbClr val="8D84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2" name="Google Shape;362;p40"/>
          <p:cNvSpPr txBox="1"/>
          <p:nvPr/>
        </p:nvSpPr>
        <p:spPr>
          <a:xfrm>
            <a:off x="987552" y="1700784"/>
            <a:ext cx="557783"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E5677"/>
                </a:solidFill>
                <a:latin typeface="Raleway SemiBold"/>
                <a:ea typeface="Raleway SemiBold"/>
                <a:cs typeface="Raleway SemiBold"/>
                <a:sym typeface="Raleway SemiBold"/>
              </a:rPr>
              <a:t>Savour</a:t>
            </a:r>
            <a:endParaRPr/>
          </a:p>
        </p:txBody>
      </p:sp>
      <p:sp>
        <p:nvSpPr>
          <p:cNvPr id="363" name="Google Shape;363;p40"/>
          <p:cNvSpPr/>
          <p:nvPr/>
        </p:nvSpPr>
        <p:spPr>
          <a:xfrm>
            <a:off x="1673351" y="1700784"/>
            <a:ext cx="694944" cy="310896"/>
          </a:xfrm>
          <a:prstGeom prst="roundRect">
            <a:avLst>
              <a:gd fmla="val 50000" name="adj"/>
            </a:avLst>
          </a:prstGeom>
          <a:solidFill>
            <a:srgbClr val="FFFFFF"/>
          </a:solidFill>
          <a:ln cap="flat" cmpd="sng" w="2222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4" name="Google Shape;364;p40"/>
          <p:cNvSpPr/>
          <p:nvPr/>
        </p:nvSpPr>
        <p:spPr>
          <a:xfrm>
            <a:off x="1764792" y="1792224"/>
            <a:ext cx="128016" cy="128016"/>
          </a:xfrm>
          <a:prstGeom prst="ellipse">
            <a:avLst/>
          </a:prstGeom>
          <a:solidFill>
            <a:srgbClr val="C89B3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5" name="Google Shape;365;p40"/>
          <p:cNvSpPr txBox="1"/>
          <p:nvPr/>
        </p:nvSpPr>
        <p:spPr>
          <a:xfrm>
            <a:off x="1947672" y="1700784"/>
            <a:ext cx="402336"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7A5A17"/>
                </a:solidFill>
                <a:latin typeface="Raleway SemiBold"/>
                <a:ea typeface="Raleway SemiBold"/>
                <a:cs typeface="Raleway SemiBold"/>
                <a:sym typeface="Raleway SemiBold"/>
              </a:rPr>
              <a:t>Pour</a:t>
            </a:r>
            <a:endParaRPr/>
          </a:p>
        </p:txBody>
      </p:sp>
      <p:sp>
        <p:nvSpPr>
          <p:cNvPr id="366" name="Google Shape;366;p40"/>
          <p:cNvSpPr/>
          <p:nvPr/>
        </p:nvSpPr>
        <p:spPr>
          <a:xfrm>
            <a:off x="2478024" y="1700784"/>
            <a:ext cx="694944" cy="310896"/>
          </a:xfrm>
          <a:prstGeom prst="roundRect">
            <a:avLst>
              <a:gd fmla="val 50000" name="adj"/>
            </a:avLst>
          </a:prstGeom>
          <a:solidFill>
            <a:srgbClr val="FFFFFF"/>
          </a:solidFill>
          <a:ln cap="flat" cmpd="sng" w="22225">
            <a:solidFill>
              <a:srgbClr val="A850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7" name="Google Shape;367;p40"/>
          <p:cNvSpPr/>
          <p:nvPr/>
        </p:nvSpPr>
        <p:spPr>
          <a:xfrm>
            <a:off x="2569464" y="1792224"/>
            <a:ext cx="128016" cy="128016"/>
          </a:xfrm>
          <a:prstGeom prst="ellipse">
            <a:avLst/>
          </a:prstGeom>
          <a:solidFill>
            <a:srgbClr val="A85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8" name="Google Shape;368;p40"/>
          <p:cNvSpPr txBox="1"/>
          <p:nvPr/>
        </p:nvSpPr>
        <p:spPr>
          <a:xfrm>
            <a:off x="2752344" y="1700784"/>
            <a:ext cx="402336"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813528"/>
                </a:solidFill>
                <a:latin typeface="Raleway SemiBold"/>
                <a:ea typeface="Raleway SemiBold"/>
                <a:cs typeface="Raleway SemiBold"/>
                <a:sym typeface="Raleway SemiBold"/>
              </a:rPr>
              <a:t>Wild</a:t>
            </a:r>
            <a:endParaRPr/>
          </a:p>
        </p:txBody>
      </p:sp>
      <p:sp>
        <p:nvSpPr>
          <p:cNvPr id="369" name="Google Shape;369;p40"/>
          <p:cNvSpPr/>
          <p:nvPr/>
        </p:nvSpPr>
        <p:spPr>
          <a:xfrm>
            <a:off x="3282696" y="1700784"/>
            <a:ext cx="1005840" cy="310896"/>
          </a:xfrm>
          <a:prstGeom prst="roundRect">
            <a:avLst>
              <a:gd fmla="val 50000" name="adj"/>
            </a:avLst>
          </a:prstGeom>
          <a:solidFill>
            <a:srgbClr val="FFFFFF"/>
          </a:solidFill>
          <a:ln cap="flat" cmpd="sng" w="22225">
            <a:solidFill>
              <a:srgbClr val="BC6B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0" name="Google Shape;370;p40"/>
          <p:cNvSpPr/>
          <p:nvPr/>
        </p:nvSpPr>
        <p:spPr>
          <a:xfrm>
            <a:off x="3374136" y="1792224"/>
            <a:ext cx="128016" cy="128016"/>
          </a:xfrm>
          <a:prstGeom prst="ellipse">
            <a:avLst/>
          </a:prstGeom>
          <a:solidFill>
            <a:srgbClr val="BC6B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1" name="Google Shape;371;p40"/>
          <p:cNvSpPr txBox="1"/>
          <p:nvPr/>
        </p:nvSpPr>
        <p:spPr>
          <a:xfrm>
            <a:off x="3557015" y="1700784"/>
            <a:ext cx="713232"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9A5234"/>
                </a:solidFill>
                <a:latin typeface="Raleway SemiBold"/>
                <a:ea typeface="Raleway SemiBold"/>
                <a:cs typeface="Raleway SemiBold"/>
                <a:sym typeface="Raleway SemiBold"/>
              </a:rPr>
              <a:t>Mischief</a:t>
            </a:r>
            <a:endParaRPr/>
          </a:p>
        </p:txBody>
      </p:sp>
      <p:sp>
        <p:nvSpPr>
          <p:cNvPr id="372" name="Google Shape;372;p40"/>
          <p:cNvSpPr/>
          <p:nvPr/>
        </p:nvSpPr>
        <p:spPr>
          <a:xfrm>
            <a:off x="4398264" y="1700784"/>
            <a:ext cx="1549908" cy="310896"/>
          </a:xfrm>
          <a:prstGeom prst="roundRect">
            <a:avLst>
              <a:gd fmla="val 50000" name="adj"/>
            </a:avLst>
          </a:prstGeom>
          <a:solidFill>
            <a:srgbClr val="FFFFFF"/>
          </a:solidFill>
          <a:ln cap="flat" cmpd="sng" w="22225">
            <a:solidFill>
              <a:srgbClr val="6E8B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3" name="Google Shape;373;p40"/>
          <p:cNvSpPr/>
          <p:nvPr/>
        </p:nvSpPr>
        <p:spPr>
          <a:xfrm>
            <a:off x="4489704" y="1792224"/>
            <a:ext cx="128016" cy="128016"/>
          </a:xfrm>
          <a:prstGeom prst="ellipse">
            <a:avLst/>
          </a:prstGeom>
          <a:solidFill>
            <a:srgbClr val="6E8B9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4" name="Google Shape;374;p40"/>
          <p:cNvSpPr txBox="1"/>
          <p:nvPr/>
        </p:nvSpPr>
        <p:spPr>
          <a:xfrm>
            <a:off x="4672584" y="1700784"/>
            <a:ext cx="1257300"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4B6166"/>
                </a:solidFill>
                <a:latin typeface="Raleway SemiBold"/>
                <a:ea typeface="Raleway SemiBold"/>
                <a:cs typeface="Raleway SemiBold"/>
                <a:sym typeface="Raleway SemiBold"/>
              </a:rPr>
              <a:t>Secret Missions</a:t>
            </a:r>
            <a:endParaRPr/>
          </a:p>
        </p:txBody>
      </p:sp>
      <p:sp>
        <p:nvSpPr>
          <p:cNvPr id="375" name="Google Shape;375;p40"/>
          <p:cNvSpPr/>
          <p:nvPr/>
        </p:nvSpPr>
        <p:spPr>
          <a:xfrm>
            <a:off x="713232" y="5687568"/>
            <a:ext cx="5669280" cy="45720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800" u="none" cap="none" strike="noStrike">
                <a:solidFill>
                  <a:srgbClr val="EFEAE0"/>
                </a:solidFill>
                <a:latin typeface="Raleway SemiBold"/>
                <a:ea typeface="Raleway SemiBold"/>
                <a:cs typeface="Raleway SemiBold"/>
                <a:sym typeface="Raleway SemiBold"/>
              </a:rPr>
              <a:t>Talk. Laugh. Remember.</a:t>
            </a:r>
            <a:endParaRPr/>
          </a:p>
        </p:txBody>
      </p:sp>
      <p:sp>
        <p:nvSpPr>
          <p:cNvPr id="376" name="Google Shape;376;p4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381" name="Shape 381"/>
        <p:cNvGrpSpPr/>
        <p:nvPr/>
      </p:nvGrpSpPr>
      <p:grpSpPr>
        <a:xfrm>
          <a:off x="0" y="0"/>
          <a:ext cx="0" cy="0"/>
          <a:chOff x="0" y="0"/>
          <a:chExt cx="0" cy="0"/>
        </a:xfrm>
      </p:grpSpPr>
      <p:sp>
        <p:nvSpPr>
          <p:cNvPr id="382" name="Google Shape;382;p41"/>
          <p:cNvSpPr txBox="1"/>
          <p:nvPr/>
        </p:nvSpPr>
        <p:spPr>
          <a:xfrm>
            <a:off x="685800" y="475500"/>
            <a:ext cx="7198500" cy="457200"/>
          </a:xfrm>
          <a:prstGeom prst="rect">
            <a:avLst/>
          </a:prstGeom>
          <a:noFill/>
          <a:ln>
            <a:noFill/>
          </a:ln>
        </p:spPr>
        <p:txBody>
          <a:bodyPr anchorCtr="0" anchor="t" bIns="0" lIns="0" spcFirstLastPara="1" rIns="0" wrap="square" tIns="0">
            <a:normAutofit fontScale="92500" lnSpcReduction="2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3800" u="none" cap="none" strike="noStrike">
                <a:solidFill>
                  <a:srgbClr val="565A32"/>
                </a:solidFill>
                <a:latin typeface="Raleway Light"/>
                <a:ea typeface="Raleway Light"/>
                <a:cs typeface="Raleway Light"/>
                <a:sym typeface="Raleway Light"/>
              </a:rPr>
              <a:t>The connected experience</a:t>
            </a:r>
            <a:endParaRPr b="0" i="0" spc="0" sz="3800" u="none" cap="none" strike="noStrike">
              <a:solidFill>
                <a:schemeClr val="dk1"/>
              </a:solidFill>
              <a:latin typeface="Raleway Light"/>
              <a:ea typeface="Raleway Light"/>
              <a:cs typeface="Raleway Light"/>
              <a:sym typeface="Raleway Light"/>
            </a:endParaRPr>
          </a:p>
        </p:txBody>
      </p:sp>
      <p:sp>
        <p:nvSpPr>
          <p:cNvPr id="383" name="Google Shape;383;p41"/>
          <p:cNvSpPr txBox="1"/>
          <p:nvPr/>
        </p:nvSpPr>
        <p:spPr>
          <a:xfrm>
            <a:off x="685800" y="1042416"/>
            <a:ext cx="8503920" cy="38404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Technology that brings more to the table without becoming the table.</a:t>
            </a:r>
            <a:endParaRPr b="0" i="0" spc="0" sz="2600" u="none" cap="none" strike="noStrike">
              <a:solidFill>
                <a:schemeClr val="dk1"/>
              </a:solidFill>
              <a:latin typeface="Raleway Light"/>
              <a:ea typeface="Raleway Light"/>
              <a:cs typeface="Raleway Light"/>
              <a:sym typeface="Raleway Light"/>
            </a:endParaRPr>
          </a:p>
        </p:txBody>
      </p:sp>
      <p:sp>
        <p:nvSpPr>
          <p:cNvPr id="384" name="Google Shape;384;p41"/>
          <p:cNvSpPr txBox="1"/>
          <p:nvPr/>
        </p:nvSpPr>
        <p:spPr>
          <a:xfrm>
            <a:off x="685800" y="1828800"/>
            <a:ext cx="676656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100" u="none" cap="none" strike="noStrike">
                <a:solidFill>
                  <a:schemeClr val="dk1"/>
                </a:solidFill>
                <a:latin typeface="Raleway Light"/>
                <a:ea typeface="Raleway Light"/>
                <a:cs typeface="Raleway Light"/>
                <a:sym typeface="Raleway Light"/>
              </a:rPr>
              <a:t>The app connects play, wine discovery and memories around one simple experience.</a:t>
            </a:r>
            <a:endParaRPr b="0" i="0" spc="0" sz="3400" u="none" cap="none" strike="noStrike">
              <a:solidFill>
                <a:schemeClr val="dk1"/>
              </a:solidFill>
              <a:latin typeface="Raleway Light"/>
              <a:ea typeface="Raleway Light"/>
              <a:cs typeface="Raleway Light"/>
              <a:sym typeface="Raleway Light"/>
            </a:endParaRPr>
          </a:p>
        </p:txBody>
      </p:sp>
      <p:sp>
        <p:nvSpPr>
          <p:cNvPr id="385" name="Google Shape;385;p41"/>
          <p:cNvSpPr txBox="1"/>
          <p:nvPr/>
        </p:nvSpPr>
        <p:spPr>
          <a:xfrm>
            <a:off x="812688" y="2843800"/>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PLAY</a:t>
            </a:r>
            <a:endParaRPr b="0" i="0" spc="0" sz="1800" u="none" cap="none" strike="noStrike">
              <a:solidFill>
                <a:schemeClr val="dk1"/>
              </a:solidFill>
              <a:latin typeface="Raleway Light"/>
              <a:ea typeface="Raleway Light"/>
              <a:cs typeface="Raleway Light"/>
              <a:sym typeface="Raleway Light"/>
            </a:endParaRPr>
          </a:p>
        </p:txBody>
      </p:sp>
      <p:sp>
        <p:nvSpPr>
          <p:cNvPr id="386" name="Google Shape;386;p41"/>
          <p:cNvSpPr txBox="1"/>
          <p:nvPr/>
        </p:nvSpPr>
        <p:spPr>
          <a:xfrm>
            <a:off x="2688910" y="2807234"/>
            <a:ext cx="5159400" cy="457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565A32"/>
              </a:buClr>
              <a:buSzPts val="1700"/>
              <a:buFont typeface="Raleway Light"/>
              <a:buNone/>
            </a:pPr>
            <a:r>
              <a:rPr b="0" i="0" lang="en-US" spc="0" sz="1700" u="none" cap="none" strike="noStrike">
                <a:solidFill>
                  <a:schemeClr val="dk1"/>
                </a:solidFill>
                <a:latin typeface="Raleway Light"/>
                <a:ea typeface="Raleway Light"/>
                <a:cs typeface="Raleway Light"/>
                <a:sym typeface="Raleway Light"/>
              </a:rPr>
              <a:t>Host a game or join one. The app guides play, keeps things moving and lets everyone take part.</a:t>
            </a:r>
            <a:endParaRPr b="0" i="0" spc="0" sz="2300" u="none" cap="none" strike="noStrike">
              <a:solidFill>
                <a:schemeClr val="dk1"/>
              </a:solidFill>
              <a:latin typeface="Raleway Light"/>
              <a:ea typeface="Raleway Light"/>
              <a:cs typeface="Raleway Light"/>
              <a:sym typeface="Raleway Light"/>
            </a:endParaRPr>
          </a:p>
        </p:txBody>
      </p:sp>
      <p:sp>
        <p:nvSpPr>
          <p:cNvPr id="387" name="Google Shape;387;p41"/>
          <p:cNvSpPr txBox="1"/>
          <p:nvPr/>
        </p:nvSpPr>
        <p:spPr>
          <a:xfrm>
            <a:off x="812688" y="3712475"/>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DISCOVER</a:t>
            </a:r>
            <a:endParaRPr b="0" i="0" spc="0" sz="1800" u="none" cap="none" strike="noStrike">
              <a:solidFill>
                <a:schemeClr val="dk1"/>
              </a:solidFill>
              <a:latin typeface="Raleway Light"/>
              <a:ea typeface="Raleway Light"/>
              <a:cs typeface="Raleway Light"/>
              <a:sym typeface="Raleway Light"/>
            </a:endParaRPr>
          </a:p>
        </p:txBody>
      </p:sp>
      <p:sp>
        <p:nvSpPr>
          <p:cNvPr id="388" name="Google Shape;388;p41"/>
          <p:cNvSpPr txBox="1"/>
          <p:nvPr/>
        </p:nvSpPr>
        <p:spPr>
          <a:xfrm>
            <a:off x="2688910" y="3675910"/>
            <a:ext cx="5159400" cy="457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565A32"/>
              </a:buClr>
              <a:buSzPts val="1850"/>
              <a:buFont typeface="Raleway Light"/>
              <a:buNone/>
            </a:pPr>
            <a:r>
              <a:rPr b="0" i="0" lang="en-US" spc="0" sz="1700" u="none" cap="none" strike="noStrike">
                <a:solidFill>
                  <a:schemeClr val="dk1"/>
                </a:solidFill>
                <a:latin typeface="Raleway Light"/>
                <a:ea typeface="Raleway Light"/>
                <a:cs typeface="Raleway Light"/>
                <a:sym typeface="Raleway Light"/>
              </a:rPr>
              <a:t>Photograph a label to add a wine. Plain-English information and Wine 101 are there when curiosity appears.</a:t>
            </a:r>
            <a:endParaRPr b="0" i="0" spc="0" sz="2450" u="none" cap="none" strike="noStrike">
              <a:solidFill>
                <a:schemeClr val="dk1"/>
              </a:solidFill>
              <a:latin typeface="Raleway Light"/>
              <a:ea typeface="Raleway Light"/>
              <a:cs typeface="Raleway Light"/>
              <a:sym typeface="Raleway Light"/>
            </a:endParaRPr>
          </a:p>
        </p:txBody>
      </p:sp>
      <p:sp>
        <p:nvSpPr>
          <p:cNvPr id="389" name="Google Shape;389;p41"/>
          <p:cNvSpPr txBox="1"/>
          <p:nvPr/>
        </p:nvSpPr>
        <p:spPr>
          <a:xfrm>
            <a:off x="812688" y="4581151"/>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REMEMBER</a:t>
            </a:r>
            <a:endParaRPr b="0" i="0" spc="0" sz="1800" u="none" cap="none" strike="noStrike">
              <a:solidFill>
                <a:schemeClr val="dk1"/>
              </a:solidFill>
              <a:latin typeface="Raleway Light"/>
              <a:ea typeface="Raleway Light"/>
              <a:cs typeface="Raleway Light"/>
              <a:sym typeface="Raleway Light"/>
            </a:endParaRPr>
          </a:p>
        </p:txBody>
      </p:sp>
      <p:sp>
        <p:nvSpPr>
          <p:cNvPr id="390" name="Google Shape;390;p41"/>
          <p:cNvSpPr txBox="1"/>
          <p:nvPr/>
        </p:nvSpPr>
        <p:spPr>
          <a:xfrm>
            <a:off x="2688910" y="4544586"/>
            <a:ext cx="5159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000"/>
              <a:buFont typeface="Raleway Light"/>
              <a:buNone/>
            </a:pPr>
            <a:r>
              <a:rPr b="0" i="0" lang="en-US" spc="0" sz="1700" u="none" cap="none" strike="noStrike">
                <a:solidFill>
                  <a:schemeClr val="dk1"/>
                </a:solidFill>
                <a:latin typeface="Raleway Light"/>
                <a:ea typeface="Raleway Light"/>
                <a:cs typeface="Raleway Light"/>
                <a:sym typeface="Raleway Light"/>
              </a:rPr>
              <a:t>Keep the wines, reactions and moments you want to return to in My wines, on any device.</a:t>
            </a:r>
            <a:endParaRPr b="0" i="0" spc="0" sz="2618" u="none" cap="none" strike="noStrike">
              <a:solidFill>
                <a:schemeClr val="dk1"/>
              </a:solidFill>
              <a:latin typeface="Raleway Light"/>
              <a:ea typeface="Raleway Light"/>
              <a:cs typeface="Raleway Light"/>
              <a:sym typeface="Raleway Light"/>
            </a:endParaRPr>
          </a:p>
        </p:txBody>
      </p:sp>
      <p:sp>
        <p:nvSpPr>
          <p:cNvPr id="391" name="Google Shape;391;p41"/>
          <p:cNvSpPr txBox="1"/>
          <p:nvPr/>
        </p:nvSpPr>
        <p:spPr>
          <a:xfrm>
            <a:off x="8478125" y="1828800"/>
            <a:ext cx="2586000" cy="1253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705"/>
              <a:buFont typeface="Raleway Light"/>
              <a:buNone/>
            </a:pPr>
            <a:r>
              <a:rPr b="0" i="0" lang="en-US" spc="0" sz="2800" u="none" cap="none" strike="noStrike">
                <a:solidFill>
                  <a:srgbClr val="565A32"/>
                </a:solidFill>
                <a:latin typeface="Raleway Light"/>
                <a:ea typeface="Raleway Light"/>
                <a:cs typeface="Raleway Light"/>
                <a:sym typeface="Raleway Light"/>
              </a:rPr>
              <a:t>“The app is there to support the table. It never becomes the table.”</a:t>
            </a:r>
            <a:endParaRPr b="0" i="0" spc="0" sz="2800" u="none" cap="none" strike="noStrike">
              <a:solidFill>
                <a:schemeClr val="dk1"/>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565A32"/>
              </a:buClr>
              <a:buSzPts val="1705"/>
              <a:buFont typeface="Raleway Light"/>
              <a:buNone/>
            </a:pPr>
            <a:r>
              <a:t/>
            </a:r>
            <a:endParaRPr b="0" i="0" spc="0" sz="28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565A32"/>
              </a:buClr>
              <a:buSzPts val="1705"/>
              <a:buFont typeface="Raleway Light"/>
              <a:buNone/>
            </a:pPr>
            <a:r>
              <a:t/>
            </a:r>
            <a:endParaRPr b="0" i="0" spc="0" sz="28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000000"/>
              </a:buClr>
              <a:buSzPts val="605"/>
              <a:buFont typeface="Arial"/>
              <a:buNone/>
            </a:pPr>
            <a:r>
              <a:t/>
            </a:r>
            <a:endParaRPr b="0" i="0" spc="0" sz="2800" u="none" cap="none" strike="noStrike">
              <a:solidFill>
                <a:schemeClr val="dk1"/>
              </a:solidFill>
              <a:latin typeface="Raleway Light"/>
              <a:ea typeface="Raleway Light"/>
              <a:cs typeface="Raleway Light"/>
              <a:sym typeface="Raleway Light"/>
            </a:endParaRPr>
          </a:p>
        </p:txBody>
      </p:sp>
      <p:sp>
        <p:nvSpPr>
          <p:cNvPr id="392" name="Google Shape;392;p41"/>
          <p:cNvSpPr txBox="1"/>
          <p:nvPr/>
        </p:nvSpPr>
        <p:spPr>
          <a:xfrm>
            <a:off x="685800" y="6355080"/>
            <a:ext cx="4114800" cy="237744"/>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393" name="Google Shape;393;p41"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394" name="Google Shape;394;p41"/>
          <p:cNvSpPr txBox="1"/>
          <p:nvPr/>
        </p:nvSpPr>
        <p:spPr>
          <a:xfrm>
            <a:off x="812688" y="5341475"/>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ON YOUR OWN</a:t>
            </a:r>
            <a:endParaRPr b="0" i="0" spc="0" sz="1800" u="none" cap="none" strike="noStrike">
              <a:solidFill>
                <a:schemeClr val="dk1"/>
              </a:solidFill>
              <a:latin typeface="Raleway Light"/>
              <a:ea typeface="Raleway Light"/>
              <a:cs typeface="Raleway Light"/>
              <a:sym typeface="Raleway Light"/>
            </a:endParaRPr>
          </a:p>
        </p:txBody>
      </p:sp>
      <p:sp>
        <p:nvSpPr>
          <p:cNvPr id="395" name="Google Shape;395;p41"/>
          <p:cNvSpPr txBox="1"/>
          <p:nvPr/>
        </p:nvSpPr>
        <p:spPr>
          <a:xfrm>
            <a:off x="2688910" y="5304911"/>
            <a:ext cx="5159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000"/>
              <a:buFont typeface="Raleway Light"/>
              <a:buNone/>
            </a:pPr>
            <a:r>
              <a:rPr b="0" i="0" lang="en-US" spc="0" sz="1700" u="none" cap="none" strike="noStrike">
                <a:solidFill>
                  <a:schemeClr val="dk1"/>
                </a:solidFill>
                <a:latin typeface="Raleway Light"/>
                <a:ea typeface="Raleway Light"/>
                <a:cs typeface="Raleway Light"/>
                <a:sym typeface="Raleway Light"/>
              </a:rPr>
              <a:t>Discovery doesn’t stop when the table clears. With Just tasting, Hosts can explore wines on their own.</a:t>
            </a:r>
            <a:endParaRPr b="0" i="0" spc="0" sz="2618" u="none" cap="none" strike="noStrike">
              <a:solidFill>
                <a:schemeClr val="dk1"/>
              </a:solidFill>
              <a:latin typeface="Raleway Light"/>
              <a:ea typeface="Raleway Light"/>
              <a:cs typeface="Raleway Light"/>
              <a:sym typeface="Raleway Light"/>
            </a:endParaRPr>
          </a:p>
        </p:txBody>
      </p:sp>
      <p:sp>
        <p:nvSpPr>
          <p:cNvPr id="396" name="Google Shape;396;p41"/>
          <p:cNvSpPr txBox="1"/>
          <p:nvPr/>
        </p:nvSpPr>
        <p:spPr>
          <a:xfrm>
            <a:off x="8476488" y="4526280"/>
            <a:ext cx="26517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565A32"/>
                </a:solidFill>
                <a:latin typeface="Raleway SemiBold"/>
                <a:ea typeface="Raleway SemiBold"/>
                <a:cs typeface="Raleway SemiBold"/>
                <a:sym typeface="Raleway SemiBold"/>
              </a:rPr>
              <a:t>18+ AGE GATE ON ENTRY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8B8B5C"/>
                </a:solidFill>
                <a:latin typeface="Raleway SemiBold"/>
                <a:ea typeface="Raleway SemiBold"/>
                <a:cs typeface="Raleway SemiBold"/>
                <a:sym typeface="Raleway SemiBold"/>
              </a:rPr>
              <a:t>IN DEVELOPMENT</a:t>
            </a:r>
            <a:endParaRPr b="0" i="0" spc="0" sz="1400" u="none" cap="none" strike="noStrike">
              <a:solidFill>
                <a:srgbClr val="000000"/>
              </a:solidFill>
              <a:latin typeface="Arial"/>
              <a:ea typeface="Arial"/>
              <a:cs typeface="Arial"/>
              <a:sym typeface="Arial"/>
            </a:endParaRPr>
          </a:p>
        </p:txBody>
      </p:sp>
      <p:sp>
        <p:nvSpPr>
          <p:cNvPr id="397" name="Google Shape;397;p41"/>
          <p:cNvSpPr/>
          <p:nvPr/>
        </p:nvSpPr>
        <p:spPr>
          <a:xfrm>
            <a:off x="9262872" y="457200"/>
            <a:ext cx="2377440" cy="38404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sp>
        <p:nvSpPr>
          <p:cNvPr id="398" name="Google Shape;398;p4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2"/>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Two ways to work with us</a:t>
            </a:r>
            <a:endParaRPr sz="3600"/>
          </a:p>
        </p:txBody>
      </p:sp>
      <p:sp>
        <p:nvSpPr>
          <p:cNvPr id="405" name="Google Shape;405;p42"/>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Partner Mode for your own tastings. Event Mode for combined events.</a:t>
            </a:r>
            <a:endParaRPr sz="1800"/>
          </a:p>
        </p:txBody>
      </p:sp>
      <p:sp>
        <p:nvSpPr>
          <p:cNvPr id="406" name="Google Shape;406;p42"/>
          <p:cNvSpPr/>
          <p:nvPr/>
        </p:nvSpPr>
        <p:spPr>
          <a:xfrm>
            <a:off x="548640" y="1783080"/>
            <a:ext cx="5410048" cy="3383280"/>
          </a:xfrm>
          <a:prstGeom prst="roundRect">
            <a:avLst>
              <a:gd fmla="val 3243"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7" name="Google Shape;407;p42"/>
          <p:cNvSpPr/>
          <p:nvPr/>
        </p:nvSpPr>
        <p:spPr>
          <a:xfrm>
            <a:off x="868680" y="20574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MODE</a:t>
            </a:r>
            <a:endParaRPr b="0" i="0" spc="0" sz="1400" u="none" cap="none" strike="noStrike">
              <a:solidFill>
                <a:schemeClr val="dk1"/>
              </a:solidFill>
              <a:latin typeface="Raleway Light"/>
              <a:ea typeface="Raleway Light"/>
              <a:cs typeface="Raleway Light"/>
              <a:sym typeface="Raleway Light"/>
            </a:endParaRPr>
          </a:p>
        </p:txBody>
      </p:sp>
      <p:sp>
        <p:nvSpPr>
          <p:cNvPr id="408" name="Google Shape;408;p42"/>
          <p:cNvSpPr txBox="1"/>
          <p:nvPr/>
        </p:nvSpPr>
        <p:spPr>
          <a:xfrm>
            <a:off x="868680" y="2651760"/>
            <a:ext cx="4769968" cy="233172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Hosted by you: a vineyard, bar, restaurant, retailer or wine club.</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Your own tasting, around your wines.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Your guests, your questions, your story.</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Insight on your tasting and your wines.</a:t>
            </a:r>
            <a:endParaRPr b="0" i="0" spc="0" sz="1600" u="none" cap="none" strike="noStrike">
              <a:solidFill>
                <a:schemeClr val="dk1"/>
              </a:solidFill>
              <a:latin typeface="Raleway Light"/>
              <a:ea typeface="Raleway Light"/>
              <a:cs typeface="Raleway Light"/>
              <a:sym typeface="Raleway Light"/>
            </a:endParaRPr>
          </a:p>
        </p:txBody>
      </p:sp>
      <p:sp>
        <p:nvSpPr>
          <p:cNvPr id="409" name="Google Shape;409;p42"/>
          <p:cNvSpPr/>
          <p:nvPr/>
        </p:nvSpPr>
        <p:spPr>
          <a:xfrm>
            <a:off x="6233008" y="1783080"/>
            <a:ext cx="5410048" cy="3383280"/>
          </a:xfrm>
          <a:prstGeom prst="roundRect">
            <a:avLst>
              <a:gd fmla="val 3243"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0" name="Google Shape;410;p42"/>
          <p:cNvSpPr/>
          <p:nvPr/>
        </p:nvSpPr>
        <p:spPr>
          <a:xfrm>
            <a:off x="6553048" y="20574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411" name="Google Shape;411;p42"/>
          <p:cNvSpPr txBox="1"/>
          <p:nvPr/>
        </p:nvSpPr>
        <p:spPr>
          <a:xfrm>
            <a:off x="6553048" y="2651760"/>
            <a:ext cx="4769968" cy="233172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Run by an organiser: a festival, tasting event or regional wine body.</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Many producers at one combined event.</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Visitors move between tastings at their own pace.</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Insight for the organiser across the event.</a:t>
            </a:r>
            <a:endParaRPr b="0" i="0" spc="0" sz="1600" u="none" cap="none" strike="noStrike">
              <a:solidFill>
                <a:schemeClr val="dk1"/>
              </a:solidFill>
              <a:latin typeface="Raleway Light"/>
              <a:ea typeface="Raleway Light"/>
              <a:cs typeface="Raleway Light"/>
              <a:sym typeface="Raleway Light"/>
            </a:endParaRPr>
          </a:p>
        </p:txBody>
      </p:sp>
      <p:sp>
        <p:nvSpPr>
          <p:cNvPr id="412" name="Google Shape;412;p42"/>
          <p:cNvSpPr txBox="1"/>
          <p:nvPr/>
        </p:nvSpPr>
        <p:spPr>
          <a:xfrm>
            <a:off x="548640" y="5349240"/>
            <a:ext cx="11094415" cy="54864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DECIDE  </a:t>
            </a:r>
            <a:r>
              <a:rPr b="0" i="0" lang="en-US" spc="0" sz="1100" u="none" cap="none" strike="noStrike">
                <a:solidFill>
                  <a:schemeClr val="dk1"/>
                </a:solidFill>
                <a:latin typeface="Raleway Light"/>
                <a:ea typeface="Raleway Light"/>
                <a:cs typeface="Raleway Light"/>
                <a:sym typeface="Raleway Light"/>
              </a:rPr>
              <a:t>Detailed feature differences between Partner Mode and Event Mode.</a:t>
            </a:r>
            <a:endParaRPr b="0" i="0" spc="0" sz="1100" u="none" cap="none" strike="noStrike">
              <a:solidFill>
                <a:schemeClr val="dk1"/>
              </a:solidFill>
              <a:latin typeface="Raleway Light"/>
              <a:ea typeface="Raleway Light"/>
              <a:cs typeface="Raleway Light"/>
              <a:sym typeface="Raleway Light"/>
            </a:endParaRPr>
          </a:p>
        </p:txBody>
      </p:sp>
      <p:sp>
        <p:nvSpPr>
          <p:cNvPr id="413" name="Google Shape;413;p42"/>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414" name="Google Shape;414;p42"/>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PARTNER + EVENT</a:t>
            </a:r>
            <a:endParaRPr b="0" i="0" spc="0" sz="1400" u="none" cap="none" strike="noStrike">
              <a:solidFill>
                <a:srgbClr val="000000"/>
              </a:solidFill>
              <a:latin typeface="Arial"/>
              <a:ea typeface="Arial"/>
              <a:cs typeface="Arial"/>
              <a:sym typeface="Arial"/>
            </a:endParaRPr>
          </a:p>
        </p:txBody>
      </p:sp>
      <p:sp>
        <p:nvSpPr>
          <p:cNvPr id="415" name="Google Shape;415;p4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420" name="Shape 420"/>
        <p:cNvGrpSpPr/>
        <p:nvPr/>
      </p:nvGrpSpPr>
      <p:grpSpPr>
        <a:xfrm>
          <a:off x="0" y="0"/>
          <a:ext cx="0" cy="0"/>
          <a:chOff x="0" y="0"/>
          <a:chExt cx="0" cy="0"/>
        </a:xfrm>
      </p:grpSpPr>
      <p:sp>
        <p:nvSpPr>
          <p:cNvPr id="421" name="Google Shape;421;p43"/>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422" name="Google Shape;422;p43"/>
          <p:cNvSpPr txBox="1"/>
          <p:nvPr/>
        </p:nvSpPr>
        <p:spPr>
          <a:xfrm>
            <a:off x="685800" y="475498"/>
            <a:ext cx="7339800" cy="384000"/>
          </a:xfrm>
          <a:prstGeom prst="rect">
            <a:avLst/>
          </a:prstGeom>
          <a:noFill/>
          <a:ln>
            <a:noFill/>
          </a:ln>
        </p:spPr>
        <p:txBody>
          <a:bodyPr anchorCtr="0" anchor="t" bIns="0" lIns="0" spcFirstLastPara="1" rIns="0" wrap="square" tIns="0">
            <a:normAutofit fontScale="77500" lnSpcReduction="2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3800" u="none" cap="none" strike="noStrike">
                <a:solidFill>
                  <a:srgbClr val="565A32"/>
                </a:solidFill>
                <a:latin typeface="Raleway Light"/>
                <a:ea typeface="Raleway Light"/>
                <a:cs typeface="Raleway Light"/>
                <a:sym typeface="Raleway Light"/>
              </a:rPr>
              <a:t>What Partner Mode adds</a:t>
            </a:r>
            <a:endParaRPr b="0" i="0" spc="0" sz="3800" u="none" cap="none" strike="noStrike">
              <a:solidFill>
                <a:schemeClr val="dk1"/>
              </a:solidFill>
              <a:latin typeface="Raleway Light"/>
              <a:ea typeface="Raleway Light"/>
              <a:cs typeface="Raleway Light"/>
              <a:sym typeface="Raleway Light"/>
            </a:endParaRPr>
          </a:p>
        </p:txBody>
      </p:sp>
      <p:sp>
        <p:nvSpPr>
          <p:cNvPr id="423" name="Google Shape;423;p43"/>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What we add isn’t content. It’s connection.</a:t>
            </a:r>
            <a:endParaRPr b="0" i="0" spc="0" sz="1900" u="none" cap="none" strike="noStrike">
              <a:solidFill>
                <a:schemeClr val="dk1"/>
              </a:solidFill>
              <a:latin typeface="Raleway Light"/>
              <a:ea typeface="Raleway Light"/>
              <a:cs typeface="Raleway Light"/>
              <a:sym typeface="Raleway Light"/>
            </a:endParaRPr>
          </a:p>
        </p:txBody>
      </p:sp>
      <p:sp>
        <p:nvSpPr>
          <p:cNvPr id="424" name="Google Shape;424;p43"/>
          <p:cNvSpPr txBox="1"/>
          <p:nvPr/>
        </p:nvSpPr>
        <p:spPr>
          <a:xfrm>
            <a:off x="685800" y="1686349"/>
            <a:ext cx="106578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2000" u="none" cap="none" strike="noStrike">
                <a:solidFill>
                  <a:srgbClr val="565A32"/>
                </a:solidFill>
                <a:latin typeface="Raleway Light"/>
                <a:ea typeface="Raleway Light"/>
                <a:cs typeface="Raleway Light"/>
                <a:sym typeface="Raleway Light"/>
              </a:rPr>
              <a:t>Wine businesses already have stories, tasting notes, expertise and product knowledge. We add the social layer.</a:t>
            </a:r>
            <a:endParaRPr b="0" i="0" spc="0" sz="2000" u="none" cap="none" strike="noStrike">
              <a:solidFill>
                <a:srgbClr val="565A32"/>
              </a:solidFill>
              <a:latin typeface="Raleway Light"/>
              <a:ea typeface="Raleway Light"/>
              <a:cs typeface="Raleway Light"/>
              <a:sym typeface="Raleway Light"/>
            </a:endParaRPr>
          </a:p>
        </p:txBody>
      </p:sp>
      <p:sp>
        <p:nvSpPr>
          <p:cNvPr id="425" name="Google Shape;425;p43"/>
          <p:cNvSpPr txBox="1"/>
          <p:nvPr/>
        </p:nvSpPr>
        <p:spPr>
          <a:xfrm>
            <a:off x="694020" y="2468224"/>
            <a:ext cx="10362000" cy="256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BETWEEN PEOPLE</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Turn tasting into conversation and shared discovery.</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WITH THE WINE</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People taste, talk and choose, so your wines become part of the occasion.</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BEYOND THE MOMENT</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Wines and memories saved, so the relationship carries on afterwards.</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USEFUL INSIGHT</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Understand how people really respond, in the words they naturally use. Anonymised, and only with consent.</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426" name="Google Shape;426;p43"/>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427" name="Google Shape;427;p43"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428" name="Google Shape;428;p43"/>
          <p:cNvSpPr txBox="1"/>
          <p:nvPr/>
        </p:nvSpPr>
        <p:spPr>
          <a:xfrm>
            <a:off x="2037675" y="5170875"/>
            <a:ext cx="7673400" cy="948600"/>
          </a:xfrm>
          <a:prstGeom prst="rect">
            <a:avLst/>
          </a:prstGeom>
          <a:solidFill>
            <a:srgbClr val="565A32"/>
          </a:solidFill>
          <a:ln>
            <a:noFill/>
          </a:ln>
        </p:spPr>
        <p:txBody>
          <a:bodyPr anchorCtr="0" anchor="t" bIns="91425" lIns="91425" spcFirstLastPara="1" rIns="91425" wrap="square" tIns="91425">
            <a:noAutofit/>
          </a:bodyPr>
          <a:lstStyle/>
          <a:p>
            <a:pPr indent="0" lvl="0" marL="0" marR="0" rtl="0" algn="ctr">
              <a:lnSpc>
                <a:spcPct val="115000"/>
              </a:lnSpc>
              <a:spcBef>
                <a:spcPts val="1200"/>
              </a:spcBef>
              <a:spcAft>
                <a:spcPts val="0"/>
              </a:spcAft>
              <a:buClr>
                <a:schemeClr val="dk1"/>
              </a:buClr>
              <a:buSzPts val="1400"/>
              <a:buFont typeface="Arial"/>
              <a:buNone/>
            </a:pPr>
            <a:r>
              <a:rPr b="1" i="0" lang="en-US" spc="0" sz="1600" u="none" cap="none" strike="noStrike">
                <a:solidFill>
                  <a:schemeClr val="lt1"/>
                </a:solidFill>
                <a:latin typeface="Raleway"/>
                <a:ea typeface="Raleway"/>
                <a:cs typeface="Raleway"/>
                <a:sym typeface="Raleway"/>
              </a:rPr>
              <a:t>Conversation creates connection. Connection creates insight.</a:t>
            </a:r>
            <a:br>
              <a:rPr b="1" i="0" lang="en-US" spc="0" sz="1600" u="none" cap="none" strike="noStrike">
                <a:solidFill>
                  <a:schemeClr val="lt1"/>
                </a:solidFill>
                <a:latin typeface="Raleway"/>
                <a:ea typeface="Raleway"/>
                <a:cs typeface="Raleway"/>
                <a:sym typeface="Raleway"/>
              </a:rPr>
            </a:br>
            <a:r>
              <a:rPr b="0" i="0" lang="en-US" spc="0" sz="1600" u="none" cap="none" strike="noStrike">
                <a:solidFill>
                  <a:schemeClr val="lt1"/>
                </a:solidFill>
                <a:latin typeface="Raleway Light"/>
                <a:ea typeface="Raleway Light"/>
                <a:cs typeface="Raleway Light"/>
                <a:sym typeface="Raleway Light"/>
              </a:rPr>
              <a:t>Partner Mode is one host’s own tasting. Combined events with many producers use Event Mode.</a:t>
            </a:r>
            <a:endParaRPr b="0" i="0" spc="0" sz="1600" u="none" cap="none" strike="noStrike">
              <a:solidFill>
                <a:schemeClr val="lt1"/>
              </a:solidFill>
              <a:latin typeface="Raleway Light"/>
              <a:ea typeface="Raleway Light"/>
              <a:cs typeface="Raleway Light"/>
              <a:sym typeface="Raleway Light"/>
            </a:endParaRPr>
          </a:p>
          <a:p>
            <a:pPr indent="0" lvl="0" marL="0" marR="0" rtl="0" algn="ctr">
              <a:lnSpc>
                <a:spcPct val="100000"/>
              </a:lnSpc>
              <a:spcBef>
                <a:spcPts val="1200"/>
              </a:spcBef>
              <a:spcAft>
                <a:spcPts val="0"/>
              </a:spcAft>
              <a:buClr>
                <a:schemeClr val="dk1"/>
              </a:buClr>
              <a:buSzPts val="1400"/>
              <a:buFont typeface="Arial"/>
              <a:buNone/>
            </a:pPr>
            <a:r>
              <a:t/>
            </a:r>
            <a:endParaRPr b="0" i="0" spc="0" sz="1600" u="none" cap="none" strike="noStrike">
              <a:solidFill>
                <a:schemeClr val="lt1"/>
              </a:solidFill>
              <a:highlight>
                <a:srgbClr val="EFEAE0"/>
              </a:highlight>
              <a:latin typeface="Raleway Light"/>
              <a:ea typeface="Raleway Light"/>
              <a:cs typeface="Raleway Light"/>
              <a:sym typeface="Raleway Light"/>
            </a:endParaRPr>
          </a:p>
          <a:p>
            <a:pPr indent="0" lvl="0" marL="0" marR="0" rtl="0" algn="ctr">
              <a:lnSpc>
                <a:spcPct val="100000"/>
              </a:lnSpc>
              <a:spcBef>
                <a:spcPts val="0"/>
              </a:spcBef>
              <a:spcAft>
                <a:spcPts val="0"/>
              </a:spcAft>
              <a:buClr>
                <a:srgbClr val="000000"/>
              </a:buClr>
              <a:buSzPts val="1600"/>
              <a:buFont typeface="Arial"/>
              <a:buNone/>
            </a:pPr>
            <a:r>
              <a:t/>
            </a:r>
            <a:endParaRPr b="0" i="0" spc="0" sz="1600" u="none" cap="none" strike="noStrike">
              <a:solidFill>
                <a:schemeClr val="lt1"/>
              </a:solidFill>
              <a:highlight>
                <a:srgbClr val="EFEAE0"/>
              </a:highlight>
              <a:latin typeface="Raleway Light"/>
              <a:ea typeface="Raleway Light"/>
              <a:cs typeface="Raleway Light"/>
              <a:sym typeface="Raleway Light"/>
            </a:endParaRPr>
          </a:p>
        </p:txBody>
      </p:sp>
      <p:sp>
        <p:nvSpPr>
          <p:cNvPr id="429" name="Google Shape;429;p43"/>
          <p:cNvSpPr/>
          <p:nvPr/>
        </p:nvSpPr>
        <p:spPr>
          <a:xfrm>
            <a:off x="8988552" y="457200"/>
            <a:ext cx="265176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PARTNER MODE</a:t>
            </a:r>
            <a:endParaRPr b="0" i="0" spc="0" sz="1400" u="none" cap="none" strike="noStrike">
              <a:solidFill>
                <a:srgbClr val="000000"/>
              </a:solidFill>
              <a:latin typeface="Arial"/>
              <a:ea typeface="Arial"/>
              <a:cs typeface="Arial"/>
              <a:sym typeface="Arial"/>
            </a:endParaRPr>
          </a:p>
        </p:txBody>
      </p:sp>
      <p:sp>
        <p:nvSpPr>
          <p:cNvPr id="430" name="Google Shape;430;p43"/>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4"/>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How a Partner Mode tasting works</a:t>
            </a:r>
            <a:endParaRPr sz="3600"/>
          </a:p>
        </p:txBody>
      </p:sp>
      <p:sp>
        <p:nvSpPr>
          <p:cNvPr id="437" name="Google Shape;437;p44"/>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You host. We add the conversation.</a:t>
            </a:r>
            <a:endParaRPr sz="1800"/>
          </a:p>
        </p:txBody>
      </p:sp>
      <p:sp>
        <p:nvSpPr>
          <p:cNvPr id="438" name="Google Shape;438;p44"/>
          <p:cNvSpPr/>
          <p:nvPr/>
        </p:nvSpPr>
        <p:spPr>
          <a:xfrm>
            <a:off x="8991295" y="4572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MODE</a:t>
            </a:r>
            <a:endParaRPr b="0" i="0" spc="0" sz="1400" u="none" cap="none" strike="noStrike">
              <a:solidFill>
                <a:schemeClr val="dk1"/>
              </a:solidFill>
              <a:latin typeface="Raleway Light"/>
              <a:ea typeface="Raleway Light"/>
              <a:cs typeface="Raleway Light"/>
              <a:sym typeface="Raleway Light"/>
            </a:endParaRPr>
          </a:p>
        </p:txBody>
      </p:sp>
      <p:sp>
        <p:nvSpPr>
          <p:cNvPr id="439" name="Google Shape;439;p44"/>
          <p:cNvSpPr/>
          <p:nvPr/>
        </p:nvSpPr>
        <p:spPr>
          <a:xfrm>
            <a:off x="548640"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Join</a:t>
            </a:r>
            <a:endParaRPr b="0" i="0" spc="0" sz="1500" u="none" cap="none" strike="noStrike">
              <a:solidFill>
                <a:schemeClr val="dk1"/>
              </a:solidFill>
              <a:latin typeface="Raleway Light"/>
              <a:ea typeface="Raleway Light"/>
              <a:cs typeface="Raleway Light"/>
              <a:sym typeface="Raleway Light"/>
            </a:endParaRPr>
          </a:p>
        </p:txBody>
      </p:sp>
      <p:sp>
        <p:nvSpPr>
          <p:cNvPr id="440" name="Google Shape;440;p44"/>
          <p:cNvSpPr/>
          <p:nvPr/>
        </p:nvSpPr>
        <p:spPr>
          <a:xfrm>
            <a:off x="2575499"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1" name="Google Shape;441;p44"/>
          <p:cNvSpPr/>
          <p:nvPr/>
        </p:nvSpPr>
        <p:spPr>
          <a:xfrm>
            <a:off x="2831531"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Taste and talk</a:t>
            </a:r>
            <a:endParaRPr b="0" i="0" spc="0" sz="1500" u="none" cap="none" strike="noStrike">
              <a:solidFill>
                <a:schemeClr val="dk1"/>
              </a:solidFill>
              <a:latin typeface="Raleway Light"/>
              <a:ea typeface="Raleway Light"/>
              <a:cs typeface="Raleway Light"/>
              <a:sym typeface="Raleway Light"/>
            </a:endParaRPr>
          </a:p>
        </p:txBody>
      </p:sp>
      <p:sp>
        <p:nvSpPr>
          <p:cNvPr id="442" name="Google Shape;442;p44"/>
          <p:cNvSpPr/>
          <p:nvPr/>
        </p:nvSpPr>
        <p:spPr>
          <a:xfrm>
            <a:off x="4858390"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3" name="Google Shape;443;p44"/>
          <p:cNvSpPr/>
          <p:nvPr/>
        </p:nvSpPr>
        <p:spPr>
          <a:xfrm>
            <a:off x="5114422"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Vote and discover</a:t>
            </a:r>
            <a:endParaRPr b="0" i="0" spc="0" sz="1500" u="none" cap="none" strike="noStrike">
              <a:solidFill>
                <a:schemeClr val="dk1"/>
              </a:solidFill>
              <a:latin typeface="Raleway Light"/>
              <a:ea typeface="Raleway Light"/>
              <a:cs typeface="Raleway Light"/>
              <a:sym typeface="Raleway Light"/>
            </a:endParaRPr>
          </a:p>
        </p:txBody>
      </p:sp>
      <p:sp>
        <p:nvSpPr>
          <p:cNvPr id="444" name="Google Shape;444;p44"/>
          <p:cNvSpPr/>
          <p:nvPr/>
        </p:nvSpPr>
        <p:spPr>
          <a:xfrm>
            <a:off x="7141281"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5" name="Google Shape;445;p44"/>
          <p:cNvSpPr/>
          <p:nvPr/>
        </p:nvSpPr>
        <p:spPr>
          <a:xfrm>
            <a:off x="7397313"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Note and favourite</a:t>
            </a:r>
            <a:endParaRPr b="0" i="0" spc="0" sz="1500" u="none" cap="none" strike="noStrike">
              <a:solidFill>
                <a:schemeClr val="dk1"/>
              </a:solidFill>
              <a:latin typeface="Raleway Light"/>
              <a:ea typeface="Raleway Light"/>
              <a:cs typeface="Raleway Light"/>
              <a:sym typeface="Raleway Light"/>
            </a:endParaRPr>
          </a:p>
        </p:txBody>
      </p:sp>
      <p:sp>
        <p:nvSpPr>
          <p:cNvPr id="446" name="Google Shape;446;p44"/>
          <p:cNvSpPr/>
          <p:nvPr/>
        </p:nvSpPr>
        <p:spPr>
          <a:xfrm>
            <a:off x="9424172"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7" name="Google Shape;447;p44"/>
          <p:cNvSpPr/>
          <p:nvPr/>
        </p:nvSpPr>
        <p:spPr>
          <a:xfrm>
            <a:off x="9680204"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Share and keep</a:t>
            </a:r>
            <a:endParaRPr b="0" i="0" spc="0" sz="1500" u="none" cap="none" strike="noStrike">
              <a:solidFill>
                <a:schemeClr val="dk1"/>
              </a:solidFill>
              <a:latin typeface="Raleway Light"/>
              <a:ea typeface="Raleway Light"/>
              <a:cs typeface="Raleway Light"/>
              <a:sym typeface="Raleway Light"/>
            </a:endParaRPr>
          </a:p>
        </p:txBody>
      </p:sp>
      <p:sp>
        <p:nvSpPr>
          <p:cNvPr id="448" name="Google Shape;448;p44"/>
          <p:cNvSpPr/>
          <p:nvPr/>
        </p:nvSpPr>
        <p:spPr>
          <a:xfrm>
            <a:off x="548640"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9" name="Google Shape;449;p44"/>
          <p:cNvSpPr txBox="1"/>
          <p:nvPr/>
        </p:nvSpPr>
        <p:spPr>
          <a:xfrm>
            <a:off x="731520"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Guests join your tasting on their phones.</a:t>
            </a:r>
            <a:endParaRPr b="0" i="0" spc="0" sz="1400" u="none" cap="none" strike="noStrike">
              <a:solidFill>
                <a:schemeClr val="dk1"/>
              </a:solidFill>
              <a:latin typeface="Raleway Light"/>
              <a:ea typeface="Raleway Light"/>
              <a:cs typeface="Raleway Light"/>
              <a:sym typeface="Raleway Light"/>
            </a:endParaRPr>
          </a:p>
        </p:txBody>
      </p:sp>
      <p:sp>
        <p:nvSpPr>
          <p:cNvPr id="450" name="Google Shape;450;p44"/>
          <p:cNvSpPr/>
          <p:nvPr/>
        </p:nvSpPr>
        <p:spPr>
          <a:xfrm>
            <a:off x="2831531"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1" name="Google Shape;451;p44"/>
          <p:cNvSpPr txBox="1"/>
          <p:nvPr/>
        </p:nvSpPr>
        <p:spPr>
          <a:xfrm>
            <a:off x="3014411"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Information on each wine and on you. Savour and Pour cards get people talking, if you'd like them.</a:t>
            </a:r>
            <a:endParaRPr b="0" i="0" spc="0" sz="1400" u="none" cap="none" strike="noStrike">
              <a:solidFill>
                <a:schemeClr val="dk1"/>
              </a:solidFill>
              <a:latin typeface="Raleway Light"/>
              <a:ea typeface="Raleway Light"/>
              <a:cs typeface="Raleway Light"/>
              <a:sym typeface="Raleway Light"/>
            </a:endParaRPr>
          </a:p>
        </p:txBody>
      </p:sp>
      <p:sp>
        <p:nvSpPr>
          <p:cNvPr id="452" name="Google Shape;452;p44"/>
          <p:cNvSpPr/>
          <p:nvPr/>
        </p:nvSpPr>
        <p:spPr>
          <a:xfrm>
            <a:off x="5114422"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3" name="Google Shape;453;p44"/>
          <p:cNvSpPr txBox="1"/>
          <p:nvPr/>
        </p:nvSpPr>
        <p:spPr>
          <a:xfrm>
            <a:off x="5297302"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Live votes, and your own questions and quizzes. Answers are revealed as discoveries, never as wrong.</a:t>
            </a:r>
            <a:endParaRPr b="0" i="0" spc="0" sz="1400" u="none" cap="none" strike="noStrike">
              <a:solidFill>
                <a:schemeClr val="dk1"/>
              </a:solidFill>
              <a:latin typeface="Raleway Light"/>
              <a:ea typeface="Raleway Light"/>
              <a:cs typeface="Raleway Light"/>
              <a:sym typeface="Raleway Light"/>
            </a:endParaRPr>
          </a:p>
        </p:txBody>
      </p:sp>
      <p:sp>
        <p:nvSpPr>
          <p:cNvPr id="454" name="Google Shape;454;p44"/>
          <p:cNvSpPr/>
          <p:nvPr/>
        </p:nvSpPr>
        <p:spPr>
          <a:xfrm>
            <a:off x="7397313"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5" name="Google Shape;455;p44"/>
          <p:cNvSpPr txBox="1"/>
          <p:nvPr/>
        </p:nvSpPr>
        <p:spPr>
          <a:xfrm>
            <a:off x="7580193"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Guests keep their own notes and favourite the wines they like.</a:t>
            </a:r>
            <a:endParaRPr b="0" i="0" spc="0" sz="1400" u="none" cap="none" strike="noStrike">
              <a:solidFill>
                <a:schemeClr val="dk1"/>
              </a:solidFill>
              <a:latin typeface="Raleway Light"/>
              <a:ea typeface="Raleway Light"/>
              <a:cs typeface="Raleway Light"/>
              <a:sym typeface="Raleway Light"/>
            </a:endParaRPr>
          </a:p>
        </p:txBody>
      </p:sp>
      <p:sp>
        <p:nvSpPr>
          <p:cNvPr id="456" name="Google Shape;456;p44"/>
          <p:cNvSpPr/>
          <p:nvPr/>
        </p:nvSpPr>
        <p:spPr>
          <a:xfrm>
            <a:off x="9680204"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7" name="Google Shape;457;p44"/>
          <p:cNvSpPr txBox="1"/>
          <p:nvPr/>
        </p:nvSpPr>
        <p:spPr>
          <a:xfrm>
            <a:off x="9863084"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Favourites are saved under My wines in their account. Notes are theirs to keep or share.</a:t>
            </a:r>
            <a:endParaRPr b="0" i="0" spc="0" sz="1400" u="none" cap="none" strike="noStrike">
              <a:solidFill>
                <a:schemeClr val="dk1"/>
              </a:solidFill>
              <a:latin typeface="Raleway Light"/>
              <a:ea typeface="Raleway Light"/>
              <a:cs typeface="Raleway Light"/>
              <a:sym typeface="Raleway Light"/>
            </a:endParaRPr>
          </a:p>
        </p:txBody>
      </p:sp>
      <p:sp>
        <p:nvSpPr>
          <p:cNvPr id="458" name="Google Shape;458;p44"/>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459" name="Google Shape;459;p4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5"/>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Just tasting</a:t>
            </a:r>
            <a:endParaRPr/>
          </a:p>
        </p:txBody>
      </p:sp>
      <p:sp>
        <p:nvSpPr>
          <p:cNvPr id="466" name="Google Shape;466;p45"/>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b="0" i="0" lang="en-US" sz="1800" u="none" cap="none" strike="noStrike">
                <a:solidFill>
                  <a:schemeClr val="dk1"/>
                </a:solidFill>
                <a:latin typeface="Raleway Light"/>
                <a:ea typeface="Raleway Light"/>
                <a:cs typeface="Raleway Light"/>
                <a:sym typeface="Raleway Light"/>
              </a:rPr>
              <a:t>Tasting on your own, at your own pace. There are no wrong answers.</a:t>
            </a:r>
            <a:endParaRPr/>
          </a:p>
        </p:txBody>
      </p:sp>
      <p:sp>
        <p:nvSpPr>
          <p:cNvPr id="467" name="Google Shape;467;p45"/>
          <p:cNvSpPr/>
          <p:nvPr/>
        </p:nvSpPr>
        <p:spPr>
          <a:xfrm>
            <a:off x="548640"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8" name="Google Shape;468;p45"/>
          <p:cNvSpPr txBox="1"/>
          <p:nvPr/>
        </p:nvSpPr>
        <p:spPr>
          <a:xfrm>
            <a:off x="758952"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FOUR QUESTIONS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Four guided questions for each wine help you notice what’s in the glass.</a:t>
            </a:r>
            <a:endParaRPr b="0" i="0" spc="0" sz="1600" u="none" cap="none" strike="noStrike">
              <a:solidFill>
                <a:srgbClr val="565A32"/>
              </a:solidFill>
              <a:latin typeface="Raleway Light"/>
              <a:ea typeface="Raleway Light"/>
              <a:cs typeface="Raleway Light"/>
              <a:sym typeface="Raleway Light"/>
            </a:endParaRPr>
          </a:p>
        </p:txBody>
      </p:sp>
      <p:sp>
        <p:nvSpPr>
          <p:cNvPr id="469" name="Google Shape;469;p45"/>
          <p:cNvSpPr/>
          <p:nvPr/>
        </p:nvSpPr>
        <p:spPr>
          <a:xfrm>
            <a:off x="3364992"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0" name="Google Shape;470;p45"/>
          <p:cNvSpPr txBox="1"/>
          <p:nvPr/>
        </p:nvSpPr>
        <p:spPr>
          <a:xfrm>
            <a:off x="3575304"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ONE WINE OR SEVERAL</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Taste one wine or a few, side by side. A single glass of each is enough.</a:t>
            </a:r>
            <a:endParaRPr b="0" i="0" spc="0" sz="1600" u="none" cap="none" strike="noStrike">
              <a:solidFill>
                <a:srgbClr val="565A32"/>
              </a:solidFill>
              <a:latin typeface="Raleway Light"/>
              <a:ea typeface="Raleway Light"/>
              <a:cs typeface="Raleway Light"/>
              <a:sym typeface="Raleway Light"/>
            </a:endParaRPr>
          </a:p>
        </p:txBody>
      </p:sp>
      <p:sp>
        <p:nvSpPr>
          <p:cNvPr id="471" name="Google Shape;471;p45"/>
          <p:cNvSpPr/>
          <p:nvPr/>
        </p:nvSpPr>
        <p:spPr>
          <a:xfrm>
            <a:off x="6181344"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2" name="Google Shape;472;p45"/>
          <p:cNvSpPr txBox="1"/>
          <p:nvPr/>
        </p:nvSpPr>
        <p:spPr>
          <a:xfrm>
            <a:off x="6391656"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PHOTOGRAPH THE LABEL</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Add a wine from its label. If the app doesn’t know it, it fills in the tasting details itself.</a:t>
            </a:r>
            <a:endParaRPr b="0" i="0" spc="0" sz="1600" u="none" cap="none" strike="noStrike">
              <a:solidFill>
                <a:srgbClr val="565A32"/>
              </a:solidFill>
              <a:latin typeface="Raleway Light"/>
              <a:ea typeface="Raleway Light"/>
              <a:cs typeface="Raleway Light"/>
              <a:sym typeface="Raleway Light"/>
            </a:endParaRPr>
          </a:p>
        </p:txBody>
      </p:sp>
      <p:sp>
        <p:nvSpPr>
          <p:cNvPr id="473" name="Google Shape;473;p45"/>
          <p:cNvSpPr/>
          <p:nvPr/>
        </p:nvSpPr>
        <p:spPr>
          <a:xfrm>
            <a:off x="8997696"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4" name="Google Shape;474;p45"/>
          <p:cNvSpPr txBox="1"/>
          <p:nvPr/>
        </p:nvSpPr>
        <p:spPr>
          <a:xfrm>
            <a:off x="9208008"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KEPT IN MY WINES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Every tasting is saved to My wines, to come back to on any device.</a:t>
            </a:r>
            <a:endParaRPr b="0" i="0" spc="0" sz="1600" u="none" cap="none" strike="noStrike">
              <a:solidFill>
                <a:srgbClr val="565A32"/>
              </a:solidFill>
              <a:latin typeface="Raleway Light"/>
              <a:ea typeface="Raleway Light"/>
              <a:cs typeface="Raleway Light"/>
              <a:sym typeface="Raleway Light"/>
            </a:endParaRPr>
          </a:p>
        </p:txBody>
      </p:sp>
      <p:sp>
        <p:nvSpPr>
          <p:cNvPr id="475" name="Google Shape;475;p45"/>
          <p:cNvSpPr/>
          <p:nvPr/>
        </p:nvSpPr>
        <p:spPr>
          <a:xfrm>
            <a:off x="9262872" y="457200"/>
            <a:ext cx="2377440" cy="38404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pic>
        <p:nvPicPr>
          <p:cNvPr descr="9f872b480314de1a56e327099eda6190.jpg" id="476" name="Google Shape;476;p45"/>
          <p:cNvPicPr preferRelativeResize="0"/>
          <p:nvPr/>
        </p:nvPicPr>
        <p:blipFill rotWithShape="1">
          <a:blip r:embed="rId3">
            <a:alphaModFix/>
          </a:blip>
          <a:srcRect b="0" l="0" r="0" t="0"/>
          <a:stretch/>
        </p:blipFill>
        <p:spPr>
          <a:xfrm>
            <a:off x="548640" y="4114800"/>
            <a:ext cx="914400" cy="1975104"/>
          </a:xfrm>
          <a:prstGeom prst="roundRect">
            <a:avLst>
              <a:gd fmla="val 8000" name="adj"/>
            </a:avLst>
          </a:prstGeom>
          <a:noFill/>
          <a:ln cap="flat" cmpd="sng" w="31750">
            <a:solidFill>
              <a:srgbClr val="2B2926"/>
            </a:solidFill>
            <a:prstDash val="solid"/>
            <a:round/>
            <a:headEnd len="sm" w="sm" type="none"/>
            <a:tailEnd len="sm" w="sm" type="none"/>
          </a:ln>
        </p:spPr>
      </p:pic>
      <p:sp>
        <p:nvSpPr>
          <p:cNvPr id="477" name="Google Shape;477;p45"/>
          <p:cNvSpPr txBox="1"/>
          <p:nvPr/>
        </p:nvSpPr>
        <p:spPr>
          <a:xfrm>
            <a:off x="1645919" y="4343400"/>
            <a:ext cx="246888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Start here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Just tasting sits beside Host and Join on the welcome screen.</a:t>
            </a:r>
            <a:endParaRPr/>
          </a:p>
        </p:txBody>
      </p:sp>
      <p:pic>
        <p:nvPicPr>
          <p:cNvPr descr="898e3c624d229bb21af0acfd34ee2ab4.jpg" id="478" name="Google Shape;478;p45"/>
          <p:cNvPicPr preferRelativeResize="0"/>
          <p:nvPr/>
        </p:nvPicPr>
        <p:blipFill rotWithShape="1">
          <a:blip r:embed="rId4">
            <a:alphaModFix/>
          </a:blip>
          <a:srcRect b="0" l="0" r="0" t="0"/>
          <a:stretch/>
        </p:blipFill>
        <p:spPr>
          <a:xfrm>
            <a:off x="4315968" y="4114800"/>
            <a:ext cx="914400" cy="1975104"/>
          </a:xfrm>
          <a:prstGeom prst="roundRect">
            <a:avLst>
              <a:gd fmla="val 8000" name="adj"/>
            </a:avLst>
          </a:prstGeom>
          <a:noFill/>
          <a:ln cap="flat" cmpd="sng" w="31750">
            <a:solidFill>
              <a:srgbClr val="2B2926"/>
            </a:solidFill>
            <a:prstDash val="solid"/>
            <a:round/>
            <a:headEnd len="sm" w="sm" type="none"/>
            <a:tailEnd len="sm" w="sm" type="none"/>
          </a:ln>
        </p:spPr>
      </p:pic>
      <p:sp>
        <p:nvSpPr>
          <p:cNvPr id="479" name="Google Shape;479;p45"/>
          <p:cNvSpPr txBox="1"/>
          <p:nvPr/>
        </p:nvSpPr>
        <p:spPr>
          <a:xfrm>
            <a:off x="5413248" y="4343400"/>
            <a:ext cx="246888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Add the wine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Photograph the label or type it in. Shown here on the game set-up screen.</a:t>
            </a:r>
            <a:endParaRPr/>
          </a:p>
        </p:txBody>
      </p:sp>
      <p:pic>
        <p:nvPicPr>
          <p:cNvPr descr="ccc371ef8e0b467efd0fb2993402455e.jpg" id="480" name="Google Shape;480;p45"/>
          <p:cNvPicPr preferRelativeResize="0"/>
          <p:nvPr/>
        </p:nvPicPr>
        <p:blipFill rotWithShape="1">
          <a:blip r:embed="rId5">
            <a:alphaModFix/>
          </a:blip>
          <a:srcRect b="0" l="0" r="0" t="0"/>
          <a:stretch/>
        </p:blipFill>
        <p:spPr>
          <a:xfrm>
            <a:off x="8083296" y="4114800"/>
            <a:ext cx="914400" cy="1975104"/>
          </a:xfrm>
          <a:prstGeom prst="roundRect">
            <a:avLst>
              <a:gd fmla="val 8000" name="adj"/>
            </a:avLst>
          </a:prstGeom>
          <a:noFill/>
          <a:ln cap="flat" cmpd="sng" w="31750">
            <a:solidFill>
              <a:srgbClr val="2B2926"/>
            </a:solidFill>
            <a:prstDash val="solid"/>
            <a:round/>
            <a:headEnd len="sm" w="sm" type="none"/>
            <a:tailEnd len="sm" w="sm" type="none"/>
          </a:ln>
        </p:spPr>
      </p:pic>
      <p:sp>
        <p:nvSpPr>
          <p:cNvPr id="481" name="Google Shape;481;p45"/>
          <p:cNvSpPr txBox="1"/>
          <p:nvPr/>
        </p:nvSpPr>
        <p:spPr>
          <a:xfrm>
            <a:off x="9180576" y="4343400"/>
            <a:ext cx="246888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Kept in My wines</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Each tasting is saved, to come back to on any device.</a:t>
            </a:r>
            <a:endParaRPr/>
          </a:p>
        </p:txBody>
      </p:sp>
      <p:sp>
        <p:nvSpPr>
          <p:cNvPr id="482" name="Google Shape;482;p4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6"/>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The visitor journey</a:t>
            </a:r>
            <a:endParaRPr sz="3600"/>
          </a:p>
        </p:txBody>
      </p:sp>
      <p:sp>
        <p:nvSpPr>
          <p:cNvPr id="489" name="Google Shape;489;p46"/>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Designed around what actually happens at a discovery day.</a:t>
            </a:r>
            <a:endParaRPr sz="1800"/>
          </a:p>
        </p:txBody>
      </p:sp>
      <p:sp>
        <p:nvSpPr>
          <p:cNvPr id="490" name="Google Shape;490;p46"/>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491" name="Google Shape;491;p46"/>
          <p:cNvSpPr/>
          <p:nvPr/>
        </p:nvSpPr>
        <p:spPr>
          <a:xfrm>
            <a:off x="548640"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Arrive</a:t>
            </a:r>
            <a:endParaRPr b="0" i="0" spc="0" sz="1500" u="none" cap="none" strike="noStrike">
              <a:solidFill>
                <a:schemeClr val="dk1"/>
              </a:solidFill>
              <a:latin typeface="Raleway Light"/>
              <a:ea typeface="Raleway Light"/>
              <a:cs typeface="Raleway Light"/>
              <a:sym typeface="Raleway Light"/>
            </a:endParaRPr>
          </a:p>
        </p:txBody>
      </p:sp>
      <p:sp>
        <p:nvSpPr>
          <p:cNvPr id="492" name="Google Shape;492;p46"/>
          <p:cNvSpPr/>
          <p:nvPr/>
        </p:nvSpPr>
        <p:spPr>
          <a:xfrm>
            <a:off x="1937614"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3" name="Google Shape;493;p46"/>
          <p:cNvSpPr/>
          <p:nvPr/>
        </p:nvSpPr>
        <p:spPr>
          <a:xfrm>
            <a:off x="2175358"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Explore</a:t>
            </a:r>
            <a:endParaRPr b="0" i="0" spc="0" sz="1500" u="none" cap="none" strike="noStrike">
              <a:solidFill>
                <a:schemeClr val="dk1"/>
              </a:solidFill>
              <a:latin typeface="Raleway Light"/>
              <a:ea typeface="Raleway Light"/>
              <a:cs typeface="Raleway Light"/>
              <a:sym typeface="Raleway Light"/>
            </a:endParaRPr>
          </a:p>
        </p:txBody>
      </p:sp>
      <p:sp>
        <p:nvSpPr>
          <p:cNvPr id="494" name="Google Shape;494;p46"/>
          <p:cNvSpPr/>
          <p:nvPr/>
        </p:nvSpPr>
        <p:spPr>
          <a:xfrm>
            <a:off x="3564331"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5" name="Google Shape;495;p46"/>
          <p:cNvSpPr/>
          <p:nvPr/>
        </p:nvSpPr>
        <p:spPr>
          <a:xfrm>
            <a:off x="3802075"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Taste</a:t>
            </a:r>
            <a:endParaRPr b="0" i="0" spc="0" sz="1500" u="none" cap="none" strike="noStrike">
              <a:solidFill>
                <a:schemeClr val="dk1"/>
              </a:solidFill>
              <a:latin typeface="Raleway Light"/>
              <a:ea typeface="Raleway Light"/>
              <a:cs typeface="Raleway Light"/>
              <a:sym typeface="Raleway Light"/>
            </a:endParaRPr>
          </a:p>
        </p:txBody>
      </p:sp>
      <p:sp>
        <p:nvSpPr>
          <p:cNvPr id="496" name="Google Shape;496;p46"/>
          <p:cNvSpPr/>
          <p:nvPr/>
        </p:nvSpPr>
        <p:spPr>
          <a:xfrm>
            <a:off x="5191049"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7" name="Google Shape;497;p46"/>
          <p:cNvSpPr/>
          <p:nvPr/>
        </p:nvSpPr>
        <p:spPr>
          <a:xfrm>
            <a:off x="5428793"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Sit and talk</a:t>
            </a:r>
            <a:endParaRPr b="0" i="0" spc="0" sz="1500" u="none" cap="none" strike="noStrike">
              <a:solidFill>
                <a:schemeClr val="dk1"/>
              </a:solidFill>
              <a:latin typeface="Raleway Light"/>
              <a:ea typeface="Raleway Light"/>
              <a:cs typeface="Raleway Light"/>
              <a:sym typeface="Raleway Light"/>
            </a:endParaRPr>
          </a:p>
        </p:txBody>
      </p:sp>
      <p:sp>
        <p:nvSpPr>
          <p:cNvPr id="498" name="Google Shape;498;p46"/>
          <p:cNvSpPr/>
          <p:nvPr/>
        </p:nvSpPr>
        <p:spPr>
          <a:xfrm>
            <a:off x="6817766"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9" name="Google Shape;499;p46"/>
          <p:cNvSpPr/>
          <p:nvPr/>
        </p:nvSpPr>
        <p:spPr>
          <a:xfrm>
            <a:off x="7055510"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Save</a:t>
            </a:r>
            <a:endParaRPr b="0" i="0" spc="0" sz="1500" u="none" cap="none" strike="noStrike">
              <a:solidFill>
                <a:schemeClr val="dk1"/>
              </a:solidFill>
              <a:latin typeface="Raleway Light"/>
              <a:ea typeface="Raleway Light"/>
              <a:cs typeface="Raleway Light"/>
              <a:sym typeface="Raleway Light"/>
            </a:endParaRPr>
          </a:p>
        </p:txBody>
      </p:sp>
      <p:sp>
        <p:nvSpPr>
          <p:cNvPr id="500" name="Google Shape;500;p46"/>
          <p:cNvSpPr/>
          <p:nvPr/>
        </p:nvSpPr>
        <p:spPr>
          <a:xfrm>
            <a:off x="8444484"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1" name="Google Shape;501;p46"/>
          <p:cNvSpPr/>
          <p:nvPr/>
        </p:nvSpPr>
        <p:spPr>
          <a:xfrm>
            <a:off x="8682228"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Crown</a:t>
            </a:r>
            <a:endParaRPr b="0" i="0" spc="0" sz="1500" u="none" cap="none" strike="noStrike">
              <a:solidFill>
                <a:schemeClr val="dk1"/>
              </a:solidFill>
              <a:latin typeface="Raleway Light"/>
              <a:ea typeface="Raleway Light"/>
              <a:cs typeface="Raleway Light"/>
              <a:sym typeface="Raleway Light"/>
            </a:endParaRPr>
          </a:p>
        </p:txBody>
      </p:sp>
      <p:sp>
        <p:nvSpPr>
          <p:cNvPr id="502" name="Google Shape;502;p46"/>
          <p:cNvSpPr/>
          <p:nvPr/>
        </p:nvSpPr>
        <p:spPr>
          <a:xfrm>
            <a:off x="10071202"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3" name="Google Shape;503;p46"/>
          <p:cNvSpPr/>
          <p:nvPr/>
        </p:nvSpPr>
        <p:spPr>
          <a:xfrm>
            <a:off x="10308946"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Revisit</a:t>
            </a:r>
            <a:endParaRPr b="0" i="0" spc="0" sz="1500" u="none" cap="none" strike="noStrike">
              <a:solidFill>
                <a:schemeClr val="dk1"/>
              </a:solidFill>
              <a:latin typeface="Raleway Light"/>
              <a:ea typeface="Raleway Light"/>
              <a:cs typeface="Raleway Light"/>
              <a:sym typeface="Raleway Light"/>
            </a:endParaRPr>
          </a:p>
        </p:txBody>
      </p:sp>
      <p:sp>
        <p:nvSpPr>
          <p:cNvPr id="504" name="Google Shape;504;p46"/>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pic>
        <p:nvPicPr>
          <p:cNvPr descr="fdcf541711f83b4c332ddc303a475bc3.jpg" id="505" name="Google Shape;505;p46"/>
          <p:cNvPicPr preferRelativeResize="0"/>
          <p:nvPr/>
        </p:nvPicPr>
        <p:blipFill rotWithShape="1">
          <a:blip r:embed="rId3">
            <a:alphaModFix/>
          </a:blip>
          <a:srcRect b="0" l="0" r="0" t="0"/>
          <a:stretch/>
        </p:blipFill>
        <p:spPr>
          <a:xfrm>
            <a:off x="667512"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a6dca438a1655041bdf6801d8c176199.jpg" id="506" name="Google Shape;506;p46"/>
          <p:cNvPicPr preferRelativeResize="0"/>
          <p:nvPr/>
        </p:nvPicPr>
        <p:blipFill rotWithShape="1">
          <a:blip r:embed="rId4">
            <a:alphaModFix/>
          </a:blip>
          <a:srcRect b="0" l="0" r="0" t="0"/>
          <a:stretch/>
        </p:blipFill>
        <p:spPr>
          <a:xfrm>
            <a:off x="2293315"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ace7d86a644641b705aca465e362d82c.jpg" id="507" name="Google Shape;507;p46"/>
          <p:cNvPicPr preferRelativeResize="0"/>
          <p:nvPr/>
        </p:nvPicPr>
        <p:blipFill rotWithShape="1">
          <a:blip r:embed="rId5">
            <a:alphaModFix/>
          </a:blip>
          <a:srcRect b="0" l="0" r="0" t="0"/>
          <a:stretch/>
        </p:blipFill>
        <p:spPr>
          <a:xfrm>
            <a:off x="3919118"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79807af09c4ecbf571e283fac76d00ba.jpg" id="508" name="Google Shape;508;p46"/>
          <p:cNvPicPr preferRelativeResize="0"/>
          <p:nvPr/>
        </p:nvPicPr>
        <p:blipFill rotWithShape="1">
          <a:blip r:embed="rId6">
            <a:alphaModFix/>
          </a:blip>
          <a:srcRect b="0" l="0" r="0" t="0"/>
          <a:stretch/>
        </p:blipFill>
        <p:spPr>
          <a:xfrm>
            <a:off x="5544921"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271b9c778efc897fb10575453f13ddfc.jpg" id="509" name="Google Shape;509;p46"/>
          <p:cNvPicPr preferRelativeResize="0"/>
          <p:nvPr/>
        </p:nvPicPr>
        <p:blipFill rotWithShape="1">
          <a:blip r:embed="rId7">
            <a:alphaModFix/>
          </a:blip>
          <a:srcRect b="0" l="0" r="0" t="0"/>
          <a:stretch/>
        </p:blipFill>
        <p:spPr>
          <a:xfrm>
            <a:off x="8796528"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ccc371ef8e0b467efd0fb2993402455e.jpg" id="510" name="Google Shape;510;p46"/>
          <p:cNvPicPr preferRelativeResize="0"/>
          <p:nvPr/>
        </p:nvPicPr>
        <p:blipFill rotWithShape="1">
          <a:blip r:embed="rId8">
            <a:alphaModFix/>
          </a:blip>
          <a:srcRect b="0" l="0" r="0" t="0"/>
          <a:stretch/>
        </p:blipFill>
        <p:spPr>
          <a:xfrm>
            <a:off x="10422331"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image.jpg" id="511" name="Google Shape;511;p46"/>
          <p:cNvPicPr preferRelativeResize="0"/>
          <p:nvPr/>
        </p:nvPicPr>
        <p:blipFill rotWithShape="1">
          <a:blip r:embed="rId9">
            <a:alphaModFix/>
          </a:blip>
          <a:srcRect b="0" l="0" r="0" t="0"/>
          <a:stretch/>
        </p:blipFill>
        <p:spPr>
          <a:xfrm>
            <a:off x="7170724"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sp>
        <p:nvSpPr>
          <p:cNvPr id="512" name="Google Shape;512;p46"/>
          <p:cNvSpPr/>
          <p:nvPr/>
        </p:nvSpPr>
        <p:spPr>
          <a:xfrm>
            <a:off x="1385316" y="5138928"/>
            <a:ext cx="9418320" cy="969264"/>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3" name="Google Shape;513;p46"/>
          <p:cNvSpPr txBox="1"/>
          <p:nvPr/>
        </p:nvSpPr>
        <p:spPr>
          <a:xfrm>
            <a:off x="1385316" y="5193792"/>
            <a:ext cx="9418320" cy="237744"/>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None/>
            </a:pPr>
            <a:r>
              <a:rPr b="1" i="0" lang="en-US" spc="0" sz="1000" u="none" cap="none" strike="noStrike">
                <a:solidFill>
                  <a:srgbClr val="8B8B5C"/>
                </a:solidFill>
                <a:latin typeface="Raleway SemiBold"/>
                <a:ea typeface="Raleway SemiBold"/>
                <a:cs typeface="Raleway SemiBold"/>
                <a:sym typeface="Raleway SemiBold"/>
              </a:rPr>
              <a:t>ACROSS THE WHOLE DAY</a:t>
            </a:r>
            <a:endParaRPr/>
          </a:p>
        </p:txBody>
      </p:sp>
      <p:sp>
        <p:nvSpPr>
          <p:cNvPr id="514" name="Google Shape;514;p46"/>
          <p:cNvSpPr txBox="1"/>
          <p:nvPr/>
        </p:nvSpPr>
        <p:spPr>
          <a:xfrm>
            <a:off x="1499616"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Quick to use</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Easy to start, easy to join.</a:t>
            </a:r>
            <a:endParaRPr/>
          </a:p>
        </p:txBody>
      </p:sp>
      <p:sp>
        <p:nvSpPr>
          <p:cNvPr id="515" name="Google Shape;515;p46"/>
          <p:cNvSpPr txBox="1"/>
          <p:nvPr/>
        </p:nvSpPr>
        <p:spPr>
          <a:xfrm>
            <a:off x="3803904"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Optional questions</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Answer as much or as little as you like.</a:t>
            </a:r>
            <a:endParaRPr/>
          </a:p>
        </p:txBody>
      </p:sp>
      <p:sp>
        <p:nvSpPr>
          <p:cNvPr id="516" name="Google Shape;516;p46"/>
          <p:cNvSpPr txBox="1"/>
          <p:nvPr/>
        </p:nvSpPr>
        <p:spPr>
          <a:xfrm>
            <a:off x="6108192"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No compulsory tasting</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Tasting is always optional.</a:t>
            </a:r>
            <a:endParaRPr/>
          </a:p>
        </p:txBody>
      </p:sp>
      <p:sp>
        <p:nvSpPr>
          <p:cNvPr id="517" name="Google Shape;517;p46"/>
          <p:cNvSpPr txBox="1"/>
          <p:nvPr/>
        </p:nvSpPr>
        <p:spPr>
          <a:xfrm>
            <a:off x="8412480"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Tailored to each event</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Adds to the day, and helps visitors remember it.</a:t>
            </a:r>
            <a:endParaRPr/>
          </a:p>
        </p:txBody>
      </p:sp>
      <p:sp>
        <p:nvSpPr>
          <p:cNvPr id="518" name="Google Shape;518;p4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7"/>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My wines and memories</a:t>
            </a:r>
            <a:endParaRPr/>
          </a:p>
        </p:txBody>
      </p:sp>
      <p:sp>
        <p:nvSpPr>
          <p:cNvPr id="525" name="Google Shape;525;p47"/>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b="0" i="0" lang="en-US" sz="1800" u="none" cap="none" strike="noStrike">
                <a:solidFill>
                  <a:schemeClr val="dk1"/>
                </a:solidFill>
                <a:latin typeface="Raleway Light"/>
                <a:ea typeface="Raleway Light"/>
                <a:cs typeface="Raleway Light"/>
                <a:sym typeface="Raleway Light"/>
              </a:rPr>
              <a:t>Everything worth remembering, in one place.</a:t>
            </a:r>
            <a:endParaRPr/>
          </a:p>
        </p:txBody>
      </p:sp>
      <p:sp>
        <p:nvSpPr>
          <p:cNvPr id="526" name="Google Shape;526;p47"/>
          <p:cNvSpPr/>
          <p:nvPr/>
        </p:nvSpPr>
        <p:spPr>
          <a:xfrm>
            <a:off x="548640" y="178308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7" name="Google Shape;527;p47"/>
          <p:cNvSpPr txBox="1"/>
          <p:nvPr/>
        </p:nvSpPr>
        <p:spPr>
          <a:xfrm>
            <a:off x="758952" y="199339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TASTINGS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Every tasting, with the notes you made along the way.</a:t>
            </a:r>
            <a:endParaRPr b="0" i="0" spc="0" sz="1600" u="none" cap="none" strike="noStrike">
              <a:solidFill>
                <a:srgbClr val="565A32"/>
              </a:solidFill>
              <a:latin typeface="Raleway Light"/>
              <a:ea typeface="Raleway Light"/>
              <a:cs typeface="Raleway Light"/>
              <a:sym typeface="Raleway Light"/>
            </a:endParaRPr>
          </a:p>
        </p:txBody>
      </p:sp>
      <p:sp>
        <p:nvSpPr>
          <p:cNvPr id="528" name="Google Shape;528;p47"/>
          <p:cNvSpPr/>
          <p:nvPr/>
        </p:nvSpPr>
        <p:spPr>
          <a:xfrm>
            <a:off x="4334255" y="178308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9" name="Google Shape;529;p47"/>
          <p:cNvSpPr txBox="1"/>
          <p:nvPr/>
        </p:nvSpPr>
        <p:spPr>
          <a:xfrm>
            <a:off x="4544568" y="199339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FAVOURITES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The wines you loved, from a game at home, a partner tasting or an event.</a:t>
            </a:r>
            <a:endParaRPr b="0" i="0" spc="0" sz="1600" u="none" cap="none" strike="noStrike">
              <a:solidFill>
                <a:srgbClr val="565A32"/>
              </a:solidFill>
              <a:latin typeface="Raleway Light"/>
              <a:ea typeface="Raleway Light"/>
              <a:cs typeface="Raleway Light"/>
              <a:sym typeface="Raleway Light"/>
            </a:endParaRPr>
          </a:p>
        </p:txBody>
      </p:sp>
      <p:sp>
        <p:nvSpPr>
          <p:cNvPr id="530" name="Google Shape;530;p47"/>
          <p:cNvSpPr/>
          <p:nvPr/>
        </p:nvSpPr>
        <p:spPr>
          <a:xfrm>
            <a:off x="8119871" y="178308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1" name="Google Shape;531;p47"/>
          <p:cNvSpPr txBox="1"/>
          <p:nvPr/>
        </p:nvSpPr>
        <p:spPr>
          <a:xfrm>
            <a:off x="8330183" y="199339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OCCASIONS AND EVENTS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The occasions you shared, with the scores and the wines that went with them.</a:t>
            </a:r>
            <a:endParaRPr b="0" i="0" spc="0" sz="1600" u="none" cap="none" strike="noStrike">
              <a:solidFill>
                <a:srgbClr val="565A32"/>
              </a:solidFill>
              <a:latin typeface="Raleway Light"/>
              <a:ea typeface="Raleway Light"/>
              <a:cs typeface="Raleway Light"/>
              <a:sym typeface="Raleway Light"/>
            </a:endParaRPr>
          </a:p>
        </p:txBody>
      </p:sp>
      <p:sp>
        <p:nvSpPr>
          <p:cNvPr id="532" name="Google Shape;532;p47"/>
          <p:cNvSpPr/>
          <p:nvPr/>
        </p:nvSpPr>
        <p:spPr>
          <a:xfrm>
            <a:off x="548640" y="347472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3" name="Google Shape;533;p47"/>
          <p:cNvSpPr txBox="1"/>
          <p:nvPr/>
        </p:nvSpPr>
        <p:spPr>
          <a:xfrm>
            <a:off x="758952" y="368503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YOUR REACTIONS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Love it, Like it, Not sure, Not for me: your view, kept for next time.</a:t>
            </a:r>
            <a:endParaRPr b="0" i="0" spc="0" sz="1600" u="none" cap="none" strike="noStrike">
              <a:solidFill>
                <a:srgbClr val="565A32"/>
              </a:solidFill>
              <a:latin typeface="Raleway Light"/>
              <a:ea typeface="Raleway Light"/>
              <a:cs typeface="Raleway Light"/>
              <a:sym typeface="Raleway Light"/>
            </a:endParaRPr>
          </a:p>
        </p:txBody>
      </p:sp>
      <p:sp>
        <p:nvSpPr>
          <p:cNvPr id="534" name="Google Shape;534;p47"/>
          <p:cNvSpPr/>
          <p:nvPr/>
        </p:nvSpPr>
        <p:spPr>
          <a:xfrm>
            <a:off x="4334255" y="347472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5" name="Google Shape;535;p47"/>
          <p:cNvSpPr txBox="1"/>
          <p:nvPr/>
        </p:nvSpPr>
        <p:spPr>
          <a:xfrm>
            <a:off x="4544568" y="368503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ON EVERY DEVICE</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Sign in with an email code and My wines is there wherever you are.</a:t>
            </a:r>
            <a:endParaRPr b="0" i="0" spc="0" sz="1600" u="none" cap="none" strike="noStrike">
              <a:solidFill>
                <a:srgbClr val="565A32"/>
              </a:solidFill>
              <a:latin typeface="Raleway Light"/>
              <a:ea typeface="Raleway Light"/>
              <a:cs typeface="Raleway Light"/>
              <a:sym typeface="Raleway Light"/>
            </a:endParaRPr>
          </a:p>
        </p:txBody>
      </p:sp>
      <p:sp>
        <p:nvSpPr>
          <p:cNvPr id="536" name="Google Shape;536;p47"/>
          <p:cNvSpPr/>
          <p:nvPr/>
        </p:nvSpPr>
        <p:spPr>
          <a:xfrm>
            <a:off x="8119871" y="347472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7" name="Google Shape;537;p47"/>
          <p:cNvSpPr txBox="1"/>
          <p:nvPr/>
        </p:nvSpPr>
        <p:spPr>
          <a:xfrm>
            <a:off x="8330183" y="368503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YOURS TO KEEP</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Notes belong to the guest. Sharing them is always their choice.</a:t>
            </a:r>
            <a:endParaRPr b="0" i="0" spc="0" sz="1600" u="none" cap="none" strike="noStrike">
              <a:solidFill>
                <a:srgbClr val="565A32"/>
              </a:solidFill>
              <a:latin typeface="Raleway Light"/>
              <a:ea typeface="Raleway Light"/>
              <a:cs typeface="Raleway Light"/>
              <a:sym typeface="Raleway Light"/>
            </a:endParaRPr>
          </a:p>
        </p:txBody>
      </p:sp>
      <p:sp>
        <p:nvSpPr>
          <p:cNvPr id="538" name="Google Shape;538;p47"/>
          <p:cNvSpPr txBox="1"/>
          <p:nvPr/>
        </p:nvSpPr>
        <p:spPr>
          <a:xfrm>
            <a:off x="548640" y="5257800"/>
            <a:ext cx="1108252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565A32"/>
                </a:solidFill>
                <a:latin typeface="Raleway Light"/>
                <a:ea typeface="Raleway Light"/>
                <a:cs typeface="Raleway Light"/>
                <a:sym typeface="Raleway Light"/>
              </a:rPr>
              <a:t>Alongside it, Wine 101: wine facts and help, like a directory. My wines is personal; Wine 101 is for everyone.</a:t>
            </a:r>
            <a:endParaRPr b="0" i="0" spc="0" sz="1400" u="none" cap="none" strike="noStrike">
              <a:solidFill>
                <a:srgbClr val="000000"/>
              </a:solidFill>
              <a:latin typeface="Arial"/>
              <a:ea typeface="Arial"/>
              <a:cs typeface="Arial"/>
              <a:sym typeface="Arial"/>
            </a:endParaRPr>
          </a:p>
        </p:txBody>
      </p:sp>
      <p:sp>
        <p:nvSpPr>
          <p:cNvPr id="539" name="Google Shape;539;p47"/>
          <p:cNvSpPr txBox="1"/>
          <p:nvPr/>
        </p:nvSpPr>
        <p:spPr>
          <a:xfrm>
            <a:off x="548640" y="5669280"/>
            <a:ext cx="9144000" cy="457200"/>
          </a:xfrm>
          <a:prstGeom prst="rect">
            <a:avLst/>
          </a:prstGeom>
          <a:solidFill>
            <a:srgbClr val="FFFFFF"/>
          </a:solidFill>
          <a:ln cap="flat" cmpd="sng" w="25400">
            <a:solidFill>
              <a:srgbClr val="E3AC9A"/>
            </a:solidFill>
            <a:prstDash val="solid"/>
            <a:round/>
            <a:headEnd len="sm" w="sm" type="none"/>
            <a:tailEnd len="sm" w="sm" type="none"/>
          </a:ln>
        </p:spPr>
        <p:txBody>
          <a:bodyPr anchorCtr="0" anchor="ctr" bIns="38100" lIns="76200" spcFirstLastPara="1" rIns="76200" wrap="square" tIns="38100">
            <a:noAutofit/>
          </a:bodyPr>
          <a:lstStyle/>
          <a:p>
            <a:pPr indent="0" lvl="0" marL="0" marR="0" rtl="0" algn="l">
              <a:lnSpc>
                <a:spcPct val="100000"/>
              </a:lnSpc>
              <a:spcBef>
                <a:spcPts val="0"/>
              </a:spcBef>
              <a:spcAft>
                <a:spcPts val="0"/>
              </a:spcAft>
              <a:buClr>
                <a:srgbClr val="565A32"/>
              </a:buClr>
              <a:buSzPts val="1100"/>
              <a:buFont typeface="Raleway SemiBold"/>
              <a:buNone/>
            </a:pPr>
            <a:r>
              <a:rPr b="1" i="0" lang="en-US" spc="0" sz="1100" u="none" cap="none" strike="noStrike">
                <a:solidFill>
                  <a:srgbClr val="565A32"/>
                </a:solidFill>
                <a:latin typeface="Raleway SemiBold"/>
                <a:ea typeface="Raleway SemiBold"/>
                <a:cs typeface="Raleway SemiBold"/>
                <a:sym typeface="Raleway SemiBold"/>
              </a:rPr>
              <a:t>STATUS  </a:t>
            </a:r>
            <a:r>
              <a:rPr b="0" i="0" lang="en-US" spc="0" sz="1100" u="none" cap="none" strike="noStrike">
                <a:solidFill>
                  <a:srgbClr val="565A32"/>
                </a:solidFill>
                <a:latin typeface="Raleway Light"/>
                <a:ea typeface="Raleway Light"/>
                <a:cs typeface="Raleway Light"/>
                <a:sym typeface="Raleway Light"/>
              </a:rPr>
              <a:t>Built in the app as a prototype. May be described as in development, never as complete (Brand Brain 00).</a:t>
            </a:r>
            <a:endParaRPr b="0" i="0" spc="0" sz="1400" u="none" cap="none" strike="noStrike">
              <a:solidFill>
                <a:srgbClr val="000000"/>
              </a:solidFill>
              <a:latin typeface="Arial"/>
              <a:ea typeface="Arial"/>
              <a:cs typeface="Arial"/>
              <a:sym typeface="Arial"/>
            </a:endParaRPr>
          </a:p>
        </p:txBody>
      </p:sp>
      <p:sp>
        <p:nvSpPr>
          <p:cNvPr id="540" name="Google Shape;540;p47"/>
          <p:cNvSpPr/>
          <p:nvPr/>
        </p:nvSpPr>
        <p:spPr>
          <a:xfrm>
            <a:off x="9262872" y="457200"/>
            <a:ext cx="2377440" cy="38404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sp>
        <p:nvSpPr>
          <p:cNvPr id="541" name="Google Shape;541;p4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546" name="Shape 546"/>
        <p:cNvGrpSpPr/>
        <p:nvPr/>
      </p:nvGrpSpPr>
      <p:grpSpPr>
        <a:xfrm>
          <a:off x="0" y="0"/>
          <a:ext cx="0" cy="0"/>
          <a:chOff x="0" y="0"/>
          <a:chExt cx="0" cy="0"/>
        </a:xfrm>
      </p:grpSpPr>
      <p:sp>
        <p:nvSpPr>
          <p:cNvPr id="547" name="Google Shape;547;p48"/>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48" name="Google Shape;548;p48"/>
          <p:cNvSpPr txBox="1"/>
          <p:nvPr/>
        </p:nvSpPr>
        <p:spPr>
          <a:xfrm>
            <a:off x="685800" y="475501"/>
            <a:ext cx="7315200" cy="583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Entre Amis stays</a:t>
            </a:r>
            <a:endParaRPr b="0" i="0" spc="0" sz="3800" u="none" cap="none" strike="noStrike">
              <a:solidFill>
                <a:schemeClr val="dk1"/>
              </a:solidFill>
              <a:latin typeface="Raleway Light"/>
              <a:ea typeface="Raleway Light"/>
              <a:cs typeface="Raleway Light"/>
              <a:sym typeface="Raleway Light"/>
            </a:endParaRPr>
          </a:p>
        </p:txBody>
      </p:sp>
      <p:sp>
        <p:nvSpPr>
          <p:cNvPr id="549" name="Google Shape;549;p48"/>
          <p:cNvSpPr txBox="1"/>
          <p:nvPr/>
        </p:nvSpPr>
        <p:spPr>
          <a:xfrm>
            <a:off x="685800" y="1104581"/>
            <a:ext cx="9346500" cy="337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Not a tour. Not a retreat. More like staying with friends who know all the good places.</a:t>
            </a:r>
            <a:endParaRPr b="0" i="0" spc="0" sz="1900" u="none" cap="none" strike="noStrike">
              <a:solidFill>
                <a:schemeClr val="dk1"/>
              </a:solidFill>
              <a:latin typeface="Raleway Light"/>
              <a:ea typeface="Raleway Light"/>
              <a:cs typeface="Raleway Light"/>
              <a:sym typeface="Raleway Light"/>
            </a:endParaRPr>
          </a:p>
        </p:txBody>
      </p:sp>
      <p:sp>
        <p:nvSpPr>
          <p:cNvPr id="550" name="Google Shape;550;p48"/>
          <p:cNvSpPr txBox="1"/>
          <p:nvPr/>
        </p:nvSpPr>
        <p:spPr>
          <a:xfrm>
            <a:off x="685800" y="1783080"/>
            <a:ext cx="7315200" cy="457200"/>
          </a:xfrm>
          <a:prstGeom prst="rect">
            <a:avLst/>
          </a:prstGeom>
          <a:noFill/>
          <a:ln>
            <a:noFill/>
          </a:ln>
        </p:spPr>
        <p:txBody>
          <a:bodyPr anchorCtr="0" anchor="t" bIns="0" lIns="0" spcFirstLastPara="1" rIns="0" wrap="square" tIns="0">
            <a:normAutofit fontScale="7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2500" u="none" cap="none" strike="noStrike">
                <a:solidFill>
                  <a:srgbClr val="565A32"/>
                </a:solidFill>
                <a:latin typeface="Raleway Light"/>
                <a:ea typeface="Raleway Light"/>
                <a:cs typeface="Raleway Light"/>
                <a:sym typeface="Raleway Light"/>
              </a:rPr>
              <a:t>A future ambition: Entre Amis, lived for a few days rather than played for an evening.</a:t>
            </a:r>
            <a:endParaRPr b="0" i="0" spc="0" sz="2500" u="none" cap="none" strike="noStrike">
              <a:solidFill>
                <a:schemeClr val="dk1"/>
              </a:solidFill>
              <a:latin typeface="Raleway Light"/>
              <a:ea typeface="Raleway Light"/>
              <a:cs typeface="Raleway Light"/>
              <a:sym typeface="Raleway Light"/>
            </a:endParaRPr>
          </a:p>
        </p:txBody>
      </p:sp>
      <p:sp>
        <p:nvSpPr>
          <p:cNvPr id="551" name="Google Shape;551;p48"/>
          <p:cNvSpPr txBox="1"/>
          <p:nvPr/>
        </p:nvSpPr>
        <p:spPr>
          <a:xfrm>
            <a:off x="713232" y="3220898"/>
            <a:ext cx="4983600" cy="2240400"/>
          </a:xfrm>
          <a:prstGeom prst="rect">
            <a:avLst/>
          </a:prstGeom>
          <a:noFill/>
          <a:ln>
            <a:noFill/>
          </a:ln>
        </p:spPr>
        <p:txBody>
          <a:bodyPr anchorCtr="0" anchor="t" bIns="0" lIns="0" spcFirstLastPara="1" rIns="0" wrap="square" tIns="0">
            <a:normAutofit/>
          </a:bodyPr>
          <a:lstStyle/>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Shared tables, never rigid itineraries.</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Everything is optional.</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Wine explained when you are curious, not taught at you.</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Local places chosen because we love them, not because they are on a checklist.</a:t>
            </a:r>
            <a:endParaRPr b="0" i="0" spc="0" sz="2000" u="none" cap="none" strike="noStrike">
              <a:solidFill>
                <a:schemeClr val="dk1"/>
              </a:solidFill>
              <a:latin typeface="Raleway Light"/>
              <a:ea typeface="Raleway Light"/>
              <a:cs typeface="Raleway Light"/>
              <a:sym typeface="Raleway Light"/>
            </a:endParaRPr>
          </a:p>
        </p:txBody>
      </p:sp>
      <p:sp>
        <p:nvSpPr>
          <p:cNvPr id="552" name="Google Shape;552;p48"/>
          <p:cNvSpPr txBox="1"/>
          <p:nvPr/>
        </p:nvSpPr>
        <p:spPr>
          <a:xfrm>
            <a:off x="6035040" y="3220898"/>
            <a:ext cx="4663500" cy="2240400"/>
          </a:xfrm>
          <a:prstGeom prst="rect">
            <a:avLst/>
          </a:prstGeom>
          <a:noFill/>
          <a:ln>
            <a:noFill/>
          </a:ln>
        </p:spPr>
        <p:txBody>
          <a:bodyPr anchorCtr="0" anchor="t" bIns="0" lIns="0" spcFirstLastPara="1" rIns="0" wrap="square" tIns="0">
            <a:normAutofit lnSpcReduction="20000"/>
          </a:bodyPr>
          <a:lstStyle/>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Time to disappear for an afternoon if you want to.</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One or two brilliant surprises.</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A relaxed Provençal home where you can wander, read and swim.</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The feeling that you are staying with friends who happen to know Provence rather well.</a:t>
            </a:r>
            <a:endParaRPr b="0" i="0" spc="0" sz="2000" u="none" cap="none" strike="noStrike">
              <a:solidFill>
                <a:schemeClr val="dk1"/>
              </a:solidFill>
              <a:latin typeface="Raleway Light"/>
              <a:ea typeface="Raleway Light"/>
              <a:cs typeface="Raleway Light"/>
              <a:sym typeface="Raleway Light"/>
            </a:endParaRPr>
          </a:p>
        </p:txBody>
      </p:sp>
      <p:sp>
        <p:nvSpPr>
          <p:cNvPr id="553" name="Google Shape;553;p48"/>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554" name="Google Shape;554;p48"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555" name="Google Shape;555;p48"/>
          <p:cNvSpPr/>
          <p:nvPr/>
        </p:nvSpPr>
        <p:spPr>
          <a:xfrm>
            <a:off x="9262872" y="457200"/>
            <a:ext cx="2377440" cy="384048"/>
          </a:xfrm>
          <a:prstGeom prst="roundRect">
            <a:avLst>
              <a:gd fmla="val 50000" name="adj"/>
            </a:avLst>
          </a:prstGeom>
          <a:solidFill>
            <a:srgbClr val="B9B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STAYS</a:t>
            </a:r>
            <a:endParaRPr b="0" i="0" spc="0" sz="1400" u="none" cap="none" strike="noStrike">
              <a:solidFill>
                <a:srgbClr val="000000"/>
              </a:solidFill>
              <a:latin typeface="Arial"/>
              <a:ea typeface="Arial"/>
              <a:cs typeface="Arial"/>
              <a:sym typeface="Arial"/>
            </a:endParaRPr>
          </a:p>
        </p:txBody>
      </p:sp>
      <p:sp>
        <p:nvSpPr>
          <p:cNvPr id="556" name="Google Shape;556;p48"/>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561" name="Shape 561"/>
        <p:cNvGrpSpPr/>
        <p:nvPr/>
      </p:nvGrpSpPr>
      <p:grpSpPr>
        <a:xfrm>
          <a:off x="0" y="0"/>
          <a:ext cx="0" cy="0"/>
          <a:chOff x="0" y="0"/>
          <a:chExt cx="0" cy="0"/>
        </a:xfrm>
      </p:grpSpPr>
      <p:sp>
        <p:nvSpPr>
          <p:cNvPr id="562" name="Google Shape;562;p49"/>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63" name="Google Shape;563;p49"/>
          <p:cNvSpPr txBox="1"/>
          <p:nvPr/>
        </p:nvSpPr>
        <p:spPr>
          <a:xfrm>
            <a:off x="685800" y="475488"/>
            <a:ext cx="7315200" cy="583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future of product</a:t>
            </a:r>
            <a:endParaRPr b="0" i="0" spc="0" sz="3800" u="none" cap="none" strike="noStrike">
              <a:solidFill>
                <a:schemeClr val="dk1"/>
              </a:solidFill>
              <a:latin typeface="Raleway Light"/>
              <a:ea typeface="Raleway Light"/>
              <a:cs typeface="Raleway Light"/>
              <a:sym typeface="Raleway Light"/>
            </a:endParaRPr>
          </a:p>
        </p:txBody>
      </p:sp>
      <p:sp>
        <p:nvSpPr>
          <p:cNvPr id="564" name="Google Shape;564;p49"/>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565" name="Google Shape;565;p49"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566" name="Google Shape;566;p49"/>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567" name="Google Shape;567;p49"/>
          <p:cNvSpPr txBox="1"/>
          <p:nvPr/>
        </p:nvSpPr>
        <p:spPr>
          <a:xfrm>
            <a:off x="685800" y="1042415"/>
            <a:ext cx="8686800"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900" u="none" cap="none" strike="noStrike">
                <a:solidFill>
                  <a:srgbClr val="565A32"/>
                </a:solidFill>
                <a:latin typeface="Raleway Light"/>
                <a:ea typeface="Raleway Light"/>
                <a:cs typeface="Raleway Light"/>
                <a:sym typeface="Raleway Light"/>
              </a:rPr>
              <a:t>Where the product could go next. Internal only.</a:t>
            </a:r>
            <a:endParaRPr/>
          </a:p>
        </p:txBody>
      </p:sp>
      <p:sp>
        <p:nvSpPr>
          <p:cNvPr id="568" name="Google Shape;568;p49"/>
          <p:cNvSpPr/>
          <p:nvPr/>
        </p:nvSpPr>
        <p:spPr>
          <a:xfrm>
            <a:off x="685800"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9" name="Google Shape;569;p49"/>
          <p:cNvSpPr txBox="1"/>
          <p:nvPr/>
        </p:nvSpPr>
        <p:spPr>
          <a:xfrm>
            <a:off x="886968"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THE GAME</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The game mat as a printed, washable textile with original art. Artist editions and collaborations. A signature Entre Amis table setting.</a:t>
            </a:r>
            <a:endParaRPr b="0" i="0" spc="0" sz="1600" u="none" cap="none" strike="noStrike">
              <a:solidFill>
                <a:srgbClr val="565A32"/>
              </a:solidFill>
              <a:latin typeface="Raleway Light"/>
              <a:ea typeface="Raleway Light"/>
              <a:cs typeface="Raleway Light"/>
              <a:sym typeface="Raleway Light"/>
            </a:endParaRPr>
          </a:p>
        </p:txBody>
      </p:sp>
      <p:sp>
        <p:nvSpPr>
          <p:cNvPr id="570" name="Google Shape;570;p49"/>
          <p:cNvSpPr/>
          <p:nvPr/>
        </p:nvSpPr>
        <p:spPr>
          <a:xfrm>
            <a:off x="886968" y="4434840"/>
            <a:ext cx="2157984" cy="29260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FFFFFF"/>
                </a:solidFill>
                <a:latin typeface="Raleway SemiBold"/>
                <a:ea typeface="Raleway SemiBold"/>
                <a:cs typeface="Raleway SemiBold"/>
                <a:sym typeface="Raleway SemiBold"/>
              </a:rPr>
              <a:t>Early thinking</a:t>
            </a:r>
            <a:endParaRPr/>
          </a:p>
        </p:txBody>
      </p:sp>
      <p:sp>
        <p:nvSpPr>
          <p:cNvPr id="571" name="Google Shape;571;p49"/>
          <p:cNvSpPr/>
          <p:nvPr/>
        </p:nvSpPr>
        <p:spPr>
          <a:xfrm>
            <a:off x="3410712"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2" name="Google Shape;572;p49"/>
          <p:cNvSpPr txBox="1"/>
          <p:nvPr/>
        </p:nvSpPr>
        <p:spPr>
          <a:xfrm>
            <a:off x="3611880"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EDITIONS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Seasonal Mini-Editions, such as Christmas. Curated Collaborations with chosen partners. A time-limited edition inside an Event Mode relationship.</a:t>
            </a:r>
            <a:endParaRPr b="0" i="0" spc="0" sz="1600" u="none" cap="none" strike="noStrike">
              <a:solidFill>
                <a:srgbClr val="565A32"/>
              </a:solidFill>
              <a:latin typeface="Raleway Light"/>
              <a:ea typeface="Raleway Light"/>
              <a:cs typeface="Raleway Light"/>
              <a:sym typeface="Raleway Light"/>
            </a:endParaRPr>
          </a:p>
        </p:txBody>
      </p:sp>
      <p:sp>
        <p:nvSpPr>
          <p:cNvPr id="573" name="Google Shape;573;p49"/>
          <p:cNvSpPr/>
          <p:nvPr/>
        </p:nvSpPr>
        <p:spPr>
          <a:xfrm>
            <a:off x="3611880" y="4434840"/>
            <a:ext cx="2157984" cy="29260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565A32"/>
                </a:solidFill>
                <a:latin typeface="Raleway SemiBold"/>
                <a:ea typeface="Raleway SemiBold"/>
                <a:cs typeface="Raleway SemiBold"/>
                <a:sym typeface="Raleway SemiBold"/>
              </a:rPr>
              <a:t>Proposed (Brand Brain 06)</a:t>
            </a:r>
            <a:endParaRPr/>
          </a:p>
        </p:txBody>
      </p:sp>
      <p:sp>
        <p:nvSpPr>
          <p:cNvPr id="574" name="Google Shape;574;p49"/>
          <p:cNvSpPr/>
          <p:nvPr/>
        </p:nvSpPr>
        <p:spPr>
          <a:xfrm>
            <a:off x="6135624"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5" name="Google Shape;575;p49"/>
          <p:cNvSpPr txBox="1"/>
          <p:nvPr/>
        </p:nvSpPr>
        <p:spPr>
          <a:xfrm>
            <a:off x="6336792"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THE APP</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Live updates for Partner and Event Mode. Self-service set-up for partners. Content editing. Anonymised trend reports: decided in principle, not offered.</a:t>
            </a:r>
            <a:endParaRPr b="0" i="0" spc="0" sz="1600" u="none" cap="none" strike="noStrike">
              <a:solidFill>
                <a:srgbClr val="565A32"/>
              </a:solidFill>
              <a:latin typeface="Raleway Light"/>
              <a:ea typeface="Raleway Light"/>
              <a:cs typeface="Raleway Light"/>
              <a:sym typeface="Raleway Light"/>
            </a:endParaRPr>
          </a:p>
        </p:txBody>
      </p:sp>
      <p:sp>
        <p:nvSpPr>
          <p:cNvPr id="576" name="Google Shape;576;p49"/>
          <p:cNvSpPr/>
          <p:nvPr/>
        </p:nvSpPr>
        <p:spPr>
          <a:xfrm>
            <a:off x="6336792" y="4434840"/>
            <a:ext cx="2157984" cy="29260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FFFFFF"/>
                </a:solidFill>
                <a:latin typeface="Raleway SemiBold"/>
                <a:ea typeface="Raleway SemiBold"/>
                <a:cs typeface="Raleway SemiBold"/>
                <a:sym typeface="Raleway SemiBold"/>
              </a:rPr>
              <a:t>Planned improvements</a:t>
            </a:r>
            <a:endParaRPr/>
          </a:p>
        </p:txBody>
      </p:sp>
      <p:sp>
        <p:nvSpPr>
          <p:cNvPr id="577" name="Google Shape;577;p49"/>
          <p:cNvSpPr/>
          <p:nvPr/>
        </p:nvSpPr>
        <p:spPr>
          <a:xfrm>
            <a:off x="8860536"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8" name="Google Shape;578;p49"/>
          <p:cNvSpPr txBox="1"/>
          <p:nvPr/>
        </p:nvSpPr>
        <p:spPr>
          <a:xfrm>
            <a:off x="9061704"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BEYOND WINE</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Entre Amis stays: lived for a few days in Provence. Future non-wine expressions of connection, discovery and belonging.</a:t>
            </a:r>
            <a:endParaRPr b="0" i="0" spc="0" sz="1600" u="none" cap="none" strike="noStrike">
              <a:solidFill>
                <a:srgbClr val="565A32"/>
              </a:solidFill>
              <a:latin typeface="Raleway Light"/>
              <a:ea typeface="Raleway Light"/>
              <a:cs typeface="Raleway Light"/>
              <a:sym typeface="Raleway Light"/>
            </a:endParaRPr>
          </a:p>
        </p:txBody>
      </p:sp>
      <p:sp>
        <p:nvSpPr>
          <p:cNvPr id="579" name="Google Shape;579;p49"/>
          <p:cNvSpPr/>
          <p:nvPr/>
        </p:nvSpPr>
        <p:spPr>
          <a:xfrm>
            <a:off x="9061704" y="4434840"/>
            <a:ext cx="2157984" cy="292608"/>
          </a:xfrm>
          <a:prstGeom prst="roundRect">
            <a:avLst>
              <a:gd fmla="val 50000" name="adj"/>
            </a:avLst>
          </a:prstGeom>
          <a:solidFill>
            <a:srgbClr val="B9B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565A32"/>
                </a:solidFill>
                <a:latin typeface="Raleway SemiBold"/>
                <a:ea typeface="Raleway SemiBold"/>
                <a:cs typeface="Raleway SemiBold"/>
                <a:sym typeface="Raleway SemiBold"/>
              </a:rPr>
              <a:t>The vision</a:t>
            </a:r>
            <a:endParaRPr/>
          </a:p>
        </p:txBody>
      </p:sp>
      <p:sp>
        <p:nvSpPr>
          <p:cNvPr id="580" name="Google Shape;580;p49"/>
          <p:cNvSpPr txBox="1"/>
          <p:nvPr/>
        </p:nvSpPr>
        <p:spPr>
          <a:xfrm>
            <a:off x="685800" y="5212080"/>
            <a:ext cx="896112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300" u="none" cap="none" strike="noStrike">
                <a:solidFill>
                  <a:srgbClr val="565A32"/>
                </a:solidFill>
                <a:latin typeface="Raleway Light"/>
                <a:ea typeface="Raleway Light"/>
                <a:cs typeface="Raleway Light"/>
                <a:sym typeface="Raleway Light"/>
              </a:rPr>
              <a:t>Early thinking is never described externally, not even as “coming”. Editions wait on decisions ED2–ED10 in the commercial decisions brief.</a:t>
            </a:r>
            <a:endParaRPr/>
          </a:p>
        </p:txBody>
      </p:sp>
      <p:sp>
        <p:nvSpPr>
          <p:cNvPr id="581" name="Google Shape;581;p4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586" name="Shape 586"/>
        <p:cNvGrpSpPr/>
        <p:nvPr/>
      </p:nvGrpSpPr>
      <p:grpSpPr>
        <a:xfrm>
          <a:off x="0" y="0"/>
          <a:ext cx="0" cy="0"/>
          <a:chOff x="0" y="0"/>
          <a:chExt cx="0" cy="0"/>
        </a:xfrm>
      </p:grpSpPr>
      <p:sp>
        <p:nvSpPr>
          <p:cNvPr id="587" name="Google Shape;587;p50"/>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88" name="Google Shape;588;p50"/>
          <p:cNvSpPr txBox="1"/>
          <p:nvPr/>
        </p:nvSpPr>
        <p:spPr>
          <a:xfrm>
            <a:off x="685800" y="475488"/>
            <a:ext cx="8229600" cy="530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3800"/>
              <a:buFont typeface="Arial"/>
              <a:buNone/>
            </a:pPr>
            <a:r>
              <a:rPr b="0" i="0" lang="en-US" spc="0" sz="3800" u="none" cap="none" strike="noStrike">
                <a:solidFill>
                  <a:srgbClr val="565A32"/>
                </a:solidFill>
                <a:latin typeface="Raleway Light"/>
                <a:ea typeface="Raleway Light"/>
                <a:cs typeface="Raleway Light"/>
                <a:sym typeface="Raleway Light"/>
              </a:rPr>
              <a:t>The Entre Amis table</a:t>
            </a:r>
            <a:endParaRPr b="1" i="0" spc="0" sz="3800" u="none" cap="none" strike="noStrike">
              <a:solidFill>
                <a:srgbClr val="565A32"/>
              </a:solidFill>
              <a:latin typeface="Raleway"/>
              <a:ea typeface="Raleway"/>
              <a:cs typeface="Raleway"/>
              <a:sym typeface="Raleway"/>
            </a:endParaRPr>
          </a:p>
        </p:txBody>
      </p:sp>
      <p:sp>
        <p:nvSpPr>
          <p:cNvPr id="589" name="Google Shape;589;p50"/>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900"/>
              <a:buFont typeface="Arial"/>
              <a:buNone/>
            </a:pPr>
            <a:r>
              <a:rPr b="0" i="0" lang="en-US" spc="0" sz="1900" u="none" cap="none" strike="noStrike">
                <a:solidFill>
                  <a:srgbClr val="565A32"/>
                </a:solidFill>
                <a:latin typeface="Raleway Light"/>
                <a:ea typeface="Raleway Light"/>
                <a:cs typeface="Raleway Light"/>
                <a:sym typeface="Raleway Light"/>
              </a:rPr>
              <a:t>An invitation to experience the brand, never a sales stand.</a:t>
            </a:r>
            <a:endParaRPr b="0" i="0" spc="0" sz="1900" u="none" cap="none" strike="noStrike">
              <a:solidFill>
                <a:schemeClr val="dk1"/>
              </a:solidFill>
              <a:latin typeface="Raleway Light"/>
              <a:ea typeface="Raleway Light"/>
              <a:cs typeface="Raleway Light"/>
              <a:sym typeface="Raleway Light"/>
            </a:endParaRPr>
          </a:p>
        </p:txBody>
      </p:sp>
      <p:sp>
        <p:nvSpPr>
          <p:cNvPr id="590" name="Google Shape;590;p50"/>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591" name="Google Shape;591;p50"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592" name="Google Shape;592;p50"/>
          <p:cNvSpPr/>
          <p:nvPr/>
        </p:nvSpPr>
        <p:spPr>
          <a:xfrm>
            <a:off x="627278" y="2426145"/>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3" name="Google Shape;593;p50"/>
          <p:cNvSpPr/>
          <p:nvPr/>
        </p:nvSpPr>
        <p:spPr>
          <a:xfrm>
            <a:off x="627278" y="2346779"/>
            <a:ext cx="343200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4" name="Google Shape;594;p50"/>
          <p:cNvSpPr txBox="1"/>
          <p:nvPr/>
        </p:nvSpPr>
        <p:spPr>
          <a:xfrm>
            <a:off x="828428" y="3338455"/>
            <a:ext cx="3029700" cy="140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A small, beautifully set table with comfortable seats, tactile details, and the game and crown naturally in place.</a:t>
            </a:r>
            <a:endParaRPr b="0" i="0" spc="0" sz="1600" u="none" cap="none" strike="noStrike">
              <a:solidFill>
                <a:schemeClr val="dk1"/>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000000"/>
              </a:buClr>
              <a:buSzPts val="1700"/>
              <a:buFont typeface="Arial"/>
              <a:buNone/>
            </a:pPr>
            <a:r>
              <a:t/>
            </a:r>
            <a:endParaRPr b="0" i="0" spc="0" sz="1700" u="none" cap="none" strike="noStrike">
              <a:solidFill>
                <a:srgbClr val="565A32"/>
              </a:solidFill>
              <a:latin typeface="Raleway Light"/>
              <a:ea typeface="Raleway Light"/>
              <a:cs typeface="Raleway Light"/>
              <a:sym typeface="Raleway Light"/>
            </a:endParaRPr>
          </a:p>
        </p:txBody>
      </p:sp>
      <p:sp>
        <p:nvSpPr>
          <p:cNvPr id="595" name="Google Shape;595;p50"/>
          <p:cNvSpPr txBox="1"/>
          <p:nvPr/>
        </p:nvSpPr>
        <p:spPr>
          <a:xfrm>
            <a:off x="828428" y="2637491"/>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The setting</a:t>
            </a:r>
            <a:endParaRPr b="1" i="0" spc="0" sz="1900" u="none" cap="none" strike="noStrike">
              <a:solidFill>
                <a:srgbClr val="565A32"/>
              </a:solidFill>
              <a:latin typeface="Raleway"/>
              <a:ea typeface="Raleway"/>
              <a:cs typeface="Raleway"/>
              <a:sym typeface="Raleway"/>
            </a:endParaRPr>
          </a:p>
        </p:txBody>
      </p:sp>
      <p:sp>
        <p:nvSpPr>
          <p:cNvPr id="596" name="Google Shape;596;p50"/>
          <p:cNvSpPr/>
          <p:nvPr/>
        </p:nvSpPr>
        <p:spPr>
          <a:xfrm>
            <a:off x="4321174" y="2426146"/>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7" name="Google Shape;597;p50"/>
          <p:cNvSpPr/>
          <p:nvPr/>
        </p:nvSpPr>
        <p:spPr>
          <a:xfrm>
            <a:off x="4321174" y="2346779"/>
            <a:ext cx="343200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8" name="Google Shape;598;p50"/>
          <p:cNvSpPr txBox="1"/>
          <p:nvPr/>
        </p:nvSpPr>
        <p:spPr>
          <a:xfrm>
            <a:off x="4522324" y="2637491"/>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The experience</a:t>
            </a:r>
            <a:endParaRPr b="1" i="0" spc="0" sz="1400" u="none" cap="none" strike="noStrike">
              <a:solidFill>
                <a:srgbClr val="000000"/>
              </a:solidFill>
              <a:latin typeface="Raleway"/>
              <a:ea typeface="Raleway"/>
              <a:cs typeface="Raleway"/>
              <a:sym typeface="Raleway"/>
            </a:endParaRPr>
          </a:p>
        </p:txBody>
      </p:sp>
      <p:sp>
        <p:nvSpPr>
          <p:cNvPr id="599" name="Google Shape;599;p50"/>
          <p:cNvSpPr txBox="1"/>
          <p:nvPr/>
        </p:nvSpPr>
        <p:spPr>
          <a:xfrm>
            <a:off x="4522324" y="3338455"/>
            <a:ext cx="30297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Short hosted conversations, tasting prompts and playful challenges. Never a hard sell.</a:t>
            </a:r>
            <a:endParaRPr b="0" i="0" spc="0" sz="1600" u="none" cap="none" strike="noStrike">
              <a:solidFill>
                <a:srgbClr val="000000"/>
              </a:solidFill>
              <a:latin typeface="Raleway Light"/>
              <a:ea typeface="Raleway Light"/>
              <a:cs typeface="Raleway Light"/>
              <a:sym typeface="Raleway Light"/>
            </a:endParaRPr>
          </a:p>
        </p:txBody>
      </p:sp>
      <p:sp>
        <p:nvSpPr>
          <p:cNvPr id="600" name="Google Shape;600;p50"/>
          <p:cNvSpPr/>
          <p:nvPr/>
        </p:nvSpPr>
        <p:spPr>
          <a:xfrm>
            <a:off x="7934844" y="2407818"/>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601" name="Google Shape;601;p50"/>
          <p:cNvSpPr/>
          <p:nvPr/>
        </p:nvSpPr>
        <p:spPr>
          <a:xfrm>
            <a:off x="7934844" y="2346779"/>
            <a:ext cx="343200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602" name="Google Shape;602;p50"/>
          <p:cNvSpPr txBox="1"/>
          <p:nvPr/>
        </p:nvSpPr>
        <p:spPr>
          <a:xfrm>
            <a:off x="8135994" y="2637491"/>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The connection</a:t>
            </a:r>
            <a:endParaRPr b="1" i="0" spc="0" sz="1400" u="none" cap="none" strike="noStrike">
              <a:solidFill>
                <a:srgbClr val="000000"/>
              </a:solidFill>
              <a:latin typeface="Raleway"/>
              <a:ea typeface="Raleway"/>
              <a:cs typeface="Raleway"/>
              <a:sym typeface="Raleway"/>
            </a:endParaRPr>
          </a:p>
        </p:txBody>
      </p:sp>
      <p:sp>
        <p:nvSpPr>
          <p:cNvPr id="603" name="Google Shape;603;p50"/>
          <p:cNvSpPr txBox="1"/>
          <p:nvPr/>
        </p:nvSpPr>
        <p:spPr>
          <a:xfrm>
            <a:off x="8135994" y="3338455"/>
            <a:ext cx="30297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Optional moments on the event screen. The table supports what visitors do on their phones; it’s never the centre of the event.</a:t>
            </a:r>
            <a:endParaRPr b="0" i="0" spc="0" sz="1700" u="none" cap="none" strike="noStrike">
              <a:solidFill>
                <a:srgbClr val="565A32"/>
              </a:solidFill>
              <a:latin typeface="Raleway Light"/>
              <a:ea typeface="Raleway Light"/>
              <a:cs typeface="Raleway Light"/>
              <a:sym typeface="Raleway Light"/>
            </a:endParaRPr>
          </a:p>
        </p:txBody>
      </p:sp>
      <p:sp>
        <p:nvSpPr>
          <p:cNvPr id="604" name="Google Shape;604;p50"/>
          <p:cNvSpPr txBox="1"/>
          <p:nvPr/>
        </p:nvSpPr>
        <p:spPr>
          <a:xfrm>
            <a:off x="571515" y="5270063"/>
            <a:ext cx="106071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pc="0" sz="1600" u="none" cap="none" strike="noStrike">
                <a:solidFill>
                  <a:srgbClr val="565A32"/>
                </a:solidFill>
                <a:latin typeface="Raleway Light"/>
                <a:ea typeface="Raleway Light"/>
                <a:cs typeface="Raleway Light"/>
                <a:sym typeface="Raleway Light"/>
              </a:rPr>
              <a:t>Commercial note: staffing, furniture, transport, setup and operational support must be covered by the agreed event fee.</a:t>
            </a:r>
            <a:endParaRPr b="0" i="0" spc="0" sz="1700" u="none" cap="none" strike="noStrike">
              <a:solidFill>
                <a:srgbClr val="000000"/>
              </a:solidFill>
              <a:latin typeface="Raleway Light"/>
              <a:ea typeface="Raleway Light"/>
              <a:cs typeface="Raleway Light"/>
              <a:sym typeface="Raleway Light"/>
            </a:endParaRPr>
          </a:p>
        </p:txBody>
      </p:sp>
      <p:sp>
        <p:nvSpPr>
          <p:cNvPr id="605" name="Google Shape;605;p50"/>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606" name="Google Shape;606;p5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611" name="Shape 611"/>
        <p:cNvGrpSpPr/>
        <p:nvPr/>
      </p:nvGrpSpPr>
      <p:grpSpPr>
        <a:xfrm>
          <a:off x="0" y="0"/>
          <a:ext cx="0" cy="0"/>
          <a:chOff x="0" y="0"/>
          <a:chExt cx="0" cy="0"/>
        </a:xfrm>
      </p:grpSpPr>
      <p:sp>
        <p:nvSpPr>
          <p:cNvPr id="612" name="Google Shape;612;p51"/>
          <p:cNvSpPr/>
          <p:nvPr/>
        </p:nvSpPr>
        <p:spPr>
          <a:xfrm>
            <a:off x="685800" y="475488"/>
            <a:ext cx="822960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2700"/>
              <a:buFont typeface="Raleway"/>
              <a:buNone/>
            </a:pPr>
            <a:r>
              <a:rPr b="0" i="0" lang="en-US" spc="0" sz="3800" u="none" cap="none" strike="noStrike">
                <a:solidFill>
                  <a:srgbClr val="565A32"/>
                </a:solidFill>
                <a:latin typeface="Raleway Light"/>
                <a:ea typeface="Raleway Light"/>
                <a:cs typeface="Raleway Light"/>
                <a:sym typeface="Raleway Light"/>
              </a:rPr>
              <a:t>Guest • Entre Amis • Partner</a:t>
            </a:r>
            <a:endParaRPr b="0" i="0" spc="0" sz="2700" u="none" cap="none" strike="noStrike">
              <a:solidFill>
                <a:schemeClr val="dk1"/>
              </a:solidFill>
              <a:latin typeface="Raleway Light"/>
              <a:ea typeface="Raleway Light"/>
              <a:cs typeface="Raleway Light"/>
              <a:sym typeface="Raleway Light"/>
            </a:endParaRPr>
          </a:p>
        </p:txBody>
      </p:sp>
      <p:sp>
        <p:nvSpPr>
          <p:cNvPr id="613" name="Google Shape;613;p51"/>
          <p:cNvSpPr/>
          <p:nvPr/>
        </p:nvSpPr>
        <p:spPr>
          <a:xfrm>
            <a:off x="685800" y="1042415"/>
            <a:ext cx="85039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500"/>
              <a:buFont typeface="Raleway"/>
              <a:buNone/>
            </a:pPr>
            <a:r>
              <a:rPr b="0" i="0" lang="en-US" spc="0" sz="1900" u="none" cap="none" strike="noStrike">
                <a:solidFill>
                  <a:srgbClr val="565A32"/>
                </a:solidFill>
                <a:latin typeface="Raleway Light"/>
                <a:ea typeface="Raleway Light"/>
                <a:cs typeface="Raleway Light"/>
                <a:sym typeface="Raleway Light"/>
              </a:rPr>
              <a:t>How shared experiences create lasting relationships</a:t>
            </a:r>
            <a:endParaRPr b="0" i="0" spc="0" sz="1500" u="none" cap="none" strike="noStrike">
              <a:solidFill>
                <a:schemeClr val="dk1"/>
              </a:solidFill>
              <a:latin typeface="Raleway Light"/>
              <a:ea typeface="Raleway Light"/>
              <a:cs typeface="Raleway Light"/>
              <a:sym typeface="Raleway Light"/>
            </a:endParaRPr>
          </a:p>
        </p:txBody>
      </p:sp>
      <p:sp>
        <p:nvSpPr>
          <p:cNvPr id="614" name="Google Shape;614;p51"/>
          <p:cNvSpPr/>
          <p:nvPr/>
        </p:nvSpPr>
        <p:spPr>
          <a:xfrm>
            <a:off x="594360" y="1517904"/>
            <a:ext cx="3273600" cy="3675900"/>
          </a:xfrm>
          <a:prstGeom prst="roundRect">
            <a:avLst>
              <a:gd fmla="val 3631"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15" name="Google Shape;615;p51"/>
          <p:cNvSpPr/>
          <p:nvPr/>
        </p:nvSpPr>
        <p:spPr>
          <a:xfrm>
            <a:off x="822960" y="1773936"/>
            <a:ext cx="28164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900"/>
              <a:buFont typeface="Raleway"/>
              <a:buNone/>
            </a:pPr>
            <a:r>
              <a:rPr b="1" i="0" lang="en-US" spc="0" sz="1900" u="none" cap="none" strike="noStrike">
                <a:solidFill>
                  <a:srgbClr val="565A32"/>
                </a:solidFill>
                <a:latin typeface="Raleway"/>
                <a:ea typeface="Raleway"/>
                <a:cs typeface="Raleway"/>
                <a:sym typeface="Raleway"/>
              </a:rPr>
              <a:t>GUEST</a:t>
            </a:r>
            <a:endParaRPr b="0" i="0" spc="0" sz="1900" u="none" cap="none" strike="noStrike">
              <a:solidFill>
                <a:schemeClr val="dk1"/>
              </a:solidFill>
              <a:latin typeface="Raleway Light"/>
              <a:ea typeface="Raleway Light"/>
              <a:cs typeface="Raleway Light"/>
              <a:sym typeface="Raleway Light"/>
            </a:endParaRPr>
          </a:p>
        </p:txBody>
      </p:sp>
      <p:cxnSp>
        <p:nvCxnSpPr>
          <p:cNvPr id="616" name="Google Shape;616;p51"/>
          <p:cNvCxnSpPr/>
          <p:nvPr/>
        </p:nvCxnSpPr>
        <p:spPr>
          <a:xfrm>
            <a:off x="1819656" y="2194560"/>
            <a:ext cx="822900" cy="0"/>
          </a:xfrm>
          <a:prstGeom prst="straightConnector1">
            <a:avLst/>
          </a:prstGeom>
          <a:noFill/>
          <a:ln cap="flat" cmpd="sng" w="25400">
            <a:solidFill>
              <a:srgbClr val="E3AC9A"/>
            </a:solidFill>
            <a:prstDash val="solid"/>
            <a:round/>
            <a:headEnd len="sm" w="sm" type="none"/>
            <a:tailEnd len="sm" w="sm" type="none"/>
          </a:ln>
        </p:spPr>
      </p:cxnSp>
      <p:sp>
        <p:nvSpPr>
          <p:cNvPr id="617" name="Google Shape;617;p51"/>
          <p:cNvSpPr/>
          <p:nvPr/>
        </p:nvSpPr>
        <p:spPr>
          <a:xfrm>
            <a:off x="896112" y="2514600"/>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Discovers and joins experiences</a:t>
            </a:r>
            <a:endParaRPr b="0" i="0" spc="0" sz="1400" u="none" cap="none" strike="noStrike">
              <a:solidFill>
                <a:schemeClr val="dk1"/>
              </a:solidFill>
              <a:latin typeface="Raleway Light"/>
              <a:ea typeface="Raleway Light"/>
              <a:cs typeface="Raleway Light"/>
              <a:sym typeface="Raleway Light"/>
            </a:endParaRPr>
          </a:p>
        </p:txBody>
      </p:sp>
      <p:sp>
        <p:nvSpPr>
          <p:cNvPr id="618" name="Google Shape;618;p51"/>
          <p:cNvSpPr/>
          <p:nvPr/>
        </p:nvSpPr>
        <p:spPr>
          <a:xfrm>
            <a:off x="896112" y="3118104"/>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Enjoys conversation and discovery</a:t>
            </a:r>
            <a:endParaRPr b="0" i="0" spc="0" sz="1400" u="none" cap="none" strike="noStrike">
              <a:solidFill>
                <a:schemeClr val="dk1"/>
              </a:solidFill>
              <a:latin typeface="Raleway Light"/>
              <a:ea typeface="Raleway Light"/>
              <a:cs typeface="Raleway Light"/>
              <a:sym typeface="Raleway Light"/>
            </a:endParaRPr>
          </a:p>
        </p:txBody>
      </p:sp>
      <p:sp>
        <p:nvSpPr>
          <p:cNvPr id="619" name="Google Shape;619;p51"/>
          <p:cNvSpPr/>
          <p:nvPr/>
        </p:nvSpPr>
        <p:spPr>
          <a:xfrm>
            <a:off x="896112" y="3721608"/>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Saves favourites and memories</a:t>
            </a:r>
            <a:endParaRPr b="0" i="0" spc="0" sz="1400" u="none" cap="none" strike="noStrike">
              <a:solidFill>
                <a:schemeClr val="dk1"/>
              </a:solidFill>
              <a:latin typeface="Raleway Light"/>
              <a:ea typeface="Raleway Light"/>
              <a:cs typeface="Raleway Light"/>
              <a:sym typeface="Raleway Light"/>
            </a:endParaRPr>
          </a:p>
        </p:txBody>
      </p:sp>
      <p:sp>
        <p:nvSpPr>
          <p:cNvPr id="620" name="Google Shape;620;p51"/>
          <p:cNvSpPr/>
          <p:nvPr/>
        </p:nvSpPr>
        <p:spPr>
          <a:xfrm>
            <a:off x="896112" y="4325112"/>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Returns, recommends or hosts again</a:t>
            </a:r>
            <a:endParaRPr b="0" i="0" spc="0" sz="1400" u="none" cap="none" strike="noStrike">
              <a:solidFill>
                <a:schemeClr val="dk1"/>
              </a:solidFill>
              <a:latin typeface="Raleway Light"/>
              <a:ea typeface="Raleway Light"/>
              <a:cs typeface="Raleway Light"/>
              <a:sym typeface="Raleway Light"/>
            </a:endParaRPr>
          </a:p>
        </p:txBody>
      </p:sp>
      <p:sp>
        <p:nvSpPr>
          <p:cNvPr id="621" name="Google Shape;621;p51"/>
          <p:cNvSpPr/>
          <p:nvPr/>
        </p:nvSpPr>
        <p:spPr>
          <a:xfrm>
            <a:off x="4462272" y="1517904"/>
            <a:ext cx="3273600" cy="3675900"/>
          </a:xfrm>
          <a:prstGeom prst="roundRect">
            <a:avLst>
              <a:gd fmla="val 3631" name="adj"/>
            </a:avLst>
          </a:prstGeom>
          <a:solidFill>
            <a:srgbClr val="565A32"/>
          </a:solidFill>
          <a:ln cap="flat" cmpd="sng" w="12700">
            <a:solidFill>
              <a:srgbClr val="565A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22" name="Google Shape;622;p51"/>
          <p:cNvSpPr/>
          <p:nvPr/>
        </p:nvSpPr>
        <p:spPr>
          <a:xfrm>
            <a:off x="4690872" y="1773936"/>
            <a:ext cx="28164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Raleway"/>
              <a:buNone/>
            </a:pPr>
            <a:r>
              <a:rPr b="1" i="0" lang="en-US" spc="0" sz="1900" u="none" cap="none" strike="noStrike">
                <a:solidFill>
                  <a:srgbClr val="FFFFFF"/>
                </a:solidFill>
                <a:latin typeface="Raleway"/>
                <a:ea typeface="Raleway"/>
                <a:cs typeface="Raleway"/>
                <a:sym typeface="Raleway"/>
              </a:rPr>
              <a:t>ENTRE AMIS</a:t>
            </a:r>
            <a:endParaRPr b="0" i="0" spc="0" sz="1900" u="none" cap="none" strike="noStrike">
              <a:solidFill>
                <a:schemeClr val="dk1"/>
              </a:solidFill>
              <a:latin typeface="Raleway Light"/>
              <a:ea typeface="Raleway Light"/>
              <a:cs typeface="Raleway Light"/>
              <a:sym typeface="Raleway Light"/>
            </a:endParaRPr>
          </a:p>
        </p:txBody>
      </p:sp>
      <p:cxnSp>
        <p:nvCxnSpPr>
          <p:cNvPr id="623" name="Google Shape;623;p51"/>
          <p:cNvCxnSpPr/>
          <p:nvPr/>
        </p:nvCxnSpPr>
        <p:spPr>
          <a:xfrm>
            <a:off x="5687568" y="2194560"/>
            <a:ext cx="822900" cy="0"/>
          </a:xfrm>
          <a:prstGeom prst="straightConnector1">
            <a:avLst/>
          </a:prstGeom>
          <a:noFill/>
          <a:ln cap="flat" cmpd="sng" w="25400">
            <a:solidFill>
              <a:srgbClr val="E3AC9A"/>
            </a:solidFill>
            <a:prstDash val="solid"/>
            <a:round/>
            <a:headEnd len="sm" w="sm" type="none"/>
            <a:tailEnd len="sm" w="sm" type="none"/>
          </a:ln>
        </p:spPr>
      </p:cxnSp>
      <p:sp>
        <p:nvSpPr>
          <p:cNvPr id="624" name="Google Shape;624;p51"/>
          <p:cNvSpPr/>
          <p:nvPr/>
        </p:nvSpPr>
        <p:spPr>
          <a:xfrm>
            <a:off x="4764024" y="2514600"/>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Connects games, app and experiences</a:t>
            </a:r>
            <a:endParaRPr b="0" i="0" spc="0" sz="1400" u="none" cap="none" strike="noStrike">
              <a:solidFill>
                <a:schemeClr val="dk1"/>
              </a:solidFill>
              <a:latin typeface="Raleway Light"/>
              <a:ea typeface="Raleway Light"/>
              <a:cs typeface="Raleway Light"/>
              <a:sym typeface="Raleway Light"/>
            </a:endParaRPr>
          </a:p>
        </p:txBody>
      </p:sp>
      <p:sp>
        <p:nvSpPr>
          <p:cNvPr id="625" name="Google Shape;625;p51"/>
          <p:cNvSpPr/>
          <p:nvPr/>
        </p:nvSpPr>
        <p:spPr>
          <a:xfrm>
            <a:off x="4764024" y="3118104"/>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Helps people remember and revisit</a:t>
            </a:r>
            <a:endParaRPr b="0" i="0" spc="0" sz="1400" u="none" cap="none" strike="noStrike">
              <a:solidFill>
                <a:schemeClr val="dk1"/>
              </a:solidFill>
              <a:latin typeface="Raleway Light"/>
              <a:ea typeface="Raleway Light"/>
              <a:cs typeface="Raleway Light"/>
              <a:sym typeface="Raleway Light"/>
            </a:endParaRPr>
          </a:p>
        </p:txBody>
      </p:sp>
      <p:sp>
        <p:nvSpPr>
          <p:cNvPr id="626" name="Google Shape;626;p51"/>
          <p:cNvSpPr/>
          <p:nvPr/>
        </p:nvSpPr>
        <p:spPr>
          <a:xfrm>
            <a:off x="4764024" y="3721608"/>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Supports ongoing relationships</a:t>
            </a:r>
            <a:endParaRPr b="0" i="0" spc="0" sz="1400" u="none" cap="none" strike="noStrike">
              <a:solidFill>
                <a:schemeClr val="dk1"/>
              </a:solidFill>
              <a:latin typeface="Raleway Light"/>
              <a:ea typeface="Raleway Light"/>
              <a:cs typeface="Raleway Light"/>
              <a:sym typeface="Raleway Light"/>
            </a:endParaRPr>
          </a:p>
        </p:txBody>
      </p:sp>
      <p:sp>
        <p:nvSpPr>
          <p:cNvPr id="627" name="Google Shape;627;p51"/>
          <p:cNvSpPr/>
          <p:nvPr/>
        </p:nvSpPr>
        <p:spPr>
          <a:xfrm>
            <a:off x="4764024" y="4325112"/>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Manages permissions and privacy</a:t>
            </a:r>
            <a:endParaRPr b="0" i="0" spc="0" sz="1400" u="none" cap="none" strike="noStrike">
              <a:solidFill>
                <a:schemeClr val="dk1"/>
              </a:solidFill>
              <a:latin typeface="Raleway Light"/>
              <a:ea typeface="Raleway Light"/>
              <a:cs typeface="Raleway Light"/>
              <a:sym typeface="Raleway Light"/>
            </a:endParaRPr>
          </a:p>
        </p:txBody>
      </p:sp>
      <p:sp>
        <p:nvSpPr>
          <p:cNvPr id="628" name="Google Shape;628;p51"/>
          <p:cNvSpPr/>
          <p:nvPr/>
        </p:nvSpPr>
        <p:spPr>
          <a:xfrm>
            <a:off x="8330184" y="1517904"/>
            <a:ext cx="3273600" cy="3675900"/>
          </a:xfrm>
          <a:prstGeom prst="roundRect">
            <a:avLst>
              <a:gd fmla="val 3631"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29" name="Google Shape;629;p51"/>
          <p:cNvSpPr/>
          <p:nvPr/>
        </p:nvSpPr>
        <p:spPr>
          <a:xfrm>
            <a:off x="8558784" y="1773936"/>
            <a:ext cx="28164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900"/>
              <a:buFont typeface="Raleway"/>
              <a:buNone/>
            </a:pPr>
            <a:r>
              <a:rPr b="1" i="0" lang="en-US" spc="0" sz="1900" u="none" cap="none" strike="noStrike">
                <a:solidFill>
                  <a:srgbClr val="565A32"/>
                </a:solidFill>
                <a:latin typeface="Raleway"/>
                <a:ea typeface="Raleway"/>
                <a:cs typeface="Raleway"/>
                <a:sym typeface="Raleway"/>
              </a:rPr>
              <a:t>PARTNER</a:t>
            </a:r>
            <a:endParaRPr b="0" i="0" spc="0" sz="1900" u="none" cap="none" strike="noStrike">
              <a:solidFill>
                <a:schemeClr val="dk1"/>
              </a:solidFill>
              <a:latin typeface="Raleway Light"/>
              <a:ea typeface="Raleway Light"/>
              <a:cs typeface="Raleway Light"/>
              <a:sym typeface="Raleway Light"/>
            </a:endParaRPr>
          </a:p>
        </p:txBody>
      </p:sp>
      <p:cxnSp>
        <p:nvCxnSpPr>
          <p:cNvPr id="630" name="Google Shape;630;p51"/>
          <p:cNvCxnSpPr/>
          <p:nvPr/>
        </p:nvCxnSpPr>
        <p:spPr>
          <a:xfrm>
            <a:off x="9555480" y="2194560"/>
            <a:ext cx="822900" cy="0"/>
          </a:xfrm>
          <a:prstGeom prst="straightConnector1">
            <a:avLst/>
          </a:prstGeom>
          <a:noFill/>
          <a:ln cap="flat" cmpd="sng" w="25400">
            <a:solidFill>
              <a:srgbClr val="E3AC9A"/>
            </a:solidFill>
            <a:prstDash val="solid"/>
            <a:round/>
            <a:headEnd len="sm" w="sm" type="none"/>
            <a:tailEnd len="sm" w="sm" type="none"/>
          </a:ln>
        </p:spPr>
      </p:cxnSp>
      <p:sp>
        <p:nvSpPr>
          <p:cNvPr id="631" name="Google Shape;631;p51"/>
          <p:cNvSpPr/>
          <p:nvPr/>
        </p:nvSpPr>
        <p:spPr>
          <a:xfrm>
            <a:off x="8631936" y="2514600"/>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Hosts or contributes an experience</a:t>
            </a:r>
            <a:endParaRPr b="0" i="0" spc="0" sz="1400" u="none" cap="none" strike="noStrike">
              <a:solidFill>
                <a:schemeClr val="dk1"/>
              </a:solidFill>
              <a:latin typeface="Raleway Light"/>
              <a:ea typeface="Raleway Light"/>
              <a:cs typeface="Raleway Light"/>
              <a:sym typeface="Raleway Light"/>
            </a:endParaRPr>
          </a:p>
        </p:txBody>
      </p:sp>
      <p:sp>
        <p:nvSpPr>
          <p:cNvPr id="632" name="Google Shape;632;p51"/>
          <p:cNvSpPr/>
          <p:nvPr/>
        </p:nvSpPr>
        <p:spPr>
          <a:xfrm>
            <a:off x="8631936" y="3118104"/>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Engages people meaningfully</a:t>
            </a:r>
            <a:endParaRPr b="0" i="0" spc="0" sz="1400" u="none" cap="none" strike="noStrike">
              <a:solidFill>
                <a:schemeClr val="dk1"/>
              </a:solidFill>
              <a:latin typeface="Raleway Light"/>
              <a:ea typeface="Raleway Light"/>
              <a:cs typeface="Raleway Light"/>
              <a:sym typeface="Raleway Light"/>
            </a:endParaRPr>
          </a:p>
        </p:txBody>
      </p:sp>
      <p:sp>
        <p:nvSpPr>
          <p:cNvPr id="633" name="Google Shape;633;p51"/>
          <p:cNvSpPr/>
          <p:nvPr/>
        </p:nvSpPr>
        <p:spPr>
          <a:xfrm>
            <a:off x="8631936" y="3721608"/>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Receives agreed insights</a:t>
            </a:r>
            <a:endParaRPr b="0" i="0" spc="0" sz="1400" u="none" cap="none" strike="noStrike">
              <a:solidFill>
                <a:schemeClr val="dk1"/>
              </a:solidFill>
              <a:latin typeface="Raleway Light"/>
              <a:ea typeface="Raleway Light"/>
              <a:cs typeface="Raleway Light"/>
              <a:sym typeface="Raleway Light"/>
            </a:endParaRPr>
          </a:p>
        </p:txBody>
      </p:sp>
      <p:sp>
        <p:nvSpPr>
          <p:cNvPr id="634" name="Google Shape;634;p51"/>
          <p:cNvSpPr/>
          <p:nvPr/>
        </p:nvSpPr>
        <p:spPr>
          <a:xfrm>
            <a:off x="8631936" y="4325112"/>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Connects again with permission</a:t>
            </a:r>
            <a:endParaRPr b="0" i="0" spc="0" sz="1400" u="none" cap="none" strike="noStrike">
              <a:solidFill>
                <a:schemeClr val="dk1"/>
              </a:solidFill>
              <a:latin typeface="Raleway Light"/>
              <a:ea typeface="Raleway Light"/>
              <a:cs typeface="Raleway Light"/>
              <a:sym typeface="Raleway Light"/>
            </a:endParaRPr>
          </a:p>
        </p:txBody>
      </p:sp>
      <p:sp>
        <p:nvSpPr>
          <p:cNvPr id="635" name="Google Shape;635;p51"/>
          <p:cNvSpPr/>
          <p:nvPr/>
        </p:nvSpPr>
        <p:spPr>
          <a:xfrm>
            <a:off x="3968496" y="3145536"/>
            <a:ext cx="356700" cy="457200"/>
          </a:xfrm>
          <a:prstGeom prst="chevron">
            <a:avLst>
              <a:gd fmla="val 50000" name="adj"/>
            </a:avLst>
          </a:prstGeom>
          <a:solidFill>
            <a:srgbClr val="E3AC9A"/>
          </a:solidFill>
          <a:ln cap="flat" cmpd="sng" w="12700">
            <a:solidFill>
              <a:srgbClr val="E3AC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36" name="Google Shape;636;p51"/>
          <p:cNvSpPr/>
          <p:nvPr/>
        </p:nvSpPr>
        <p:spPr>
          <a:xfrm>
            <a:off x="7836408" y="3145536"/>
            <a:ext cx="356700" cy="457200"/>
          </a:xfrm>
          <a:prstGeom prst="chevron">
            <a:avLst>
              <a:gd fmla="val 50000" name="adj"/>
            </a:avLst>
          </a:prstGeom>
          <a:solidFill>
            <a:srgbClr val="E3AC9A"/>
          </a:solidFill>
          <a:ln cap="flat" cmpd="sng" w="12700">
            <a:solidFill>
              <a:srgbClr val="E3AC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37" name="Google Shape;637;p51"/>
          <p:cNvSpPr/>
          <p:nvPr/>
        </p:nvSpPr>
        <p:spPr>
          <a:xfrm>
            <a:off x="713232" y="5431536"/>
            <a:ext cx="107442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600"/>
              <a:buFont typeface="Raleway"/>
              <a:buNone/>
            </a:pPr>
            <a:r>
              <a:rPr b="1" i="0" lang="en-US" spc="0" sz="1600" u="none" cap="none" strike="noStrike">
                <a:solidFill>
                  <a:srgbClr val="565A32"/>
                </a:solidFill>
                <a:latin typeface="Raleway"/>
                <a:ea typeface="Raleway"/>
                <a:cs typeface="Raleway"/>
                <a:sym typeface="Raleway"/>
              </a:rPr>
              <a:t>The experience comes first. Relationships and understanding grow from it.</a:t>
            </a:r>
            <a:endParaRPr b="0" i="0" spc="0" sz="1600" u="none" cap="none" strike="noStrike">
              <a:solidFill>
                <a:schemeClr val="dk1"/>
              </a:solidFill>
              <a:latin typeface="Raleway Light"/>
              <a:ea typeface="Raleway Light"/>
              <a:cs typeface="Raleway Light"/>
              <a:sym typeface="Raleway Light"/>
            </a:endParaRPr>
          </a:p>
        </p:txBody>
      </p:sp>
      <p:sp>
        <p:nvSpPr>
          <p:cNvPr id="638" name="Google Shape;638;p51"/>
          <p:cNvSpPr/>
          <p:nvPr/>
        </p:nvSpPr>
        <p:spPr>
          <a:xfrm>
            <a:off x="658368" y="5943600"/>
            <a:ext cx="10872300" cy="594300"/>
          </a:xfrm>
          <a:prstGeom prst="roundRect">
            <a:avLst>
              <a:gd fmla="val 9231" name="adj"/>
            </a:avLst>
          </a:prstGeom>
          <a:solidFill>
            <a:srgbClr val="EFEAE0"/>
          </a:solidFill>
          <a:ln cap="flat" cmpd="sng" w="12700">
            <a:solidFill>
              <a:srgbClr val="B9BC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39" name="Google Shape;639;p51"/>
          <p:cNvSpPr/>
          <p:nvPr/>
        </p:nvSpPr>
        <p:spPr>
          <a:xfrm>
            <a:off x="868680" y="6099048"/>
            <a:ext cx="1938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a:buNone/>
            </a:pPr>
            <a:r>
              <a:rPr b="1" i="0" lang="en-US" spc="0" sz="1200" u="none" cap="none" strike="noStrike">
                <a:solidFill>
                  <a:srgbClr val="565A32"/>
                </a:solidFill>
                <a:latin typeface="Raleway"/>
                <a:ea typeface="Raleway"/>
                <a:cs typeface="Raleway"/>
                <a:sym typeface="Raleway"/>
              </a:rPr>
              <a:t>PERMISSION FIRST</a:t>
            </a:r>
            <a:endParaRPr b="0" i="0" spc="0" sz="1200" u="none" cap="none" strike="noStrike">
              <a:solidFill>
                <a:schemeClr val="dk1"/>
              </a:solidFill>
              <a:latin typeface="Raleway Light"/>
              <a:ea typeface="Raleway Light"/>
              <a:cs typeface="Raleway Light"/>
              <a:sym typeface="Raleway Light"/>
            </a:endParaRPr>
          </a:p>
        </p:txBody>
      </p:sp>
      <p:sp>
        <p:nvSpPr>
          <p:cNvPr id="640" name="Google Shape;640;p51"/>
          <p:cNvSpPr/>
          <p:nvPr/>
        </p:nvSpPr>
        <p:spPr>
          <a:xfrm>
            <a:off x="2743200" y="6035040"/>
            <a:ext cx="8458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a:buNone/>
            </a:pPr>
            <a:r>
              <a:rPr b="0" i="0" lang="en-US" spc="0" sz="1200" u="none" cap="none" strike="noStrike">
                <a:solidFill>
                  <a:srgbClr val="565A32"/>
                </a:solidFill>
                <a:latin typeface="Raleway Light"/>
                <a:ea typeface="Raleway Light"/>
                <a:cs typeface="Raleway Light"/>
                <a:sym typeface="Raleway Light"/>
              </a:rPr>
              <a:t>Personal information is never shared without consent. Partners receive agreed reporting and explicitly consented connections.</a:t>
            </a:r>
            <a:endParaRPr b="0" i="0" spc="0" sz="1200" u="none" cap="none" strike="noStrike">
              <a:solidFill>
                <a:schemeClr val="dk1"/>
              </a:solidFill>
              <a:latin typeface="Raleway Light"/>
              <a:ea typeface="Raleway Light"/>
              <a:cs typeface="Raleway Light"/>
              <a:sym typeface="Raleway Light"/>
            </a:endParaRPr>
          </a:p>
        </p:txBody>
      </p:sp>
      <p:sp>
        <p:nvSpPr>
          <p:cNvPr id="641" name="Google Shape;641;p51"/>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PARTNER + EVENT</a:t>
            </a:r>
            <a:endParaRPr b="0" i="0" spc="0" sz="1400" u="none" cap="none" strike="noStrike">
              <a:solidFill>
                <a:srgbClr val="000000"/>
              </a:solidFill>
              <a:latin typeface="Arial"/>
              <a:ea typeface="Arial"/>
              <a:cs typeface="Arial"/>
              <a:sym typeface="Arial"/>
            </a:endParaRPr>
          </a:p>
        </p:txBody>
      </p:sp>
      <p:sp>
        <p:nvSpPr>
          <p:cNvPr id="642" name="Google Shape;642;p5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2"/>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Honest insight starts with trust</a:t>
            </a:r>
            <a:endParaRPr sz="3600"/>
          </a:p>
        </p:txBody>
      </p:sp>
      <p:sp>
        <p:nvSpPr>
          <p:cNvPr id="649" name="Google Shape;649;p52"/>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People only say what they really think when it's safe to.</a:t>
            </a:r>
            <a:endParaRPr sz="1800"/>
          </a:p>
        </p:txBody>
      </p:sp>
      <p:sp>
        <p:nvSpPr>
          <p:cNvPr id="650" name="Google Shape;650;p52"/>
          <p:cNvSpPr/>
          <p:nvPr/>
        </p:nvSpPr>
        <p:spPr>
          <a:xfrm>
            <a:off x="8988552" y="4572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 EVENT</a:t>
            </a:r>
            <a:endParaRPr b="0" i="0" spc="0" sz="1400" u="none" cap="none" strike="noStrike">
              <a:solidFill>
                <a:schemeClr val="dk1"/>
              </a:solidFill>
              <a:latin typeface="Raleway Light"/>
              <a:ea typeface="Raleway Light"/>
              <a:cs typeface="Raleway Light"/>
              <a:sym typeface="Raleway Light"/>
            </a:endParaRPr>
          </a:p>
        </p:txBody>
      </p:sp>
      <p:sp>
        <p:nvSpPr>
          <p:cNvPr id="651" name="Google Shape;651;p52"/>
          <p:cNvSpPr/>
          <p:nvPr/>
        </p:nvSpPr>
        <p:spPr>
          <a:xfrm>
            <a:off x="548640" y="1783080"/>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2" name="Google Shape;652;p52"/>
          <p:cNvSpPr txBox="1"/>
          <p:nvPr/>
        </p:nvSpPr>
        <p:spPr>
          <a:xfrm>
            <a:off x="822960" y="1783080"/>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Consent first  </a:t>
            </a:r>
            <a:r>
              <a:rPr b="0" i="0" lang="en-US" spc="0" sz="1400" u="none" cap="none" strike="noStrike">
                <a:solidFill>
                  <a:schemeClr val="dk1"/>
                </a:solidFill>
                <a:latin typeface="Raleway Light"/>
                <a:ea typeface="Raleway Light"/>
                <a:cs typeface="Raleway Light"/>
                <a:sym typeface="Raleway Light"/>
              </a:rPr>
              <a:t>Nothing is collected for your insight without clear, informed consent.</a:t>
            </a:r>
            <a:endParaRPr b="0" i="0" spc="0" sz="1400" u="none" cap="none" strike="noStrike">
              <a:solidFill>
                <a:schemeClr val="dk1"/>
              </a:solidFill>
              <a:latin typeface="Raleway Light"/>
              <a:ea typeface="Raleway Light"/>
              <a:cs typeface="Raleway Light"/>
              <a:sym typeface="Raleway Light"/>
            </a:endParaRPr>
          </a:p>
        </p:txBody>
      </p:sp>
      <p:sp>
        <p:nvSpPr>
          <p:cNvPr id="653" name="Google Shape;653;p52"/>
          <p:cNvSpPr/>
          <p:nvPr/>
        </p:nvSpPr>
        <p:spPr>
          <a:xfrm>
            <a:off x="548640" y="2496312"/>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4" name="Google Shape;654;p52"/>
          <p:cNvSpPr txBox="1"/>
          <p:nvPr/>
        </p:nvSpPr>
        <p:spPr>
          <a:xfrm>
            <a:off x="822960" y="2496312"/>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Anonymised  </a:t>
            </a:r>
            <a:r>
              <a:rPr b="0" i="0" lang="en-US" spc="0" sz="1400" u="none" cap="none" strike="noStrike">
                <a:solidFill>
                  <a:schemeClr val="dk1"/>
                </a:solidFill>
                <a:latin typeface="Raleway Light"/>
                <a:ea typeface="Raleway Light"/>
                <a:cs typeface="Raleway Light"/>
                <a:sym typeface="Raleway Light"/>
              </a:rPr>
              <a:t>Opinions and responses are combined and anonymised, never linked to a name.</a:t>
            </a:r>
            <a:endParaRPr b="0" i="0" spc="0" sz="1400" u="none" cap="none" strike="noStrike">
              <a:solidFill>
                <a:schemeClr val="dk1"/>
              </a:solidFill>
              <a:latin typeface="Raleway Light"/>
              <a:ea typeface="Raleway Light"/>
              <a:cs typeface="Raleway Light"/>
              <a:sym typeface="Raleway Light"/>
            </a:endParaRPr>
          </a:p>
        </p:txBody>
      </p:sp>
      <p:sp>
        <p:nvSpPr>
          <p:cNvPr id="655" name="Google Shape;655;p52"/>
          <p:cNvSpPr/>
          <p:nvPr/>
        </p:nvSpPr>
        <p:spPr>
          <a:xfrm>
            <a:off x="548640" y="3209544"/>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6" name="Google Shape;656;p52"/>
          <p:cNvSpPr txBox="1"/>
          <p:nvPr/>
        </p:nvSpPr>
        <p:spPr>
          <a:xfrm>
            <a:off x="822960" y="3209544"/>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Never sold  </a:t>
            </a:r>
            <a:r>
              <a:rPr b="0" i="0" lang="en-US" spc="0" sz="1400" u="none" cap="none" strike="noStrike">
                <a:solidFill>
                  <a:schemeClr val="dk1"/>
                </a:solidFill>
                <a:latin typeface="Raleway Light"/>
                <a:ea typeface="Raleway Light"/>
                <a:cs typeface="Raleway Light"/>
                <a:sym typeface="Raleway Light"/>
              </a:rPr>
              <a:t>What someone says is never sold or passed on as individual data.</a:t>
            </a:r>
            <a:endParaRPr b="0" i="0" spc="0" sz="1400" u="none" cap="none" strike="noStrike">
              <a:solidFill>
                <a:schemeClr val="dk1"/>
              </a:solidFill>
              <a:latin typeface="Raleway Light"/>
              <a:ea typeface="Raleway Light"/>
              <a:cs typeface="Raleway Light"/>
              <a:sym typeface="Raleway Light"/>
            </a:endParaRPr>
          </a:p>
        </p:txBody>
      </p:sp>
      <p:sp>
        <p:nvSpPr>
          <p:cNvPr id="657" name="Google Shape;657;p52"/>
          <p:cNvSpPr/>
          <p:nvPr/>
        </p:nvSpPr>
        <p:spPr>
          <a:xfrm>
            <a:off x="548640" y="3922776"/>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8" name="Google Shape;658;p52"/>
          <p:cNvSpPr txBox="1"/>
          <p:nvPr/>
        </p:nvSpPr>
        <p:spPr>
          <a:xfrm>
            <a:off x="822960" y="3922776"/>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Personal crowns stay personal  </a:t>
            </a:r>
            <a:r>
              <a:rPr b="0" i="0" lang="en-US" spc="0" sz="1400" u="none" cap="none" strike="noStrike">
                <a:solidFill>
                  <a:schemeClr val="dk1"/>
                </a:solidFill>
                <a:latin typeface="Raleway Light"/>
                <a:ea typeface="Raleway Light"/>
                <a:cs typeface="Raleway Light"/>
                <a:sym typeface="Raleway Light"/>
              </a:rPr>
              <a:t>No public ranking of producers.</a:t>
            </a:r>
            <a:endParaRPr b="0" i="0" spc="0" sz="1400" u="none" cap="none" strike="noStrike">
              <a:solidFill>
                <a:schemeClr val="dk1"/>
              </a:solidFill>
              <a:latin typeface="Raleway Light"/>
              <a:ea typeface="Raleway Light"/>
              <a:cs typeface="Raleway Light"/>
              <a:sym typeface="Raleway Light"/>
            </a:endParaRPr>
          </a:p>
        </p:txBody>
      </p:sp>
      <p:sp>
        <p:nvSpPr>
          <p:cNvPr id="659" name="Google Shape;659;p52"/>
          <p:cNvSpPr/>
          <p:nvPr/>
        </p:nvSpPr>
        <p:spPr>
          <a:xfrm>
            <a:off x="548640" y="4636008"/>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0" name="Google Shape;660;p52"/>
          <p:cNvSpPr txBox="1"/>
          <p:nvPr/>
        </p:nvSpPr>
        <p:spPr>
          <a:xfrm>
            <a:off x="822960" y="4636008"/>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No re-identification  </a:t>
            </a:r>
            <a:r>
              <a:rPr b="0" i="0" lang="en-US" spc="0" sz="1400" u="none" cap="none" strike="noStrike">
                <a:solidFill>
                  <a:schemeClr val="dk1"/>
                </a:solidFill>
                <a:latin typeface="Raleway Light"/>
                <a:ea typeface="Raleway Light"/>
                <a:cs typeface="Raleway Light"/>
                <a:sym typeface="Raleway Light"/>
              </a:rPr>
              <a:t>No data shared across platforms.</a:t>
            </a:r>
            <a:endParaRPr b="0" i="0" spc="0" sz="1400" u="none" cap="none" strike="noStrike">
              <a:solidFill>
                <a:schemeClr val="dk1"/>
              </a:solidFill>
              <a:latin typeface="Raleway Light"/>
              <a:ea typeface="Raleway Light"/>
              <a:cs typeface="Raleway Light"/>
              <a:sym typeface="Raleway Light"/>
            </a:endParaRPr>
          </a:p>
        </p:txBody>
      </p:sp>
      <p:sp>
        <p:nvSpPr>
          <p:cNvPr id="661" name="Google Shape;661;p52"/>
          <p:cNvSpPr/>
          <p:nvPr/>
        </p:nvSpPr>
        <p:spPr>
          <a:xfrm>
            <a:off x="8503920" y="1783080"/>
            <a:ext cx="3139135" cy="3456432"/>
          </a:xfrm>
          <a:prstGeom prst="roundRect">
            <a:avLst>
              <a:gd fmla="val 3495"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2" name="Google Shape;662;p52"/>
          <p:cNvSpPr txBox="1"/>
          <p:nvPr/>
        </p:nvSpPr>
        <p:spPr>
          <a:xfrm>
            <a:off x="8778240" y="2011680"/>
            <a:ext cx="2590495" cy="3017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300"/>
              <a:buFont typeface="Raleway SemiBold"/>
              <a:buNone/>
            </a:pPr>
            <a:r>
              <a:rPr b="1" i="0" lang="en-US" spc="0" sz="1300" u="none" cap="none" strike="noStrike">
                <a:solidFill>
                  <a:schemeClr val="lt2"/>
                </a:solidFill>
                <a:latin typeface="Raleway SemiBold"/>
                <a:ea typeface="Raleway SemiBold"/>
                <a:cs typeface="Raleway SemiBold"/>
                <a:sym typeface="Raleway SemiBold"/>
              </a:rPr>
              <a:t>WHY IT MATTERS</a:t>
            </a:r>
            <a:endParaRPr b="0" i="0" spc="0" sz="17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800"/>
              <a:buFont typeface="Raleway Light"/>
              <a:buNone/>
            </a:pPr>
            <a:r>
              <a:rPr b="0" i="0" lang="en-US" spc="0" sz="800" u="none" cap="none" strike="noStrike">
                <a:solidFill>
                  <a:schemeClr val="lt2"/>
                </a:solidFill>
                <a:latin typeface="Raleway Light"/>
                <a:ea typeface="Raleway Light"/>
                <a:cs typeface="Raleway Light"/>
                <a:sym typeface="Raleway Light"/>
              </a:rPr>
              <a:t> </a:t>
            </a:r>
            <a:endParaRPr b="0" i="0" spc="0" sz="17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1700"/>
              <a:buFont typeface="Raleway Light"/>
              <a:buNone/>
            </a:pPr>
            <a:r>
              <a:rPr b="0" i="0" lang="en-US" spc="0" sz="1700" u="none" cap="none" strike="noStrike">
                <a:solidFill>
                  <a:schemeClr val="lt2"/>
                </a:solidFill>
                <a:latin typeface="Raleway Light"/>
                <a:ea typeface="Raleway Light"/>
                <a:cs typeface="Raleway Light"/>
                <a:sym typeface="Raleway Light"/>
              </a:rPr>
              <a:t>Say what you really think. It only works if people are safe to. That trust is what makes the insight worth having.</a:t>
            </a:r>
            <a:endParaRPr b="0" i="0" spc="0" sz="1700" u="none" cap="none" strike="noStrike">
              <a:solidFill>
                <a:schemeClr val="dk1"/>
              </a:solidFill>
              <a:latin typeface="Raleway Light"/>
              <a:ea typeface="Raleway Light"/>
              <a:cs typeface="Raleway Light"/>
              <a:sym typeface="Raleway Light"/>
            </a:endParaRPr>
          </a:p>
        </p:txBody>
      </p:sp>
      <p:sp>
        <p:nvSpPr>
          <p:cNvPr id="663" name="Google Shape;663;p52"/>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664" name="Google Shape;664;p5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65A32"/>
        </a:solidFill>
      </p:bgPr>
    </p:bg>
    <p:spTree>
      <p:nvGrpSpPr>
        <p:cNvPr id="669" name="Shape 669"/>
        <p:cNvGrpSpPr/>
        <p:nvPr/>
      </p:nvGrpSpPr>
      <p:grpSpPr>
        <a:xfrm>
          <a:off x="0" y="0"/>
          <a:ext cx="0" cy="0"/>
          <a:chOff x="0" y="0"/>
          <a:chExt cx="0" cy="0"/>
        </a:xfrm>
      </p:grpSpPr>
      <p:sp>
        <p:nvSpPr>
          <p:cNvPr id="670" name="Google Shape;670;p53"/>
          <p:cNvSpPr/>
          <p:nvPr/>
        </p:nvSpPr>
        <p:spPr>
          <a:xfrm>
            <a:off x="594360" y="475488"/>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Arial"/>
              <a:buNone/>
            </a:pPr>
            <a:r>
              <a:rPr b="1" i="0" lang="en-US" spc="0" sz="1200" u="none" cap="none" strike="noStrike">
                <a:solidFill>
                  <a:srgbClr val="E3AC9A"/>
                </a:solidFill>
                <a:latin typeface="Raleway"/>
                <a:ea typeface="Raleway"/>
                <a:cs typeface="Raleway"/>
                <a:sym typeface="Raleway"/>
              </a:rPr>
              <a:t>ENTRE AMIS  /  WORKING MASTER</a:t>
            </a:r>
            <a:endParaRPr b="0" i="0" spc="0" sz="1200" u="none" cap="none" strike="noStrike">
              <a:solidFill>
                <a:schemeClr val="dk1"/>
              </a:solidFill>
              <a:latin typeface="Raleway Light"/>
              <a:ea typeface="Raleway Light"/>
              <a:cs typeface="Raleway Light"/>
              <a:sym typeface="Raleway Light"/>
            </a:endParaRPr>
          </a:p>
        </p:txBody>
      </p:sp>
      <p:sp>
        <p:nvSpPr>
          <p:cNvPr id="671" name="Google Shape;671;p53"/>
          <p:cNvSpPr/>
          <p:nvPr/>
        </p:nvSpPr>
        <p:spPr>
          <a:xfrm>
            <a:off x="594360" y="1325880"/>
            <a:ext cx="109728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3400"/>
              <a:buFont typeface="Arial"/>
              <a:buNone/>
            </a:pPr>
            <a:r>
              <a:rPr b="1" i="0" lang="en-US" spc="0" sz="3400" u="none" cap="none" strike="noStrike">
                <a:solidFill>
                  <a:srgbClr val="EFEAE0"/>
                </a:solidFill>
                <a:latin typeface="Raleway"/>
                <a:ea typeface="Raleway"/>
                <a:cs typeface="Raleway"/>
                <a:sym typeface="Raleway"/>
              </a:rPr>
              <a:t>05  Partner and event value</a:t>
            </a:r>
            <a:endParaRPr b="0" i="0" spc="0" sz="3400" u="none" cap="none" strike="noStrike">
              <a:solidFill>
                <a:schemeClr val="dk1"/>
              </a:solidFill>
              <a:latin typeface="Raleway Light"/>
              <a:ea typeface="Raleway Light"/>
              <a:cs typeface="Raleway Light"/>
              <a:sym typeface="Raleway Light"/>
            </a:endParaRPr>
          </a:p>
        </p:txBody>
      </p:sp>
      <p:sp>
        <p:nvSpPr>
          <p:cNvPr id="672" name="Google Shape;672;p53"/>
          <p:cNvSpPr/>
          <p:nvPr/>
        </p:nvSpPr>
        <p:spPr>
          <a:xfrm>
            <a:off x="621792" y="2743200"/>
            <a:ext cx="10881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900"/>
              <a:buFont typeface="Arial"/>
              <a:buNone/>
            </a:pPr>
            <a:r>
              <a:rPr b="0" i="0" lang="en-US" spc="0" sz="1900" u="none" cap="none" strike="noStrike">
                <a:solidFill>
                  <a:srgbClr val="EFEAE0"/>
                </a:solidFill>
                <a:latin typeface="Raleway Light"/>
                <a:ea typeface="Raleway Light"/>
                <a:cs typeface="Raleway Light"/>
                <a:sym typeface="Raleway Light"/>
              </a:rPr>
              <a:t>Existing general partner proposition, Hambledon application and event formats. Kent-specific revisions are not yet approved.</a:t>
            </a:r>
            <a:endParaRPr b="0" i="0" spc="0" sz="1900" u="none" cap="none" strike="noStrike">
              <a:solidFill>
                <a:schemeClr val="dk1"/>
              </a:solidFill>
              <a:latin typeface="Raleway Light"/>
              <a:ea typeface="Raleway Light"/>
              <a:cs typeface="Raleway Light"/>
              <a:sym typeface="Raleway Light"/>
            </a:endParaRPr>
          </a:p>
        </p:txBody>
      </p:sp>
      <p:sp>
        <p:nvSpPr>
          <p:cNvPr id="673" name="Google Shape;673;p53"/>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4"/>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wine businesses get</a:t>
            </a:r>
            <a:endParaRPr sz="3600"/>
          </a:p>
        </p:txBody>
      </p:sp>
      <p:sp>
        <p:nvSpPr>
          <p:cNvPr id="679" name="Google Shape;679;p54"/>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Six benefits for producers and venues. All are built in the prototype; three can’t be offered yet.</a:t>
            </a:r>
            <a:endParaRPr sz="1800"/>
          </a:p>
        </p:txBody>
      </p:sp>
      <p:sp>
        <p:nvSpPr>
          <p:cNvPr id="680" name="Google Shape;680;p54"/>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681" name="Google Shape;681;p54"/>
          <p:cNvSpPr/>
          <p:nvPr/>
        </p:nvSpPr>
        <p:spPr>
          <a:xfrm>
            <a:off x="548640" y="160020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2" name="Google Shape;682;p54"/>
          <p:cNvSpPr txBox="1"/>
          <p:nvPr/>
        </p:nvSpPr>
        <p:spPr>
          <a:xfrm>
            <a:off x="777240" y="180020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WHAT THE ROOM THOUGHT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Loved, saved and crowned, wine by wine. Shown only once 5 or more people took part, and never with a name.</a:t>
            </a:r>
            <a:endParaRPr b="0" i="0" spc="0" sz="1500" u="none" cap="none" strike="noStrike">
              <a:solidFill>
                <a:schemeClr val="dk1"/>
              </a:solidFill>
              <a:latin typeface="Raleway Light"/>
              <a:ea typeface="Raleway Light"/>
              <a:cs typeface="Raleway Light"/>
              <a:sym typeface="Raleway Light"/>
            </a:endParaRPr>
          </a:p>
        </p:txBody>
      </p:sp>
      <p:sp>
        <p:nvSpPr>
          <p:cNvPr id="683" name="Google Shape;683;p54"/>
          <p:cNvSpPr/>
          <p:nvPr/>
        </p:nvSpPr>
        <p:spPr>
          <a:xfrm>
            <a:off x="4338218" y="160020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4" name="Google Shape;684;p54"/>
          <p:cNvSpPr txBox="1"/>
          <p:nvPr/>
        </p:nvSpPr>
        <p:spPr>
          <a:xfrm>
            <a:off x="4566818" y="180020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CONTACTS WHO SAID YES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Visitors tick a box for each producer they want to hear from. Nothing is ticked for them.</a:t>
            </a:r>
            <a:endParaRPr b="0" i="0" spc="0" sz="1500" u="none" cap="none" strike="noStrike">
              <a:solidFill>
                <a:schemeClr val="dk1"/>
              </a:solidFill>
              <a:latin typeface="Raleway Light"/>
              <a:ea typeface="Raleway Light"/>
              <a:cs typeface="Raleway Light"/>
              <a:sym typeface="Raleway Light"/>
            </a:endParaRPr>
          </a:p>
        </p:txBody>
      </p:sp>
      <p:sp>
        <p:nvSpPr>
          <p:cNvPr id="685" name="Google Shape;685;p54"/>
          <p:cNvSpPr/>
          <p:nvPr/>
        </p:nvSpPr>
        <p:spPr>
          <a:xfrm>
            <a:off x="8127797" y="160020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6" name="Google Shape;686;p54"/>
          <p:cNvSpPr txBox="1"/>
          <p:nvPr/>
        </p:nvSpPr>
        <p:spPr>
          <a:xfrm>
            <a:off x="8356397" y="180020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YOUR STORY GOES HOME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Your wines, story and notes stay in each visitor’s My wines after the day.</a:t>
            </a:r>
            <a:endParaRPr b="0" i="0" spc="0" sz="1500" u="none" cap="none" strike="noStrike">
              <a:solidFill>
                <a:schemeClr val="dk1"/>
              </a:solidFill>
              <a:latin typeface="Raleway Light"/>
              <a:ea typeface="Raleway Light"/>
              <a:cs typeface="Raleway Light"/>
              <a:sym typeface="Raleway Light"/>
            </a:endParaRPr>
          </a:p>
        </p:txBody>
      </p:sp>
      <p:sp>
        <p:nvSpPr>
          <p:cNvPr id="687" name="Google Shape;687;p54"/>
          <p:cNvSpPr/>
          <p:nvPr/>
        </p:nvSpPr>
        <p:spPr>
          <a:xfrm>
            <a:off x="548640" y="361188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8" name="Google Shape;688;p54"/>
          <p:cNvSpPr txBox="1"/>
          <p:nvPr/>
        </p:nvSpPr>
        <p:spPr>
          <a:xfrm>
            <a:off x="777240" y="381188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 QUESTION ABOUT YOUR WINE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One question per wine. Visitors see how the room answered, then a fact you chose.</a:t>
            </a:r>
            <a:endParaRPr b="0" i="0" spc="0" sz="1500" u="none" cap="none" strike="noStrike">
              <a:solidFill>
                <a:schemeClr val="dk1"/>
              </a:solidFill>
              <a:latin typeface="Raleway Light"/>
              <a:ea typeface="Raleway Light"/>
              <a:cs typeface="Raleway Light"/>
              <a:sym typeface="Raleway Light"/>
            </a:endParaRPr>
          </a:p>
        </p:txBody>
      </p:sp>
      <p:sp>
        <p:nvSpPr>
          <p:cNvPr id="689" name="Google Shape;689;p54"/>
          <p:cNvSpPr/>
          <p:nvPr/>
        </p:nvSpPr>
        <p:spPr>
          <a:xfrm>
            <a:off x="4338218" y="361188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0" name="Google Shape;690;p54"/>
          <p:cNvSpPr txBox="1"/>
          <p:nvPr/>
        </p:nvSpPr>
        <p:spPr>
          <a:xfrm>
            <a:off x="4566818" y="381188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FOUND AT YOUR STAND</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A printed QR card on each stand opens your producer page straight away.</a:t>
            </a:r>
            <a:endParaRPr b="0" i="0" spc="0" sz="1500" u="none" cap="none" strike="noStrike">
              <a:solidFill>
                <a:schemeClr val="dk1"/>
              </a:solidFill>
              <a:latin typeface="Raleway Light"/>
              <a:ea typeface="Raleway Light"/>
              <a:cs typeface="Raleway Light"/>
              <a:sym typeface="Raleway Light"/>
            </a:endParaRPr>
          </a:p>
        </p:txBody>
      </p:sp>
      <p:sp>
        <p:nvSpPr>
          <p:cNvPr id="691" name="Google Shape;691;p54"/>
          <p:cNvSpPr/>
          <p:nvPr/>
        </p:nvSpPr>
        <p:spPr>
          <a:xfrm>
            <a:off x="8127797" y="361188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2" name="Google Shape;692;p54"/>
          <p:cNvSpPr txBox="1"/>
          <p:nvPr/>
        </p:nvSpPr>
        <p:spPr>
          <a:xfrm>
            <a:off x="8356397" y="381188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 REASON TO CROWN</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Visitors crown their Wine of the Day. Everyone who crowns is entered into a prize draw.</a:t>
            </a:r>
            <a:endParaRPr b="0" i="0" spc="0" sz="1500" u="none" cap="none" strike="noStrike">
              <a:solidFill>
                <a:schemeClr val="dk1"/>
              </a:solidFill>
              <a:latin typeface="Raleway Light"/>
              <a:ea typeface="Raleway Light"/>
              <a:cs typeface="Raleway Light"/>
              <a:sym typeface="Raleway Light"/>
            </a:endParaRPr>
          </a:p>
        </p:txBody>
      </p:sp>
      <p:sp>
        <p:nvSpPr>
          <p:cNvPr id="693" name="Google Shape;693;p54"/>
          <p:cNvSpPr txBox="1"/>
          <p:nvPr/>
        </p:nvSpPr>
        <p:spPr>
          <a:xfrm>
            <a:off x="548640" y="5532120"/>
            <a:ext cx="11094300" cy="5487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76200" spcFirstLastPara="1" rIns="76200" wrap="square" tIns="381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Prize draw: legal check (UK prize draw rules, CAP Code, Portman Group) and short terms before any real event. Results for businesses: built in the prototype (16 October), not yet seen by a partner. Not claimable yet: results, contacts and the prize draw.</a:t>
            </a:r>
            <a:endParaRPr b="0" i="0" spc="0" sz="1400" u="none" cap="none" strike="noStrike">
              <a:solidFill>
                <a:srgbClr val="000000"/>
              </a:solidFill>
              <a:latin typeface="Arial"/>
              <a:ea typeface="Arial"/>
              <a:cs typeface="Arial"/>
              <a:sym typeface="Arial"/>
            </a:endParaRPr>
          </a:p>
        </p:txBody>
      </p:sp>
      <p:sp>
        <p:nvSpPr>
          <p:cNvPr id="694" name="Google Shape;694;p54"/>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695" name="Google Shape;695;p5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5"/>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you know after a tasting day</a:t>
            </a:r>
            <a:endParaRPr sz="3600"/>
          </a:p>
        </p:txBody>
      </p:sp>
      <p:sp>
        <p:nvSpPr>
          <p:cNvPr id="702" name="Google Shape;702;p55"/>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Often, only who bought the tickets.</a:t>
            </a:r>
            <a:endParaRPr sz="1800"/>
          </a:p>
        </p:txBody>
      </p:sp>
      <p:sp>
        <p:nvSpPr>
          <p:cNvPr id="703" name="Google Shape;703;p55"/>
          <p:cNvSpPr/>
          <p:nvPr/>
        </p:nvSpPr>
        <p:spPr>
          <a:xfrm>
            <a:off x="9265615" y="457200"/>
            <a:ext cx="237744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704" name="Google Shape;704;p55"/>
          <p:cNvSpPr/>
          <p:nvPr/>
        </p:nvSpPr>
        <p:spPr>
          <a:xfrm>
            <a:off x="548640" y="1783080"/>
            <a:ext cx="3515258" cy="2103120"/>
          </a:xfrm>
          <a:prstGeom prst="roundRect">
            <a:avLst>
              <a:gd fmla="val 5217"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5" name="Google Shape;705;p55"/>
          <p:cNvSpPr txBox="1"/>
          <p:nvPr/>
        </p:nvSpPr>
        <p:spPr>
          <a:xfrm>
            <a:off x="777240" y="2011680"/>
            <a:ext cx="3058058"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WHO CAME</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You often know the ticket buyer, not everyone with them. One person may buy eight tickets.</a:t>
            </a:r>
            <a:endParaRPr b="0" i="0" spc="0" sz="1600" u="none" cap="none" strike="noStrike">
              <a:solidFill>
                <a:schemeClr val="dk1"/>
              </a:solidFill>
              <a:latin typeface="Raleway Light"/>
              <a:ea typeface="Raleway Light"/>
              <a:cs typeface="Raleway Light"/>
              <a:sym typeface="Raleway Light"/>
            </a:endParaRPr>
          </a:p>
        </p:txBody>
      </p:sp>
      <p:sp>
        <p:nvSpPr>
          <p:cNvPr id="706" name="Google Shape;706;p55"/>
          <p:cNvSpPr/>
          <p:nvPr/>
        </p:nvSpPr>
        <p:spPr>
          <a:xfrm>
            <a:off x="4338218" y="1783080"/>
            <a:ext cx="3515258" cy="2103120"/>
          </a:xfrm>
          <a:prstGeom prst="roundRect">
            <a:avLst>
              <a:gd fmla="val 5217"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7" name="Google Shape;707;p55"/>
          <p:cNvSpPr txBox="1"/>
          <p:nvPr/>
        </p:nvSpPr>
        <p:spPr>
          <a:xfrm>
            <a:off x="4566818" y="2011680"/>
            <a:ext cx="3058058"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WHAT THEY THOUGHT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Visitors talk about the wines all day. Most of what they say isn't captured.</a:t>
            </a:r>
            <a:endParaRPr b="0" i="0" spc="0" sz="1600" u="none" cap="none" strike="noStrike">
              <a:solidFill>
                <a:schemeClr val="dk1"/>
              </a:solidFill>
              <a:latin typeface="Raleway Light"/>
              <a:ea typeface="Raleway Light"/>
              <a:cs typeface="Raleway Light"/>
              <a:sym typeface="Raleway Light"/>
            </a:endParaRPr>
          </a:p>
        </p:txBody>
      </p:sp>
      <p:sp>
        <p:nvSpPr>
          <p:cNvPr id="708" name="Google Shape;708;p55"/>
          <p:cNvSpPr/>
          <p:nvPr/>
        </p:nvSpPr>
        <p:spPr>
          <a:xfrm>
            <a:off x="8127797" y="1783080"/>
            <a:ext cx="3515258" cy="2103120"/>
          </a:xfrm>
          <a:prstGeom prst="roundRect">
            <a:avLst>
              <a:gd fmla="val 5217"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9" name="Google Shape;709;p55"/>
          <p:cNvSpPr txBox="1"/>
          <p:nvPr/>
        </p:nvSpPr>
        <p:spPr>
          <a:xfrm>
            <a:off x="8356397" y="2011680"/>
            <a:ext cx="3058058"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WHAT HAPPENS NEXT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The wines and producers visitors discovered are easily forgotten once the day ends.</a:t>
            </a:r>
            <a:endParaRPr b="0" i="0" spc="0" sz="1600" u="none" cap="none" strike="noStrike">
              <a:solidFill>
                <a:schemeClr val="dk1"/>
              </a:solidFill>
              <a:latin typeface="Raleway Light"/>
              <a:ea typeface="Raleway Light"/>
              <a:cs typeface="Raleway Light"/>
              <a:sym typeface="Raleway Light"/>
            </a:endParaRPr>
          </a:p>
        </p:txBody>
      </p:sp>
      <p:sp>
        <p:nvSpPr>
          <p:cNvPr id="710" name="Google Shape;710;p55"/>
          <p:cNvSpPr/>
          <p:nvPr/>
        </p:nvSpPr>
        <p:spPr>
          <a:xfrm>
            <a:off x="548640" y="4160520"/>
            <a:ext cx="11094415" cy="914400"/>
          </a:xfrm>
          <a:prstGeom prst="roundRect">
            <a:avLst>
              <a:gd fmla="val 12000"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1" name="Google Shape;711;p55"/>
          <p:cNvSpPr txBox="1"/>
          <p:nvPr/>
        </p:nvSpPr>
        <p:spPr>
          <a:xfrm>
            <a:off x="1005840" y="4160520"/>
            <a:ext cx="10180015"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800"/>
              <a:buFont typeface="Raleway Light"/>
              <a:buNone/>
            </a:pPr>
            <a:r>
              <a:rPr b="0" i="0" lang="en-US" spc="0" sz="1800" u="none" cap="none" strike="noStrike">
                <a:solidFill>
                  <a:schemeClr val="lt2"/>
                </a:solidFill>
                <a:latin typeface="Raleway Light"/>
                <a:ea typeface="Raleway Light"/>
                <a:cs typeface="Raleway Light"/>
                <a:sym typeface="Raleway Light"/>
              </a:rPr>
              <a:t>Event Mode turns the conversations at your event into insight you can use, and gives visitors a reason to remember the day.</a:t>
            </a:r>
            <a:endParaRPr b="0" i="0" spc="0" sz="1800" u="none" cap="none" strike="noStrike">
              <a:solidFill>
                <a:schemeClr val="dk1"/>
              </a:solidFill>
              <a:latin typeface="Raleway Light"/>
              <a:ea typeface="Raleway Light"/>
              <a:cs typeface="Raleway Light"/>
              <a:sym typeface="Raleway Light"/>
            </a:endParaRPr>
          </a:p>
        </p:txBody>
      </p:sp>
      <p:sp>
        <p:nvSpPr>
          <p:cNvPr id="712" name="Google Shape;712;p55"/>
          <p:cNvSpPr txBox="1"/>
          <p:nvPr/>
        </p:nvSpPr>
        <p:spPr>
          <a:xfrm>
            <a:off x="548640" y="5257800"/>
            <a:ext cx="11094415" cy="64008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ADD  </a:t>
            </a:r>
            <a:r>
              <a:rPr b="0" i="0" lang="en-US" spc="0" sz="1100" u="none" cap="none" strike="noStrike">
                <a:solidFill>
                  <a:schemeClr val="dk1"/>
                </a:solidFill>
                <a:latin typeface="Raleway Light"/>
                <a:ea typeface="Raleway Light"/>
                <a:cs typeface="Raleway Light"/>
                <a:sym typeface="Raleway Light"/>
              </a:rPr>
              <a:t>Evidence for 'most of what they say isn't captured' and 'easily forgotten' from organiser conversations, so these read as findings, not assumptions.</a:t>
            </a:r>
            <a:endParaRPr b="0" i="0" spc="0" sz="1100" u="none" cap="none" strike="noStrike">
              <a:solidFill>
                <a:schemeClr val="dk1"/>
              </a:solidFill>
              <a:latin typeface="Raleway Light"/>
              <a:ea typeface="Raleway Light"/>
              <a:cs typeface="Raleway Light"/>
              <a:sym typeface="Raleway Light"/>
            </a:endParaRPr>
          </a:p>
        </p:txBody>
      </p:sp>
      <p:sp>
        <p:nvSpPr>
          <p:cNvPr id="713" name="Google Shape;713;p55"/>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714" name="Google Shape;714;p5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56"/>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The insight you receive</a:t>
            </a:r>
            <a:endParaRPr sz="3600"/>
          </a:p>
        </p:txBody>
      </p:sp>
      <p:sp>
        <p:nvSpPr>
          <p:cNvPr id="721" name="Google Shape;721;p56"/>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Two layers, both built on consent.</a:t>
            </a:r>
            <a:endParaRPr sz="1800"/>
          </a:p>
        </p:txBody>
      </p:sp>
      <p:sp>
        <p:nvSpPr>
          <p:cNvPr id="722" name="Google Shape;722;p56"/>
          <p:cNvSpPr/>
          <p:nvPr/>
        </p:nvSpPr>
        <p:spPr>
          <a:xfrm>
            <a:off x="8991295" y="457200"/>
            <a:ext cx="26517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MODE</a:t>
            </a:r>
            <a:endParaRPr b="0" i="0" spc="0" sz="1400" u="none" cap="none" strike="noStrike">
              <a:solidFill>
                <a:schemeClr val="dk1"/>
              </a:solidFill>
              <a:latin typeface="Raleway Light"/>
              <a:ea typeface="Raleway Light"/>
              <a:cs typeface="Raleway Light"/>
              <a:sym typeface="Raleway Light"/>
            </a:endParaRPr>
          </a:p>
        </p:txBody>
      </p:sp>
      <p:sp>
        <p:nvSpPr>
          <p:cNvPr id="723" name="Google Shape;723;p56"/>
          <p:cNvSpPr/>
          <p:nvPr/>
        </p:nvSpPr>
        <p:spPr>
          <a:xfrm>
            <a:off x="548640" y="1691640"/>
            <a:ext cx="11094300" cy="749808"/>
          </a:xfrm>
          <a:prstGeom prst="roundRect">
            <a:avLst>
              <a:gd fmla="val 11429"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4" name="Google Shape;724;p56"/>
          <p:cNvSpPr/>
          <p:nvPr/>
        </p:nvSpPr>
        <p:spPr>
          <a:xfrm>
            <a:off x="822960" y="1769364"/>
            <a:ext cx="594300" cy="594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1</a:t>
            </a:r>
            <a:endParaRPr b="0" i="0" spc="0" sz="1600" u="none" cap="none" strike="noStrike">
              <a:solidFill>
                <a:schemeClr val="dk1"/>
              </a:solidFill>
              <a:latin typeface="Raleway Light"/>
              <a:ea typeface="Raleway Light"/>
              <a:cs typeface="Raleway Light"/>
              <a:sym typeface="Raleway Light"/>
            </a:endParaRPr>
          </a:p>
        </p:txBody>
      </p:sp>
      <p:sp>
        <p:nvSpPr>
          <p:cNvPr id="725" name="Google Shape;725;p56"/>
          <p:cNvSpPr txBox="1"/>
          <p:nvPr/>
        </p:nvSpPr>
        <p:spPr>
          <a:xfrm>
            <a:off x="1691640" y="1691640"/>
            <a:ext cx="26517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SemiBold"/>
              <a:buNone/>
            </a:pPr>
            <a:r>
              <a:rPr b="1" i="0" lang="en-US" spc="0" sz="1600" u="none" cap="none" strike="noStrike">
                <a:solidFill>
                  <a:schemeClr val="dk1"/>
                </a:solidFill>
                <a:latin typeface="Raleway SemiBold"/>
                <a:ea typeface="Raleway SemiBold"/>
                <a:cs typeface="Raleway SemiBold"/>
                <a:sym typeface="Raleway SemiBold"/>
              </a:rPr>
              <a:t>Your tasting</a:t>
            </a:r>
            <a:endParaRPr b="0" i="0" spc="0" sz="1600" u="none" cap="none" strike="noStrike">
              <a:solidFill>
                <a:schemeClr val="dk1"/>
              </a:solidFill>
              <a:latin typeface="Raleway Light"/>
              <a:ea typeface="Raleway Light"/>
              <a:cs typeface="Raleway Light"/>
              <a:sym typeface="Raleway Light"/>
            </a:endParaRPr>
          </a:p>
        </p:txBody>
      </p:sp>
      <p:sp>
        <p:nvSpPr>
          <p:cNvPr id="726" name="Google Shape;726;p56"/>
          <p:cNvSpPr txBox="1"/>
          <p:nvPr/>
        </p:nvSpPr>
        <p:spPr>
          <a:xfrm>
            <a:off x="4389120" y="1691640"/>
            <a:ext cx="69795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Combined votes, quiz and tasting responses, favourites, and how guests used your content.</a:t>
            </a:r>
            <a:endParaRPr b="0" i="0" spc="0" sz="1600" u="none" cap="none" strike="noStrike">
              <a:solidFill>
                <a:schemeClr val="dk1"/>
              </a:solidFill>
              <a:latin typeface="Raleway Light"/>
              <a:ea typeface="Raleway Light"/>
              <a:cs typeface="Raleway Light"/>
              <a:sym typeface="Raleway Light"/>
            </a:endParaRPr>
          </a:p>
        </p:txBody>
      </p:sp>
      <p:sp>
        <p:nvSpPr>
          <p:cNvPr id="727" name="Google Shape;727;p56"/>
          <p:cNvSpPr/>
          <p:nvPr/>
        </p:nvSpPr>
        <p:spPr>
          <a:xfrm>
            <a:off x="548640" y="2532888"/>
            <a:ext cx="11094300" cy="749808"/>
          </a:xfrm>
          <a:prstGeom prst="roundRect">
            <a:avLst>
              <a:gd fmla="val 11429"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8" name="Google Shape;728;p56"/>
          <p:cNvSpPr/>
          <p:nvPr/>
        </p:nvSpPr>
        <p:spPr>
          <a:xfrm>
            <a:off x="822960" y="2610612"/>
            <a:ext cx="594300" cy="594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2</a:t>
            </a:r>
            <a:endParaRPr b="0" i="0" spc="0" sz="1600" u="none" cap="none" strike="noStrike">
              <a:solidFill>
                <a:schemeClr val="dk1"/>
              </a:solidFill>
              <a:latin typeface="Raleway Light"/>
              <a:ea typeface="Raleway Light"/>
              <a:cs typeface="Raleway Light"/>
              <a:sym typeface="Raleway Light"/>
            </a:endParaRPr>
          </a:p>
        </p:txBody>
      </p:sp>
      <p:sp>
        <p:nvSpPr>
          <p:cNvPr id="729" name="Google Shape;729;p56"/>
          <p:cNvSpPr txBox="1"/>
          <p:nvPr/>
        </p:nvSpPr>
        <p:spPr>
          <a:xfrm>
            <a:off x="1691640" y="2532888"/>
            <a:ext cx="26517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SemiBold"/>
              <a:buNone/>
            </a:pPr>
            <a:r>
              <a:rPr b="1" i="0" lang="en-US" spc="0" sz="1600" u="none" cap="none" strike="noStrike">
                <a:solidFill>
                  <a:schemeClr val="dk1"/>
                </a:solidFill>
                <a:latin typeface="Raleway SemiBold"/>
                <a:ea typeface="Raleway SemiBold"/>
                <a:cs typeface="Raleway SemiBold"/>
                <a:sym typeface="Raleway SemiBold"/>
              </a:rPr>
              <a:t>Your new contacts</a:t>
            </a:r>
            <a:endParaRPr b="0" i="0" spc="0" sz="1600" u="none" cap="none" strike="noStrike">
              <a:solidFill>
                <a:schemeClr val="dk1"/>
              </a:solidFill>
              <a:latin typeface="Raleway Light"/>
              <a:ea typeface="Raleway Light"/>
              <a:cs typeface="Raleway Light"/>
              <a:sym typeface="Raleway Light"/>
            </a:endParaRPr>
          </a:p>
        </p:txBody>
      </p:sp>
      <p:sp>
        <p:nvSpPr>
          <p:cNvPr id="730" name="Google Shape;730;p56"/>
          <p:cNvSpPr txBox="1"/>
          <p:nvPr/>
        </p:nvSpPr>
        <p:spPr>
          <a:xfrm>
            <a:off x="4389120" y="2532888"/>
            <a:ext cx="69795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Individual guests who choose to hear from you, and only them.</a:t>
            </a:r>
            <a:endParaRPr b="0" i="0" spc="0" sz="1600" u="none" cap="none" strike="noStrike">
              <a:solidFill>
                <a:schemeClr val="dk1"/>
              </a:solidFill>
              <a:latin typeface="Raleway Light"/>
              <a:ea typeface="Raleway Light"/>
              <a:cs typeface="Raleway Light"/>
              <a:sym typeface="Raleway Light"/>
            </a:endParaRPr>
          </a:p>
        </p:txBody>
      </p:sp>
      <p:sp>
        <p:nvSpPr>
          <p:cNvPr id="731" name="Google Shape;731;p56"/>
          <p:cNvSpPr txBox="1"/>
          <p:nvPr/>
        </p:nvSpPr>
        <p:spPr>
          <a:xfrm>
            <a:off x="548640" y="3383280"/>
            <a:ext cx="11094300" cy="384048"/>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Layer 2 depends on the proposed contact rule and legal review.</a:t>
            </a:r>
            <a:endParaRPr b="0" i="0" spc="0" sz="1100" u="none" cap="none" strike="noStrike">
              <a:solidFill>
                <a:schemeClr val="dk1"/>
              </a:solidFill>
              <a:latin typeface="Raleway Light"/>
              <a:ea typeface="Raleway Light"/>
              <a:cs typeface="Raleway Light"/>
              <a:sym typeface="Raleway Light"/>
            </a:endParaRPr>
          </a:p>
        </p:txBody>
      </p:sp>
      <p:sp>
        <p:nvSpPr>
          <p:cNvPr id="732" name="Google Shape;732;p56"/>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733" name="Google Shape;733;p56"/>
          <p:cNvSpPr/>
          <p:nvPr/>
        </p:nvSpPr>
        <p:spPr>
          <a:xfrm>
            <a:off x="548640" y="3886200"/>
            <a:ext cx="11091672" cy="2121408"/>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4" name="Google Shape;734;p56"/>
          <p:cNvSpPr txBox="1"/>
          <p:nvPr/>
        </p:nvSpPr>
        <p:spPr>
          <a:xfrm>
            <a:off x="777240" y="4041648"/>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300" u="none" cap="none" strike="noStrike">
                <a:solidFill>
                  <a:srgbClr val="565A32"/>
                </a:solidFill>
                <a:latin typeface="Raleway SemiBold"/>
                <a:ea typeface="Raleway SemiBold"/>
                <a:cs typeface="Raleway SemiBold"/>
                <a:sym typeface="Raleway SemiBold"/>
              </a:rPr>
              <a:t>Example report: Autumn Tasting at The Cellar House</a:t>
            </a:r>
            <a:endParaRPr/>
          </a:p>
        </p:txBody>
      </p:sp>
      <p:sp>
        <p:nvSpPr>
          <p:cNvPr id="735" name="Google Shape;735;p56"/>
          <p:cNvSpPr/>
          <p:nvPr/>
        </p:nvSpPr>
        <p:spPr>
          <a:xfrm>
            <a:off x="9646920" y="4041648"/>
            <a:ext cx="1783080" cy="274320"/>
          </a:xfrm>
          <a:prstGeom prst="roundRect">
            <a:avLst>
              <a:gd fmla="val 50000" name="adj"/>
            </a:avLst>
          </a:prstGeom>
          <a:no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Illustrative example</a:t>
            </a:r>
            <a:endParaRPr/>
          </a:p>
        </p:txBody>
      </p:sp>
      <p:sp>
        <p:nvSpPr>
          <p:cNvPr id="736" name="Google Shape;736;p56"/>
          <p:cNvSpPr txBox="1"/>
          <p:nvPr/>
        </p:nvSpPr>
        <p:spPr>
          <a:xfrm>
            <a:off x="777240" y="4389120"/>
            <a:ext cx="201168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2200" u="none" cap="none" strike="noStrike">
                <a:solidFill>
                  <a:srgbClr val="565A32"/>
                </a:solidFill>
                <a:latin typeface="Raleway Light"/>
                <a:ea typeface="Raleway Light"/>
                <a:cs typeface="Raleway Light"/>
                <a:sym typeface="Raleway Light"/>
              </a:rPr>
              <a:t>38</a:t>
            </a:r>
            <a:endParaRPr/>
          </a:p>
          <a:p>
            <a:pPr indent="0" lvl="0" marL="0" marR="0" rtl="0" algn="l">
              <a:lnSpc>
                <a:spcPct val="100000"/>
              </a:lnSpc>
              <a:spcBef>
                <a:spcPts val="0"/>
              </a:spcBef>
              <a:spcAft>
                <a:spcPts val="0"/>
              </a:spcAft>
              <a:buNone/>
            </a:pPr>
            <a:r>
              <a:rPr b="0" i="0" lang="en-US" spc="0" sz="1000" u="none" cap="none" strike="noStrike">
                <a:solidFill>
                  <a:srgbClr val="8B8B5C"/>
                </a:solidFill>
                <a:latin typeface="Raleway Light"/>
                <a:ea typeface="Raleway Light"/>
                <a:cs typeface="Raleway Light"/>
                <a:sym typeface="Raleway Light"/>
              </a:rPr>
              <a:t>guests joined</a:t>
            </a:r>
            <a:endParaRPr/>
          </a:p>
        </p:txBody>
      </p:sp>
      <p:sp>
        <p:nvSpPr>
          <p:cNvPr id="737" name="Google Shape;737;p56"/>
          <p:cNvSpPr txBox="1"/>
          <p:nvPr/>
        </p:nvSpPr>
        <p:spPr>
          <a:xfrm>
            <a:off x="777240" y="4901183"/>
            <a:ext cx="201168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2200" u="none" cap="none" strike="noStrike">
                <a:solidFill>
                  <a:srgbClr val="565A32"/>
                </a:solidFill>
                <a:latin typeface="Raleway Light"/>
                <a:ea typeface="Raleway Light"/>
                <a:cs typeface="Raleway Light"/>
                <a:sym typeface="Raleway Light"/>
              </a:rPr>
              <a:t>4</a:t>
            </a:r>
            <a:endParaRPr/>
          </a:p>
          <a:p>
            <a:pPr indent="0" lvl="0" marL="0" marR="0" rtl="0" algn="l">
              <a:lnSpc>
                <a:spcPct val="100000"/>
              </a:lnSpc>
              <a:spcBef>
                <a:spcPts val="0"/>
              </a:spcBef>
              <a:spcAft>
                <a:spcPts val="0"/>
              </a:spcAft>
              <a:buNone/>
            </a:pPr>
            <a:r>
              <a:rPr b="0" i="0" lang="en-US" spc="0" sz="1000" u="none" cap="none" strike="noStrike">
                <a:solidFill>
                  <a:srgbClr val="8B8B5C"/>
                </a:solidFill>
                <a:latin typeface="Raleway Light"/>
                <a:ea typeface="Raleway Light"/>
                <a:cs typeface="Raleway Light"/>
                <a:sym typeface="Raleway Light"/>
              </a:rPr>
              <a:t>wines tasted</a:t>
            </a:r>
            <a:endParaRPr/>
          </a:p>
        </p:txBody>
      </p:sp>
      <p:sp>
        <p:nvSpPr>
          <p:cNvPr id="738" name="Google Shape;738;p56"/>
          <p:cNvSpPr txBox="1"/>
          <p:nvPr/>
        </p:nvSpPr>
        <p:spPr>
          <a:xfrm>
            <a:off x="777240" y="5413248"/>
            <a:ext cx="201168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2200" u="none" cap="none" strike="noStrike">
                <a:solidFill>
                  <a:srgbClr val="565A32"/>
                </a:solidFill>
                <a:latin typeface="Raleway Light"/>
                <a:ea typeface="Raleway Light"/>
                <a:cs typeface="Raleway Light"/>
                <a:sym typeface="Raleway Light"/>
              </a:rPr>
              <a:t>126</a:t>
            </a:r>
            <a:endParaRPr/>
          </a:p>
          <a:p>
            <a:pPr indent="0" lvl="0" marL="0" marR="0" rtl="0" algn="l">
              <a:lnSpc>
                <a:spcPct val="100000"/>
              </a:lnSpc>
              <a:spcBef>
                <a:spcPts val="0"/>
              </a:spcBef>
              <a:spcAft>
                <a:spcPts val="0"/>
              </a:spcAft>
              <a:buNone/>
            </a:pPr>
            <a:r>
              <a:rPr b="0" i="0" lang="en-US" spc="0" sz="1000" u="none" cap="none" strike="noStrike">
                <a:solidFill>
                  <a:srgbClr val="8B8B5C"/>
                </a:solidFill>
                <a:latin typeface="Raleway Light"/>
                <a:ea typeface="Raleway Light"/>
                <a:cs typeface="Raleway Light"/>
                <a:sym typeface="Raleway Light"/>
              </a:rPr>
              <a:t>reactions</a:t>
            </a:r>
            <a:endParaRPr/>
          </a:p>
        </p:txBody>
      </p:sp>
      <p:sp>
        <p:nvSpPr>
          <p:cNvPr id="739" name="Google Shape;739;p56"/>
          <p:cNvSpPr txBox="1"/>
          <p:nvPr/>
        </p:nvSpPr>
        <p:spPr>
          <a:xfrm>
            <a:off x="2788920" y="4434840"/>
            <a:ext cx="32918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65A32"/>
                </a:solidFill>
                <a:latin typeface="Raleway SemiBold"/>
                <a:ea typeface="Raleway SemiBold"/>
                <a:cs typeface="Raleway SemiBold"/>
                <a:sym typeface="Raleway SemiBold"/>
              </a:rPr>
              <a:t>How Lune Basse landed</a:t>
            </a:r>
            <a:endParaRPr/>
          </a:p>
        </p:txBody>
      </p:sp>
      <p:sp>
        <p:nvSpPr>
          <p:cNvPr id="740" name="Google Shape;740;p56"/>
          <p:cNvSpPr/>
          <p:nvPr/>
        </p:nvSpPr>
        <p:spPr>
          <a:xfrm>
            <a:off x="2788920" y="4754880"/>
            <a:ext cx="1399032" cy="292608"/>
          </a:xfrm>
          <a:prstGeom prst="rect">
            <a:avLst/>
          </a:prstGeom>
          <a:solidFill>
            <a:srgbClr val="565A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1" name="Google Shape;741;p56"/>
          <p:cNvSpPr/>
          <p:nvPr/>
        </p:nvSpPr>
        <p:spPr>
          <a:xfrm>
            <a:off x="4187952" y="4754880"/>
            <a:ext cx="932688" cy="292608"/>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2" name="Google Shape;742;p56"/>
          <p:cNvSpPr/>
          <p:nvPr/>
        </p:nvSpPr>
        <p:spPr>
          <a:xfrm>
            <a:off x="5120640" y="4754880"/>
            <a:ext cx="466344" cy="292608"/>
          </a:xfrm>
          <a:prstGeom prst="rect">
            <a:avLst/>
          </a:prstGeom>
          <a:solidFill>
            <a:srgbClr val="B9B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3" name="Google Shape;743;p56"/>
          <p:cNvSpPr/>
          <p:nvPr/>
        </p:nvSpPr>
        <p:spPr>
          <a:xfrm>
            <a:off x="5586983" y="4754880"/>
            <a:ext cx="310896" cy="292608"/>
          </a:xfrm>
          <a:prstGeom prst="rect">
            <a:avLst/>
          </a:prstGeom>
          <a:solidFill>
            <a:srgbClr val="E3A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4" name="Google Shape;744;p56"/>
          <p:cNvSpPr/>
          <p:nvPr/>
        </p:nvSpPr>
        <p:spPr>
          <a:xfrm>
            <a:off x="2788920" y="5184648"/>
            <a:ext cx="128016" cy="128016"/>
          </a:xfrm>
          <a:prstGeom prst="rect">
            <a:avLst/>
          </a:prstGeom>
          <a:solidFill>
            <a:srgbClr val="565A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5" name="Google Shape;745;p56"/>
          <p:cNvSpPr txBox="1"/>
          <p:nvPr/>
        </p:nvSpPr>
        <p:spPr>
          <a:xfrm>
            <a:off x="2990088" y="5138928"/>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Love it 45%</a:t>
            </a:r>
            <a:endParaRPr/>
          </a:p>
        </p:txBody>
      </p:sp>
      <p:sp>
        <p:nvSpPr>
          <p:cNvPr id="746" name="Google Shape;746;p56"/>
          <p:cNvSpPr/>
          <p:nvPr/>
        </p:nvSpPr>
        <p:spPr>
          <a:xfrm>
            <a:off x="4343400" y="5184648"/>
            <a:ext cx="128016" cy="128016"/>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7" name="Google Shape;747;p56"/>
          <p:cNvSpPr txBox="1"/>
          <p:nvPr/>
        </p:nvSpPr>
        <p:spPr>
          <a:xfrm>
            <a:off x="4544568" y="5138928"/>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Like it 30%</a:t>
            </a:r>
            <a:endParaRPr/>
          </a:p>
        </p:txBody>
      </p:sp>
      <p:sp>
        <p:nvSpPr>
          <p:cNvPr id="748" name="Google Shape;748;p56"/>
          <p:cNvSpPr/>
          <p:nvPr/>
        </p:nvSpPr>
        <p:spPr>
          <a:xfrm>
            <a:off x="2788920" y="5422392"/>
            <a:ext cx="128016" cy="128016"/>
          </a:xfrm>
          <a:prstGeom prst="rect">
            <a:avLst/>
          </a:prstGeom>
          <a:solidFill>
            <a:srgbClr val="B9B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9" name="Google Shape;749;p56"/>
          <p:cNvSpPr txBox="1"/>
          <p:nvPr/>
        </p:nvSpPr>
        <p:spPr>
          <a:xfrm>
            <a:off x="2990088" y="5376672"/>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Not sure 15%</a:t>
            </a:r>
            <a:endParaRPr/>
          </a:p>
        </p:txBody>
      </p:sp>
      <p:sp>
        <p:nvSpPr>
          <p:cNvPr id="750" name="Google Shape;750;p56"/>
          <p:cNvSpPr/>
          <p:nvPr/>
        </p:nvSpPr>
        <p:spPr>
          <a:xfrm>
            <a:off x="4343400" y="5422392"/>
            <a:ext cx="128016" cy="128016"/>
          </a:xfrm>
          <a:prstGeom prst="rect">
            <a:avLst/>
          </a:prstGeom>
          <a:solidFill>
            <a:srgbClr val="E3A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51" name="Google Shape;751;p56"/>
          <p:cNvSpPr txBox="1"/>
          <p:nvPr/>
        </p:nvSpPr>
        <p:spPr>
          <a:xfrm>
            <a:off x="4544568" y="5376672"/>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Not for me 10%</a:t>
            </a:r>
            <a:endParaRPr/>
          </a:p>
        </p:txBody>
      </p:sp>
      <p:sp>
        <p:nvSpPr>
          <p:cNvPr id="752" name="Google Shape;752;p56"/>
          <p:cNvSpPr txBox="1"/>
          <p:nvPr/>
        </p:nvSpPr>
        <p:spPr>
          <a:xfrm>
            <a:off x="2788920" y="5641848"/>
            <a:ext cx="32918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Lune Basse was crowned the room’s Wine of the Day</a:t>
            </a:r>
            <a:endParaRPr/>
          </a:p>
        </p:txBody>
      </p:sp>
      <p:sp>
        <p:nvSpPr>
          <p:cNvPr id="753" name="Google Shape;753;p56"/>
          <p:cNvSpPr txBox="1"/>
          <p:nvPr/>
        </p:nvSpPr>
        <p:spPr>
          <a:xfrm>
            <a:off x="6355080" y="4434840"/>
            <a:ext cx="26517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65A32"/>
                </a:solidFill>
                <a:latin typeface="Raleway SemiBold"/>
                <a:ea typeface="Raleway SemiBold"/>
                <a:cs typeface="Raleway SemiBold"/>
                <a:sym typeface="Raleway SemiBold"/>
              </a:rPr>
              <a:t>Your question: which grape leads Lune Basse?</a:t>
            </a:r>
            <a:endParaRPr/>
          </a:p>
        </p:txBody>
      </p:sp>
      <p:sp>
        <p:nvSpPr>
          <p:cNvPr id="754" name="Google Shape;754;p56"/>
          <p:cNvSpPr txBox="1"/>
          <p:nvPr/>
        </p:nvSpPr>
        <p:spPr>
          <a:xfrm>
            <a:off x="6355080" y="4800600"/>
            <a:ext cx="14630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Merlot</a:t>
            </a:r>
            <a:endParaRPr/>
          </a:p>
        </p:txBody>
      </p:sp>
      <p:sp>
        <p:nvSpPr>
          <p:cNvPr id="755" name="Google Shape;755;p56"/>
          <p:cNvSpPr/>
          <p:nvPr/>
        </p:nvSpPr>
        <p:spPr>
          <a:xfrm>
            <a:off x="7772400" y="4837176"/>
            <a:ext cx="1005840" cy="155448"/>
          </a:xfrm>
          <a:prstGeom prst="rect">
            <a:avLst/>
          </a:prstGeom>
          <a:solidFill>
            <a:srgbClr val="565A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56" name="Google Shape;756;p56"/>
          <p:cNvSpPr txBox="1"/>
          <p:nvPr/>
        </p:nvSpPr>
        <p:spPr>
          <a:xfrm>
            <a:off x="8823960" y="4800600"/>
            <a:ext cx="457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64%</a:t>
            </a:r>
            <a:endParaRPr/>
          </a:p>
        </p:txBody>
      </p:sp>
      <p:sp>
        <p:nvSpPr>
          <p:cNvPr id="757" name="Google Shape;757;p56"/>
          <p:cNvSpPr txBox="1"/>
          <p:nvPr/>
        </p:nvSpPr>
        <p:spPr>
          <a:xfrm>
            <a:off x="6355080" y="5184648"/>
            <a:ext cx="14630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Cabernet Sauvignon</a:t>
            </a:r>
            <a:endParaRPr/>
          </a:p>
        </p:txBody>
      </p:sp>
      <p:sp>
        <p:nvSpPr>
          <p:cNvPr id="758" name="Google Shape;758;p56"/>
          <p:cNvSpPr/>
          <p:nvPr/>
        </p:nvSpPr>
        <p:spPr>
          <a:xfrm>
            <a:off x="7772400" y="5221224"/>
            <a:ext cx="377190" cy="155448"/>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59" name="Google Shape;759;p56"/>
          <p:cNvSpPr txBox="1"/>
          <p:nvPr/>
        </p:nvSpPr>
        <p:spPr>
          <a:xfrm>
            <a:off x="8195310" y="5184648"/>
            <a:ext cx="457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24%</a:t>
            </a:r>
            <a:endParaRPr/>
          </a:p>
        </p:txBody>
      </p:sp>
      <p:sp>
        <p:nvSpPr>
          <p:cNvPr id="760" name="Google Shape;760;p56"/>
          <p:cNvSpPr txBox="1"/>
          <p:nvPr/>
        </p:nvSpPr>
        <p:spPr>
          <a:xfrm>
            <a:off x="6355080" y="5568696"/>
            <a:ext cx="14630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Syrah</a:t>
            </a:r>
            <a:endParaRPr/>
          </a:p>
        </p:txBody>
      </p:sp>
      <p:sp>
        <p:nvSpPr>
          <p:cNvPr id="761" name="Google Shape;761;p56"/>
          <p:cNvSpPr/>
          <p:nvPr/>
        </p:nvSpPr>
        <p:spPr>
          <a:xfrm>
            <a:off x="7772400" y="5605272"/>
            <a:ext cx="188595" cy="155448"/>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62" name="Google Shape;762;p56"/>
          <p:cNvSpPr txBox="1"/>
          <p:nvPr/>
        </p:nvSpPr>
        <p:spPr>
          <a:xfrm>
            <a:off x="8006715" y="5568696"/>
            <a:ext cx="457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12%</a:t>
            </a:r>
            <a:endParaRPr/>
          </a:p>
        </p:txBody>
      </p:sp>
      <p:sp>
        <p:nvSpPr>
          <p:cNvPr id="763" name="Google Shape;763;p56"/>
          <p:cNvSpPr txBox="1"/>
          <p:nvPr/>
        </p:nvSpPr>
        <p:spPr>
          <a:xfrm>
            <a:off x="9326880" y="4434840"/>
            <a:ext cx="21488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65A32"/>
                </a:solidFill>
                <a:latin typeface="Raleway SemiBold"/>
                <a:ea typeface="Raleway SemiBold"/>
                <a:cs typeface="Raleway SemiBold"/>
                <a:sym typeface="Raleway SemiBold"/>
              </a:rPr>
              <a:t>In their own words</a:t>
            </a:r>
            <a:endParaRPr/>
          </a:p>
        </p:txBody>
      </p:sp>
      <p:sp>
        <p:nvSpPr>
          <p:cNvPr id="764" name="Google Shape;764;p56"/>
          <p:cNvSpPr txBox="1"/>
          <p:nvPr/>
        </p:nvSpPr>
        <p:spPr>
          <a:xfrm>
            <a:off x="9326880" y="4754880"/>
            <a:ext cx="214884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fresh · smooth · surprising · lovely with food · new favourite</a:t>
            </a:r>
            <a:endParaRPr/>
          </a:p>
        </p:txBody>
      </p:sp>
      <p:sp>
        <p:nvSpPr>
          <p:cNvPr id="765" name="Google Shape;765;p56"/>
          <p:cNvSpPr txBox="1"/>
          <p:nvPr/>
        </p:nvSpPr>
        <p:spPr>
          <a:xfrm>
            <a:off x="9326880" y="5532120"/>
            <a:ext cx="21488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Totals show once 5 or more took part. Never with a name.</a:t>
            </a:r>
            <a:endParaRPr/>
          </a:p>
        </p:txBody>
      </p:sp>
      <p:sp>
        <p:nvSpPr>
          <p:cNvPr id="766" name="Google Shape;766;p5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57"/>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Three layers of understanding</a:t>
            </a:r>
            <a:endParaRPr sz="3600"/>
          </a:p>
        </p:txBody>
      </p:sp>
      <p:sp>
        <p:nvSpPr>
          <p:cNvPr id="773" name="Google Shape;773;p57"/>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More understanding for organisers, without turning vineyards into public competitors.</a:t>
            </a:r>
            <a:endParaRPr sz="1800"/>
          </a:p>
        </p:txBody>
      </p:sp>
      <p:sp>
        <p:nvSpPr>
          <p:cNvPr id="774" name="Google Shape;774;p57"/>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775" name="Google Shape;775;p57"/>
          <p:cNvSpPr/>
          <p:nvPr/>
        </p:nvSpPr>
        <p:spPr>
          <a:xfrm>
            <a:off x="548640" y="1783080"/>
            <a:ext cx="6949500" cy="896100"/>
          </a:xfrm>
          <a:prstGeom prst="roundRect">
            <a:avLst>
              <a:gd fmla="val 1224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6" name="Google Shape;776;p57"/>
          <p:cNvSpPr/>
          <p:nvPr/>
        </p:nvSpPr>
        <p:spPr>
          <a:xfrm>
            <a:off x="777240" y="1938528"/>
            <a:ext cx="585300" cy="585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1</a:t>
            </a:r>
            <a:endParaRPr b="0" i="0" spc="0" sz="1600" u="none" cap="none" strike="noStrike">
              <a:solidFill>
                <a:schemeClr val="dk1"/>
              </a:solidFill>
              <a:latin typeface="Raleway Light"/>
              <a:ea typeface="Raleway Light"/>
              <a:cs typeface="Raleway Light"/>
              <a:sym typeface="Raleway Light"/>
            </a:endParaRPr>
          </a:p>
        </p:txBody>
      </p:sp>
      <p:sp>
        <p:nvSpPr>
          <p:cNvPr id="777" name="Google Shape;777;p57"/>
          <p:cNvSpPr txBox="1"/>
          <p:nvPr/>
        </p:nvSpPr>
        <p:spPr>
          <a:xfrm>
            <a:off x="1554480" y="1783080"/>
            <a:ext cx="5760600" cy="89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Your event  </a:t>
            </a:r>
            <a:r>
              <a:rPr b="0" i="0" lang="en-US" spc="0" sz="1400" u="none" cap="none" strike="noStrike">
                <a:solidFill>
                  <a:schemeClr val="dk1"/>
                </a:solidFill>
                <a:latin typeface="Raleway Light"/>
                <a:ea typeface="Raleway Light"/>
                <a:cs typeface="Raleway Light"/>
                <a:sym typeface="Raleway Light"/>
              </a:rPr>
              <a:t>Combined discoveries, favourites, crown patterns, polls, quiz responses and content engagement.</a:t>
            </a:r>
            <a:endParaRPr b="0" i="0" spc="0" sz="1400" u="none" cap="none" strike="noStrike">
              <a:solidFill>
                <a:schemeClr val="dk1"/>
              </a:solidFill>
              <a:latin typeface="Raleway Light"/>
              <a:ea typeface="Raleway Light"/>
              <a:cs typeface="Raleway Light"/>
              <a:sym typeface="Raleway Light"/>
            </a:endParaRPr>
          </a:p>
        </p:txBody>
      </p:sp>
      <p:sp>
        <p:nvSpPr>
          <p:cNvPr id="778" name="Google Shape;778;p57"/>
          <p:cNvSpPr/>
          <p:nvPr/>
        </p:nvSpPr>
        <p:spPr>
          <a:xfrm>
            <a:off x="548640" y="2807208"/>
            <a:ext cx="6949500" cy="896100"/>
          </a:xfrm>
          <a:prstGeom prst="roundRect">
            <a:avLst>
              <a:gd fmla="val 1224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9" name="Google Shape;779;p57"/>
          <p:cNvSpPr/>
          <p:nvPr/>
        </p:nvSpPr>
        <p:spPr>
          <a:xfrm>
            <a:off x="777240" y="2962656"/>
            <a:ext cx="585300" cy="585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2</a:t>
            </a:r>
            <a:endParaRPr b="0" i="0" spc="0" sz="1600" u="none" cap="none" strike="noStrike">
              <a:solidFill>
                <a:schemeClr val="dk1"/>
              </a:solidFill>
              <a:latin typeface="Raleway Light"/>
              <a:ea typeface="Raleway Light"/>
              <a:cs typeface="Raleway Light"/>
              <a:sym typeface="Raleway Light"/>
            </a:endParaRPr>
          </a:p>
        </p:txBody>
      </p:sp>
      <p:sp>
        <p:nvSpPr>
          <p:cNvPr id="780" name="Google Shape;780;p57"/>
          <p:cNvSpPr txBox="1"/>
          <p:nvPr/>
        </p:nvSpPr>
        <p:spPr>
          <a:xfrm>
            <a:off x="1554480" y="2807208"/>
            <a:ext cx="5760600" cy="89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Visitor contacts  </a:t>
            </a:r>
            <a:r>
              <a:rPr b="0" i="0" lang="en-US" spc="0" sz="1400" u="none" cap="none" strike="noStrike">
                <a:solidFill>
                  <a:schemeClr val="dk1"/>
                </a:solidFill>
                <a:latin typeface="Raleway Light"/>
                <a:ea typeface="Raleway Light"/>
                <a:cs typeface="Raleway Light"/>
                <a:sym typeface="Raleway Light"/>
              </a:rPr>
              <a:t>New relationships with individual attendees who expressly opt in to hearing from you.</a:t>
            </a:r>
            <a:endParaRPr b="0" i="0" spc="0" sz="1400" u="none" cap="none" strike="noStrike">
              <a:solidFill>
                <a:schemeClr val="dk1"/>
              </a:solidFill>
              <a:latin typeface="Raleway Light"/>
              <a:ea typeface="Raleway Light"/>
              <a:cs typeface="Raleway Light"/>
              <a:sym typeface="Raleway Light"/>
            </a:endParaRPr>
          </a:p>
        </p:txBody>
      </p:sp>
      <p:sp>
        <p:nvSpPr>
          <p:cNvPr id="781" name="Google Shape;781;p57"/>
          <p:cNvSpPr/>
          <p:nvPr/>
        </p:nvSpPr>
        <p:spPr>
          <a:xfrm>
            <a:off x="548640" y="3831336"/>
            <a:ext cx="6949500" cy="896100"/>
          </a:xfrm>
          <a:prstGeom prst="roundRect">
            <a:avLst>
              <a:gd fmla="val 1224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2" name="Google Shape;782;p57"/>
          <p:cNvSpPr/>
          <p:nvPr/>
        </p:nvSpPr>
        <p:spPr>
          <a:xfrm>
            <a:off x="777240" y="3986784"/>
            <a:ext cx="585300" cy="585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3</a:t>
            </a:r>
            <a:endParaRPr b="0" i="0" spc="0" sz="1600" u="none" cap="none" strike="noStrike">
              <a:solidFill>
                <a:schemeClr val="dk1"/>
              </a:solidFill>
              <a:latin typeface="Raleway Light"/>
              <a:ea typeface="Raleway Light"/>
              <a:cs typeface="Raleway Light"/>
              <a:sym typeface="Raleway Light"/>
            </a:endParaRPr>
          </a:p>
        </p:txBody>
      </p:sp>
      <p:sp>
        <p:nvSpPr>
          <p:cNvPr id="783" name="Google Shape;783;p57"/>
          <p:cNvSpPr txBox="1"/>
          <p:nvPr/>
        </p:nvSpPr>
        <p:spPr>
          <a:xfrm>
            <a:off x="1554480" y="3831336"/>
            <a:ext cx="5760600" cy="89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Wider trends  </a:t>
            </a:r>
            <a:r>
              <a:rPr b="0" i="0" lang="en-US" spc="0" sz="1400" u="none" cap="none" strike="noStrike">
                <a:solidFill>
                  <a:schemeClr val="dk1"/>
                </a:solidFill>
                <a:latin typeface="Raleway Light"/>
                <a:ea typeface="Raleway Light"/>
                <a:cs typeface="Raleway Light"/>
                <a:sym typeface="Raleway Light"/>
              </a:rPr>
              <a:t>Carefully anonymised, combined Entre Amis trends, where sample size and permissions support them.</a:t>
            </a:r>
            <a:endParaRPr b="0" i="0" spc="0" sz="1400" u="none" cap="none" strike="noStrike">
              <a:solidFill>
                <a:schemeClr val="dk1"/>
              </a:solidFill>
              <a:latin typeface="Raleway Light"/>
              <a:ea typeface="Raleway Light"/>
              <a:cs typeface="Raleway Light"/>
              <a:sym typeface="Raleway Light"/>
            </a:endParaRPr>
          </a:p>
        </p:txBody>
      </p:sp>
      <p:sp>
        <p:nvSpPr>
          <p:cNvPr id="784" name="Google Shape;784;p57"/>
          <p:cNvSpPr/>
          <p:nvPr/>
        </p:nvSpPr>
        <p:spPr>
          <a:xfrm>
            <a:off x="7772400" y="1783080"/>
            <a:ext cx="3870600" cy="2944500"/>
          </a:xfrm>
          <a:prstGeom prst="roundRect">
            <a:avLst>
              <a:gd fmla="val 3727"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5" name="Google Shape;785;p57"/>
          <p:cNvSpPr txBox="1"/>
          <p:nvPr/>
        </p:nvSpPr>
        <p:spPr>
          <a:xfrm>
            <a:off x="8046720" y="2011680"/>
            <a:ext cx="3321900" cy="256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300"/>
              <a:buFont typeface="Raleway SemiBold"/>
              <a:buNone/>
            </a:pPr>
            <a:r>
              <a:rPr b="1" i="0" lang="en-US" spc="0" sz="1300" u="none" cap="none" strike="noStrike">
                <a:solidFill>
                  <a:schemeClr val="lt2"/>
                </a:solidFill>
                <a:latin typeface="Raleway SemiBold"/>
                <a:ea typeface="Raleway SemiBold"/>
                <a:cs typeface="Raleway SemiBold"/>
                <a:sym typeface="Raleway SemiBold"/>
              </a:rPr>
              <a:t>OUR PROMISES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600"/>
              <a:buFont typeface="Raleway Light"/>
              <a:buNone/>
            </a:pPr>
            <a:r>
              <a:rPr b="0" i="0" lang="en-US" spc="0" sz="600" u="none" cap="none" strike="noStrike">
                <a:solidFill>
                  <a:schemeClr val="lt2"/>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4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Personal crowns stay personal.</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No public ranking.</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No risk of identifying anyone.</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No data sharing across platforms.</a:t>
            </a:r>
            <a:endParaRPr b="0" i="0" spc="0" sz="1500" u="none" cap="none" strike="noStrike">
              <a:solidFill>
                <a:schemeClr val="dk1"/>
              </a:solidFill>
              <a:latin typeface="Raleway Light"/>
              <a:ea typeface="Raleway Light"/>
              <a:cs typeface="Raleway Light"/>
              <a:sym typeface="Raleway Light"/>
            </a:endParaRPr>
          </a:p>
        </p:txBody>
      </p:sp>
      <p:sp>
        <p:nvSpPr>
          <p:cNvPr id="786" name="Google Shape;786;p57"/>
          <p:cNvSpPr txBox="1"/>
          <p:nvPr/>
        </p:nvSpPr>
        <p:spPr>
          <a:xfrm>
            <a:off x="548640" y="4983480"/>
            <a:ext cx="11091672" cy="7314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Layer 2 depends on the proposed contact rule and legal review. Layer names now match their descriptions (they were swapped).</a:t>
            </a:r>
            <a:endParaRPr b="0" i="0" spc="0" sz="1100" u="none" cap="none" strike="noStrike">
              <a:solidFill>
                <a:schemeClr val="dk1"/>
              </a:solidFill>
              <a:latin typeface="Raleway Light"/>
              <a:ea typeface="Raleway Light"/>
              <a:cs typeface="Raleway Light"/>
              <a:sym typeface="Raleway Light"/>
            </a:endParaRPr>
          </a:p>
        </p:txBody>
      </p:sp>
      <p:sp>
        <p:nvSpPr>
          <p:cNvPr id="787" name="Google Shape;787;p57"/>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788" name="Google Shape;788;p5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8"/>
          <p:cNvSpPr txBox="1"/>
          <p:nvPr>
            <p:ph type="title"/>
          </p:nvPr>
        </p:nvSpPr>
        <p:spPr>
          <a:xfrm>
            <a:off x="548652" y="411475"/>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a:t>Value for every vineyard</a:t>
            </a:r>
            <a:endParaRPr sz="3600"/>
          </a:p>
        </p:txBody>
      </p:sp>
      <p:sp>
        <p:nvSpPr>
          <p:cNvPr id="795" name="Google Shape;795;p58"/>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Beyond being tasted. Being remembered.</a:t>
            </a:r>
            <a:endParaRPr sz="1800"/>
          </a:p>
        </p:txBody>
      </p:sp>
      <p:sp>
        <p:nvSpPr>
          <p:cNvPr id="796" name="Google Shape;796;p58"/>
          <p:cNvSpPr/>
          <p:nvPr/>
        </p:nvSpPr>
        <p:spPr>
          <a:xfrm>
            <a:off x="6695261" y="2232366"/>
            <a:ext cx="2423100" cy="3063300"/>
          </a:xfrm>
          <a:prstGeom prst="roundRect">
            <a:avLst>
              <a:gd fmla="val 3774"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797" name="Google Shape;797;p58"/>
          <p:cNvSpPr txBox="1"/>
          <p:nvPr/>
        </p:nvSpPr>
        <p:spPr>
          <a:xfrm>
            <a:off x="6923861" y="2415246"/>
            <a:ext cx="19659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SemiBold"/>
              <a:buNone/>
            </a:pPr>
            <a:r>
              <a:rPr b="1" i="0" lang="en-US" spc="0" sz="1000" u="none" cap="none" strike="noStrike">
                <a:solidFill>
                  <a:schemeClr val="dk1"/>
                </a:solidFill>
                <a:latin typeface="Raleway SemiBold"/>
                <a:ea typeface="Raleway SemiBold"/>
                <a:cs typeface="Raleway SemiBold"/>
                <a:sym typeface="Raleway SemiBold"/>
              </a:rPr>
              <a:t>PRODUCER SUMMARY</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100"/>
              <a:buFont typeface="Raleway Light"/>
              <a:buNone/>
            </a:pPr>
            <a:r>
              <a:rPr b="0" i="1" lang="en-US" spc="0" sz="1100" u="none" cap="none" strike="noStrike">
                <a:solidFill>
                  <a:schemeClr val="dk1"/>
                </a:solidFill>
                <a:latin typeface="Raleway Light"/>
                <a:ea typeface="Raleway Light"/>
                <a:cs typeface="Raleway Light"/>
                <a:sym typeface="Raleway Light"/>
              </a:rPr>
              <a:t>Illustrative example</a:t>
            </a:r>
            <a:endParaRPr b="0" i="0" spc="0" sz="1500" u="none" cap="none" strike="noStrike">
              <a:solidFill>
                <a:schemeClr val="dk1"/>
              </a:solidFill>
              <a:latin typeface="Raleway Light"/>
              <a:ea typeface="Raleway Light"/>
              <a:cs typeface="Raleway Light"/>
              <a:sym typeface="Raleway Light"/>
            </a:endParaRPr>
          </a:p>
        </p:txBody>
      </p:sp>
      <p:sp>
        <p:nvSpPr>
          <p:cNvPr id="798" name="Google Shape;798;p58"/>
          <p:cNvSpPr txBox="1"/>
          <p:nvPr/>
        </p:nvSpPr>
        <p:spPr>
          <a:xfrm>
            <a:off x="6923861" y="3101046"/>
            <a:ext cx="1965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Raleway Light"/>
              <a:buNone/>
            </a:pPr>
            <a:r>
              <a:rPr b="0" i="0" lang="en-US" spc="0" sz="1100" u="none" cap="none" strike="noStrike">
                <a:solidFill>
                  <a:schemeClr val="dk1"/>
                </a:solidFill>
                <a:latin typeface="Raleway Light"/>
                <a:ea typeface="Raleway Light"/>
                <a:cs typeface="Raleway Light"/>
                <a:sym typeface="Raleway Light"/>
              </a:rPr>
              <a:t>Saved as a favourite</a:t>
            </a:r>
            <a:endParaRPr b="0" i="0" spc="0" sz="1100" u="none" cap="none" strike="noStrike">
              <a:solidFill>
                <a:schemeClr val="dk1"/>
              </a:solidFill>
              <a:latin typeface="Raleway Light"/>
              <a:ea typeface="Raleway Light"/>
              <a:cs typeface="Raleway Light"/>
              <a:sym typeface="Raleway Light"/>
            </a:endParaRPr>
          </a:p>
        </p:txBody>
      </p:sp>
      <p:sp>
        <p:nvSpPr>
          <p:cNvPr id="799" name="Google Shape;799;p58"/>
          <p:cNvSpPr/>
          <p:nvPr/>
        </p:nvSpPr>
        <p:spPr>
          <a:xfrm>
            <a:off x="6923861" y="3375366"/>
            <a:ext cx="1376100" cy="109800"/>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0" name="Google Shape;800;p58"/>
          <p:cNvSpPr txBox="1"/>
          <p:nvPr/>
        </p:nvSpPr>
        <p:spPr>
          <a:xfrm>
            <a:off x="6923861" y="3667974"/>
            <a:ext cx="1965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Raleway Light"/>
              <a:buNone/>
            </a:pPr>
            <a:r>
              <a:rPr b="0" i="0" lang="en-US" spc="0" sz="1100" u="none" cap="none" strike="noStrike">
                <a:solidFill>
                  <a:schemeClr val="dk1"/>
                </a:solidFill>
                <a:latin typeface="Raleway Light"/>
                <a:ea typeface="Raleway Light"/>
                <a:cs typeface="Raleway Light"/>
                <a:sym typeface="Raleway Light"/>
              </a:rPr>
              <a:t>Crowned Wine of the Day</a:t>
            </a:r>
            <a:endParaRPr b="0" i="0" spc="0" sz="1100" u="none" cap="none" strike="noStrike">
              <a:solidFill>
                <a:schemeClr val="dk1"/>
              </a:solidFill>
              <a:latin typeface="Raleway Light"/>
              <a:ea typeface="Raleway Light"/>
              <a:cs typeface="Raleway Light"/>
              <a:sym typeface="Raleway Light"/>
            </a:endParaRPr>
          </a:p>
        </p:txBody>
      </p:sp>
      <p:sp>
        <p:nvSpPr>
          <p:cNvPr id="801" name="Google Shape;801;p58"/>
          <p:cNvSpPr/>
          <p:nvPr/>
        </p:nvSpPr>
        <p:spPr>
          <a:xfrm>
            <a:off x="6923861" y="3942294"/>
            <a:ext cx="688200" cy="109800"/>
          </a:xfrm>
          <a:prstGeom prst="rect">
            <a:avLst/>
          </a:prstGeom>
          <a:solidFill>
            <a:schemeClr val="accent4"/>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2" name="Google Shape;802;p58"/>
          <p:cNvSpPr txBox="1"/>
          <p:nvPr/>
        </p:nvSpPr>
        <p:spPr>
          <a:xfrm>
            <a:off x="6923861" y="4234902"/>
            <a:ext cx="1965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Raleway Light"/>
              <a:buNone/>
            </a:pPr>
            <a:r>
              <a:rPr b="0" i="0" lang="en-US" spc="0" sz="1100" u="none" cap="none" strike="noStrike">
                <a:solidFill>
                  <a:schemeClr val="dk1"/>
                </a:solidFill>
                <a:latin typeface="Raleway Light"/>
                <a:ea typeface="Raleway Light"/>
                <a:cs typeface="Raleway Light"/>
                <a:sym typeface="Raleway Light"/>
              </a:rPr>
              <a:t>Answered your question</a:t>
            </a:r>
            <a:endParaRPr b="0" i="0" spc="0" sz="1100" u="none" cap="none" strike="noStrike">
              <a:solidFill>
                <a:schemeClr val="dk1"/>
              </a:solidFill>
              <a:latin typeface="Raleway Light"/>
              <a:ea typeface="Raleway Light"/>
              <a:cs typeface="Raleway Light"/>
              <a:sym typeface="Raleway Light"/>
            </a:endParaRPr>
          </a:p>
        </p:txBody>
      </p:sp>
      <p:sp>
        <p:nvSpPr>
          <p:cNvPr id="803" name="Google Shape;803;p58"/>
          <p:cNvSpPr/>
          <p:nvPr/>
        </p:nvSpPr>
        <p:spPr>
          <a:xfrm>
            <a:off x="6923861" y="4509222"/>
            <a:ext cx="1081200" cy="109800"/>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4" name="Google Shape;804;p58"/>
          <p:cNvSpPr txBox="1"/>
          <p:nvPr/>
        </p:nvSpPr>
        <p:spPr>
          <a:xfrm>
            <a:off x="6923861" y="4701246"/>
            <a:ext cx="19659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1" lang="en-US" spc="0" sz="1000" u="none" cap="none" strike="noStrike">
                <a:solidFill>
                  <a:schemeClr val="dk1"/>
                </a:solidFill>
                <a:latin typeface="Raleway Light"/>
                <a:ea typeface="Raleway Light"/>
                <a:cs typeface="Raleway Light"/>
                <a:sym typeface="Raleway Light"/>
              </a:rPr>
              <a:t>Every result shows how many people it's based on. Nothing under five.</a:t>
            </a:r>
            <a:endParaRPr b="0" i="0" spc="0" sz="1000" u="none" cap="none" strike="noStrike">
              <a:solidFill>
                <a:schemeClr val="dk1"/>
              </a:solidFill>
              <a:latin typeface="Raleway Light"/>
              <a:ea typeface="Raleway Light"/>
              <a:cs typeface="Raleway Light"/>
              <a:sym typeface="Raleway Light"/>
            </a:endParaRPr>
          </a:p>
        </p:txBody>
      </p:sp>
      <p:sp>
        <p:nvSpPr>
          <p:cNvPr id="805" name="Google Shape;805;p58"/>
          <p:cNvSpPr txBox="1"/>
          <p:nvPr/>
        </p:nvSpPr>
        <p:spPr>
          <a:xfrm>
            <a:off x="9432013" y="2288168"/>
            <a:ext cx="2743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SemiBold"/>
              <a:buNone/>
            </a:pPr>
            <a:r>
              <a:rPr b="1" i="0" lang="en-US" spc="0" sz="1000" u="none" cap="none" strike="noStrike">
                <a:solidFill>
                  <a:schemeClr val="dk1"/>
                </a:solidFill>
                <a:latin typeface="Raleway SemiBold"/>
                <a:ea typeface="Raleway SemiBold"/>
                <a:cs typeface="Raleway SemiBold"/>
                <a:sym typeface="Raleway SemiBold"/>
              </a:rPr>
              <a:t>WHAT VISITORS SAID (ILLUSTRATIVE)</a:t>
            </a:r>
            <a:endParaRPr b="0" i="0" spc="0" sz="1500" u="none" cap="none" strike="noStrike">
              <a:solidFill>
                <a:schemeClr val="dk1"/>
              </a:solidFill>
              <a:latin typeface="Raleway Light"/>
              <a:ea typeface="Raleway Light"/>
              <a:cs typeface="Raleway Light"/>
              <a:sym typeface="Raleway Light"/>
            </a:endParaRPr>
          </a:p>
        </p:txBody>
      </p:sp>
      <p:sp>
        <p:nvSpPr>
          <p:cNvPr id="806" name="Google Shape;806;p58"/>
          <p:cNvSpPr/>
          <p:nvPr/>
        </p:nvSpPr>
        <p:spPr>
          <a:xfrm>
            <a:off x="9267438" y="3440308"/>
            <a:ext cx="2407800" cy="640200"/>
          </a:xfrm>
          <a:prstGeom prst="roundRect">
            <a:avLst>
              <a:gd fmla="val 1428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7" name="Google Shape;807;p58"/>
          <p:cNvSpPr txBox="1"/>
          <p:nvPr/>
        </p:nvSpPr>
        <p:spPr>
          <a:xfrm>
            <a:off x="9432030" y="3440308"/>
            <a:ext cx="2078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Light"/>
              <a:buNone/>
            </a:pPr>
            <a:r>
              <a:rPr b="0" i="1" lang="en-US" spc="0" sz="1200" u="none" cap="none" strike="noStrike">
                <a:solidFill>
                  <a:schemeClr val="dk1"/>
                </a:solidFill>
                <a:latin typeface="Raleway Light"/>
                <a:ea typeface="Raleway Light"/>
                <a:cs typeface="Raleway Light"/>
                <a:sym typeface="Raleway Light"/>
              </a:rPr>
              <a:t>“Delicious. My first time with English sparkling.”</a:t>
            </a:r>
            <a:endParaRPr b="0" i="0" spc="0" sz="1200" u="none" cap="none" strike="noStrike">
              <a:solidFill>
                <a:schemeClr val="dk1"/>
              </a:solidFill>
              <a:latin typeface="Raleway Light"/>
              <a:ea typeface="Raleway Light"/>
              <a:cs typeface="Raleway Light"/>
              <a:sym typeface="Raleway Light"/>
            </a:endParaRPr>
          </a:p>
        </p:txBody>
      </p:sp>
      <p:sp>
        <p:nvSpPr>
          <p:cNvPr id="808" name="Google Shape;808;p58"/>
          <p:cNvSpPr/>
          <p:nvPr/>
        </p:nvSpPr>
        <p:spPr>
          <a:xfrm>
            <a:off x="9267438" y="2644783"/>
            <a:ext cx="2407800" cy="640200"/>
          </a:xfrm>
          <a:prstGeom prst="roundRect">
            <a:avLst>
              <a:gd fmla="val 1428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9" name="Google Shape;809;p58"/>
          <p:cNvSpPr txBox="1"/>
          <p:nvPr/>
        </p:nvSpPr>
        <p:spPr>
          <a:xfrm>
            <a:off x="9432030" y="2644783"/>
            <a:ext cx="2078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Light"/>
              <a:buNone/>
            </a:pPr>
            <a:r>
              <a:rPr b="0" i="1" lang="en-US" spc="0" sz="1200" u="none" cap="none" strike="noStrike">
                <a:solidFill>
                  <a:schemeClr val="dk1"/>
                </a:solidFill>
                <a:latin typeface="Raleway Light"/>
                <a:ea typeface="Raleway Light"/>
                <a:cs typeface="Raleway Light"/>
                <a:sym typeface="Raleway Light"/>
              </a:rPr>
              <a:t>“Surprising, in the best way.”</a:t>
            </a:r>
            <a:endParaRPr b="0" i="0" spc="0" sz="1200" u="none" cap="none" strike="noStrike">
              <a:solidFill>
                <a:schemeClr val="dk1"/>
              </a:solidFill>
              <a:latin typeface="Raleway Light"/>
              <a:ea typeface="Raleway Light"/>
              <a:cs typeface="Raleway Light"/>
              <a:sym typeface="Raleway Light"/>
            </a:endParaRPr>
          </a:p>
        </p:txBody>
      </p:sp>
      <p:sp>
        <p:nvSpPr>
          <p:cNvPr id="810" name="Google Shape;810;p58"/>
          <p:cNvSpPr/>
          <p:nvPr/>
        </p:nvSpPr>
        <p:spPr>
          <a:xfrm>
            <a:off x="9267463" y="4235833"/>
            <a:ext cx="2407800" cy="640200"/>
          </a:xfrm>
          <a:prstGeom prst="roundRect">
            <a:avLst>
              <a:gd fmla="val 1428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11" name="Google Shape;811;p58"/>
          <p:cNvSpPr txBox="1"/>
          <p:nvPr/>
        </p:nvSpPr>
        <p:spPr>
          <a:xfrm>
            <a:off x="9432055" y="4235833"/>
            <a:ext cx="2078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Light"/>
              <a:buNone/>
            </a:pPr>
            <a:r>
              <a:rPr b="0" i="1" lang="en-US" spc="0" sz="1200" u="none" cap="none" strike="noStrike">
                <a:solidFill>
                  <a:schemeClr val="dk1"/>
                </a:solidFill>
                <a:latin typeface="Raleway Light"/>
                <a:ea typeface="Raleway Light"/>
                <a:cs typeface="Raleway Light"/>
                <a:sym typeface="Raleway Light"/>
              </a:rPr>
              <a:t>“A new favourite. I’ll look for it again.”</a:t>
            </a:r>
            <a:endParaRPr b="0" i="0" spc="0" sz="1200" u="none" cap="none" strike="noStrike">
              <a:solidFill>
                <a:schemeClr val="dk1"/>
              </a:solidFill>
              <a:latin typeface="Raleway Light"/>
              <a:ea typeface="Raleway Light"/>
              <a:cs typeface="Raleway Light"/>
              <a:sym typeface="Raleway Light"/>
            </a:endParaRPr>
          </a:p>
        </p:txBody>
      </p:sp>
      <p:sp>
        <p:nvSpPr>
          <p:cNvPr id="812" name="Google Shape;812;p58"/>
          <p:cNvSpPr txBox="1"/>
          <p:nvPr>
            <p:ph idx="4294967295" type="sldNum"/>
          </p:nvPr>
        </p:nvSpPr>
        <p:spPr>
          <a:xfrm>
            <a:off x="10177272"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Raleway Light"/>
                <a:ea typeface="Raleway Light"/>
                <a:cs typeface="Raleway Light"/>
                <a:sym typeface="Raleway Light"/>
              </a:rPr>
              <a:t>‹#›</a:t>
            </a:fld>
            <a:endParaRPr b="0" i="0" sz="1200" u="none" cap="none" strike="noStrike">
              <a:solidFill>
                <a:schemeClr val="dk1"/>
              </a:solidFill>
              <a:latin typeface="Raleway Light"/>
              <a:ea typeface="Raleway Light"/>
              <a:cs typeface="Raleway Light"/>
              <a:sym typeface="Raleway Light"/>
            </a:endParaRPr>
          </a:p>
        </p:txBody>
      </p:sp>
      <p:sp>
        <p:nvSpPr>
          <p:cNvPr id="813" name="Google Shape;813;p58"/>
          <p:cNvSpPr/>
          <p:nvPr/>
        </p:nvSpPr>
        <p:spPr>
          <a:xfrm>
            <a:off x="548650" y="1655075"/>
            <a:ext cx="5997600" cy="4206300"/>
          </a:xfrm>
          <a:prstGeom prst="roundRect">
            <a:avLst>
              <a:gd fmla="val 2174"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4" name="Google Shape;814;p58"/>
          <p:cNvSpPr txBox="1"/>
          <p:nvPr/>
        </p:nvSpPr>
        <p:spPr>
          <a:xfrm>
            <a:off x="822975" y="1883680"/>
            <a:ext cx="3413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100"/>
              <a:buFont typeface="Raleway SemiBold"/>
              <a:buNone/>
            </a:pPr>
            <a:r>
              <a:rPr b="1" i="0" lang="en-US" spc="0" sz="1100" u="none" cap="none" strike="noStrike">
                <a:solidFill>
                  <a:srgbClr val="565A32"/>
                </a:solidFill>
                <a:latin typeface="Raleway SemiBold"/>
                <a:ea typeface="Raleway SemiBold"/>
                <a:cs typeface="Raleway SemiBold"/>
                <a:sym typeface="Raleway SemiBold"/>
              </a:rPr>
              <a:t>THE DAY AT A GLANCE</a:t>
            </a:r>
            <a:endParaRPr b="0" i="0" spc="0" sz="1500" u="none" cap="none" strike="noStrike">
              <a:solidFill>
                <a:srgbClr val="565A32"/>
              </a:solidFill>
              <a:latin typeface="Raleway Light"/>
              <a:ea typeface="Raleway Light"/>
              <a:cs typeface="Raleway Light"/>
              <a:sym typeface="Raleway Light"/>
            </a:endParaRPr>
          </a:p>
        </p:txBody>
      </p:sp>
      <p:sp>
        <p:nvSpPr>
          <p:cNvPr id="815" name="Google Shape;815;p58"/>
          <p:cNvSpPr/>
          <p:nvPr/>
        </p:nvSpPr>
        <p:spPr>
          <a:xfrm>
            <a:off x="4419310" y="1837960"/>
            <a:ext cx="1828800" cy="274200"/>
          </a:xfrm>
          <a:prstGeom prst="roundRect">
            <a:avLst>
              <a:gd fmla="val 50000" name="adj"/>
            </a:avLst>
          </a:prstGeom>
          <a:solidFill>
            <a:srgbClr val="EFEAE0"/>
          </a:solidFill>
          <a:ln cap="flat" cmpd="sng" w="12700">
            <a:solidFill>
              <a:srgbClr val="565A32"/>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000"/>
              <a:buFont typeface="Raleway SemiBold"/>
              <a:buNone/>
            </a:pPr>
            <a:r>
              <a:rPr b="1" i="0" lang="en-US" spc="0" sz="1000" u="none" cap="none" strike="noStrike">
                <a:solidFill>
                  <a:srgbClr val="565A32"/>
                </a:solidFill>
                <a:latin typeface="Raleway SemiBold"/>
                <a:ea typeface="Raleway SemiBold"/>
                <a:cs typeface="Raleway SemiBold"/>
                <a:sym typeface="Raleway SemiBold"/>
              </a:rPr>
              <a:t>ILLUSTRATIVE EXAMPLE</a:t>
            </a:r>
            <a:endParaRPr b="0" i="0" spc="0" sz="1000" u="none" cap="none" strike="noStrike">
              <a:solidFill>
                <a:srgbClr val="565A32"/>
              </a:solidFill>
              <a:latin typeface="Raleway Light"/>
              <a:ea typeface="Raleway Light"/>
              <a:cs typeface="Raleway Light"/>
              <a:sym typeface="Raleway Light"/>
            </a:endParaRPr>
          </a:p>
        </p:txBody>
      </p:sp>
      <p:sp>
        <p:nvSpPr>
          <p:cNvPr id="816" name="Google Shape;816;p58"/>
          <p:cNvSpPr/>
          <p:nvPr/>
        </p:nvSpPr>
        <p:spPr>
          <a:xfrm>
            <a:off x="822975" y="2295160"/>
            <a:ext cx="1686600" cy="731400"/>
          </a:xfrm>
          <a:prstGeom prst="roundRect">
            <a:avLst>
              <a:gd fmla="val 10000"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7" name="Google Shape;817;p58"/>
          <p:cNvSpPr txBox="1"/>
          <p:nvPr/>
        </p:nvSpPr>
        <p:spPr>
          <a:xfrm>
            <a:off x="987567" y="2368312"/>
            <a:ext cx="13572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400" u="none" cap="none" strike="noStrike">
                <a:solidFill>
                  <a:srgbClr val="565A32"/>
                </a:solidFill>
                <a:latin typeface="Raleway Light"/>
                <a:ea typeface="Raleway Light"/>
                <a:cs typeface="Raleway Light"/>
                <a:sym typeface="Raleway Light"/>
              </a:rPr>
              <a:t>1,240</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565A32"/>
              </a:buClr>
              <a:buSzPts val="1100"/>
              <a:buFont typeface="Raleway Light"/>
              <a:buNone/>
            </a:pPr>
            <a:r>
              <a:rPr b="0" i="0" lang="en-US" spc="0" sz="1100" u="none" cap="none" strike="noStrike">
                <a:solidFill>
                  <a:srgbClr val="565A32"/>
                </a:solidFill>
                <a:latin typeface="Raleway Light"/>
                <a:ea typeface="Raleway Light"/>
                <a:cs typeface="Raleway Light"/>
                <a:sym typeface="Raleway Light"/>
              </a:rPr>
              <a:t>wines tasted</a:t>
            </a:r>
            <a:endParaRPr b="0" i="0" spc="0" sz="1500" u="none" cap="none" strike="noStrike">
              <a:solidFill>
                <a:srgbClr val="565A32"/>
              </a:solidFill>
              <a:latin typeface="Raleway Light"/>
              <a:ea typeface="Raleway Light"/>
              <a:cs typeface="Raleway Light"/>
              <a:sym typeface="Raleway Light"/>
            </a:endParaRPr>
          </a:p>
        </p:txBody>
      </p:sp>
      <p:sp>
        <p:nvSpPr>
          <p:cNvPr id="818" name="Google Shape;818;p58"/>
          <p:cNvSpPr/>
          <p:nvPr/>
        </p:nvSpPr>
        <p:spPr>
          <a:xfrm>
            <a:off x="2692313" y="2295160"/>
            <a:ext cx="1686600" cy="731400"/>
          </a:xfrm>
          <a:prstGeom prst="roundRect">
            <a:avLst>
              <a:gd fmla="val 10000"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9" name="Google Shape;819;p58"/>
          <p:cNvSpPr txBox="1"/>
          <p:nvPr/>
        </p:nvSpPr>
        <p:spPr>
          <a:xfrm>
            <a:off x="2856905" y="2368312"/>
            <a:ext cx="13572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400" u="none" cap="none" strike="noStrike">
                <a:solidFill>
                  <a:srgbClr val="565A32"/>
                </a:solidFill>
                <a:latin typeface="Raleway Light"/>
                <a:ea typeface="Raleway Light"/>
                <a:cs typeface="Raleway Light"/>
                <a:sym typeface="Raleway Light"/>
              </a:rPr>
              <a:t>386</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565A32"/>
              </a:buClr>
              <a:buSzPts val="1100"/>
              <a:buFont typeface="Raleway Light"/>
              <a:buNone/>
            </a:pPr>
            <a:r>
              <a:rPr b="0" i="0" lang="en-US" spc="0" sz="1100" u="none" cap="none" strike="noStrike">
                <a:solidFill>
                  <a:srgbClr val="565A32"/>
                </a:solidFill>
                <a:latin typeface="Raleway Light"/>
                <a:ea typeface="Raleway Light"/>
                <a:cs typeface="Raleway Light"/>
                <a:sym typeface="Raleway Light"/>
              </a:rPr>
              <a:t>favourites saved</a:t>
            </a:r>
            <a:endParaRPr b="0" i="0" spc="0" sz="1500" u="none" cap="none" strike="noStrike">
              <a:solidFill>
                <a:srgbClr val="565A32"/>
              </a:solidFill>
              <a:latin typeface="Raleway Light"/>
              <a:ea typeface="Raleway Light"/>
              <a:cs typeface="Raleway Light"/>
              <a:sym typeface="Raleway Light"/>
            </a:endParaRPr>
          </a:p>
        </p:txBody>
      </p:sp>
      <p:sp>
        <p:nvSpPr>
          <p:cNvPr id="820" name="Google Shape;820;p58"/>
          <p:cNvSpPr/>
          <p:nvPr/>
        </p:nvSpPr>
        <p:spPr>
          <a:xfrm>
            <a:off x="4561652" y="2295160"/>
            <a:ext cx="1686600" cy="731400"/>
          </a:xfrm>
          <a:prstGeom prst="roundRect">
            <a:avLst>
              <a:gd fmla="val 10000"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1" name="Google Shape;821;p58"/>
          <p:cNvSpPr txBox="1"/>
          <p:nvPr/>
        </p:nvSpPr>
        <p:spPr>
          <a:xfrm>
            <a:off x="4726244" y="2368312"/>
            <a:ext cx="13572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400" u="none" cap="none" strike="noStrike">
                <a:solidFill>
                  <a:srgbClr val="565A32"/>
                </a:solidFill>
                <a:latin typeface="Raleway Light"/>
                <a:ea typeface="Raleway Light"/>
                <a:cs typeface="Raleway Light"/>
                <a:sym typeface="Raleway Light"/>
              </a:rPr>
              <a:t>212</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565A32"/>
              </a:buClr>
              <a:buSzPts val="1100"/>
              <a:buFont typeface="Raleway Light"/>
              <a:buNone/>
            </a:pPr>
            <a:r>
              <a:rPr b="0" i="0" lang="en-US" spc="0" sz="1100" u="none" cap="none" strike="noStrike">
                <a:solidFill>
                  <a:srgbClr val="565A32"/>
                </a:solidFill>
                <a:latin typeface="Raleway Light"/>
                <a:ea typeface="Raleway Light"/>
                <a:cs typeface="Raleway Light"/>
                <a:sym typeface="Raleway Light"/>
              </a:rPr>
              <a:t>comments</a:t>
            </a:r>
            <a:endParaRPr b="0" i="0" spc="0" sz="1500" u="none" cap="none" strike="noStrike">
              <a:solidFill>
                <a:srgbClr val="565A32"/>
              </a:solidFill>
              <a:latin typeface="Raleway Light"/>
              <a:ea typeface="Raleway Light"/>
              <a:cs typeface="Raleway Light"/>
              <a:sym typeface="Raleway Light"/>
            </a:endParaRPr>
          </a:p>
        </p:txBody>
      </p:sp>
      <p:sp>
        <p:nvSpPr>
          <p:cNvPr id="822" name="Google Shape;822;p58"/>
          <p:cNvSpPr/>
          <p:nvPr/>
        </p:nvSpPr>
        <p:spPr>
          <a:xfrm>
            <a:off x="822975" y="3163840"/>
            <a:ext cx="2621100" cy="1280100"/>
          </a:xfrm>
          <a:prstGeom prst="roundRect">
            <a:avLst>
              <a:gd fmla="val 5714"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3" name="Google Shape;823;p58"/>
          <p:cNvSpPr txBox="1"/>
          <p:nvPr/>
        </p:nvSpPr>
        <p:spPr>
          <a:xfrm>
            <a:off x="987567" y="3273568"/>
            <a:ext cx="2292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Votes by wine type</a:t>
            </a:r>
            <a:endParaRPr b="0" i="0" spc="0" sz="1200" u="none" cap="none" strike="noStrike">
              <a:solidFill>
                <a:srgbClr val="565A32"/>
              </a:solidFill>
              <a:latin typeface="Raleway Light"/>
              <a:ea typeface="Raleway Light"/>
              <a:cs typeface="Raleway Light"/>
              <a:sym typeface="Raleway Light"/>
            </a:endParaRPr>
          </a:p>
        </p:txBody>
      </p:sp>
      <p:sp>
        <p:nvSpPr>
          <p:cNvPr id="824" name="Google Shape;824;p58"/>
          <p:cNvSpPr txBox="1"/>
          <p:nvPr/>
        </p:nvSpPr>
        <p:spPr>
          <a:xfrm>
            <a:off x="987567" y="3602752"/>
            <a:ext cx="7773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Sparkling</a:t>
            </a:r>
            <a:endParaRPr b="0" i="0" spc="0" sz="1000" u="none" cap="none" strike="noStrike">
              <a:solidFill>
                <a:srgbClr val="565A32"/>
              </a:solidFill>
              <a:latin typeface="Raleway Light"/>
              <a:ea typeface="Raleway Light"/>
              <a:cs typeface="Raleway Light"/>
              <a:sym typeface="Raleway Light"/>
            </a:endParaRPr>
          </a:p>
        </p:txBody>
      </p:sp>
      <p:sp>
        <p:nvSpPr>
          <p:cNvPr id="825" name="Google Shape;825;p58"/>
          <p:cNvSpPr/>
          <p:nvPr/>
        </p:nvSpPr>
        <p:spPr>
          <a:xfrm>
            <a:off x="1783095" y="3639328"/>
            <a:ext cx="1001100" cy="146400"/>
          </a:xfrm>
          <a:prstGeom prst="rect">
            <a:avLst/>
          </a:prstGeom>
          <a:solidFill>
            <a:srgbClr val="E3AC9A"/>
          </a:solidFill>
          <a:ln cap="flat" cmpd="sng" w="12700">
            <a:solidFill>
              <a:srgbClr val="8B8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6" name="Google Shape;826;p58"/>
          <p:cNvSpPr txBox="1"/>
          <p:nvPr/>
        </p:nvSpPr>
        <p:spPr>
          <a:xfrm>
            <a:off x="2839090" y="3602752"/>
            <a:ext cx="45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48%</a:t>
            </a:r>
            <a:endParaRPr b="0" i="0" spc="0" sz="1000" u="none" cap="none" strike="noStrike">
              <a:solidFill>
                <a:srgbClr val="565A32"/>
              </a:solidFill>
              <a:latin typeface="Raleway Light"/>
              <a:ea typeface="Raleway Light"/>
              <a:cs typeface="Raleway Light"/>
              <a:sym typeface="Raleway Light"/>
            </a:endParaRPr>
          </a:p>
        </p:txBody>
      </p:sp>
      <p:sp>
        <p:nvSpPr>
          <p:cNvPr id="827" name="Google Shape;827;p58"/>
          <p:cNvSpPr txBox="1"/>
          <p:nvPr/>
        </p:nvSpPr>
        <p:spPr>
          <a:xfrm>
            <a:off x="987567" y="3877072"/>
            <a:ext cx="7773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White</a:t>
            </a:r>
            <a:endParaRPr b="0" i="0" spc="0" sz="1000" u="none" cap="none" strike="noStrike">
              <a:solidFill>
                <a:srgbClr val="565A32"/>
              </a:solidFill>
              <a:latin typeface="Raleway Light"/>
              <a:ea typeface="Raleway Light"/>
              <a:cs typeface="Raleway Light"/>
              <a:sym typeface="Raleway Light"/>
            </a:endParaRPr>
          </a:p>
        </p:txBody>
      </p:sp>
      <p:sp>
        <p:nvSpPr>
          <p:cNvPr id="828" name="Google Shape;828;p58"/>
          <p:cNvSpPr/>
          <p:nvPr/>
        </p:nvSpPr>
        <p:spPr>
          <a:xfrm>
            <a:off x="1783095" y="3913648"/>
            <a:ext cx="689700" cy="146400"/>
          </a:xfrm>
          <a:prstGeom prst="rect">
            <a:avLst/>
          </a:prstGeom>
          <a:solidFill>
            <a:srgbClr val="8B8B5C"/>
          </a:solidFill>
          <a:ln cap="flat" cmpd="sng" w="12700">
            <a:solidFill>
              <a:srgbClr val="8B8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9" name="Google Shape;829;p58"/>
          <p:cNvSpPr txBox="1"/>
          <p:nvPr/>
        </p:nvSpPr>
        <p:spPr>
          <a:xfrm>
            <a:off x="2527627" y="3877072"/>
            <a:ext cx="45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33%</a:t>
            </a:r>
            <a:endParaRPr b="0" i="0" spc="0" sz="1000" u="none" cap="none" strike="noStrike">
              <a:solidFill>
                <a:srgbClr val="565A32"/>
              </a:solidFill>
              <a:latin typeface="Raleway Light"/>
              <a:ea typeface="Raleway Light"/>
              <a:cs typeface="Raleway Light"/>
              <a:sym typeface="Raleway Light"/>
            </a:endParaRPr>
          </a:p>
        </p:txBody>
      </p:sp>
      <p:sp>
        <p:nvSpPr>
          <p:cNvPr id="830" name="Google Shape;830;p58"/>
          <p:cNvSpPr txBox="1"/>
          <p:nvPr/>
        </p:nvSpPr>
        <p:spPr>
          <a:xfrm>
            <a:off x="987567" y="4151392"/>
            <a:ext cx="7773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Red</a:t>
            </a:r>
            <a:endParaRPr b="0" i="0" spc="0" sz="1000" u="none" cap="none" strike="noStrike">
              <a:solidFill>
                <a:srgbClr val="565A32"/>
              </a:solidFill>
              <a:latin typeface="Raleway Light"/>
              <a:ea typeface="Raleway Light"/>
              <a:cs typeface="Raleway Light"/>
              <a:sym typeface="Raleway Light"/>
            </a:endParaRPr>
          </a:p>
        </p:txBody>
      </p:sp>
      <p:sp>
        <p:nvSpPr>
          <p:cNvPr id="831" name="Google Shape;831;p58"/>
          <p:cNvSpPr/>
          <p:nvPr/>
        </p:nvSpPr>
        <p:spPr>
          <a:xfrm>
            <a:off x="1783095" y="4187968"/>
            <a:ext cx="400500" cy="146400"/>
          </a:xfrm>
          <a:prstGeom prst="rect">
            <a:avLst/>
          </a:prstGeom>
          <a:solidFill>
            <a:srgbClr val="8B8B5C"/>
          </a:solidFill>
          <a:ln cap="flat" cmpd="sng" w="12700">
            <a:solidFill>
              <a:srgbClr val="8B8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2" name="Google Shape;832;p58"/>
          <p:cNvSpPr txBox="1"/>
          <p:nvPr/>
        </p:nvSpPr>
        <p:spPr>
          <a:xfrm>
            <a:off x="2238411" y="4151392"/>
            <a:ext cx="45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19%</a:t>
            </a:r>
            <a:endParaRPr b="0" i="0" spc="0" sz="1000" u="none" cap="none" strike="noStrike">
              <a:solidFill>
                <a:srgbClr val="565A32"/>
              </a:solidFill>
              <a:latin typeface="Raleway Light"/>
              <a:ea typeface="Raleway Light"/>
              <a:cs typeface="Raleway Light"/>
              <a:sym typeface="Raleway Light"/>
            </a:endParaRPr>
          </a:p>
        </p:txBody>
      </p:sp>
      <p:sp>
        <p:nvSpPr>
          <p:cNvPr id="833" name="Google Shape;833;p58"/>
          <p:cNvSpPr/>
          <p:nvPr/>
        </p:nvSpPr>
        <p:spPr>
          <a:xfrm>
            <a:off x="3626983" y="3163840"/>
            <a:ext cx="2621100" cy="1280100"/>
          </a:xfrm>
          <a:prstGeom prst="roundRect">
            <a:avLst>
              <a:gd fmla="val 5714"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4" name="Google Shape;834;p58"/>
          <p:cNvSpPr txBox="1"/>
          <p:nvPr/>
        </p:nvSpPr>
        <p:spPr>
          <a:xfrm>
            <a:off x="3791575" y="3273568"/>
            <a:ext cx="2292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How results are shared</a:t>
            </a:r>
            <a:endParaRPr b="0" i="0" spc="0" sz="1200" u="none" cap="none" strike="noStrike">
              <a:solidFill>
                <a:srgbClr val="565A32"/>
              </a:solidFill>
              <a:latin typeface="Raleway Light"/>
              <a:ea typeface="Raleway Light"/>
              <a:cs typeface="Raleway Light"/>
              <a:sym typeface="Raleway Light"/>
            </a:endParaRPr>
          </a:p>
        </p:txBody>
      </p:sp>
      <p:sp>
        <p:nvSpPr>
          <p:cNvPr id="835" name="Google Shape;835;p58"/>
          <p:cNvSpPr txBox="1"/>
          <p:nvPr/>
        </p:nvSpPr>
        <p:spPr>
          <a:xfrm>
            <a:off x="3791575" y="3575320"/>
            <a:ext cx="2292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050"/>
              <a:buFont typeface="Raleway Light"/>
              <a:buNone/>
            </a:pPr>
            <a:r>
              <a:rPr b="0" i="0" lang="en-US" spc="0" sz="1050" u="none" cap="none" strike="noStrike">
                <a:solidFill>
                  <a:srgbClr val="565A32"/>
                </a:solidFill>
                <a:latin typeface="Raleway Light"/>
                <a:ea typeface="Raleway Light"/>
                <a:cs typeface="Raleway Light"/>
                <a:sym typeface="Raleway Light"/>
              </a:rPr>
              <a:t>Your own wines only</a:t>
            </a:r>
            <a:endParaRPr b="0" i="0" spc="0" sz="105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300"/>
              </a:spcBef>
              <a:spcAft>
                <a:spcPts val="0"/>
              </a:spcAft>
              <a:buClr>
                <a:srgbClr val="565A32"/>
              </a:buClr>
              <a:buSzPts val="1050"/>
              <a:buFont typeface="Raleway Light"/>
              <a:buNone/>
            </a:pPr>
            <a:r>
              <a:rPr b="0" i="0" lang="en-US" spc="0" sz="1050" u="none" cap="none" strike="noStrike">
                <a:solidFill>
                  <a:srgbClr val="565A32"/>
                </a:solidFill>
                <a:latin typeface="Raleway Light"/>
                <a:ea typeface="Raleway Light"/>
                <a:cs typeface="Raleway Light"/>
                <a:sym typeface="Raleway Light"/>
              </a:rPr>
              <a:t>Never ranked against others</a:t>
            </a:r>
            <a:endParaRPr b="0" i="0" spc="0" sz="105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300"/>
              </a:spcBef>
              <a:spcAft>
                <a:spcPts val="0"/>
              </a:spcAft>
              <a:buClr>
                <a:srgbClr val="565A32"/>
              </a:buClr>
              <a:buSzPts val="1050"/>
              <a:buFont typeface="Raleway Light"/>
              <a:buNone/>
            </a:pPr>
            <a:r>
              <a:rPr b="0" i="0" lang="en-US" spc="0" sz="1050" u="none" cap="none" strike="noStrike">
                <a:solidFill>
                  <a:srgbClr val="565A32"/>
                </a:solidFill>
                <a:latin typeface="Raleway Light"/>
                <a:ea typeface="Raleway Light"/>
                <a:cs typeface="Raleway Light"/>
                <a:sym typeface="Raleway Light"/>
              </a:rPr>
              <a:t>Shown once 5 or more took part</a:t>
            </a:r>
            <a:endParaRPr b="0" i="0" spc="0" sz="105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300"/>
              </a:spcBef>
              <a:spcAft>
                <a:spcPts val="0"/>
              </a:spcAft>
              <a:buClr>
                <a:srgbClr val="565A32"/>
              </a:buClr>
              <a:buSzPts val="1050"/>
              <a:buFont typeface="Raleway SemiBold"/>
              <a:buNone/>
            </a:pPr>
            <a:r>
              <a:rPr b="1" i="0" lang="en-US" spc="0" sz="1050" u="none" cap="none" strike="noStrike">
                <a:solidFill>
                  <a:srgbClr val="565A32"/>
                </a:solidFill>
                <a:latin typeface="Raleway SemiBold"/>
                <a:ea typeface="Raleway SemiBold"/>
                <a:cs typeface="Raleway SemiBold"/>
                <a:sym typeface="Raleway SemiBold"/>
              </a:rPr>
              <a:t>No names, ever</a:t>
            </a:r>
            <a:endParaRPr b="0" i="0" spc="0" sz="1050" u="none" cap="none" strike="noStrike">
              <a:solidFill>
                <a:srgbClr val="565A32"/>
              </a:solidFill>
              <a:latin typeface="Raleway Light"/>
              <a:ea typeface="Raleway Light"/>
              <a:cs typeface="Raleway Light"/>
              <a:sym typeface="Raleway Light"/>
            </a:endParaRPr>
          </a:p>
        </p:txBody>
      </p:sp>
      <p:sp>
        <p:nvSpPr>
          <p:cNvPr id="836" name="Google Shape;836;p58"/>
          <p:cNvSpPr/>
          <p:nvPr/>
        </p:nvSpPr>
        <p:spPr>
          <a:xfrm>
            <a:off x="822975" y="4581160"/>
            <a:ext cx="5425200" cy="1005900"/>
          </a:xfrm>
          <a:prstGeom prst="roundRect">
            <a:avLst>
              <a:gd fmla="val 7273"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7" name="Google Shape;837;p58"/>
          <p:cNvSpPr txBox="1"/>
          <p:nvPr/>
        </p:nvSpPr>
        <p:spPr>
          <a:xfrm>
            <a:off x="987567" y="4672600"/>
            <a:ext cx="2286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What visitors said</a:t>
            </a:r>
            <a:endParaRPr b="0" i="0" spc="0" sz="1200" u="none" cap="none" strike="noStrike">
              <a:solidFill>
                <a:srgbClr val="565A32"/>
              </a:solidFill>
              <a:latin typeface="Raleway Light"/>
              <a:ea typeface="Raleway Light"/>
              <a:cs typeface="Raleway Light"/>
              <a:sym typeface="Raleway Light"/>
            </a:endParaRPr>
          </a:p>
        </p:txBody>
      </p:sp>
      <p:sp>
        <p:nvSpPr>
          <p:cNvPr id="838" name="Google Shape;838;p58"/>
          <p:cNvSpPr txBox="1"/>
          <p:nvPr/>
        </p:nvSpPr>
        <p:spPr>
          <a:xfrm>
            <a:off x="987567" y="4910344"/>
            <a:ext cx="5096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2000"/>
              <a:buFont typeface="Raleway SemiBold"/>
              <a:buNone/>
            </a:pPr>
            <a:r>
              <a:rPr b="1" i="0" lang="en-US" spc="0" sz="2000" u="none" cap="none" strike="noStrike">
                <a:solidFill>
                  <a:srgbClr val="565A32"/>
                </a:solidFill>
                <a:latin typeface="Raleway SemiBold"/>
                <a:ea typeface="Raleway SemiBold"/>
                <a:cs typeface="Raleway SemiBold"/>
                <a:sym typeface="Raleway SemiBold"/>
              </a:rPr>
              <a:t>delicious  </a:t>
            </a:r>
            <a:r>
              <a:rPr b="0" i="0" lang="en-US" spc="0" sz="1300" u="none" cap="none" strike="noStrike">
                <a:solidFill>
                  <a:srgbClr val="8B8B5C"/>
                </a:solidFill>
                <a:latin typeface="Raleway Light"/>
                <a:ea typeface="Raleway Light"/>
                <a:cs typeface="Raleway Light"/>
                <a:sym typeface="Raleway Light"/>
              </a:rPr>
              <a:t>fresh  </a:t>
            </a:r>
            <a:r>
              <a:rPr b="0" i="0" lang="en-US" spc="0" sz="1600" u="none" cap="none" strike="noStrike">
                <a:solidFill>
                  <a:srgbClr val="565A32"/>
                </a:solidFill>
                <a:latin typeface="Raleway Light"/>
                <a:ea typeface="Raleway Light"/>
                <a:cs typeface="Raleway Light"/>
                <a:sym typeface="Raleway Light"/>
              </a:rPr>
              <a:t>surprising  </a:t>
            </a:r>
            <a:r>
              <a:rPr b="0" i="0" lang="en-US" spc="0" sz="1100" u="none" cap="none" strike="noStrike">
                <a:solidFill>
                  <a:srgbClr val="8B8B5C"/>
                </a:solidFill>
                <a:latin typeface="Raleway Light"/>
                <a:ea typeface="Raleway Light"/>
                <a:cs typeface="Raleway Light"/>
                <a:sym typeface="Raleway Light"/>
              </a:rPr>
              <a:t>elegant</a:t>
            </a:r>
            <a:endParaRPr b="0" i="0" spc="0" sz="15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8B8B5C"/>
              </a:buClr>
              <a:buSzPts val="1400"/>
              <a:buFont typeface="Raleway SemiBold"/>
              <a:buNone/>
            </a:pPr>
            <a:r>
              <a:rPr b="1" i="0" lang="en-US" spc="0" sz="1400" u="none" cap="none" strike="noStrike">
                <a:solidFill>
                  <a:srgbClr val="8B8B5C"/>
                </a:solidFill>
                <a:latin typeface="Raleway SemiBold"/>
                <a:ea typeface="Raleway SemiBold"/>
                <a:cs typeface="Raleway SemiBold"/>
                <a:sym typeface="Raleway SemiBold"/>
              </a:rPr>
              <a:t>first time with English wine  </a:t>
            </a:r>
            <a:r>
              <a:rPr b="0" i="0" lang="en-US" spc="0" sz="1200" u="none" cap="none" strike="noStrike">
                <a:solidFill>
                  <a:srgbClr val="565A32"/>
                </a:solidFill>
                <a:latin typeface="Raleway Light"/>
                <a:ea typeface="Raleway Light"/>
                <a:cs typeface="Raleway Light"/>
                <a:sym typeface="Raleway Light"/>
              </a:rPr>
              <a:t>crisp  </a:t>
            </a:r>
            <a:r>
              <a:rPr b="0" i="0" lang="en-US" spc="0" sz="1400" u="none" cap="none" strike="noStrike">
                <a:solidFill>
                  <a:srgbClr val="565A32"/>
                </a:solidFill>
                <a:latin typeface="Raleway Light"/>
                <a:ea typeface="Raleway Light"/>
                <a:cs typeface="Raleway Light"/>
                <a:sym typeface="Raleway Light"/>
              </a:rPr>
              <a:t>new favourite</a:t>
            </a:r>
            <a:endParaRPr b="0" i="0" spc="0" sz="1500" u="none" cap="none" strike="noStrike">
              <a:solidFill>
                <a:srgbClr val="565A32"/>
              </a:solidFill>
              <a:latin typeface="Raleway Light"/>
              <a:ea typeface="Raleway Light"/>
              <a:cs typeface="Raleway Light"/>
              <a:sym typeface="Raleway Light"/>
            </a:endParaRPr>
          </a:p>
        </p:txBody>
      </p:sp>
      <p:sp>
        <p:nvSpPr>
          <p:cNvPr id="839" name="Google Shape;839;p58"/>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840" name="Google Shape;840;p58"/>
          <p:cNvSpPr/>
          <p:nvPr/>
        </p:nvSpPr>
        <p:spPr>
          <a:xfrm>
            <a:off x="548640" y="5943600"/>
            <a:ext cx="9418320" cy="420624"/>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800" u="none" cap="none" strike="noStrike">
                <a:solidFill>
                  <a:srgbClr val="EFEAE0"/>
                </a:solidFill>
                <a:latin typeface="Raleway SemiBold"/>
                <a:ea typeface="Raleway SemiBold"/>
                <a:cs typeface="Raleway SemiBold"/>
                <a:sym typeface="Raleway SemiBold"/>
              </a:rPr>
              <a:t>BE DISCOVERED  ·  BE REMEMBERED  ·  UNDERSTAND</a:t>
            </a:r>
            <a:endParaRPr/>
          </a:p>
        </p:txBody>
      </p:sp>
      <p:sp>
        <p:nvSpPr>
          <p:cNvPr id="841" name="Google Shape;841;p58"/>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59"/>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your visitors get. What you get.</a:t>
            </a:r>
            <a:endParaRPr sz="3600"/>
          </a:p>
        </p:txBody>
      </p:sp>
      <p:sp>
        <p:nvSpPr>
          <p:cNvPr id="848" name="Google Shape;848;p59"/>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One experience, two sets of benefits.</a:t>
            </a:r>
            <a:endParaRPr sz="1800"/>
          </a:p>
        </p:txBody>
      </p:sp>
      <p:sp>
        <p:nvSpPr>
          <p:cNvPr id="849" name="Google Shape;849;p59"/>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850" name="Google Shape;850;p59"/>
          <p:cNvSpPr/>
          <p:nvPr/>
        </p:nvSpPr>
        <p:spPr>
          <a:xfrm>
            <a:off x="548640" y="1783080"/>
            <a:ext cx="5409900" cy="3657600"/>
          </a:xfrm>
          <a:prstGeom prst="roundRect">
            <a:avLst>
              <a:gd fmla="val 3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1" name="Google Shape;851;p59"/>
          <p:cNvSpPr txBox="1"/>
          <p:nvPr/>
        </p:nvSpPr>
        <p:spPr>
          <a:xfrm>
            <a:off x="868680" y="2057400"/>
            <a:ext cx="4770000" cy="320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YOUR VISITORS GET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800"/>
              <a:buFont typeface="Raleway Light"/>
              <a:buNone/>
            </a:pPr>
            <a:r>
              <a:rPr b="0" i="0" lang="en-US" spc="0" sz="8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4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Meet the Maker: producer stories, with videos to come.</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Tasting prompts, polls, questions and quizzes, with no wrong answers.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Their wines and notes saved as they go.</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Their own Wine of the Day, crowned.</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A personal record in My wines, to revisit after the event.</a:t>
            </a:r>
            <a:endParaRPr b="0" i="0" spc="0" sz="1600" u="none" cap="none" strike="noStrike">
              <a:solidFill>
                <a:schemeClr val="dk1"/>
              </a:solidFill>
              <a:latin typeface="Raleway Light"/>
              <a:ea typeface="Raleway Light"/>
              <a:cs typeface="Raleway Light"/>
              <a:sym typeface="Raleway Light"/>
            </a:endParaRPr>
          </a:p>
        </p:txBody>
      </p:sp>
      <p:sp>
        <p:nvSpPr>
          <p:cNvPr id="852" name="Google Shape;852;p59"/>
          <p:cNvSpPr/>
          <p:nvPr/>
        </p:nvSpPr>
        <p:spPr>
          <a:xfrm>
            <a:off x="6233008" y="1783080"/>
            <a:ext cx="5409900" cy="3657600"/>
          </a:xfrm>
          <a:prstGeom prst="roundRect">
            <a:avLst>
              <a:gd fmla="val 3000"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3" name="Google Shape;853;p59"/>
          <p:cNvSpPr txBox="1"/>
          <p:nvPr/>
        </p:nvSpPr>
        <p:spPr>
          <a:xfrm>
            <a:off x="6553048" y="2057400"/>
            <a:ext cx="4770000" cy="320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400"/>
              <a:buFont typeface="Raleway SemiBold"/>
              <a:buNone/>
            </a:pPr>
            <a:r>
              <a:rPr b="1" i="0" lang="en-US" spc="0" sz="1400" u="none" cap="none" strike="noStrike">
                <a:solidFill>
                  <a:schemeClr val="lt2"/>
                </a:solidFill>
                <a:latin typeface="Raleway SemiBold"/>
                <a:ea typeface="Raleway SemiBold"/>
                <a:cs typeface="Raleway SemiBold"/>
                <a:sym typeface="Raleway SemiBold"/>
              </a:rPr>
              <a:t>YOU GET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800"/>
              <a:buFont typeface="Raleway Light"/>
              <a:buNone/>
            </a:pPr>
            <a:r>
              <a:rPr b="0" i="0" lang="en-US" spc="0" sz="800" u="none" cap="none" strike="noStrike">
                <a:solidFill>
                  <a:schemeClr val="lt2"/>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4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Insight into what visitors really think, in their own words.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Combined, anonymised reporting on saved wines, crowns, polls and tasting responses.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A home for your producers' stories, and a view of how visitors use them.</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New contacts, where visitors choose to hear from you.</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A reason to reconnect after the event.</a:t>
            </a:r>
            <a:endParaRPr b="0" i="0" spc="0" sz="1600" u="none" cap="none" strike="noStrike">
              <a:solidFill>
                <a:schemeClr val="dk1"/>
              </a:solidFill>
              <a:latin typeface="Raleway Light"/>
              <a:ea typeface="Raleway Light"/>
              <a:cs typeface="Raleway Light"/>
              <a:sym typeface="Raleway Light"/>
            </a:endParaRPr>
          </a:p>
        </p:txBody>
      </p:sp>
      <p:sp>
        <p:nvSpPr>
          <p:cNvPr id="854" name="Google Shape;854;p59"/>
          <p:cNvSpPr txBox="1"/>
          <p:nvPr/>
        </p:nvSpPr>
        <p:spPr>
          <a:xfrm>
            <a:off x="548640" y="5577840"/>
            <a:ext cx="5409900" cy="5028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Quizzes are in both Partner Mode and Event Mode (28 October). The prize draw still awaits the legal check (slide 23).</a:t>
            </a:r>
            <a:endParaRPr b="0" i="0" spc="0" sz="1100" u="none" cap="none" strike="noStrike">
              <a:solidFill>
                <a:schemeClr val="dk1"/>
              </a:solidFill>
              <a:latin typeface="Raleway Light"/>
              <a:ea typeface="Raleway Light"/>
              <a:cs typeface="Raleway Light"/>
              <a:sym typeface="Raleway Light"/>
            </a:endParaRPr>
          </a:p>
        </p:txBody>
      </p:sp>
      <p:sp>
        <p:nvSpPr>
          <p:cNvPr id="855" name="Google Shape;855;p59"/>
          <p:cNvSpPr txBox="1"/>
          <p:nvPr/>
        </p:nvSpPr>
        <p:spPr>
          <a:xfrm>
            <a:off x="6233008" y="5577840"/>
            <a:ext cx="5409900" cy="5028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Contacts: proposed rule, needs legal review.</a:t>
            </a:r>
            <a:endParaRPr b="0" i="0" spc="0" sz="1100" u="none" cap="none" strike="noStrike">
              <a:solidFill>
                <a:schemeClr val="dk1"/>
              </a:solidFill>
              <a:latin typeface="Raleway Light"/>
              <a:ea typeface="Raleway Light"/>
              <a:cs typeface="Raleway Light"/>
              <a:sym typeface="Raleway Light"/>
            </a:endParaRPr>
          </a:p>
        </p:txBody>
      </p:sp>
      <p:sp>
        <p:nvSpPr>
          <p:cNvPr id="856" name="Google Shape;856;p59"/>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857" name="Google Shape;857;p5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60"/>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a partnership might include</a:t>
            </a:r>
            <a:endParaRPr sz="3600"/>
          </a:p>
        </p:txBody>
      </p:sp>
      <p:sp>
        <p:nvSpPr>
          <p:cNvPr id="864" name="Google Shape;864;p60"/>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A possible year-round relationship across your events.</a:t>
            </a:r>
            <a:endParaRPr sz="1800"/>
          </a:p>
        </p:txBody>
      </p:sp>
      <p:sp>
        <p:nvSpPr>
          <p:cNvPr id="865" name="Google Shape;865;p60"/>
          <p:cNvSpPr/>
          <p:nvPr/>
        </p:nvSpPr>
        <p:spPr>
          <a:xfrm>
            <a:off x="9265615" y="457200"/>
            <a:ext cx="237744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866" name="Google Shape;866;p60"/>
          <p:cNvSpPr/>
          <p:nvPr/>
        </p:nvSpPr>
        <p:spPr>
          <a:xfrm>
            <a:off x="548640" y="1783080"/>
            <a:ext cx="3515258" cy="2194560"/>
          </a:xfrm>
          <a:prstGeom prst="roundRect">
            <a:avLst>
              <a:gd fmla="val 5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7" name="Google Shape;867;p60"/>
          <p:cNvSpPr txBox="1"/>
          <p:nvPr/>
        </p:nvSpPr>
        <p:spPr>
          <a:xfrm>
            <a:off x="777240" y="2011680"/>
            <a:ext cx="305805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DIGITAL</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The visitor experience, your producers' content, saved discoveries, polls, consent journeys and reporting.</a:t>
            </a:r>
            <a:endParaRPr b="0" i="0" spc="0" sz="1500" u="none" cap="none" strike="noStrike">
              <a:solidFill>
                <a:schemeClr val="dk1"/>
              </a:solidFill>
              <a:latin typeface="Raleway Light"/>
              <a:ea typeface="Raleway Light"/>
              <a:cs typeface="Raleway Light"/>
              <a:sym typeface="Raleway Light"/>
            </a:endParaRPr>
          </a:p>
        </p:txBody>
      </p:sp>
      <p:sp>
        <p:nvSpPr>
          <p:cNvPr id="868" name="Google Shape;868;p60"/>
          <p:cNvSpPr/>
          <p:nvPr/>
        </p:nvSpPr>
        <p:spPr>
          <a:xfrm>
            <a:off x="4338218" y="1783080"/>
            <a:ext cx="3515258" cy="2194560"/>
          </a:xfrm>
          <a:prstGeom prst="roundRect">
            <a:avLst>
              <a:gd fmla="val 5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9" name="Google Shape;869;p60"/>
          <p:cNvSpPr txBox="1"/>
          <p:nvPr/>
        </p:nvSpPr>
        <p:spPr>
          <a:xfrm>
            <a:off x="4566818" y="2011680"/>
            <a:ext cx="305805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AT THE EVENT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A small Entre Amis corner and scheduled moments on your main screen, fully costed.</a:t>
            </a:r>
            <a:endParaRPr b="0" i="0" spc="0" sz="1500" u="none" cap="none" strike="noStrike">
              <a:solidFill>
                <a:schemeClr val="dk1"/>
              </a:solidFill>
              <a:latin typeface="Raleway Light"/>
              <a:ea typeface="Raleway Light"/>
              <a:cs typeface="Raleway Light"/>
              <a:sym typeface="Raleway Light"/>
            </a:endParaRPr>
          </a:p>
        </p:txBody>
      </p:sp>
      <p:sp>
        <p:nvSpPr>
          <p:cNvPr id="870" name="Google Shape;870;p60"/>
          <p:cNvSpPr/>
          <p:nvPr/>
        </p:nvSpPr>
        <p:spPr>
          <a:xfrm>
            <a:off x="8127797" y="1783080"/>
            <a:ext cx="3515258" cy="2194560"/>
          </a:xfrm>
          <a:prstGeom prst="roundRect">
            <a:avLst>
              <a:gd fmla="val 5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1" name="Google Shape;871;p60"/>
          <p:cNvSpPr txBox="1"/>
          <p:nvPr/>
        </p:nvSpPr>
        <p:spPr>
          <a:xfrm>
            <a:off x="8356397" y="2011680"/>
            <a:ext cx="305805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AFTER THE EVENT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The post-event visitor experience, combined insight reports, a partner review and a potential Christmas activation.</a:t>
            </a:r>
            <a:endParaRPr b="0" i="0" spc="0" sz="1500" u="none" cap="none" strike="noStrike">
              <a:solidFill>
                <a:schemeClr val="dk1"/>
              </a:solidFill>
              <a:latin typeface="Raleway Light"/>
              <a:ea typeface="Raleway Light"/>
              <a:cs typeface="Raleway Light"/>
              <a:sym typeface="Raleway Light"/>
            </a:endParaRPr>
          </a:p>
        </p:txBody>
      </p:sp>
      <p:sp>
        <p:nvSpPr>
          <p:cNvPr id="872" name="Google Shape;872;p60"/>
          <p:cNvSpPr txBox="1"/>
          <p:nvPr/>
        </p:nvSpPr>
        <p:spPr>
          <a:xfrm>
            <a:off x="548640" y="4251960"/>
            <a:ext cx="11094415" cy="64008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DECIDE  </a:t>
            </a:r>
            <a:r>
              <a:rPr b="0" i="0" lang="en-US" spc="0" sz="1100" u="none" cap="none" strike="noStrike">
                <a:solidFill>
                  <a:schemeClr val="dk1"/>
                </a:solidFill>
                <a:latin typeface="Raleway Light"/>
                <a:ea typeface="Raleway Light"/>
                <a:cs typeface="Raleway Light"/>
                <a:sym typeface="Raleway Light"/>
              </a:rPr>
              <a:t>The indicative price line is removed: nothing may be priced until confirmed. Pricing belongs in each organiser's proposal.</a:t>
            </a:r>
            <a:endParaRPr b="0" i="0" spc="0" sz="1100" u="none" cap="none" strike="noStrike">
              <a:solidFill>
                <a:schemeClr val="dk1"/>
              </a:solidFill>
              <a:latin typeface="Raleway Light"/>
              <a:ea typeface="Raleway Light"/>
              <a:cs typeface="Raleway Light"/>
              <a:sym typeface="Raleway Light"/>
            </a:endParaRPr>
          </a:p>
        </p:txBody>
      </p:sp>
      <p:sp>
        <p:nvSpPr>
          <p:cNvPr id="873" name="Google Shape;873;p60"/>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874" name="Google Shape;874;p6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61"/>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How we'll show it working</a:t>
            </a:r>
            <a:endParaRPr sz="3600"/>
          </a:p>
        </p:txBody>
      </p:sp>
      <p:sp>
        <p:nvSpPr>
          <p:cNvPr id="881" name="Google Shape;881;p61"/>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The experience and evidence first.</a:t>
            </a:r>
            <a:endParaRPr sz="1800"/>
          </a:p>
        </p:txBody>
      </p:sp>
      <p:sp>
        <p:nvSpPr>
          <p:cNvPr id="882" name="Google Shape;882;p61"/>
          <p:cNvSpPr/>
          <p:nvPr/>
        </p:nvSpPr>
        <p:spPr>
          <a:xfrm>
            <a:off x="9265615" y="457200"/>
            <a:ext cx="237744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883" name="Google Shape;883;p61"/>
          <p:cNvSpPr/>
          <p:nvPr/>
        </p:nvSpPr>
        <p:spPr>
          <a:xfrm>
            <a:off x="548640" y="1783080"/>
            <a:ext cx="3515258" cy="2377440"/>
          </a:xfrm>
          <a:prstGeom prst="roundRect">
            <a:avLst>
              <a:gd fmla="val 461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4" name="Google Shape;884;p61"/>
          <p:cNvSpPr txBox="1"/>
          <p:nvPr/>
        </p:nvSpPr>
        <p:spPr>
          <a:xfrm>
            <a:off x="777240" y="2011680"/>
            <a:ext cx="3058058" cy="201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CLICKABLE PROTOTYPE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Your visitors' screens: discover, Meet the Maker, tasting prompts, save, crown, join in, memories and consent.</a:t>
            </a:r>
            <a:endParaRPr b="0" i="0" spc="0" sz="1500" u="none" cap="none" strike="noStrike">
              <a:solidFill>
                <a:schemeClr val="dk1"/>
              </a:solidFill>
              <a:latin typeface="Raleway Light"/>
              <a:ea typeface="Raleway Light"/>
              <a:cs typeface="Raleway Light"/>
              <a:sym typeface="Raleway Light"/>
            </a:endParaRPr>
          </a:p>
        </p:txBody>
      </p:sp>
      <p:sp>
        <p:nvSpPr>
          <p:cNvPr id="885" name="Google Shape;885;p61"/>
          <p:cNvSpPr/>
          <p:nvPr/>
        </p:nvSpPr>
        <p:spPr>
          <a:xfrm>
            <a:off x="4338218" y="1783080"/>
            <a:ext cx="3515258" cy="2377440"/>
          </a:xfrm>
          <a:prstGeom prst="roundRect">
            <a:avLst>
              <a:gd fmla="val 461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6" name="Google Shape;886;p61"/>
          <p:cNvSpPr txBox="1"/>
          <p:nvPr/>
        </p:nvSpPr>
        <p:spPr>
          <a:xfrm>
            <a:off x="4566818" y="2011680"/>
            <a:ext cx="3058058" cy="201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EXAMPLE INSIGHT REPORT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An illustrative dashboard and post-event report. Every number tied to a real interaction.</a:t>
            </a:r>
            <a:endParaRPr b="0" i="0" spc="0" sz="1500" u="none" cap="none" strike="noStrike">
              <a:solidFill>
                <a:schemeClr val="dk1"/>
              </a:solidFill>
              <a:latin typeface="Raleway Light"/>
              <a:ea typeface="Raleway Light"/>
              <a:cs typeface="Raleway Light"/>
              <a:sym typeface="Raleway Light"/>
            </a:endParaRPr>
          </a:p>
        </p:txBody>
      </p:sp>
      <p:sp>
        <p:nvSpPr>
          <p:cNvPr id="887" name="Google Shape;887;p61"/>
          <p:cNvSpPr/>
          <p:nvPr/>
        </p:nvSpPr>
        <p:spPr>
          <a:xfrm>
            <a:off x="8127797" y="1783080"/>
            <a:ext cx="3515258" cy="2377440"/>
          </a:xfrm>
          <a:prstGeom prst="roundRect">
            <a:avLst>
              <a:gd fmla="val 461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8" name="Google Shape;888;p61"/>
          <p:cNvSpPr txBox="1"/>
          <p:nvPr/>
        </p:nvSpPr>
        <p:spPr>
          <a:xfrm>
            <a:off x="8356397" y="2011680"/>
            <a:ext cx="3058058" cy="201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FIRST EVENT PILOT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Defined scope, costs, responsibilities, no exclusivity, and measures of success for your first event.</a:t>
            </a:r>
            <a:endParaRPr b="0" i="0" spc="0" sz="1500" u="none" cap="none" strike="noStrike">
              <a:solidFill>
                <a:schemeClr val="dk1"/>
              </a:solidFill>
              <a:latin typeface="Raleway Light"/>
              <a:ea typeface="Raleway Light"/>
              <a:cs typeface="Raleway Light"/>
              <a:sym typeface="Raleway Light"/>
            </a:endParaRPr>
          </a:p>
        </p:txBody>
      </p:sp>
      <p:sp>
        <p:nvSpPr>
          <p:cNvPr id="889" name="Google Shape;889;p61"/>
          <p:cNvSpPr txBox="1"/>
          <p:nvPr/>
        </p:nvSpPr>
        <p:spPr>
          <a:xfrm>
            <a:off x="548640" y="4434840"/>
            <a:ext cx="11094415" cy="77724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Where each is today: prototype built and working (15 October), with visitor and organiser screens and stand QR cards. Report screens built (16 October), not yet seen by a partner. First pilot: planned.</a:t>
            </a:r>
            <a:endParaRPr b="0" i="0" spc="0" sz="1100" u="none" cap="none" strike="noStrike">
              <a:solidFill>
                <a:schemeClr val="dk1"/>
              </a:solidFill>
              <a:latin typeface="Raleway Light"/>
              <a:ea typeface="Raleway Light"/>
              <a:cs typeface="Raleway Light"/>
              <a:sym typeface="Raleway Light"/>
            </a:endParaRPr>
          </a:p>
        </p:txBody>
      </p:sp>
      <p:sp>
        <p:nvSpPr>
          <p:cNvPr id="890" name="Google Shape;890;p61"/>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891" name="Google Shape;891;p6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896" name="Shape 896"/>
        <p:cNvGrpSpPr/>
        <p:nvPr/>
      </p:nvGrpSpPr>
      <p:grpSpPr>
        <a:xfrm>
          <a:off x="0" y="0"/>
          <a:ext cx="0" cy="0"/>
          <a:chOff x="0" y="0"/>
          <a:chExt cx="0" cy="0"/>
        </a:xfrm>
      </p:grpSpPr>
      <p:sp>
        <p:nvSpPr>
          <p:cNvPr id="897" name="Google Shape;897;p62"/>
          <p:cNvSpPr txBox="1"/>
          <p:nvPr/>
        </p:nvSpPr>
        <p:spPr>
          <a:xfrm>
            <a:off x="685800" y="475488"/>
            <a:ext cx="8229600" cy="530400"/>
          </a:xfrm>
          <a:prstGeom prst="rect">
            <a:avLst/>
          </a:prstGeom>
          <a:noFill/>
          <a:ln>
            <a:noFill/>
          </a:ln>
        </p:spPr>
        <p:txBody>
          <a:bodyPr anchorCtr="0" anchor="t" bIns="0" lIns="0" spcFirstLastPara="1" rIns="0" wrap="square" tIns="0">
            <a:normAutofit fontScale="92500" lnSpcReduction="1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3800" u="none" cap="none" strike="noStrike">
                <a:solidFill>
                  <a:srgbClr val="565A32"/>
                </a:solidFill>
                <a:latin typeface="Raleway Light"/>
                <a:ea typeface="Raleway Light"/>
                <a:cs typeface="Raleway Light"/>
                <a:sym typeface="Raleway Light"/>
              </a:rPr>
              <a:t>A founding partnership, not exclusivity</a:t>
            </a:r>
            <a:endParaRPr b="0" i="0" spc="0" sz="3800" u="none" cap="none" strike="noStrike">
              <a:solidFill>
                <a:schemeClr val="dk1"/>
              </a:solidFill>
              <a:latin typeface="Raleway Light"/>
              <a:ea typeface="Raleway Light"/>
              <a:cs typeface="Raleway Light"/>
              <a:sym typeface="Raleway Light"/>
            </a:endParaRPr>
          </a:p>
        </p:txBody>
      </p:sp>
      <p:sp>
        <p:nvSpPr>
          <p:cNvPr id="898" name="Google Shape;898;p62"/>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Help shape the Entre Amis event experience.</a:t>
            </a:r>
            <a:endParaRPr b="0" i="0" spc="0" sz="2600" u="none" cap="none" strike="noStrike">
              <a:solidFill>
                <a:schemeClr val="dk1"/>
              </a:solidFill>
              <a:latin typeface="Raleway Light"/>
              <a:ea typeface="Raleway Light"/>
              <a:cs typeface="Raleway Light"/>
              <a:sym typeface="Raleway Light"/>
            </a:endParaRPr>
          </a:p>
        </p:txBody>
      </p:sp>
      <p:sp>
        <p:nvSpPr>
          <p:cNvPr id="899" name="Google Shape;899;p62"/>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900" name="Google Shape;900;p62"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01" name="Google Shape;901;p62"/>
          <p:cNvSpPr txBox="1"/>
          <p:nvPr/>
        </p:nvSpPr>
        <p:spPr>
          <a:xfrm>
            <a:off x="685800" y="2249350"/>
            <a:ext cx="10142400" cy="246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Founding experience partner</a:t>
            </a:r>
            <a:endParaRPr b="1" i="0" spc="0" sz="1800" u="none" cap="none" strike="noStrike">
              <a:solidFill>
                <a:srgbClr val="565A32"/>
              </a:solidFill>
              <a:latin typeface="Raleway"/>
              <a:ea typeface="Raleway"/>
              <a:cs typeface="Raleway"/>
              <a:sym typeface="Raleway"/>
            </a:endParaRPr>
          </a:p>
          <a:p>
            <a:pPr indent="0" lvl="0" marL="0" marR="0" rtl="0" algn="l">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Co-design input, launch recognition, tailored event configuration and a shared post-event learning review.</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Two-year insight benefit</a:t>
            </a:r>
            <a:endParaRPr b="1" i="0" spc="0" sz="1800" u="none" cap="none" strike="noStrike">
              <a:solidFill>
                <a:srgbClr val="565A32"/>
              </a:solidFill>
              <a:latin typeface="Raleway"/>
              <a:ea typeface="Raleway"/>
              <a:cs typeface="Raleway"/>
              <a:sym typeface="Raleway"/>
            </a:endParaRPr>
          </a:p>
          <a:p>
            <a:pPr indent="0" lvl="0" marL="0" marR="0" rtl="0" algn="l">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Enhanced reporting and strategic insight conversations, within defined deliverables and data-quality thresholds.</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Enduring preferential rates</a:t>
            </a:r>
            <a:endParaRPr b="1" i="0" spc="0" sz="1800" u="none" cap="none" strike="noStrike">
              <a:solidFill>
                <a:srgbClr val="565A32"/>
              </a:solidFill>
              <a:latin typeface="Raleway"/>
              <a:ea typeface="Raleway"/>
              <a:cs typeface="Raleway"/>
              <a:sym typeface="Raleway"/>
            </a:endParaRPr>
          </a:p>
          <a:p>
            <a:pPr indent="0" lvl="0" marL="0" marR="0" rtl="0" algn="l">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Preferential rate for comparable future events; annual adjustments and expanded scope agreed separately. No exclusivity.</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02" name="Google Shape;902;p62"/>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903" name="Google Shape;903;p6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65A32"/>
        </a:solidFill>
      </p:bgPr>
    </p:bg>
    <p:spTree>
      <p:nvGrpSpPr>
        <p:cNvPr id="908" name="Shape 908"/>
        <p:cNvGrpSpPr/>
        <p:nvPr/>
      </p:nvGrpSpPr>
      <p:grpSpPr>
        <a:xfrm>
          <a:off x="0" y="0"/>
          <a:ext cx="0" cy="0"/>
          <a:chOff x="0" y="0"/>
          <a:chExt cx="0" cy="0"/>
        </a:xfrm>
      </p:grpSpPr>
      <p:sp>
        <p:nvSpPr>
          <p:cNvPr id="909" name="Google Shape;909;p63"/>
          <p:cNvSpPr/>
          <p:nvPr/>
        </p:nvSpPr>
        <p:spPr>
          <a:xfrm>
            <a:off x="594360" y="475488"/>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Arial"/>
              <a:buNone/>
            </a:pPr>
            <a:r>
              <a:rPr b="1" i="0" lang="en-US" spc="0" sz="1200" u="none" cap="none" strike="noStrike">
                <a:solidFill>
                  <a:srgbClr val="E3AC9A"/>
                </a:solidFill>
                <a:latin typeface="Raleway"/>
                <a:ea typeface="Raleway"/>
                <a:cs typeface="Raleway"/>
                <a:sym typeface="Raleway"/>
              </a:rPr>
              <a:t>ENTRE AMIS  /  WORKING MASTER</a:t>
            </a:r>
            <a:endParaRPr b="0" i="0" spc="0" sz="1200" u="none" cap="none" strike="noStrike">
              <a:solidFill>
                <a:schemeClr val="dk1"/>
              </a:solidFill>
              <a:latin typeface="Raleway Light"/>
              <a:ea typeface="Raleway Light"/>
              <a:cs typeface="Raleway Light"/>
              <a:sym typeface="Raleway Light"/>
            </a:endParaRPr>
          </a:p>
        </p:txBody>
      </p:sp>
      <p:sp>
        <p:nvSpPr>
          <p:cNvPr id="910" name="Google Shape;910;p63"/>
          <p:cNvSpPr/>
          <p:nvPr/>
        </p:nvSpPr>
        <p:spPr>
          <a:xfrm>
            <a:off x="594360" y="1325880"/>
            <a:ext cx="109728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3400"/>
              <a:buFont typeface="Arial"/>
              <a:buNone/>
            </a:pPr>
            <a:r>
              <a:rPr b="1" i="0" lang="en-US" spc="0" sz="3400" u="none" cap="none" strike="noStrike">
                <a:solidFill>
                  <a:srgbClr val="EFEAE0"/>
                </a:solidFill>
                <a:latin typeface="Raleway"/>
                <a:ea typeface="Raleway"/>
                <a:cs typeface="Raleway"/>
                <a:sym typeface="Raleway"/>
              </a:rPr>
              <a:t>06  Commercial opportunities and routes to market</a:t>
            </a:r>
            <a:endParaRPr b="0" i="0" spc="0" sz="3400" u="none" cap="none" strike="noStrike">
              <a:solidFill>
                <a:schemeClr val="dk1"/>
              </a:solidFill>
              <a:latin typeface="Raleway Light"/>
              <a:ea typeface="Raleway Light"/>
              <a:cs typeface="Raleway Light"/>
              <a:sym typeface="Raleway Light"/>
            </a:endParaRPr>
          </a:p>
        </p:txBody>
      </p:sp>
      <p:sp>
        <p:nvSpPr>
          <p:cNvPr id="911" name="Google Shape;911;p63"/>
          <p:cNvSpPr/>
          <p:nvPr/>
        </p:nvSpPr>
        <p:spPr>
          <a:xfrm>
            <a:off x="621792" y="2743200"/>
            <a:ext cx="10881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900"/>
              <a:buFont typeface="Arial"/>
              <a:buNone/>
            </a:pPr>
            <a:r>
              <a:rPr b="0" i="0" lang="en-US" spc="0" sz="1900" u="none" cap="none" strike="noStrike">
                <a:solidFill>
                  <a:srgbClr val="EFEAE0"/>
                </a:solidFill>
                <a:latin typeface="Raleway Light"/>
                <a:ea typeface="Raleway Light"/>
                <a:cs typeface="Raleway Light"/>
                <a:sym typeface="Raleway Light"/>
              </a:rPr>
              <a:t>The existing routes to value. Commercial figures are assumptions unless confirmed in the commercial decision log.</a:t>
            </a:r>
            <a:endParaRPr b="0" i="0" spc="0" sz="1900" u="none" cap="none" strike="noStrike">
              <a:solidFill>
                <a:schemeClr val="dk1"/>
              </a:solidFill>
              <a:latin typeface="Raleway Light"/>
              <a:ea typeface="Raleway Light"/>
              <a:cs typeface="Raleway Light"/>
              <a:sym typeface="Raleway Light"/>
            </a:endParaRPr>
          </a:p>
        </p:txBody>
      </p:sp>
      <p:sp>
        <p:nvSpPr>
          <p:cNvPr id="912" name="Google Shape;912;p63"/>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64"/>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18" name="Google Shape;918;p64"/>
          <p:cNvSpPr txBox="1"/>
          <p:nvPr/>
        </p:nvSpPr>
        <p:spPr>
          <a:xfrm>
            <a:off x="685800" y="475488"/>
            <a:ext cx="8229600" cy="5304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Why now</a:t>
            </a:r>
            <a:endParaRPr b="0" i="0" spc="0" sz="3800" u="none" cap="none" strike="noStrike">
              <a:solidFill>
                <a:schemeClr val="dk1"/>
              </a:solidFill>
              <a:latin typeface="Raleway Light"/>
              <a:ea typeface="Raleway Light"/>
              <a:cs typeface="Raleway Light"/>
              <a:sym typeface="Raleway Light"/>
            </a:endParaRPr>
          </a:p>
        </p:txBody>
      </p:sp>
      <p:sp>
        <p:nvSpPr>
          <p:cNvPr id="919" name="Google Shape;919;p64"/>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Today’s world is more connected than ever, but not always closer.</a:t>
            </a:r>
            <a:endParaRPr b="0" i="0" spc="0" sz="1900" u="none" cap="none" strike="noStrike">
              <a:solidFill>
                <a:schemeClr val="dk1"/>
              </a:solidFill>
              <a:latin typeface="Raleway Light"/>
              <a:ea typeface="Raleway Light"/>
              <a:cs typeface="Raleway Light"/>
              <a:sym typeface="Raleway Light"/>
            </a:endParaRPr>
          </a:p>
        </p:txBody>
      </p:sp>
      <p:sp>
        <p:nvSpPr>
          <p:cNvPr id="920" name="Google Shape;920;p64"/>
          <p:cNvSpPr txBox="1"/>
          <p:nvPr/>
        </p:nvSpPr>
        <p:spPr>
          <a:xfrm>
            <a:off x="709075" y="1924450"/>
            <a:ext cx="10634700" cy="1143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000" u="none" cap="none" strike="noStrike">
                <a:solidFill>
                  <a:srgbClr val="565A32"/>
                </a:solidFill>
                <a:latin typeface="Raleway Light"/>
                <a:ea typeface="Raleway Light"/>
                <a:cs typeface="Raleway Light"/>
                <a:sym typeface="Raleway Light"/>
              </a:rPr>
              <a:t>Digital communication is part of everyday life. Yet being in touch is not the same as feeling connected. Real-world experiences, relaxed conversation and shared moments have a different kind of value.</a:t>
            </a:r>
            <a:endParaRPr b="0" i="0" spc="0" sz="2000" u="none" cap="none" strike="noStrike">
              <a:solidFill>
                <a:schemeClr val="dk1"/>
              </a:solidFill>
              <a:latin typeface="Raleway Light"/>
              <a:ea typeface="Raleway Light"/>
              <a:cs typeface="Raleway Light"/>
              <a:sym typeface="Raleway Light"/>
            </a:endParaRPr>
          </a:p>
        </p:txBody>
      </p:sp>
      <p:sp>
        <p:nvSpPr>
          <p:cNvPr id="921" name="Google Shape;921;p64"/>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sp>
        <p:nvSpPr>
          <p:cNvPr id="922" name="Google Shape;922;p64"/>
          <p:cNvSpPr/>
          <p:nvPr/>
        </p:nvSpPr>
        <p:spPr>
          <a:xfrm>
            <a:off x="708679"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3" name="Google Shape;923;p64"/>
          <p:cNvSpPr/>
          <p:nvPr/>
        </p:nvSpPr>
        <p:spPr>
          <a:xfrm>
            <a:off x="708679" y="3364286"/>
            <a:ext cx="343200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4" name="Google Shape;924;p64"/>
          <p:cNvSpPr txBox="1"/>
          <p:nvPr/>
        </p:nvSpPr>
        <p:spPr>
          <a:xfrm>
            <a:off x="909829"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We communicate and discover through screens, but technology alone cannot create closeness.</a:t>
            </a:r>
            <a:endParaRPr b="0" i="0" spc="0" sz="1400" u="none" cap="none" strike="noStrike">
              <a:solidFill>
                <a:srgbClr val="565A32"/>
              </a:solidFill>
              <a:latin typeface="Raleway Light"/>
              <a:ea typeface="Raleway Light"/>
              <a:cs typeface="Raleway Light"/>
              <a:sym typeface="Raleway Light"/>
            </a:endParaRPr>
          </a:p>
        </p:txBody>
      </p:sp>
      <p:sp>
        <p:nvSpPr>
          <p:cNvPr id="925" name="Google Shape;925;p64"/>
          <p:cNvSpPr txBox="1"/>
          <p:nvPr/>
        </p:nvSpPr>
        <p:spPr>
          <a:xfrm>
            <a:off x="909829"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DIGITAL EVERYWHERE</a:t>
            </a:r>
            <a:endParaRPr b="0" i="0" spc="0" sz="1400" u="none" cap="none" strike="noStrike">
              <a:solidFill>
                <a:srgbClr val="565A32"/>
              </a:solidFill>
              <a:latin typeface="Raleway Light"/>
              <a:ea typeface="Raleway Light"/>
              <a:cs typeface="Raleway Light"/>
              <a:sym typeface="Raleway Light"/>
            </a:endParaRPr>
          </a:p>
        </p:txBody>
      </p:sp>
      <p:sp>
        <p:nvSpPr>
          <p:cNvPr id="926" name="Google Shape;926;p64"/>
          <p:cNvSpPr/>
          <p:nvPr/>
        </p:nvSpPr>
        <p:spPr>
          <a:xfrm>
            <a:off x="4402575"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7" name="Google Shape;927;p64"/>
          <p:cNvSpPr/>
          <p:nvPr/>
        </p:nvSpPr>
        <p:spPr>
          <a:xfrm>
            <a:off x="4402575" y="3364286"/>
            <a:ext cx="343200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8" name="Google Shape;928;p64"/>
          <p:cNvSpPr txBox="1"/>
          <p:nvPr/>
        </p:nvSpPr>
        <p:spPr>
          <a:xfrm>
            <a:off x="4603725"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TIME TOGETHER</a:t>
            </a:r>
            <a:endParaRPr b="0" i="0" spc="0" sz="1400" u="none" cap="none" strike="noStrike">
              <a:solidFill>
                <a:srgbClr val="565A32"/>
              </a:solidFill>
              <a:latin typeface="Raleway Light"/>
              <a:ea typeface="Raleway Light"/>
              <a:cs typeface="Raleway Light"/>
              <a:sym typeface="Raleway Light"/>
            </a:endParaRPr>
          </a:p>
        </p:txBody>
      </p:sp>
      <p:sp>
        <p:nvSpPr>
          <p:cNvPr id="929" name="Google Shape;929;p64"/>
          <p:cNvSpPr txBox="1"/>
          <p:nvPr/>
        </p:nvSpPr>
        <p:spPr>
          <a:xfrm>
            <a:off x="4603725"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Shared tables and real-world experiences offer space to be present, curious and open-minded.</a:t>
            </a:r>
            <a:endParaRPr b="0" i="0" spc="0" sz="1400" u="none" cap="none" strike="noStrike">
              <a:solidFill>
                <a:srgbClr val="565A32"/>
              </a:solidFill>
              <a:latin typeface="Raleway Light"/>
              <a:ea typeface="Raleway Light"/>
              <a:cs typeface="Raleway Light"/>
              <a:sym typeface="Raleway Light"/>
            </a:endParaRPr>
          </a:p>
        </p:txBody>
      </p:sp>
      <p:sp>
        <p:nvSpPr>
          <p:cNvPr id="930" name="Google Shape;930;p64"/>
          <p:cNvSpPr/>
          <p:nvPr/>
        </p:nvSpPr>
        <p:spPr>
          <a:xfrm>
            <a:off x="8016245" y="3425325"/>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31" name="Google Shape;931;p64"/>
          <p:cNvSpPr/>
          <p:nvPr/>
        </p:nvSpPr>
        <p:spPr>
          <a:xfrm>
            <a:off x="8016245" y="3364286"/>
            <a:ext cx="343200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32" name="Google Shape;932;p64"/>
          <p:cNvSpPr txBox="1"/>
          <p:nvPr/>
        </p:nvSpPr>
        <p:spPr>
          <a:xfrm>
            <a:off x="8217395"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MEMORIES THAT LAST</a:t>
            </a:r>
            <a:endParaRPr b="0" i="0" spc="0" sz="1400" u="none" cap="none" strike="noStrike">
              <a:solidFill>
                <a:srgbClr val="565A32"/>
              </a:solidFill>
              <a:latin typeface="Raleway Light"/>
              <a:ea typeface="Raleway Light"/>
              <a:cs typeface="Raleway Light"/>
              <a:sym typeface="Raleway Light"/>
            </a:endParaRPr>
          </a:p>
        </p:txBody>
      </p:sp>
      <p:sp>
        <p:nvSpPr>
          <p:cNvPr id="933" name="Google Shape;933;p64"/>
          <p:cNvSpPr txBox="1"/>
          <p:nvPr/>
        </p:nvSpPr>
        <p:spPr>
          <a:xfrm>
            <a:off x="8217395"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The moments that stay with us are often conversations, discoveries and stories shared with others.</a:t>
            </a:r>
            <a:endParaRPr b="0" i="0" spc="0" sz="1400" u="none" cap="none" strike="noStrike">
              <a:solidFill>
                <a:srgbClr val="565A32"/>
              </a:solidFill>
              <a:latin typeface="Raleway Light"/>
              <a:ea typeface="Raleway Light"/>
              <a:cs typeface="Raleway Light"/>
              <a:sym typeface="Raleway Light"/>
            </a:endParaRPr>
          </a:p>
        </p:txBody>
      </p:sp>
      <p:pic>
        <p:nvPicPr>
          <p:cNvPr id="934" name="Google Shape;934;p64"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35" name="Google Shape;935;p6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39" name="Shape 939"/>
        <p:cNvGrpSpPr/>
        <p:nvPr/>
      </p:nvGrpSpPr>
      <p:grpSpPr>
        <a:xfrm>
          <a:off x="0" y="0"/>
          <a:ext cx="0" cy="0"/>
          <a:chOff x="0" y="0"/>
          <a:chExt cx="0" cy="0"/>
        </a:xfrm>
      </p:grpSpPr>
      <p:sp>
        <p:nvSpPr>
          <p:cNvPr id="940" name="Google Shape;940;p65"/>
          <p:cNvSpPr txBox="1"/>
          <p:nvPr/>
        </p:nvSpPr>
        <p:spPr>
          <a:xfrm>
            <a:off x="685800" y="475488"/>
            <a:ext cx="8229600" cy="5304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physical game market</a:t>
            </a:r>
            <a:endParaRPr b="0" i="0" spc="0" sz="3800" u="none" cap="none" strike="noStrike">
              <a:solidFill>
                <a:schemeClr val="dk1"/>
              </a:solidFill>
              <a:latin typeface="Raleway Light"/>
              <a:ea typeface="Raleway Light"/>
              <a:cs typeface="Raleway Light"/>
              <a:sym typeface="Raleway Light"/>
            </a:endParaRPr>
          </a:p>
        </p:txBody>
      </p:sp>
      <p:sp>
        <p:nvSpPr>
          <p:cNvPr id="941" name="Google Shape;941;p65"/>
          <p:cNvSpPr txBox="1"/>
          <p:nvPr/>
        </p:nvSpPr>
        <p:spPr>
          <a:xfrm>
            <a:off x="685800" y="1042416"/>
            <a:ext cx="10058400" cy="3840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1200"/>
              </a:spcBef>
              <a:spcAft>
                <a:spcPts val="0"/>
              </a:spcAft>
              <a:buClr>
                <a:schemeClr val="dk1"/>
              </a:buClr>
              <a:buSzPts val="605"/>
              <a:buFont typeface="Arial"/>
              <a:buNone/>
            </a:pPr>
            <a:r>
              <a:rPr b="0" i="0" lang="en-US" spc="0" sz="1700" u="none" cap="none" strike="noStrike">
                <a:solidFill>
                  <a:srgbClr val="565A32"/>
                </a:solidFill>
                <a:latin typeface="Raleway Light"/>
                <a:ea typeface="Raleway Light"/>
                <a:cs typeface="Raleway Light"/>
                <a:sym typeface="Raleway Light"/>
              </a:rPr>
              <a:t>An established market with opportunities for distinctive social experiences.</a:t>
            </a:r>
            <a:endParaRPr b="0" i="0" spc="0" sz="1600" u="none" cap="none" strike="noStrike">
              <a:solidFill>
                <a:srgbClr val="8B8B5C"/>
              </a:solidFill>
              <a:latin typeface="Raleway Light"/>
              <a:ea typeface="Raleway Light"/>
              <a:cs typeface="Raleway Light"/>
              <a:sym typeface="Raleway Light"/>
            </a:endParaRPr>
          </a:p>
          <a:p>
            <a:pPr indent="0" lvl="0" marL="0" marR="0" rtl="0" algn="l">
              <a:lnSpc>
                <a:spcPct val="80000"/>
              </a:lnSpc>
              <a:spcBef>
                <a:spcPts val="1200"/>
              </a:spcBef>
              <a:spcAft>
                <a:spcPts val="0"/>
              </a:spcAft>
              <a:buClr>
                <a:srgbClr val="565A32"/>
              </a:buClr>
              <a:buSzPts val="1045"/>
              <a:buFont typeface="Raleway Light"/>
              <a:buNone/>
            </a:pPr>
            <a:r>
              <a:t/>
            </a:r>
            <a:endParaRPr b="0" i="0" spc="0" sz="1600" u="none" cap="none" strike="noStrike">
              <a:solidFill>
                <a:srgbClr val="8B8B5C"/>
              </a:solidFill>
              <a:latin typeface="Raleway Light"/>
              <a:ea typeface="Raleway Light"/>
              <a:cs typeface="Raleway Light"/>
              <a:sym typeface="Raleway Light"/>
            </a:endParaRPr>
          </a:p>
        </p:txBody>
      </p:sp>
      <p:sp>
        <p:nvSpPr>
          <p:cNvPr id="942" name="Google Shape;942;p65"/>
          <p:cNvSpPr txBox="1"/>
          <p:nvPr/>
        </p:nvSpPr>
        <p:spPr>
          <a:xfrm>
            <a:off x="709075" y="1828800"/>
            <a:ext cx="9006840" cy="1143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1350" u="none" cap="none" strike="noStrike">
                <a:solidFill>
                  <a:srgbClr val="565A32"/>
                </a:solidFill>
                <a:latin typeface="Raleway Light"/>
                <a:ea typeface="Raleway Light"/>
                <a:cs typeface="Raleway Light"/>
                <a:sym typeface="Raleway Light"/>
              </a:rPr>
              <a:t>A large, active market</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120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SPIEL Essen 2026 attracted a reported 230,000 visitors, with approximately 1,900 new games.</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Social, accessible and design-led games offer opportunities beyond traditional board-game enthusiasts.</a:t>
            </a:r>
            <a:endParaRPr b="0" i="0" spc="0" sz="15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350" u="none" cap="none" strike="noStrike">
                <a:solidFill>
                  <a:srgbClr val="565A32"/>
                </a:solidFill>
                <a:latin typeface="Raleway Light"/>
                <a:ea typeface="Raleway Light"/>
                <a:cs typeface="Raleway Light"/>
                <a:sym typeface="Raleway Light"/>
              </a:rPr>
              <a:t>A different kind of experience</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120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Existing wine games often emphasise knowledge, trivia or getting the answer right.</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Entre Amis puts conversation, participation and shared discovery at the centre.</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Premium presentation and gifting are important parts of the proposition.</a:t>
            </a:r>
            <a:endParaRPr b="0" i="0" spc="0" sz="15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350" u="none" cap="none" strike="noStrike">
                <a:solidFill>
                  <a:srgbClr val="565A32"/>
                </a:solidFill>
                <a:latin typeface="Raleway Light"/>
                <a:ea typeface="Raleway Light"/>
                <a:cs typeface="Raleway Light"/>
                <a:sym typeface="Raleway Light"/>
              </a:rPr>
              <a:t>More than one route to market</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120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Specialist games retailers and premium gifting.</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Vineyards, hospitality, events and experience-led retail.</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Potential publisher, distributor or licensing partnerships.</a:t>
            </a:r>
            <a:endParaRPr b="0" i="0" spc="0" sz="15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565A32"/>
              </a:buClr>
              <a:buSzPts val="2400"/>
              <a:buFont typeface="Raleway Light"/>
              <a:buNone/>
            </a:pPr>
            <a:r>
              <a:t/>
            </a:r>
            <a:endParaRPr b="0" i="0" spc="0" sz="1500" u="none" cap="none" strike="noStrike">
              <a:solidFill>
                <a:srgbClr val="8B8B5C"/>
              </a:solidFill>
              <a:latin typeface="Raleway Light"/>
              <a:ea typeface="Raleway Light"/>
              <a:cs typeface="Raleway Light"/>
              <a:sym typeface="Raleway Light"/>
            </a:endParaRPr>
          </a:p>
        </p:txBody>
      </p:sp>
      <p:sp>
        <p:nvSpPr>
          <p:cNvPr id="943" name="Google Shape;943;p65"/>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944" name="Google Shape;944;p65"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45" name="Google Shape;945;p65"/>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46" name="Google Shape;946;p65"/>
          <p:cNvSpPr/>
          <p:nvPr/>
        </p:nvSpPr>
        <p:spPr>
          <a:xfrm>
            <a:off x="685800" y="5715000"/>
            <a:ext cx="9052560" cy="50292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The opportunity: A premium social game people choose for the experience it creates, not the knowledge it tests.</a:t>
            </a:r>
            <a:endParaRPr/>
          </a:p>
        </p:txBody>
      </p:sp>
      <p:sp>
        <p:nvSpPr>
          <p:cNvPr id="947" name="Google Shape;947;p6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51" name="Shape 951"/>
        <p:cNvGrpSpPr/>
        <p:nvPr/>
      </p:nvGrpSpPr>
      <p:grpSpPr>
        <a:xfrm>
          <a:off x="0" y="0"/>
          <a:ext cx="0" cy="0"/>
          <a:chOff x="0" y="0"/>
          <a:chExt cx="0" cy="0"/>
        </a:xfrm>
      </p:grpSpPr>
      <p:sp>
        <p:nvSpPr>
          <p:cNvPr id="952" name="Google Shape;952;p66"/>
          <p:cNvSpPr txBox="1"/>
          <p:nvPr/>
        </p:nvSpPr>
        <p:spPr>
          <a:xfrm>
            <a:off x="685800" y="475488"/>
            <a:ext cx="8229600" cy="5304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1800"/>
              </a:spcBef>
              <a:spcAft>
                <a:spcPts val="0"/>
              </a:spcAft>
              <a:buClr>
                <a:schemeClr val="dk1"/>
              </a:buClr>
              <a:buSzPts val="688"/>
              <a:buFont typeface="Arial"/>
              <a:buNone/>
            </a:pPr>
            <a:r>
              <a:rPr b="0" i="0" lang="en-US" spc="0" sz="3800" u="none" cap="none" strike="noStrike">
                <a:solidFill>
                  <a:srgbClr val="565A32"/>
                </a:solidFill>
                <a:latin typeface="Raleway Light"/>
                <a:ea typeface="Raleway Light"/>
                <a:cs typeface="Raleway Light"/>
                <a:sym typeface="Raleway Light"/>
              </a:rPr>
              <a:t>The digital experience market</a:t>
            </a:r>
            <a:endParaRPr b="1" i="0" spc="0" sz="2363" u="none" cap="none" strike="noStrike">
              <a:solidFill>
                <a:srgbClr val="565A32"/>
              </a:solidFill>
              <a:latin typeface="Raleway"/>
              <a:ea typeface="Raleway"/>
              <a:cs typeface="Raleway"/>
              <a:sym typeface="Raleway"/>
            </a:endParaRPr>
          </a:p>
          <a:p>
            <a:pPr indent="0" lvl="0" marL="0" marR="0" rtl="0" algn="l">
              <a:lnSpc>
                <a:spcPct val="80000"/>
              </a:lnSpc>
              <a:spcBef>
                <a:spcPts val="400"/>
              </a:spcBef>
              <a:spcAft>
                <a:spcPts val="0"/>
              </a:spcAft>
              <a:buClr>
                <a:srgbClr val="565A32"/>
              </a:buClr>
              <a:buSzPts val="2375"/>
              <a:buFont typeface="Raleway Light"/>
              <a:buNone/>
            </a:pPr>
            <a:r>
              <a:t/>
            </a:r>
            <a:endParaRPr b="1" i="0" spc="0" sz="3675" u="none" cap="none" strike="noStrike">
              <a:solidFill>
                <a:srgbClr val="565A32"/>
              </a:solidFill>
              <a:latin typeface="Raleway"/>
              <a:ea typeface="Raleway"/>
              <a:cs typeface="Raleway"/>
              <a:sym typeface="Raleway"/>
            </a:endParaRPr>
          </a:p>
        </p:txBody>
      </p:sp>
      <p:sp>
        <p:nvSpPr>
          <p:cNvPr id="953" name="Google Shape;953;p66"/>
          <p:cNvSpPr txBox="1"/>
          <p:nvPr/>
        </p:nvSpPr>
        <p:spPr>
          <a:xfrm>
            <a:off x="685800" y="1042416"/>
            <a:ext cx="10058400" cy="384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1700" u="none" cap="none" strike="noStrike">
                <a:solidFill>
                  <a:srgbClr val="565A32"/>
                </a:solidFill>
                <a:latin typeface="Raleway Light"/>
                <a:ea typeface="Raleway Light"/>
                <a:cs typeface="Raleway Light"/>
                <a:sym typeface="Raleway Light"/>
              </a:rPr>
              <a:t>Established wine apps serve different needs, leaving an opportunity to test a more connected experience.</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95000"/>
              </a:lnSpc>
              <a:spcBef>
                <a:spcPts val="1200"/>
              </a:spcBef>
              <a:spcAft>
                <a:spcPts val="0"/>
              </a:spcAft>
              <a:buClr>
                <a:schemeClr val="dk1"/>
              </a:buClr>
              <a:buSzPts val="605"/>
              <a:buFont typeface="Arial"/>
              <a:buNone/>
            </a:pPr>
            <a:r>
              <a:t/>
            </a:r>
            <a:endParaRPr b="0" i="0" spc="0" sz="1900" u="none" cap="none" strike="noStrike">
              <a:solidFill>
                <a:srgbClr val="565A32"/>
              </a:solidFill>
              <a:latin typeface="Raleway Light"/>
              <a:ea typeface="Raleway Light"/>
              <a:cs typeface="Raleway Light"/>
              <a:sym typeface="Raleway Light"/>
            </a:endParaRPr>
          </a:p>
          <a:p>
            <a:pPr indent="0" lvl="0" marL="0" marR="0" rtl="0" algn="l">
              <a:lnSpc>
                <a:spcPct val="80000"/>
              </a:lnSpc>
              <a:spcBef>
                <a:spcPts val="1200"/>
              </a:spcBef>
              <a:spcAft>
                <a:spcPts val="0"/>
              </a:spcAft>
              <a:buClr>
                <a:srgbClr val="565A32"/>
              </a:buClr>
              <a:buSzPts val="1045"/>
              <a:buFont typeface="Raleway Light"/>
              <a:buNone/>
            </a:pPr>
            <a:r>
              <a:t/>
            </a:r>
            <a:endParaRPr b="0" i="0" spc="0" sz="1900" u="none" cap="none" strike="noStrike">
              <a:solidFill>
                <a:srgbClr val="565A32"/>
              </a:solidFill>
              <a:latin typeface="Raleway Light"/>
              <a:ea typeface="Raleway Light"/>
              <a:cs typeface="Raleway Light"/>
              <a:sym typeface="Raleway Light"/>
            </a:endParaRPr>
          </a:p>
        </p:txBody>
      </p:sp>
      <p:sp>
        <p:nvSpPr>
          <p:cNvPr id="954" name="Google Shape;954;p66"/>
          <p:cNvSpPr txBox="1"/>
          <p:nvPr/>
        </p:nvSpPr>
        <p:spPr>
          <a:xfrm>
            <a:off x="709075" y="1828800"/>
            <a:ext cx="9006840" cy="1143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1260" u="none" cap="none" strike="noStrike">
                <a:solidFill>
                  <a:srgbClr val="565A32"/>
                </a:solidFill>
                <a:latin typeface="Raleway Light"/>
                <a:ea typeface="Raleway Light"/>
                <a:cs typeface="Raleway Light"/>
                <a:sym typeface="Raleway Light"/>
              </a:rPr>
              <a:t>A fragmented competitive landscape</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120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Vivino: Wine discovery, ratings and purchasing.</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CellarTracker / InVintory: Collections and cellar management.</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WineGame / TasteWine: Gaming and guided tasting.</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Rewine: Digital engagement for individual wine venues.</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UK Vineyard Guide: Vineyard and experience discovery.</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260" u="none" cap="none" strike="noStrike">
                <a:solidFill>
                  <a:srgbClr val="565A32"/>
                </a:solidFill>
                <a:latin typeface="Raleway Light"/>
                <a:ea typeface="Raleway Light"/>
                <a:cs typeface="Raleway Light"/>
                <a:sym typeface="Raleway Light"/>
              </a:rPr>
              <a:t>Where Entre Amis is different</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120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Social play and shared experiences rather than individual wine expertise.</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A personal record of discoveries, favourites, people and occasions.</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Connections between consumer experiences, venues and events.</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260" u="none" cap="none" strike="noStrike">
                <a:solidFill>
                  <a:srgbClr val="565A32"/>
                </a:solidFill>
                <a:latin typeface="Raleway Light"/>
                <a:ea typeface="Raleway Light"/>
                <a:cs typeface="Raleway Light"/>
                <a:sym typeface="Raleway Light"/>
              </a:rPr>
              <a:t>What still needs validating</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120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Whether customers value the combined experience enough to pay for it.</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Whether partners see sufficient value in engagement, insights and ongoing relationships.</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565A32"/>
              </a:buClr>
              <a:buSzPts val="2400"/>
              <a:buFont typeface="Raleway Light"/>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55" name="Google Shape;955;p66"/>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956" name="Google Shape;956;p66"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57" name="Google Shape;957;p66"/>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58" name="Google Shape;958;p66"/>
          <p:cNvSpPr/>
          <p:nvPr/>
        </p:nvSpPr>
        <p:spPr>
          <a:xfrm>
            <a:off x="685800" y="5715000"/>
            <a:ext cx="9052560" cy="50292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The opportunity: To turn an enjoyable shared occasion into something people remember, revisit and build upon.</a:t>
            </a:r>
            <a:endParaRPr/>
          </a:p>
        </p:txBody>
      </p:sp>
      <p:sp>
        <p:nvSpPr>
          <p:cNvPr id="959" name="Google Shape;959;p6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64" name="Shape 964"/>
        <p:cNvGrpSpPr/>
        <p:nvPr/>
      </p:nvGrpSpPr>
      <p:grpSpPr>
        <a:xfrm>
          <a:off x="0" y="0"/>
          <a:ext cx="0" cy="0"/>
          <a:chOff x="0" y="0"/>
          <a:chExt cx="0" cy="0"/>
        </a:xfrm>
      </p:grpSpPr>
      <p:sp>
        <p:nvSpPr>
          <p:cNvPr id="965" name="Google Shape;965;p67"/>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Revenue streams</a:t>
            </a:r>
            <a:endParaRPr b="1" i="0" spc="0" sz="2700" u="none" cap="none" strike="noStrike">
              <a:solidFill>
                <a:srgbClr val="565A32"/>
              </a:solidFill>
              <a:latin typeface="Raleway SemiBold"/>
              <a:ea typeface="Raleway SemiBold"/>
              <a:cs typeface="Raleway SemiBold"/>
              <a:sym typeface="Raleway SemiBold"/>
            </a:endParaRPr>
          </a:p>
        </p:txBody>
      </p:sp>
      <p:pic>
        <p:nvPicPr>
          <p:cNvPr id="966" name="Google Shape;966;p67"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67" name="Google Shape;967;p67"/>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68" name="Google Shape;968;p67"/>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One connected brand. Multiple ways to create commercial value. </a:t>
            </a:r>
            <a:endParaRPr b="0" i="0" spc="0" sz="1900" u="none" cap="none" strike="noStrike">
              <a:solidFill>
                <a:schemeClr val="dk1"/>
              </a:solidFill>
              <a:latin typeface="Raleway Light"/>
              <a:ea typeface="Raleway Light"/>
              <a:cs typeface="Raleway Light"/>
              <a:sym typeface="Raleway Light"/>
            </a:endParaRPr>
          </a:p>
        </p:txBody>
      </p:sp>
      <p:graphicFrame>
        <p:nvGraphicFramePr>
          <p:cNvPr id="969" name="Google Shape;969;p67"/>
          <p:cNvGraphicFramePr/>
          <p:nvPr/>
        </p:nvGraphicFramePr>
        <p:xfrm>
          <a:off x="731575" y="1993550"/>
          <a:ext cx="3000000" cy="3000000"/>
        </p:xfrm>
        <a:graphic>
          <a:graphicData uri="http://schemas.openxmlformats.org/drawingml/2006/table">
            <a:tbl>
              <a:tblPr>
                <a:noFill/>
                <a:tableStyleId>{655FC373-D6BC-4E09-A9F9-84234A3C0306}</a:tableStyleId>
              </a:tblPr>
              <a:tblGrid>
                <a:gridCol w="2057400"/>
                <a:gridCol w="2057400"/>
                <a:gridCol w="2057400"/>
                <a:gridCol w="2057400"/>
                <a:gridCol w="2057400"/>
              </a:tblGrid>
              <a:tr h="381000">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Physical Game</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Connected App</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Partner Mode</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Event Mode</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Curated Editions and hosted experiences</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r>
              <a:tr h="381000">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Product sales or licensing royalties </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One-off Host purchase; Guests free</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Paid partner experiences and annual licences</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Event fees, activations and reporting</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Selective collaborations, limited editions and potentially Entre Amis Says. </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r>
              <a:tr h="381000">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Route under evaluation</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Proposed model</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Pilot model exploration</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Pilot model exploration</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Future opportunities, not launch revenue</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r>
            </a:tbl>
          </a:graphicData>
        </a:graphic>
      </p:graphicFrame>
      <p:sp>
        <p:nvSpPr>
          <p:cNvPr id="970" name="Google Shape;970;p67"/>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71" name="Google Shape;971;p6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76" name="Shape 976"/>
        <p:cNvGrpSpPr/>
        <p:nvPr/>
      </p:nvGrpSpPr>
      <p:grpSpPr>
        <a:xfrm>
          <a:off x="0" y="0"/>
          <a:ext cx="0" cy="0"/>
          <a:chOff x="0" y="0"/>
          <a:chExt cx="0" cy="0"/>
        </a:xfrm>
      </p:grpSpPr>
      <p:sp>
        <p:nvSpPr>
          <p:cNvPr id="977" name="Google Shape;977;p68"/>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Routes to market</a:t>
            </a:r>
            <a:endParaRPr b="1" i="0" spc="0" sz="2700" u="none" cap="none" strike="noStrike">
              <a:solidFill>
                <a:srgbClr val="565A32"/>
              </a:solidFill>
              <a:latin typeface="Raleway SemiBold"/>
              <a:ea typeface="Raleway SemiBold"/>
              <a:cs typeface="Raleway SemiBold"/>
              <a:sym typeface="Raleway SemiBold"/>
            </a:endParaRPr>
          </a:p>
        </p:txBody>
      </p:sp>
      <p:pic>
        <p:nvPicPr>
          <p:cNvPr id="978" name="Google Shape;978;p68"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79" name="Google Shape;979;p68"/>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graphicFrame>
        <p:nvGraphicFramePr>
          <p:cNvPr id="980" name="Google Shape;980;p68"/>
          <p:cNvGraphicFramePr/>
          <p:nvPr/>
        </p:nvGraphicFramePr>
        <p:xfrm>
          <a:off x="708988" y="1576436"/>
          <a:ext cx="3000000" cy="3000000"/>
        </p:xfrm>
        <a:graphic>
          <a:graphicData uri="http://schemas.openxmlformats.org/drawingml/2006/table">
            <a:tbl>
              <a:tblPr>
                <a:noFill/>
                <a:tableStyleId>{A1FAD5FD-ADFC-4D4B-842D-70D263419EB3}</a:tableStyleId>
              </a:tblPr>
              <a:tblGrid>
                <a:gridCol w="1497875"/>
                <a:gridCol w="5086500"/>
                <a:gridCol w="3401425"/>
              </a:tblGrid>
              <a:tr h="488050">
                <a:tc>
                  <a:txBody>
                    <a:bodyPr/>
                    <a:lstStyle/>
                    <a:p>
                      <a:pPr indent="0" lvl="0" marL="0" marR="0" rtl="0" algn="ctr">
                        <a:lnSpc>
                          <a:spcPct val="100000"/>
                        </a:lnSpc>
                        <a:spcBef>
                          <a:spcPts val="0"/>
                        </a:spcBef>
                        <a:spcAft>
                          <a:spcPts val="0"/>
                        </a:spcAft>
                        <a:buClr>
                          <a:srgbClr val="000000"/>
                        </a:buClr>
                        <a:buSzPts val="1400"/>
                        <a:buFont typeface="Arial"/>
                        <a:buNone/>
                      </a:pPr>
                      <a:r>
                        <a:rPr b="1" lang="en-US" spc="0" sz="1400" u="none" cap="none" strike="noStrike">
                          <a:solidFill>
                            <a:srgbClr val="EFEAE0"/>
                          </a:solidFill>
                          <a:latin typeface="Raleway"/>
                          <a:ea typeface="Raleway"/>
                          <a:cs typeface="Raleway"/>
                          <a:sym typeface="Raleway"/>
                        </a:rPr>
                        <a:t>Route</a:t>
                      </a:r>
                      <a:endParaRPr b="1" spc="0" sz="1400" u="none" cap="none" strike="noStrike">
                        <a:solidFill>
                          <a:srgbClr val="565A32"/>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pc="0" sz="1400" u="none" cap="none" strike="noStrike">
                          <a:solidFill>
                            <a:srgbClr val="EFEAE0"/>
                          </a:solidFill>
                          <a:latin typeface="Raleway"/>
                          <a:ea typeface="Raleway"/>
                          <a:cs typeface="Raleway"/>
                          <a:sym typeface="Raleway"/>
                        </a:rPr>
                        <a:t>How we reach the market</a:t>
                      </a:r>
                      <a:endParaRPr b="1" spc="0" sz="1400" u="none" cap="none" strike="noStrike">
                        <a:solidFill>
                          <a:srgbClr val="565A32"/>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pc="0" sz="1400" u="none" cap="none" strike="noStrike">
                          <a:solidFill>
                            <a:srgbClr val="EFEAE0"/>
                          </a:solidFill>
                          <a:latin typeface="Raleway"/>
                          <a:ea typeface="Raleway"/>
                          <a:cs typeface="Raleway"/>
                          <a:sym typeface="Raleway"/>
                        </a:rPr>
                        <a:t>Current position</a:t>
                      </a:r>
                      <a:endParaRPr b="1" spc="0" sz="1400" u="none" cap="none" strike="noStrike">
                        <a:solidFill>
                          <a:srgbClr val="565A32"/>
                        </a:solidFill>
                        <a:latin typeface="Raleway"/>
                        <a:ea typeface="Raleway"/>
                        <a:cs typeface="Raleway"/>
                        <a:sym typeface="Raleway"/>
                      </a:endParaRPr>
                    </a:p>
                  </a:txBody>
                  <a:tcPr marT="91425" marB="91425" marR="91425" marL="91425">
                    <a:solidFill>
                      <a:srgbClr val="565A32"/>
                    </a:solidFill>
                  </a:tcPr>
                </a:tc>
              </a:tr>
              <a:tr h="806200">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Physical game</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Direct online sales, premium gifting, specialist retailers, or a publisher/distributor licensing agreement</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Manufacturer quotes underway. Licensing being explored.</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859225">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Connected app</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App stores, website, physical-game buyers, guest invitations and partner/event experiences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One-off Host purchase proposed. Guest access free.</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843075">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Vineyard and venue partners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Direct relationships with vineyards, wineries, hospitality, retailers and wine clubs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English and French launch partners being sought.</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753175">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Events and festivals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Direct approaches to organisers, regional wine bodies and producers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Fizz Fest and Wine Garden of England among priority opportunities.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982950">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Future expansion</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Curated collaborations, limited editions, new experience categories and hosted stays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Longer-term opportunities, not launch commitments.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bl>
          </a:graphicData>
        </a:graphic>
      </p:graphicFrame>
      <p:sp>
        <p:nvSpPr>
          <p:cNvPr id="981" name="Google Shape;981;p68"/>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Different routes to customers. One connected Entre Amis brand. </a:t>
            </a:r>
            <a:endParaRPr b="0" i="0" spc="0" sz="1900" u="none" cap="none" strike="noStrike">
              <a:solidFill>
                <a:schemeClr val="dk1"/>
              </a:solidFill>
              <a:latin typeface="Raleway Light"/>
              <a:ea typeface="Raleway Light"/>
              <a:cs typeface="Raleway Light"/>
              <a:sym typeface="Raleway Light"/>
            </a:endParaRPr>
          </a:p>
        </p:txBody>
      </p:sp>
      <p:sp>
        <p:nvSpPr>
          <p:cNvPr id="982" name="Google Shape;982;p68"/>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83" name="Google Shape;983;p68"/>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88" name="Shape 988"/>
        <p:cNvGrpSpPr/>
        <p:nvPr/>
      </p:nvGrpSpPr>
      <p:grpSpPr>
        <a:xfrm>
          <a:off x="0" y="0"/>
          <a:ext cx="0" cy="0"/>
          <a:chOff x="0" y="0"/>
          <a:chExt cx="0" cy="0"/>
        </a:xfrm>
      </p:grpSpPr>
      <p:sp>
        <p:nvSpPr>
          <p:cNvPr id="989" name="Google Shape;989;p69"/>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Commercial economics</a:t>
            </a:r>
            <a:endParaRPr b="1" i="0" spc="0" sz="2700" u="none" cap="none" strike="noStrike">
              <a:solidFill>
                <a:srgbClr val="565A32"/>
              </a:solidFill>
              <a:latin typeface="Raleway SemiBold"/>
              <a:ea typeface="Raleway SemiBold"/>
              <a:cs typeface="Raleway SemiBold"/>
              <a:sym typeface="Raleway SemiBold"/>
            </a:endParaRPr>
          </a:p>
        </p:txBody>
      </p:sp>
      <p:pic>
        <p:nvPicPr>
          <p:cNvPr id="990" name="Google Shape;990;p69"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91" name="Google Shape;991;p69"/>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92" name="Google Shape;992;p69"/>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Working positions for discussion. Only the £40 RRP is confirmed.</a:t>
            </a:r>
            <a:endParaRPr b="0" i="0" spc="0" sz="1900" u="none" cap="none" strike="noStrike">
              <a:solidFill>
                <a:schemeClr val="dk1"/>
              </a:solidFill>
              <a:latin typeface="Raleway Light"/>
              <a:ea typeface="Raleway Light"/>
              <a:cs typeface="Raleway Light"/>
              <a:sym typeface="Raleway Light"/>
            </a:endParaRPr>
          </a:p>
        </p:txBody>
      </p:sp>
      <p:sp>
        <p:nvSpPr>
          <p:cNvPr id="993" name="Google Shape;993;p69"/>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graphicFrame>
        <p:nvGraphicFramePr>
          <p:cNvPr id="994" name="Google Shape;994;p69"/>
          <p:cNvGraphicFramePr/>
          <p:nvPr/>
        </p:nvGraphicFramePr>
        <p:xfrm>
          <a:off x="685800" y="1600200"/>
          <a:ext cx="3000000" cy="3000000"/>
        </p:xfrm>
        <a:graphic>
          <a:graphicData uri="http://schemas.openxmlformats.org/drawingml/2006/table">
            <a:tbl>
              <a:tblPr bandRow="1" firstRow="1">
                <a:noFill/>
                <a:tableStyleId>{BFD34F20-732D-4E8D-BD15-E54F2CFFFAEF}</a:tableStyleId>
              </a:tblPr>
              <a:tblGrid>
                <a:gridCol w="2103125"/>
                <a:gridCol w="4480550"/>
                <a:gridCol w="1463050"/>
                <a:gridCol w="2743200"/>
              </a:tblGrid>
              <a:tr h="384050">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Stream</a:t>
                      </a:r>
                      <a:endParaRPr/>
                    </a:p>
                  </a:txBody>
                  <a:tcPr marT="36575" marB="36575" marR="73150" marL="73150">
                    <a:solidFill>
                      <a:srgbClr val="565A32"/>
                    </a:solidFill>
                  </a:tcPr>
                </a:tc>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Working position</a:t>
                      </a:r>
                      <a:endParaRPr/>
                    </a:p>
                  </a:txBody>
                  <a:tcPr marT="36575" marB="36575" marR="73150" marL="73150">
                    <a:solidFill>
                      <a:srgbClr val="565A32"/>
                    </a:solidFill>
                  </a:tcPr>
                </a:tc>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Status</a:t>
                      </a:r>
                      <a:endParaRPr/>
                    </a:p>
                  </a:txBody>
                  <a:tcPr marT="36575" marB="36575" marR="73150" marL="73150">
                    <a:solidFill>
                      <a:srgbClr val="565A32"/>
                    </a:solidFill>
                  </a:tcPr>
                </a:tc>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To resolve</a:t>
                      </a:r>
                      <a:endParaRPr/>
                    </a:p>
                  </a:txBody>
                  <a:tcPr marT="36575" marB="36575" marR="73150" marL="73150">
                    <a:solidFill>
                      <a:srgbClr val="565A32"/>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Physical game price</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£40 RRP, standard box (£33.33 ex VAT)</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Confirmed</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Licence royalty</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15% (commercial pack), or 20–25% of the ex-VAT price: about £6.67–£8.33 a game</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Hypothesis</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Royalty basis, guarantee, the route itself</a:t>
                      </a:r>
                      <a:endParaRPr/>
                    </a:p>
                  </a:txBody>
                  <a:tcPr marT="36575" marB="36575" marR="73150" marL="73150">
                    <a:solidFill>
                      <a:srgbClr val="EFEAE0"/>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Unit cost</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£8.50 for the standard box, without the game mat</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Under investigation</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The quantity it is based on</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Availability</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Stock likely from May 2027</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Under investigation</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Production route and lead time</a:t>
                      </a:r>
                      <a:endParaRPr/>
                    </a:p>
                  </a:txBody>
                  <a:tcPr marT="36575" marB="36575" marR="73150" marL="73150">
                    <a:solidFill>
                      <a:srgbClr val="EFEAE0"/>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App</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One-off Host purchase; Guests free</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Proposed model</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Payment options (06: TODO)</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Partner and Event Mode</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Partners pay for insight</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Pricing TODO</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PO4 cost to serve; what reporting includes</a:t>
                      </a:r>
                      <a:endParaRPr/>
                    </a:p>
                  </a:txBody>
                  <a:tcPr marT="36575" marB="36575" marR="73150" marL="73150">
                    <a:solidFill>
                      <a:srgbClr val="EFEAE0"/>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Seasonal Mini-Editions</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£0.55 or £0.95 a pack, or free as goodwill</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Hypothesis</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Payments; base case is no direct revenue</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Advisers and referrals</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Commission is a cost of winning revenue; no rate set</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Proposed</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PO4 cost to serve; written terms first</a:t>
                      </a:r>
                      <a:endParaRPr/>
                    </a:p>
                  </a:txBody>
                  <a:tcPr marT="36575" marB="36575" marR="73150" marL="73150">
                    <a:solidFill>
                      <a:srgbClr val="EFEAE0"/>
                    </a:solidFill>
                  </a:tcPr>
                </a:tc>
              </a:tr>
            </a:tbl>
          </a:graphicData>
        </a:graphic>
      </p:graphicFrame>
      <p:sp>
        <p:nvSpPr>
          <p:cNvPr id="995" name="Google Shape;995;p69"/>
          <p:cNvSpPr txBox="1"/>
          <p:nvPr/>
        </p:nvSpPr>
        <p:spPr>
          <a:xfrm>
            <a:off x="685800" y="5486400"/>
            <a:ext cx="896112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Every figure except the £40 RRP is a working hypothesis (Brand Brain 06). No edition income goes into near-term forecasts until a pilot has run.</a:t>
            </a:r>
            <a:endParaRPr/>
          </a:p>
        </p:txBody>
      </p:sp>
      <p:sp>
        <p:nvSpPr>
          <p:cNvPr id="996" name="Google Shape;996;p6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001" name="Shape 1001"/>
        <p:cNvGrpSpPr/>
        <p:nvPr/>
      </p:nvGrpSpPr>
      <p:grpSpPr>
        <a:xfrm>
          <a:off x="0" y="0"/>
          <a:ext cx="0" cy="0"/>
          <a:chOff x="0" y="0"/>
          <a:chExt cx="0" cy="0"/>
        </a:xfrm>
      </p:grpSpPr>
      <p:sp>
        <p:nvSpPr>
          <p:cNvPr id="1002" name="Google Shape;1002;p70"/>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03" name="Google Shape;1003;p70"/>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1004" name="Google Shape;1004;p70"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005" name="Google Shape;1005;p70"/>
          <p:cNvSpPr txBox="1"/>
          <p:nvPr/>
        </p:nvSpPr>
        <p:spPr>
          <a:xfrm>
            <a:off x="685800" y="475488"/>
            <a:ext cx="8229600" cy="5304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How Entre Amis grows</a:t>
            </a:r>
            <a:endParaRPr b="0" i="0" spc="0" sz="3800" u="none" cap="none" strike="noStrike">
              <a:solidFill>
                <a:schemeClr val="dk1"/>
              </a:solidFill>
              <a:latin typeface="Raleway Light"/>
              <a:ea typeface="Raleway Light"/>
              <a:cs typeface="Raleway Light"/>
              <a:sym typeface="Raleway Light"/>
            </a:endParaRPr>
          </a:p>
        </p:txBody>
      </p:sp>
      <p:sp>
        <p:nvSpPr>
          <p:cNvPr id="1006" name="Google Shape;1006;p70"/>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One brand. Different routes to value.</a:t>
            </a:r>
            <a:endParaRPr b="0" i="0" spc="0" sz="1900" u="none" cap="none" strike="noStrike">
              <a:solidFill>
                <a:schemeClr val="dk1"/>
              </a:solidFill>
              <a:latin typeface="Raleway Light"/>
              <a:ea typeface="Raleway Light"/>
              <a:cs typeface="Raleway Light"/>
              <a:sym typeface="Raleway Light"/>
            </a:endParaRPr>
          </a:p>
        </p:txBody>
      </p:sp>
      <p:pic>
        <p:nvPicPr>
          <p:cNvPr id="1007" name="Google Shape;1007;p70" title="ChatGPT Image Sep 17, 2026 at 10_20_44 AM.png"/>
          <p:cNvPicPr preferRelativeResize="0"/>
          <p:nvPr/>
        </p:nvPicPr>
        <p:blipFill rotWithShape="1">
          <a:blip r:embed="rId4">
            <a:alphaModFix/>
          </a:blip>
          <a:srcRect b="0" l="0" r="0" t="0"/>
          <a:stretch/>
        </p:blipFill>
        <p:spPr>
          <a:xfrm>
            <a:off x="1914425" y="1426425"/>
            <a:ext cx="7920576" cy="4928230"/>
          </a:xfrm>
          <a:prstGeom prst="rect">
            <a:avLst/>
          </a:prstGeom>
          <a:noFill/>
          <a:ln>
            <a:noFill/>
          </a:ln>
        </p:spPr>
      </p:pic>
      <p:sp>
        <p:nvSpPr>
          <p:cNvPr id="1008" name="Google Shape;1008;p70"/>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1009" name="Google Shape;1009;p7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014" name="Shape 1014"/>
        <p:cNvGrpSpPr/>
        <p:nvPr/>
      </p:nvGrpSpPr>
      <p:grpSpPr>
        <a:xfrm>
          <a:off x="0" y="0"/>
          <a:ext cx="0" cy="0"/>
          <a:chOff x="0" y="0"/>
          <a:chExt cx="0" cy="0"/>
        </a:xfrm>
      </p:grpSpPr>
      <p:sp>
        <p:nvSpPr>
          <p:cNvPr id="1015" name="Google Shape;1015;p71"/>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Brand protection and ownership</a:t>
            </a:r>
            <a:endParaRPr b="1" i="0" spc="0" sz="2700" u="none" cap="none" strike="noStrike">
              <a:solidFill>
                <a:srgbClr val="565A32"/>
              </a:solidFill>
              <a:latin typeface="Raleway SemiBold"/>
              <a:ea typeface="Raleway SemiBold"/>
              <a:cs typeface="Raleway SemiBold"/>
              <a:sym typeface="Raleway SemiBold"/>
            </a:endParaRPr>
          </a:p>
        </p:txBody>
      </p:sp>
      <p:pic>
        <p:nvPicPr>
          <p:cNvPr id="1016" name="Google Shape;1016;p71"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017" name="Google Shape;1017;p71"/>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18" name="Google Shape;1018;p71"/>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One brand. Protected intellectual property. A structure designed to grow.</a:t>
            </a:r>
            <a:endParaRPr b="0" i="0" spc="0" sz="1900" u="none" cap="none" strike="noStrike">
              <a:solidFill>
                <a:schemeClr val="dk1"/>
              </a:solidFill>
              <a:latin typeface="Raleway Light"/>
              <a:ea typeface="Raleway Light"/>
              <a:cs typeface="Raleway Light"/>
              <a:sym typeface="Raleway Light"/>
            </a:endParaRPr>
          </a:p>
        </p:txBody>
      </p:sp>
      <p:graphicFrame>
        <p:nvGraphicFramePr>
          <p:cNvPr id="1019" name="Google Shape;1019;p71"/>
          <p:cNvGraphicFramePr/>
          <p:nvPr/>
        </p:nvGraphicFramePr>
        <p:xfrm>
          <a:off x="731575" y="1757725"/>
          <a:ext cx="3000000" cy="3000000"/>
        </p:xfrm>
        <a:graphic>
          <a:graphicData uri="http://schemas.openxmlformats.org/drawingml/2006/table">
            <a:tbl>
              <a:tblPr>
                <a:noFill/>
                <a:tableStyleId>{655FC373-D6BC-4E09-A9F9-84234A3C0306}</a:tableStyleId>
              </a:tblPr>
              <a:tblGrid>
                <a:gridCol w="5143500"/>
                <a:gridCol w="5143500"/>
              </a:tblGrid>
              <a:tr h="381000">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Brand Protection</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UK trademark application filed September 2026 across six classes. EU protection planned. Core domains and social handles secured.</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Intellectual Property</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Entre Amis brand, original game content, designs, digital platform, software and curated content. Rights and contractual ownership to be documented and protected.</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r>
              <a:tr h="381000">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Ownership</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Founder retains 75% equity; five shareholders hold 5% each. Governance, shareholder rights and future investment arrangements to be formalised as required.</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Business Structure</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Proposed group structure supporting physical products, digital experiences and commercial partnerships, while retaining control of the wider brand and platform. Final legal structure subject to advice.</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r>
            </a:tbl>
          </a:graphicData>
        </a:graphic>
      </p:graphicFrame>
      <p:sp>
        <p:nvSpPr>
          <p:cNvPr id="1020" name="Google Shape;1020;p71"/>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1021" name="Google Shape;1021;p71"/>
          <p:cNvSpPr/>
          <p:nvPr/>
        </p:nvSpPr>
        <p:spPr>
          <a:xfrm>
            <a:off x="731520" y="5760720"/>
            <a:ext cx="8961120" cy="45720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800" u="none" cap="none" strike="noStrike">
                <a:solidFill>
                  <a:srgbClr val="EFEAE0"/>
                </a:solidFill>
                <a:latin typeface="Raleway SemiBold"/>
                <a:ea typeface="Raleway SemiBold"/>
                <a:cs typeface="Raleway SemiBold"/>
                <a:sym typeface="Raleway SemiBold"/>
              </a:rPr>
              <a:t>Protect the brand. Retain the platform. Partner selectively.</a:t>
            </a:r>
            <a:endParaRPr/>
          </a:p>
        </p:txBody>
      </p:sp>
      <p:sp>
        <p:nvSpPr>
          <p:cNvPr id="1022" name="Google Shape;1022;p7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027" name="Shape 1027"/>
        <p:cNvGrpSpPr/>
        <p:nvPr/>
      </p:nvGrpSpPr>
      <p:grpSpPr>
        <a:xfrm>
          <a:off x="0" y="0"/>
          <a:ext cx="0" cy="0"/>
          <a:chOff x="0" y="0"/>
          <a:chExt cx="0" cy="0"/>
        </a:xfrm>
      </p:grpSpPr>
      <p:sp>
        <p:nvSpPr>
          <p:cNvPr id="1028" name="Google Shape;1028;p72"/>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Funding and launch</a:t>
            </a:r>
            <a:endParaRPr b="1" i="0" spc="0" sz="2700" u="none" cap="none" strike="noStrike">
              <a:solidFill>
                <a:srgbClr val="565A32"/>
              </a:solidFill>
              <a:latin typeface="Raleway SemiBold"/>
              <a:ea typeface="Raleway SemiBold"/>
              <a:cs typeface="Raleway SemiBold"/>
              <a:sym typeface="Raleway SemiBold"/>
            </a:endParaRPr>
          </a:p>
        </p:txBody>
      </p:sp>
      <p:pic>
        <p:nvPicPr>
          <p:cNvPr id="1029" name="Google Shape;1029;p72"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030" name="Google Shape;1030;p72"/>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31" name="Google Shape;1031;p72"/>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A draft launch path. Funding is still to decide.</a:t>
            </a:r>
            <a:endParaRPr b="0" i="0" spc="0" sz="1900" u="none" cap="none" strike="noStrike">
              <a:solidFill>
                <a:schemeClr val="dk1"/>
              </a:solidFill>
              <a:latin typeface="Raleway Light"/>
              <a:ea typeface="Raleway Light"/>
              <a:cs typeface="Raleway Light"/>
              <a:sym typeface="Raleway Light"/>
            </a:endParaRPr>
          </a:p>
        </p:txBody>
      </p:sp>
      <p:sp>
        <p:nvSpPr>
          <p:cNvPr id="1032" name="Google Shape;1032;p72"/>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1033" name="Google Shape;1033;p72"/>
          <p:cNvSpPr/>
          <p:nvPr/>
        </p:nvSpPr>
        <p:spPr>
          <a:xfrm>
            <a:off x="685800" y="169164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1</a:t>
            </a:r>
            <a:endParaRPr/>
          </a:p>
        </p:txBody>
      </p:sp>
      <p:sp>
        <p:nvSpPr>
          <p:cNvPr id="1034" name="Google Shape;1034;p72"/>
          <p:cNvSpPr txBox="1"/>
          <p:nvPr/>
        </p:nvSpPr>
        <p:spPr>
          <a:xfrm>
            <a:off x="1325880" y="167335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Now</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Prototype and playtesting. The game is playable; the app, Partner Mode and Event Mode work live as prototypes.</a:t>
            </a:r>
            <a:endParaRPr/>
          </a:p>
        </p:txBody>
      </p:sp>
      <p:sp>
        <p:nvSpPr>
          <p:cNvPr id="1035" name="Google Shape;1035;p72"/>
          <p:cNvSpPr/>
          <p:nvPr/>
        </p:nvSpPr>
        <p:spPr>
          <a:xfrm>
            <a:off x="685800" y="269748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2</a:t>
            </a:r>
            <a:endParaRPr/>
          </a:p>
        </p:txBody>
      </p:sp>
      <p:sp>
        <p:nvSpPr>
          <p:cNvPr id="1036" name="Google Shape;1036;p72"/>
          <p:cNvSpPr txBox="1"/>
          <p:nvPr/>
        </p:nvSpPr>
        <p:spPr>
          <a:xfrm>
            <a:off x="1325880" y="267919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Before the first real event</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Production readiness (BR1–BR3), privacy notice and legal review (L1), multi-device Event testing. Fizz Fest: date to confirm.</a:t>
            </a:r>
            <a:endParaRPr/>
          </a:p>
        </p:txBody>
      </p:sp>
      <p:sp>
        <p:nvSpPr>
          <p:cNvPr id="1037" name="Google Shape;1037;p72"/>
          <p:cNvSpPr/>
          <p:nvPr/>
        </p:nvSpPr>
        <p:spPr>
          <a:xfrm>
            <a:off x="685800" y="370332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3</a:t>
            </a:r>
            <a:endParaRPr/>
          </a:p>
        </p:txBody>
      </p:sp>
      <p:sp>
        <p:nvSpPr>
          <p:cNvPr id="1038" name="Google Shape;1038;p72"/>
          <p:cNvSpPr txBox="1"/>
          <p:nvPr/>
        </p:nvSpPr>
        <p:spPr>
          <a:xfrm>
            <a:off x="1325880" y="368503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Company formed</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Readiness level 1, and the data controller confirmed.</a:t>
            </a:r>
            <a:endParaRPr/>
          </a:p>
        </p:txBody>
      </p:sp>
      <p:sp>
        <p:nvSpPr>
          <p:cNvPr id="1039" name="Google Shape;1039;p72"/>
          <p:cNvSpPr/>
          <p:nvPr/>
        </p:nvSpPr>
        <p:spPr>
          <a:xfrm>
            <a:off x="685800" y="470916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4</a:t>
            </a:r>
            <a:endParaRPr/>
          </a:p>
        </p:txBody>
      </p:sp>
      <p:sp>
        <p:nvSpPr>
          <p:cNvPr id="1040" name="Google Shape;1040;p72"/>
          <p:cNvSpPr txBox="1"/>
          <p:nvPr/>
        </p:nvSpPr>
        <p:spPr>
          <a:xfrm>
            <a:off x="1325880" y="469087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Physical game route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Licence or self-manufacture decided. Stock likely from May 2027 (hypothesis).</a:t>
            </a:r>
            <a:endParaRPr/>
          </a:p>
        </p:txBody>
      </p:sp>
      <p:sp>
        <p:nvSpPr>
          <p:cNvPr id="1041" name="Google Shape;1041;p72"/>
          <p:cNvSpPr/>
          <p:nvPr/>
        </p:nvSpPr>
        <p:spPr>
          <a:xfrm>
            <a:off x="6812280" y="1691640"/>
            <a:ext cx="4663440" cy="35661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2" name="Google Shape;1042;p72"/>
          <p:cNvSpPr txBox="1"/>
          <p:nvPr/>
        </p:nvSpPr>
        <p:spPr>
          <a:xfrm>
            <a:off x="7086600" y="1874519"/>
            <a:ext cx="4160520" cy="3291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Funding: to decide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No funding figures yet. Investors are deferred in the Brand Brain.</a:t>
            </a:r>
            <a:endParaRPr/>
          </a:p>
          <a:p>
            <a:pPr indent="0" lvl="0" marL="0" marR="0" rtl="0" algn="l">
              <a:lnSpc>
                <a:spcPct val="100000"/>
              </a:lnSpc>
              <a:spcBef>
                <a:spcPts val="0"/>
              </a:spcBef>
              <a:spcAft>
                <a:spcPts val="0"/>
              </a:spcAft>
              <a:buNone/>
            </a:pPr>
            <a:r>
              <a:rPr b="0" i="0" lang="en-US" spc="0" sz="600" u="none" cap="none" strike="noStrike">
                <a:solidFill>
                  <a:srgbClr val="565A32"/>
                </a:solidFill>
                <a:latin typeface="Raleway Light"/>
                <a:ea typeface="Raleway Light"/>
                <a:cs typeface="Raleway Light"/>
                <a:sym typeface="Raleway Light"/>
              </a:rPr>
              <a:t> </a:t>
            </a:r>
            <a:endParaRPr/>
          </a:p>
          <a:p>
            <a:pPr indent="0" lvl="0" marL="0" marR="0" rtl="0" algn="l">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What launch needs funding</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The physical game route, app production readiness, legal review and the first events.</a:t>
            </a:r>
            <a:endParaRPr/>
          </a:p>
          <a:p>
            <a:pPr indent="0" lvl="0" marL="0" marR="0" rtl="0" algn="l">
              <a:lnSpc>
                <a:spcPct val="100000"/>
              </a:lnSpc>
              <a:spcBef>
                <a:spcPts val="0"/>
              </a:spcBef>
              <a:spcAft>
                <a:spcPts val="0"/>
              </a:spcAft>
              <a:buNone/>
            </a:pPr>
            <a:r>
              <a:rPr b="0" i="0" lang="en-US" spc="0" sz="600" u="none" cap="none" strike="noStrike">
                <a:solidFill>
                  <a:srgbClr val="565A32"/>
                </a:solidFill>
                <a:latin typeface="Raleway Light"/>
                <a:ea typeface="Raleway Light"/>
                <a:cs typeface="Raleway Light"/>
                <a:sym typeface="Raleway Light"/>
              </a:rPr>
              <a:t> </a:t>
            </a:r>
            <a:endParaRPr/>
          </a:p>
          <a:p>
            <a:pPr indent="0" lvl="0" marL="0" marR="0" rtl="0" algn="l">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How it could be funded</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The founder and shareholders (slide 40), income from first partners, or investment if you decide to seek it.</a:t>
            </a:r>
            <a:endParaRPr/>
          </a:p>
        </p:txBody>
      </p:sp>
      <p:sp>
        <p:nvSpPr>
          <p:cNvPr id="1043" name="Google Shape;1043;p7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73"/>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Why work with Entre Amis</a:t>
            </a:r>
            <a:endParaRPr/>
          </a:p>
        </p:txBody>
      </p:sp>
      <p:sp>
        <p:nvSpPr>
          <p:cNvPr id="1050" name="Google Shape;1050;p73"/>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a:t>A founder-led business with a wider world of expertise.</a:t>
            </a:r>
            <a:endParaRPr/>
          </a:p>
        </p:txBody>
      </p:sp>
      <p:sp>
        <p:nvSpPr>
          <p:cNvPr id="1051" name="Google Shape;1051;p73"/>
          <p:cNvSpPr txBox="1"/>
          <p:nvPr/>
        </p:nvSpPr>
        <p:spPr>
          <a:xfrm>
            <a:off x="548650" y="1727850"/>
            <a:ext cx="7694100" cy="340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Entre Amis brings together a passion for wine with decades of experience building brands, engaging customers and developing commercially valuable experiences.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500"/>
              <a:buFont typeface="Arial"/>
              <a:buNone/>
            </a:pPr>
            <a:r>
              <a:rPr b="1" i="0" lang="en-US" spc="0" sz="1500" u="none" cap="none" strike="noStrike">
                <a:solidFill>
                  <a:schemeClr val="dk1"/>
                </a:solidFill>
                <a:latin typeface="Raleway"/>
                <a:ea typeface="Raleway"/>
                <a:cs typeface="Raleway"/>
                <a:sym typeface="Raleway"/>
              </a:rPr>
              <a:t>Commercial experience</a:t>
            </a:r>
            <a:endParaRPr b="1" i="0" spc="0" sz="1500" u="none" cap="none" strike="noStrike">
              <a:solidFill>
                <a:schemeClr val="dk1"/>
              </a:solidFill>
              <a:latin typeface="Raleway"/>
              <a:ea typeface="Raleway"/>
              <a:cs typeface="Raleway"/>
              <a:sym typeface="Raleway"/>
            </a:endParaRPr>
          </a:p>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Founded by Caroline, a senior marketing and commercial leader with over 30 years’ experience across consumer brands, retail, heritage and customer experience, and WSET Level 3 with Distinction.</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500"/>
              <a:buFont typeface="Arial"/>
              <a:buNone/>
            </a:pPr>
            <a:r>
              <a:rPr b="1" i="0" lang="en-US" spc="0" sz="1500" u="none" cap="none" strike="noStrike">
                <a:solidFill>
                  <a:schemeClr val="dk1"/>
                </a:solidFill>
                <a:latin typeface="Raleway"/>
                <a:ea typeface="Raleway"/>
                <a:cs typeface="Raleway"/>
                <a:sym typeface="Raleway"/>
              </a:rPr>
              <a:t>Creative thinking</a:t>
            </a:r>
            <a:endParaRPr b="1" i="0" spc="0" sz="1500" u="none" cap="none" strike="noStrike">
              <a:solidFill>
                <a:schemeClr val="dk1"/>
              </a:solidFill>
              <a:latin typeface="Raleway"/>
              <a:ea typeface="Raleway"/>
              <a:cs typeface="Raleway"/>
              <a:sym typeface="Raleway"/>
            </a:endParaRPr>
          </a:p>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A distinctive approach to brand, game design, digital experiences and storytelling, with access to specialist creative and design expertise.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500"/>
              <a:buFont typeface="Arial"/>
              <a:buNone/>
            </a:pPr>
            <a:r>
              <a:rPr b="1" i="0" lang="en-US" spc="0" sz="1500" u="none" cap="none" strike="noStrike">
                <a:solidFill>
                  <a:schemeClr val="dk1"/>
                </a:solidFill>
                <a:latin typeface="Raleway"/>
                <a:ea typeface="Raleway"/>
                <a:cs typeface="Raleway"/>
                <a:sym typeface="Raleway"/>
              </a:rPr>
              <a:t>A connected network</a:t>
            </a:r>
            <a:endParaRPr b="1" i="0" spc="0" sz="1500" u="none" cap="none" strike="noStrike">
              <a:solidFill>
                <a:schemeClr val="dk1"/>
              </a:solidFill>
              <a:latin typeface="Raleway"/>
              <a:ea typeface="Raleway"/>
              <a:cs typeface="Raleway"/>
              <a:sym typeface="Raleway"/>
            </a:endParaRPr>
          </a:p>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Relationships across buying, brand leadership, advertising, design and the arts, creating opportunities to bring complementary expertise into selected collaborations.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500"/>
              <a:buFont typeface="Arial"/>
              <a:buNone/>
            </a:pPr>
            <a:r>
              <a:t/>
            </a:r>
            <a:endParaRPr b="0" i="0" spc="0" sz="1500" u="none" cap="none" strike="noStrike">
              <a:solidFill>
                <a:schemeClr val="dk1"/>
              </a:solidFill>
              <a:latin typeface="Raleway Light"/>
              <a:ea typeface="Raleway Light"/>
              <a:cs typeface="Raleway Light"/>
              <a:sym typeface="Raleway Light"/>
            </a:endParaRPr>
          </a:p>
        </p:txBody>
      </p:sp>
      <p:pic>
        <p:nvPicPr>
          <p:cNvPr id="1052" name="Google Shape;1052;p73" title="Warm Café Portrait of a Smiling Professional Woman.png"/>
          <p:cNvPicPr preferRelativeResize="0"/>
          <p:nvPr/>
        </p:nvPicPr>
        <p:blipFill rotWithShape="1">
          <a:blip r:embed="rId3">
            <a:alphaModFix/>
          </a:blip>
          <a:srcRect b="0" l="0" r="0" t="0"/>
          <a:stretch/>
        </p:blipFill>
        <p:spPr>
          <a:xfrm>
            <a:off x="8603475" y="1995176"/>
            <a:ext cx="2612501" cy="3134973"/>
          </a:xfrm>
          <a:prstGeom prst="rect">
            <a:avLst/>
          </a:prstGeom>
          <a:noFill/>
          <a:ln>
            <a:noFill/>
          </a:ln>
        </p:spPr>
      </p:pic>
      <p:sp>
        <p:nvSpPr>
          <p:cNvPr id="1053" name="Google Shape;1053;p73"/>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