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0ca1213-b9c0-e1e9-e25b-47b962abdabe}">
          <p14:sldIdLst>
            <p14:sldId id="256"/>
            <p14:sldId id="257"/>
          </p14:sldIdLst>
        </p14:section>
        <p14:section name="Event Mode" id="{b0363421-1762-394f-0876-ff6fe013c7c3}">
          <p14:sldIdLst>
            <p14:sldId id="258"/>
            <p14:sldId id="259"/>
            <p14:sldId id="260"/>
            <p14:sldId id="261"/>
            <p14:sldId id="262"/>
            <p14:sldId id="263"/>
          </p14:sldIdLst>
        </p14:section>
        <p14:section name="Working together" id="{cfe0f26d-bed1-731e-6689-28fefae79757}">
          <p14:sldIdLst>
            <p14:sldId id="264"/>
            <p14:sldId id="265"/>
            <p14:sldId id="266"/>
          </p14:sldIdLst>
        </p14:section>
        <p14:section name="About us" id="{582e0b74-5563-cec0-ce7c-f6ee4173aba4}">
          <p14:sldIdLst>
            <p14:sldId id="267"/>
            <p14:sldId id="268"/>
            <p14:sldId id="269"/>
          </p14:sldIdLst>
        </p14:section>
        <p14:section name="Working notes — delete before sharing" id="{8e1a17c0-b602-e647-8841-dc993688b06c}">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Written to organisers: wine festivals and tasting events, and regional wine bodies that take on a marketing role for an area (organisations like Vineyards of Hampshire or Vins de Provence). 'Marketing areas' replaced, as it's too generic. Named events and organisations are kept out so the pack can go to anyone; use names in each organiser's own proposal.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Makes it explicit that this is the brand. The closing line is the partner line (founder, 12 October): for Partner Mode and Event Mode materials only, not a consumer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Rewritten from 'The event opportunity: a real gap' so it speaks to the organiser's problem first. Ticket buyers and 'one person may buy eight tickets' are your points. 'Where do all the wines you discovered go?' becomes the third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spine for the pack, as you suggested. Visitor side from the October 'During / Personal / After' slide. Quizzes and prizes left off until decided: quizzes need to fit 'no wrong answers', and prizes near alcohol need checking against CAP and Portman Group rules. 'Save wines in seconds' isn't used: it's a speed claim and suggests wine recognition, which isn't claimable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Replaces 'The Entre Amis table' and 'One platform. Different event formats.' The table is no longer front and centre: it's one small way Entre Amis shows up. 'Comfortable seats... a place to connect and find comfort, never a sales space' is your wording. The fee line ('Staffing, furniture, transport, setup and operational support must be covered by the agreed event fee') moves to each organiser's proposal.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Subtitle and cards now speak to the organiser. 'Enhance' and 'lasting memories' were benefit claims, so they're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layers of insight' with the labels fixed to match their descriptions (they were swapped in the October deck). Event Mode contacts go to the organiser by default; individual vineyards only where each is named in the visitor's permission (proposed, Brand Brain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Built from the confirmed Partner Mode data rules ('That trust is the brand — Say what you really think only works if people are safe to do so') and the promises from the October deck's 'Three layers of insight'.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'Hosted Entre Amis Table' is now 'a small Entre Amis corner', in line with how Entre Amis shows up at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Heading typo fixed: 'foundering' (sinking) is now 'founding'. 'Insight' restored, as it's allowed in partner materials (proposed).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'Before we build event partner mode'. The 'Ecosystem story' card was a note about the deck itself, so it's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slide, built from confirmed responsible-drinking and Partner Mode data rules. 'No pressure to taste' comes from the visitor journey slide in the October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Brand voice about Caroline, not written as her. A first-person line would work well here, but it must be Caroline's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run the pre-publish check in brand-brain/03-guardrails.md.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EA Cover">
    <p:bg>
      <p:bgPr>
        <a:solidFill>
          <a:schemeClr val="bg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EA Content">
    <p:bg>
      <p:bgPr>
        <a:solidFill>
          <a:schemeClr val="bg2"/>
        </a:solidFill>
      </p:bgPr>
    </p:bg>
    <p:spTree>
      <p:nvGrpSpPr>
        <p:cNvPr id="1" name=""/>
        <p:cNvGrpSpPr/>
        <p:nvPr/>
      </p:nvGrpSpPr>
      <p:grpSpPr>
        <a:xfrm>
          <a:off x="0" y="0"/>
          <a:ext cx="0" cy="0"/>
          <a:chOff x="0" y="0"/>
          <a:chExt cx="0" cy="0"/>
        </a:xfrm>
      </p:grpSpPr>
      <p:sp>
        <p:nvSpPr>
          <p:cNvPr id="2" name="Text 0"/>
          <p:cNvSpPr txBox="1"/>
          <p:nvPr/>
        </p:nvSpPr>
        <p:spPr>
          <a:xfrm>
            <a:off x="548640" y="6355080"/>
            <a:ext cx="4572000" cy="274320"/>
          </a:xfrm>
          <a:prstGeom prst="rect">
            <a:avLst/>
          </a:prstGeom>
          <a:noFill/>
          <a:ln/>
        </p:spPr>
        <p:txBody>
          <a:bodyPr wrap="square" lIns="0" tIns="0" rIns="0" bIns="0" rtlCol="0" anchor="ctr"/>
          <a:lstStyle/>
          <a:p>
            <a:pPr indent="0" marL="0">
              <a:buNone/>
            </a:pPr>
            <a:r>
              <a:rPr lang="en-US" sz="1000" dirty="0">
                <a:solidFill>
                  <a:schemeClr val="tx1"/>
                </a:solidFill>
              </a:rPr>
              <a:t>Say what you really think.</a:t>
            </a:r>
            <a:endParaRPr lang="en-US" sz="1000" dirty="0"/>
          </a:p>
        </p:txBody>
      </p:sp>
      <p:pic>
        <p:nvPicPr>
          <p:cNvPr id="3" name="Image 0" descr="Entre Amis logo">    </p:cNvPr>
          <p:cNvPicPr>
            <a:picLocks noChangeAspect="1"/>
          </p:cNvPicPr>
          <p:nvPr/>
        </p:nvPicPr>
        <p:blipFill>
          <a:blip r:embed="rId1"/>
          <a:stretch>
            <a:fillRect/>
          </a:stretch>
        </p:blipFill>
        <p:spPr>
          <a:xfrm>
            <a:off x="10637215" y="6144768"/>
            <a:ext cx="1005840" cy="506229"/>
          </a:xfrm>
          <a:prstGeom prst="rect">
            <a:avLst/>
          </a:prstGeom>
        </p:spPr>
      </p:pic>
      <p:sp>
        <p:nvSpPr>
          <p:cNvPr id="4" name="Text 1"/>
          <p:cNvSpPr/>
          <p:nvPr>
            <p:ph idx="102" type="title" hasCustomPrompt="1"/>
          </p:nvPr>
        </p:nvSpPr>
        <p:spPr>
          <a:xfrm>
            <a:off x="548640" y="411480"/>
            <a:ext cx="8138160" cy="685800"/>
          </a:xfrm>
          <a:prstGeom prst="rect">
            <a:avLst/>
          </a:prstGeom>
          <a:noFill/>
          <a:ln/>
        </p:spPr>
        <p:txBody>
          <a:bodyPr wrap="square" rtlCol="0"/>
          <a:lstStyle>
            <a:lvl1pPr algn="l" indent="0" marL="0">
              <a:buNone/>
              <a:defRPr lang="en-US" sz="3600" dirty="0">
                <a:solidFill>
                  <a:schemeClr val="tx1"/>
                </a:solidFill>
                <a:latin typeface="Raleway Light" pitchFamily="34" charset="0"/>
                <a:ea typeface="Raleway Light" pitchFamily="34" charset="-122"/>
                <a:cs typeface="Raleway Light" pitchFamily="34" charset="-120"/>
              </a:defRPr>
            </a:lvl1pPr>
          </a:lstStyle>
          <a:p>
            <a:pPr algn="l" indent="0" marL="0">
              <a:buNone/>
            </a:pPr>
            <a:endParaRPr lang="en-US" sz="3600" dirty="0"/>
          </a:p>
        </p:txBody>
      </p:sp>
      <p:sp>
        <p:nvSpPr>
          <p:cNvPr id="5" name="Text 1"/>
          <p:cNvSpPr/>
          <p:nvPr>
            <p:ph idx="103" type="body" hasCustomPrompt="1"/>
          </p:nvPr>
        </p:nvSpPr>
        <p:spPr>
          <a:xfrm>
            <a:off x="548640" y="1115568"/>
            <a:ext cx="11094415" cy="411480"/>
          </a:xfrm>
          <a:prstGeom prst="rect">
            <a:avLst/>
          </a:prstGeom>
          <a:noFill/>
          <a:ln/>
        </p:spPr>
        <p:txBody>
          <a:bodyPr wrap="square" rtlCol="0"/>
          <a:lstStyle>
            <a:lvl1pPr algn="l" indent="0" marL="0">
              <a:buNone/>
              <a:defRPr lang="en-US" sz="1800" dirty="0">
                <a:solidFill>
                  <a:schemeClr val="tx1"/>
                </a:solidFill>
                <a:latin typeface="Raleway Light" pitchFamily="34" charset="0"/>
                <a:ea typeface="Raleway Light" pitchFamily="34" charset="-122"/>
                <a:cs typeface="Raleway Light" pitchFamily="34" charset="-120"/>
              </a:defRPr>
            </a:lvl1pPr>
          </a:lstStyle>
          <a:p>
            <a:pPr algn="l" indent="0" marL="0">
              <a:buNone/>
            </a:pPr>
            <a:endParaRPr lang="en-US" sz="18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Entre Amis logo">    </p:cNvPr>
          <p:cNvPicPr>
            <a:picLocks noChangeAspect="1"/>
          </p:cNvPicPr>
          <p:nvPr/>
        </p:nvPicPr>
        <p:blipFill>
          <a:blip r:embed="rId1"/>
          <a:stretch>
            <a:fillRect/>
          </a:stretch>
        </p:blipFill>
        <p:spPr>
          <a:xfrm>
            <a:off x="4541368" y="1005840"/>
            <a:ext cx="3108960" cy="1564707"/>
          </a:xfrm>
          <a:prstGeom prst="rect">
            <a:avLst/>
          </a:prstGeom>
        </p:spPr>
      </p:pic>
      <p:sp>
        <p:nvSpPr>
          <p:cNvPr id="3" name="Expression marker: EVENT MODE"/>
          <p:cNvSpPr txBox="1"/>
          <p:nvPr/>
        </p:nvSpPr>
        <p:spPr>
          <a:xfrm>
            <a:off x="4724248" y="2834640"/>
            <a:ext cx="2743200" cy="457200"/>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4" name="Text 1"/>
          <p:cNvSpPr txBox="1"/>
          <p:nvPr/>
        </p:nvSpPr>
        <p:spPr>
          <a:xfrm>
            <a:off x="548640" y="3474720"/>
            <a:ext cx="11094415" cy="548640"/>
          </a:xfrm>
          <a:prstGeom prst="rect">
            <a:avLst/>
          </a:prstGeom>
          <a:noFill/>
          <a:ln/>
        </p:spPr>
        <p:txBody>
          <a:bodyPr wrap="square" lIns="0" tIns="0" rIns="0" bIns="0" rtlCol="0" anchor="t"/>
          <a:lstStyle/>
          <a:p>
            <a:pPr algn="ctr" indent="0" marL="0">
              <a:spcAft>
                <a:spcPts val="400"/>
              </a:spcAft>
              <a:buNone/>
            </a:pPr>
            <a:r>
              <a:rPr lang="en-US" sz="2800" dirty="0">
                <a:solidFill>
                  <a:schemeClr val="tx1"/>
                </a:solidFill>
              </a:rPr>
              <a:t>For wine festivals, tasting events and regional wine bodies</a:t>
            </a:r>
            <a:endParaRPr lang="en-US" sz="2800" dirty="0"/>
          </a:p>
        </p:txBody>
      </p:sp>
      <p:sp>
        <p:nvSpPr>
          <p:cNvPr id="5" name="Text 2"/>
          <p:cNvSpPr txBox="1"/>
          <p:nvPr/>
        </p:nvSpPr>
        <p:spPr>
          <a:xfrm>
            <a:off x="548640" y="4114800"/>
            <a:ext cx="11094415" cy="365760"/>
          </a:xfrm>
          <a:prstGeom prst="rect">
            <a:avLst/>
          </a:prstGeom>
          <a:noFill/>
          <a:ln/>
        </p:spPr>
        <p:txBody>
          <a:bodyPr wrap="square" lIns="0" tIns="0" rIns="0" bIns="0" rtlCol="0" anchor="t"/>
          <a:lstStyle/>
          <a:p>
            <a:pPr algn="ctr" indent="0" marL="0">
              <a:spcAft>
                <a:spcPts val="400"/>
              </a:spcAft>
              <a:buNone/>
            </a:pPr>
            <a:r>
              <a:rPr lang="en-US" sz="1600" i="1" dirty="0">
                <a:solidFill>
                  <a:schemeClr val="tx1"/>
                </a:solidFill>
              </a:rPr>
              <a:t>Conversation creates connection. Connection creates insight.</a:t>
            </a:r>
            <a:endParaRPr lang="en-US" sz="1600" dirty="0"/>
          </a:p>
        </p:txBody>
      </p:sp>
      <p:sp>
        <p:nvSpPr>
          <p:cNvPr id="6" name="FLAG — delete before sharing"/>
          <p:cNvSpPr txBox="1"/>
          <p:nvPr/>
        </p:nvSpPr>
        <p:spPr>
          <a:xfrm>
            <a:off x="548640" y="5074920"/>
            <a:ext cx="5394960" cy="86868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Event Mode's stage, and its detailed differences from Partner Mode.</a:t>
            </a:r>
            <a:endParaRPr lang="en-US" sz="1100" dirty="0"/>
          </a:p>
        </p:txBody>
      </p:sp>
      <p:sp>
        <p:nvSpPr>
          <p:cNvPr id="7" name="FLAG — delete before sharing"/>
          <p:cNvSpPr txBox="1"/>
          <p:nvPr/>
        </p:nvSpPr>
        <p:spPr>
          <a:xfrm>
            <a:off x="6248095" y="5074920"/>
            <a:ext cx="5394960" cy="86868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Master logo artwork files (this logo is low resolution).</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The brand behind Event Mode</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Conversation, not knowledge.</a:t>
            </a:r>
            <a:endParaRPr lang="en-US" sz="1800" dirty="0"/>
          </a:p>
        </p:txBody>
      </p:sp>
      <p:sp>
        <p:nvSpPr>
          <p:cNvPr id="4" name="Idea statement"/>
          <p:cNvSpPr/>
          <p:nvPr/>
        </p:nvSpPr>
        <p:spPr>
          <a:xfrm>
            <a:off x="548640" y="1783080"/>
            <a:ext cx="11094415" cy="960120"/>
          </a:xfrm>
          <a:prstGeom prst="roundRect">
            <a:avLst>
              <a:gd name="adj" fmla="val 11429"/>
            </a:avLst>
          </a:prstGeom>
          <a:solidFill>
            <a:schemeClr val="tx1"/>
          </a:solidFill>
          <a:ln w="12700">
            <a:solidFill>
              <a:schemeClr val="tx1"/>
            </a:solidFill>
            <a:prstDash val="solid"/>
          </a:ln>
        </p:spPr>
      </p:sp>
      <p:sp>
        <p:nvSpPr>
          <p:cNvPr id="5" name="Text 3"/>
          <p:cNvSpPr txBox="1"/>
          <p:nvPr/>
        </p:nvSpPr>
        <p:spPr>
          <a:xfrm>
            <a:off x="1005840" y="1783080"/>
            <a:ext cx="10180015" cy="960120"/>
          </a:xfrm>
          <a:prstGeom prst="rect">
            <a:avLst/>
          </a:prstGeom>
          <a:noFill/>
          <a:ln/>
        </p:spPr>
        <p:txBody>
          <a:bodyPr wrap="square" lIns="0" tIns="0" rIns="0" bIns="0" rtlCol="0" anchor="ctr"/>
          <a:lstStyle/>
          <a:p>
            <a:pPr algn="ctr" indent="0" marL="0">
              <a:spcAft>
                <a:spcPts val="400"/>
              </a:spcAft>
              <a:buNone/>
            </a:pPr>
            <a:r>
              <a:rPr lang="en-US" sz="2200" dirty="0">
                <a:solidFill>
                  <a:schemeClr val="bg2"/>
                </a:solidFill>
              </a:rPr>
              <a:t>We start with a simple belief: conversation flows when nobody is worried about getting it right.</a:t>
            </a:r>
            <a:endParaRPr lang="en-US" sz="2200" dirty="0"/>
          </a:p>
        </p:txBody>
      </p:sp>
      <p:sp>
        <p:nvSpPr>
          <p:cNvPr id="6" name="Card: WHO WE ARE"/>
          <p:cNvSpPr/>
          <p:nvPr/>
        </p:nvSpPr>
        <p:spPr>
          <a:xfrm>
            <a:off x="548640" y="2926080"/>
            <a:ext cx="3515258" cy="1691640"/>
          </a:xfrm>
          <a:prstGeom prst="roundRect">
            <a:avLst>
              <a:gd name="adj" fmla="val 648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777240" y="3154680"/>
            <a:ext cx="3058058" cy="13258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WHO WE ARE</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Entre Amis is French for "between friends". A wine brand where everyone has something worth saying, whatever they know.</a:t>
            </a:r>
            <a:endParaRPr lang="en-US" sz="1500" dirty="0"/>
          </a:p>
        </p:txBody>
      </p:sp>
      <p:sp>
        <p:nvSpPr>
          <p:cNvPr id="8" name="Card: WHAT WE MAKE"/>
          <p:cNvSpPr/>
          <p:nvPr/>
        </p:nvSpPr>
        <p:spPr>
          <a:xfrm>
            <a:off x="4338218" y="2926080"/>
            <a:ext cx="3515258" cy="1691640"/>
          </a:xfrm>
          <a:prstGeom prst="roundRect">
            <a:avLst>
              <a:gd name="adj" fmla="val 648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9" name="Text 7"/>
          <p:cNvSpPr txBox="1"/>
          <p:nvPr/>
        </p:nvSpPr>
        <p:spPr>
          <a:xfrm>
            <a:off x="4566818" y="3154680"/>
            <a:ext cx="3058058" cy="13258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WHAT WE MAKE</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A table game and an app that turn any wine into conversation, and Partner Mode and Event Mode for the wine world.</a:t>
            </a:r>
            <a:endParaRPr lang="en-US" sz="1500" dirty="0"/>
          </a:p>
        </p:txBody>
      </p:sp>
      <p:sp>
        <p:nvSpPr>
          <p:cNvPr id="10" name="Card: WHAT WE BRING YOU"/>
          <p:cNvSpPr/>
          <p:nvPr/>
        </p:nvSpPr>
        <p:spPr>
          <a:xfrm>
            <a:off x="8127797" y="2926080"/>
            <a:ext cx="3515258" cy="1691640"/>
          </a:xfrm>
          <a:prstGeom prst="roundRect">
            <a:avLst>
              <a:gd name="adj" fmla="val 648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1" name="Text 9"/>
          <p:cNvSpPr txBox="1"/>
          <p:nvPr/>
        </p:nvSpPr>
        <p:spPr>
          <a:xfrm>
            <a:off x="8356397" y="3154680"/>
            <a:ext cx="3058058" cy="13258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WHAT WE BRING YOU</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What we add isn't content. It's connection.</a:t>
            </a:r>
            <a:endParaRPr lang="en-US" sz="1500" dirty="0"/>
          </a:p>
        </p:txBody>
      </p:sp>
      <p:sp>
        <p:nvSpPr>
          <p:cNvPr id="12" name="Text 10"/>
          <p:cNvSpPr txBox="1"/>
          <p:nvPr/>
        </p:nvSpPr>
        <p:spPr>
          <a:xfrm>
            <a:off x="548640" y="4800600"/>
            <a:ext cx="11094415" cy="548640"/>
          </a:xfrm>
          <a:prstGeom prst="rect">
            <a:avLst/>
          </a:prstGeom>
          <a:noFill/>
          <a:ln/>
        </p:spPr>
        <p:txBody>
          <a:bodyPr wrap="square" lIns="0" tIns="0" rIns="0" bIns="0" rtlCol="0" anchor="t"/>
          <a:lstStyle/>
          <a:p>
            <a:pPr algn="ctr" indent="0" marL="0">
              <a:spcAft>
                <a:spcPts val="400"/>
              </a:spcAft>
              <a:buNone/>
            </a:pPr>
            <a:r>
              <a:rPr lang="en-US" sz="2600" dirty="0">
                <a:solidFill>
                  <a:schemeClr val="tx1"/>
                </a:solidFill>
              </a:rPr>
              <a:t>Conversation creates connection. Connection creates insight.</a:t>
            </a:r>
            <a:endParaRPr lang="en-US" sz="26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What you know after a tasting day</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Often, only who bought the tickets.</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Card: WHO CAME"/>
          <p:cNvSpPr/>
          <p:nvPr/>
        </p:nvSpPr>
        <p:spPr>
          <a:xfrm>
            <a:off x="548640" y="1783080"/>
            <a:ext cx="3515258" cy="2103120"/>
          </a:xfrm>
          <a:prstGeom prst="roundRect">
            <a:avLst>
              <a:gd name="adj" fmla="val 5217"/>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777240" y="2011680"/>
            <a:ext cx="3058058" cy="173736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WHO CAME</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You often know the ticket buyer, not everyone with them. One person may buy eight tickets.</a:t>
            </a:r>
            <a:endParaRPr lang="en-US" sz="1600" dirty="0"/>
          </a:p>
        </p:txBody>
      </p:sp>
      <p:sp>
        <p:nvSpPr>
          <p:cNvPr id="7" name="Card: WHAT THEY THOUGHT"/>
          <p:cNvSpPr/>
          <p:nvPr/>
        </p:nvSpPr>
        <p:spPr>
          <a:xfrm>
            <a:off x="4338218" y="1783080"/>
            <a:ext cx="3515258" cy="2103120"/>
          </a:xfrm>
          <a:prstGeom prst="roundRect">
            <a:avLst>
              <a:gd name="adj" fmla="val 5217"/>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8" name="Text 6"/>
          <p:cNvSpPr txBox="1"/>
          <p:nvPr/>
        </p:nvSpPr>
        <p:spPr>
          <a:xfrm>
            <a:off x="4566818" y="2011680"/>
            <a:ext cx="3058058" cy="173736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WHAT THEY THOUGHT</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Visitors talk about the wines all day. Most of what they say isn't captured.</a:t>
            </a:r>
            <a:endParaRPr lang="en-US" sz="1600" dirty="0"/>
          </a:p>
        </p:txBody>
      </p:sp>
      <p:sp>
        <p:nvSpPr>
          <p:cNvPr id="9" name="Card: WHAT HAPPENS NEXT"/>
          <p:cNvSpPr/>
          <p:nvPr/>
        </p:nvSpPr>
        <p:spPr>
          <a:xfrm>
            <a:off x="8127797" y="1783080"/>
            <a:ext cx="3515258" cy="2103120"/>
          </a:xfrm>
          <a:prstGeom prst="roundRect">
            <a:avLst>
              <a:gd name="adj" fmla="val 5217"/>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8356397" y="2011680"/>
            <a:ext cx="3058058" cy="173736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WHAT HAPPENS NEXT</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The wines and producers visitors discovered are easily forgotten once the day ends.</a:t>
            </a:r>
            <a:endParaRPr lang="en-US" sz="1600" dirty="0"/>
          </a:p>
        </p:txBody>
      </p:sp>
      <p:sp>
        <p:nvSpPr>
          <p:cNvPr id="11" name="Event Mode answer"/>
          <p:cNvSpPr/>
          <p:nvPr/>
        </p:nvSpPr>
        <p:spPr>
          <a:xfrm>
            <a:off x="548640" y="4160520"/>
            <a:ext cx="11094415" cy="914400"/>
          </a:xfrm>
          <a:prstGeom prst="roundRect">
            <a:avLst>
              <a:gd name="adj" fmla="val 12000"/>
            </a:avLst>
          </a:prstGeom>
          <a:solidFill>
            <a:schemeClr val="tx1"/>
          </a:solidFill>
          <a:ln w="12700">
            <a:solidFill>
              <a:schemeClr val="tx1"/>
            </a:solidFill>
            <a:prstDash val="solid"/>
          </a:ln>
        </p:spPr>
      </p:sp>
      <p:sp>
        <p:nvSpPr>
          <p:cNvPr id="12" name="Text 10"/>
          <p:cNvSpPr txBox="1"/>
          <p:nvPr/>
        </p:nvSpPr>
        <p:spPr>
          <a:xfrm>
            <a:off x="1005840" y="4160520"/>
            <a:ext cx="10180015" cy="914400"/>
          </a:xfrm>
          <a:prstGeom prst="rect">
            <a:avLst/>
          </a:prstGeom>
          <a:noFill/>
          <a:ln/>
        </p:spPr>
        <p:txBody>
          <a:bodyPr wrap="square" lIns="0" tIns="0" rIns="0" bIns="0" rtlCol="0" anchor="ctr"/>
          <a:lstStyle/>
          <a:p>
            <a:pPr algn="ctr" indent="0" marL="0">
              <a:spcAft>
                <a:spcPts val="400"/>
              </a:spcAft>
              <a:buNone/>
            </a:pPr>
            <a:r>
              <a:rPr lang="en-US" sz="1800" dirty="0">
                <a:solidFill>
                  <a:schemeClr val="bg2"/>
                </a:solidFill>
              </a:rPr>
              <a:t>Event Mode turns the conversations at your event into insight you can use, and gives visitors a reason to remember the day.</a:t>
            </a:r>
            <a:endParaRPr lang="en-US" sz="1800" dirty="0"/>
          </a:p>
        </p:txBody>
      </p:sp>
      <p:sp>
        <p:nvSpPr>
          <p:cNvPr id="13" name="FLAG — delete before sharing"/>
          <p:cNvSpPr txBox="1"/>
          <p:nvPr/>
        </p:nvSpPr>
        <p:spPr>
          <a:xfrm>
            <a:off x="548640" y="5257800"/>
            <a:ext cx="11094415" cy="64008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Evidence for 'most of what they say isn't captured' and 'easily forgotten' from organiser conversations, so these read as findings, not assumptions.</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What your visitors get. What you get.</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One experience, two sets of benefits.</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Your visitors get"/>
          <p:cNvSpPr/>
          <p:nvPr/>
        </p:nvSpPr>
        <p:spPr>
          <a:xfrm>
            <a:off x="548640" y="1783080"/>
            <a:ext cx="5410048" cy="3657600"/>
          </a:xfrm>
          <a:prstGeom prst="roundRect">
            <a:avLst>
              <a:gd name="adj" fmla="val 3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868680" y="2057400"/>
            <a:ext cx="4769968" cy="3200400"/>
          </a:xfrm>
          <a:prstGeom prst="rect">
            <a:avLst/>
          </a:prstGeom>
          <a:noFill/>
          <a:ln/>
        </p:spPr>
        <p:txBody>
          <a:bodyPr wrap="square" lIns="0" tIns="0" rIns="0" bIns="0" rtlCol="0" anchor="t"/>
          <a:lstStyle/>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YOUR VISITORS GET</a:t>
            </a:r>
            <a:endParaRPr lang="en-US" sz="1600" dirty="0"/>
          </a:p>
          <a:p>
            <a:pPr indent="0" marL="0">
              <a:spcAft>
                <a:spcPts val="400"/>
              </a:spcAft>
              <a:buNone/>
            </a:pPr>
            <a:r>
              <a:rPr lang="en-US" sz="800" dirty="0">
                <a:solidFill>
                  <a:schemeClr val="tx1"/>
                </a:solidFill>
              </a:rPr>
              <a:t> </a:t>
            </a:r>
            <a:endParaRPr lang="en-US" sz="1600" dirty="0"/>
          </a:p>
          <a:p>
            <a:pPr marL="203200" indent="-203200">
              <a:spcAft>
                <a:spcPts val="800"/>
              </a:spcAft>
              <a:buSzPct val="100000"/>
              <a:buChar char="•"/>
            </a:pPr>
            <a:r>
              <a:rPr lang="en-US" sz="1600" dirty="0">
                <a:solidFill>
                  <a:schemeClr val="tx1"/>
                </a:solidFill>
              </a:rPr>
              <a:t>Meet the Maker: producer stories and videos.</a:t>
            </a:r>
            <a:endParaRPr lang="en-US" sz="1600" dirty="0"/>
          </a:p>
          <a:p>
            <a:pPr marL="203200" indent="-203200">
              <a:spcAft>
                <a:spcPts val="800"/>
              </a:spcAft>
              <a:buSzPct val="100000"/>
              <a:buChar char="•"/>
            </a:pPr>
            <a:r>
              <a:rPr lang="en-US" sz="1600" dirty="0">
                <a:solidFill>
                  <a:schemeClr val="tx1"/>
                </a:solidFill>
              </a:rPr>
              <a:t>Tasting prompts, polls and questions, with no wrong answers.</a:t>
            </a:r>
            <a:endParaRPr lang="en-US" sz="1600" dirty="0"/>
          </a:p>
          <a:p>
            <a:pPr marL="203200" indent="-203200">
              <a:spcAft>
                <a:spcPts val="800"/>
              </a:spcAft>
              <a:buSzPct val="100000"/>
              <a:buChar char="•"/>
            </a:pPr>
            <a:r>
              <a:rPr lang="en-US" sz="1600" dirty="0">
                <a:solidFill>
                  <a:schemeClr val="tx1"/>
                </a:solidFill>
              </a:rPr>
              <a:t>Their wines and notes saved as they go.</a:t>
            </a:r>
            <a:endParaRPr lang="en-US" sz="1600" dirty="0"/>
          </a:p>
          <a:p>
            <a:pPr marL="203200" indent="-203200">
              <a:spcAft>
                <a:spcPts val="800"/>
              </a:spcAft>
              <a:buSzPct val="100000"/>
              <a:buChar char="•"/>
            </a:pPr>
            <a:r>
              <a:rPr lang="en-US" sz="1600" dirty="0">
                <a:solidFill>
                  <a:schemeClr val="tx1"/>
                </a:solidFill>
              </a:rPr>
              <a:t>Their own Wine of the Day, crowned.</a:t>
            </a:r>
            <a:endParaRPr lang="en-US" sz="1600" dirty="0"/>
          </a:p>
          <a:p>
            <a:pPr marL="203200" indent="-203200">
              <a:spcAft>
                <a:spcPts val="800"/>
              </a:spcAft>
              <a:buSzPct val="100000"/>
              <a:buChar char="•"/>
            </a:pPr>
            <a:r>
              <a:rPr lang="en-US" sz="1600" dirty="0">
                <a:solidFill>
                  <a:schemeClr val="tx1"/>
                </a:solidFill>
              </a:rPr>
              <a:t>A personal record in My wines, to revisit after the event.</a:t>
            </a:r>
            <a:endParaRPr lang="en-US" sz="1600" dirty="0"/>
          </a:p>
        </p:txBody>
      </p:sp>
      <p:sp>
        <p:nvSpPr>
          <p:cNvPr id="7" name="You get"/>
          <p:cNvSpPr/>
          <p:nvPr/>
        </p:nvSpPr>
        <p:spPr>
          <a:xfrm>
            <a:off x="6233008" y="1783080"/>
            <a:ext cx="5410048" cy="3657600"/>
          </a:xfrm>
          <a:prstGeom prst="roundRect">
            <a:avLst>
              <a:gd name="adj" fmla="val 3000"/>
            </a:avLst>
          </a:prstGeom>
          <a:solidFill>
            <a:schemeClr val="tx1"/>
          </a:solidFill>
          <a:ln w="12700">
            <a:solidFill>
              <a:schemeClr val="tx1"/>
            </a:solidFill>
            <a:prstDash val="solid"/>
          </a:ln>
        </p:spPr>
      </p:sp>
      <p:sp>
        <p:nvSpPr>
          <p:cNvPr id="8" name="Text 6"/>
          <p:cNvSpPr txBox="1"/>
          <p:nvPr/>
        </p:nvSpPr>
        <p:spPr>
          <a:xfrm>
            <a:off x="6553048" y="2057400"/>
            <a:ext cx="4769968" cy="3200400"/>
          </a:xfrm>
          <a:prstGeom prst="rect">
            <a:avLst/>
          </a:prstGeom>
          <a:noFill/>
          <a:ln/>
        </p:spPr>
        <p:txBody>
          <a:bodyPr wrap="square" lIns="0" tIns="0" rIns="0" bIns="0" rtlCol="0" anchor="t"/>
          <a:lstStyle/>
          <a:p>
            <a:pPr indent="0" marL="0">
              <a:spcAft>
                <a:spcPts val="400"/>
              </a:spcAft>
              <a:buNone/>
            </a:pPr>
            <a:r>
              <a:rPr lang="en-US" sz="1400" spc="150" kern="0" dirty="0">
                <a:solidFill>
                  <a:schemeClr val="bg2"/>
                </a:solidFill>
                <a:latin typeface="Raleway SemiBold" pitchFamily="34" charset="0"/>
                <a:ea typeface="Raleway SemiBold" pitchFamily="34" charset="-122"/>
                <a:cs typeface="Raleway SemiBold" pitchFamily="34" charset="-120"/>
              </a:rPr>
              <a:t>YOU GET</a:t>
            </a:r>
            <a:endParaRPr lang="en-US" sz="1600" dirty="0"/>
          </a:p>
          <a:p>
            <a:pPr indent="0" marL="0">
              <a:spcAft>
                <a:spcPts val="400"/>
              </a:spcAft>
              <a:buNone/>
            </a:pPr>
            <a:r>
              <a:rPr lang="en-US" sz="800" dirty="0">
                <a:solidFill>
                  <a:schemeClr val="bg2"/>
                </a:solidFill>
              </a:rPr>
              <a:t> </a:t>
            </a:r>
            <a:endParaRPr lang="en-US" sz="1600" dirty="0"/>
          </a:p>
          <a:p>
            <a:pPr marL="203200" indent="-203200">
              <a:spcAft>
                <a:spcPts val="800"/>
              </a:spcAft>
              <a:buSzPct val="100000"/>
              <a:buChar char="•"/>
            </a:pPr>
            <a:r>
              <a:rPr lang="en-US" sz="1600" dirty="0">
                <a:solidFill>
                  <a:schemeClr val="bg2"/>
                </a:solidFill>
              </a:rPr>
              <a:t>Insight into what visitors really think, in their own words.</a:t>
            </a:r>
            <a:endParaRPr lang="en-US" sz="1600" dirty="0"/>
          </a:p>
          <a:p>
            <a:pPr marL="203200" indent="-203200">
              <a:spcAft>
                <a:spcPts val="800"/>
              </a:spcAft>
              <a:buSzPct val="100000"/>
              <a:buChar char="•"/>
            </a:pPr>
            <a:r>
              <a:rPr lang="en-US" sz="1600" dirty="0">
                <a:solidFill>
                  <a:schemeClr val="bg2"/>
                </a:solidFill>
              </a:rPr>
              <a:t>Combined, anonymised reporting on saved wines, crowns, polls and tasting responses.</a:t>
            </a:r>
            <a:endParaRPr lang="en-US" sz="1600" dirty="0"/>
          </a:p>
          <a:p>
            <a:pPr marL="203200" indent="-203200">
              <a:spcAft>
                <a:spcPts val="800"/>
              </a:spcAft>
              <a:buSzPct val="100000"/>
              <a:buChar char="•"/>
            </a:pPr>
            <a:r>
              <a:rPr lang="en-US" sz="1600" dirty="0">
                <a:solidFill>
                  <a:schemeClr val="bg2"/>
                </a:solidFill>
              </a:rPr>
              <a:t>A home for your producers' stories, and a view of how visitors use them.</a:t>
            </a:r>
            <a:endParaRPr lang="en-US" sz="1600" dirty="0"/>
          </a:p>
          <a:p>
            <a:pPr marL="203200" indent="-203200">
              <a:spcAft>
                <a:spcPts val="800"/>
              </a:spcAft>
              <a:buSzPct val="100000"/>
              <a:buChar char="•"/>
            </a:pPr>
            <a:r>
              <a:rPr lang="en-US" sz="1600" dirty="0">
                <a:solidFill>
                  <a:schemeClr val="bg2"/>
                </a:solidFill>
              </a:rPr>
              <a:t>New contacts, where visitors choose to hear from you.</a:t>
            </a:r>
            <a:endParaRPr lang="en-US" sz="1600" dirty="0"/>
          </a:p>
          <a:p>
            <a:pPr marL="203200" indent="-203200">
              <a:spcAft>
                <a:spcPts val="800"/>
              </a:spcAft>
              <a:buSzPct val="100000"/>
              <a:buChar char="•"/>
            </a:pPr>
            <a:r>
              <a:rPr lang="en-US" sz="1600" dirty="0">
                <a:solidFill>
                  <a:schemeClr val="bg2"/>
                </a:solidFill>
              </a:rPr>
              <a:t>A reason to reconnect after the event.</a:t>
            </a:r>
            <a:endParaRPr lang="en-US" sz="1600" dirty="0"/>
          </a:p>
        </p:txBody>
      </p:sp>
      <p:sp>
        <p:nvSpPr>
          <p:cNvPr id="9" name="FLAG — delete before sharing"/>
          <p:cNvSpPr txBox="1"/>
          <p:nvPr/>
        </p:nvSpPr>
        <p:spPr>
          <a:xfrm>
            <a:off x="548640" y="5577840"/>
            <a:ext cx="5410048" cy="5029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Quizzes and prizes (in the October deck): keep, and how?</a:t>
            </a:r>
            <a:endParaRPr lang="en-US" sz="1100" dirty="0"/>
          </a:p>
        </p:txBody>
      </p:sp>
      <p:sp>
        <p:nvSpPr>
          <p:cNvPr id="10" name="FLAG — delete before sharing"/>
          <p:cNvSpPr txBox="1"/>
          <p:nvPr/>
        </p:nvSpPr>
        <p:spPr>
          <a:xfrm>
            <a:off x="6233008" y="5577840"/>
            <a:ext cx="5410048" cy="5029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CONFIRM  </a:t>
            </a:r>
            <a:pPr indent="0" marL="0">
              <a:buNone/>
            </a:pPr>
            <a:r>
              <a:rPr lang="en-US" sz="1100" dirty="0">
                <a:solidFill>
                  <a:schemeClr val="tx1"/>
                </a:solidFill>
              </a:rPr>
              <a:t>Contacts: proposed rule, needs legal review.</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How we show up at your event</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Mostly on visitors' phones and through the tasting itself.</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Card: ON VISITORS' PHONES"/>
          <p:cNvSpPr/>
          <p:nvPr/>
        </p:nvSpPr>
        <p:spPr>
          <a:xfrm>
            <a:off x="548640" y="1783080"/>
            <a:ext cx="3515258" cy="2148840"/>
          </a:xfrm>
          <a:prstGeom prst="roundRect">
            <a:avLst>
              <a:gd name="adj" fmla="val 510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777240" y="2011680"/>
            <a:ext cx="3058058" cy="17830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ON VISITORS' PHONES</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A QR code is all it takes. The experience runs alongside the tasting, at each visitor's own pace.</a:t>
            </a:r>
            <a:endParaRPr lang="en-US" sz="1500" dirty="0"/>
          </a:p>
        </p:txBody>
      </p:sp>
      <p:sp>
        <p:nvSpPr>
          <p:cNvPr id="7" name="Card: ON YOUR MAIN SCREEN"/>
          <p:cNvSpPr/>
          <p:nvPr/>
        </p:nvSpPr>
        <p:spPr>
          <a:xfrm>
            <a:off x="4338218" y="1783080"/>
            <a:ext cx="3515258" cy="2148840"/>
          </a:xfrm>
          <a:prstGeom prst="roundRect">
            <a:avLst>
              <a:gd name="adj" fmla="val 510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8" name="Text 6"/>
          <p:cNvSpPr txBox="1"/>
          <p:nvPr/>
        </p:nvSpPr>
        <p:spPr>
          <a:xfrm>
            <a:off x="4566818" y="2011680"/>
            <a:ext cx="3058058" cy="17830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ON YOUR MAIN SCREEN</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Where you have one: live shared questions and results, in scheduled moments.</a:t>
            </a:r>
            <a:endParaRPr lang="en-US" sz="1500" dirty="0"/>
          </a:p>
        </p:txBody>
      </p:sp>
      <p:sp>
        <p:nvSpPr>
          <p:cNvPr id="9" name="Card: A SMALL ENTRE AMIS CORNER"/>
          <p:cNvSpPr/>
          <p:nvPr/>
        </p:nvSpPr>
        <p:spPr>
          <a:xfrm>
            <a:off x="8127797" y="1783080"/>
            <a:ext cx="3515258" cy="2148840"/>
          </a:xfrm>
          <a:prstGeom prst="roundRect">
            <a:avLst>
              <a:gd name="adj" fmla="val 510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8356397" y="2011680"/>
            <a:ext cx="3058058" cy="17830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A SMALL ENTRE AMIS CORNER</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Comfortable seats and a place to connect and find comfort. Never a sales space.</a:t>
            </a:r>
            <a:endParaRPr lang="en-US" sz="1500" dirty="0"/>
          </a:p>
        </p:txBody>
      </p:sp>
      <p:sp>
        <p:nvSpPr>
          <p:cNvPr id="11" name="Text 9"/>
          <p:cNvSpPr txBox="1"/>
          <p:nvPr/>
        </p:nvSpPr>
        <p:spPr>
          <a:xfrm>
            <a:off x="548640" y="4160520"/>
            <a:ext cx="7132320" cy="914400"/>
          </a:xfrm>
          <a:prstGeom prst="rect">
            <a:avLst/>
          </a:prstGeom>
          <a:noFill/>
          <a:ln/>
        </p:spPr>
        <p:txBody>
          <a:bodyPr wrap="square" lIns="0" tIns="0" rIns="0" bIns="0" rtlCol="0" anchor="t"/>
          <a:lstStyle/>
          <a:p>
            <a:pPr indent="0" marL="0">
              <a:spcAft>
                <a:spcPts val="400"/>
              </a:spcAft>
              <a:buNone/>
            </a:pPr>
            <a:r>
              <a:rPr lang="en-US" sz="1300" spc="150" kern="0" dirty="0">
                <a:solidFill>
                  <a:schemeClr val="tx1"/>
                </a:solidFill>
                <a:latin typeface="Raleway SemiBold" pitchFamily="34" charset="0"/>
                <a:ea typeface="Raleway SemiBold" pitchFamily="34" charset="-122"/>
                <a:cs typeface="Raleway SemiBold" pitchFamily="34" charset="-120"/>
              </a:rPr>
              <a:t>IT FITS DIFFERENT EVENTS</a:t>
            </a:r>
            <a:endParaRPr lang="en-US" sz="1500" dirty="0"/>
          </a:p>
          <a:p>
            <a:pPr indent="0" marL="0">
              <a:spcAft>
                <a:spcPts val="400"/>
              </a:spcAft>
              <a:buNone/>
            </a:pPr>
            <a:r>
              <a:rPr lang="en-US" sz="1500" dirty="0">
                <a:solidFill>
                  <a:schemeClr val="tx1"/>
                </a:solidFill>
              </a:rPr>
              <a:t>Large festivals with a main screen.  Tented tastings with no installed screens.  A smaller seasonal follow-up to reconnect with visitors.</a:t>
            </a:r>
            <a:endParaRPr lang="en-US" sz="1500" dirty="0"/>
          </a:p>
        </p:txBody>
      </p:sp>
      <p:sp>
        <p:nvSpPr>
          <p:cNvPr id="12" name="Image placeholder"/>
          <p:cNvSpPr/>
          <p:nvPr/>
        </p:nvSpPr>
        <p:spPr>
          <a:xfrm>
            <a:off x="7955280" y="4114800"/>
            <a:ext cx="3687775" cy="1783080"/>
          </a:xfrm>
          <a:prstGeom prst="roundRect">
            <a:avLst>
              <a:gd name="adj" fmla="val 6154"/>
            </a:avLst>
          </a:prstGeom>
          <a:solidFill>
            <a:schemeClr val="accent3"/>
          </a:solidFill>
          <a:ln w="12700">
            <a:solidFill>
              <a:schemeClr val="tx1"/>
            </a:solidFill>
            <a:prstDash val="dash"/>
          </a:ln>
        </p:spPr>
      </p:sp>
      <p:sp>
        <p:nvSpPr>
          <p:cNvPr id="13" name="Text 11"/>
          <p:cNvSpPr txBox="1"/>
          <p:nvPr/>
        </p:nvSpPr>
        <p:spPr>
          <a:xfrm>
            <a:off x="8229600" y="4114800"/>
            <a:ext cx="3139135" cy="1783080"/>
          </a:xfrm>
          <a:prstGeom prst="rect">
            <a:avLst/>
          </a:prstGeom>
          <a:noFill/>
          <a:ln/>
        </p:spPr>
        <p:txBody>
          <a:bodyPr wrap="square" lIns="0" tIns="0" rIns="0" bIns="0" rtlCol="0" anchor="ctr"/>
          <a:lstStyle/>
          <a:p>
            <a:pPr algn="ct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Photo of the corner or the app in use — to add</a:t>
            </a:r>
            <a:endParaRPr lang="en-US" sz="1400" dirty="0"/>
          </a:p>
        </p:txBody>
      </p:sp>
      <p:sp>
        <p:nvSpPr>
          <p:cNvPr id="14" name="FLAG — delete before sharing"/>
          <p:cNvSpPr txBox="1"/>
          <p:nvPr/>
        </p:nvSpPr>
        <p:spPr>
          <a:xfrm>
            <a:off x="548640" y="5303520"/>
            <a:ext cx="7132320" cy="59436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CONFIRM  </a:t>
            </a:r>
            <a:pPr indent="0" marL="0">
              <a:buNone/>
            </a:pPr>
            <a:r>
              <a:rPr lang="en-US" sz="1100" dirty="0">
                <a:solidFill>
                  <a:schemeClr val="tx1"/>
                </a:solidFill>
              </a:rPr>
              <a:t>'A QR code is all it takes' assumes visitors join by QR at every event.</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Your visitors' day</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Built around what actually happens at a discovery day.</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Journey: Arrive"/>
          <p:cNvSpPr txBox="1"/>
          <p:nvPr/>
        </p:nvSpPr>
        <p:spPr>
          <a:xfrm>
            <a:off x="548640" y="1828800"/>
            <a:ext cx="1334110" cy="685800"/>
          </a:xfrm>
          <a:prstGeom prst="roundRect">
            <a:avLst>
              <a:gd name="adj" fmla="val 49333"/>
            </a:avLst>
          </a:prstGeom>
          <a:solidFill>
            <a:schemeClr val="tx1"/>
          </a:solidFill>
          <a:ln/>
        </p:spPr>
        <p:txBody>
          <a:bodyPr wrap="square" lIns="0" tIns="0" rIns="0" bIns="0" rtlCol="0" anchor="ctr"/>
          <a:lstStyle/>
          <a:p>
            <a:pPr algn="ctr" indent="0" marL="0">
              <a:buNone/>
            </a:pPr>
            <a:r>
              <a:rPr lang="en-US" sz="1500" dirty="0">
                <a:solidFill>
                  <a:schemeClr val="bg2"/>
                </a:solidFill>
                <a:latin typeface="Raleway SemiBold" pitchFamily="34" charset="0"/>
                <a:ea typeface="Raleway SemiBold" pitchFamily="34" charset="-122"/>
                <a:cs typeface="Raleway SemiBold" pitchFamily="34" charset="-120"/>
              </a:rPr>
              <a:t>Arrive</a:t>
            </a:r>
            <a:endParaRPr lang="en-US" sz="1500" dirty="0"/>
          </a:p>
        </p:txBody>
      </p:sp>
      <p:sp>
        <p:nvSpPr>
          <p:cNvPr id="6" name="Shape 4"/>
          <p:cNvSpPr/>
          <p:nvPr/>
        </p:nvSpPr>
        <p:spPr>
          <a:xfrm>
            <a:off x="1937614" y="2075688"/>
            <a:ext cx="182880" cy="182880"/>
          </a:xfrm>
          <a:prstGeom prst="rightArrow">
            <a:avLst/>
          </a:prstGeom>
          <a:solidFill>
            <a:schemeClr val="accent2"/>
          </a:solidFill>
          <a:ln w="12700">
            <a:solidFill>
              <a:schemeClr val="accent2"/>
            </a:solidFill>
            <a:prstDash val="solid"/>
          </a:ln>
        </p:spPr>
      </p:sp>
      <p:sp>
        <p:nvSpPr>
          <p:cNvPr id="7" name="Journey: Explore"/>
          <p:cNvSpPr txBox="1"/>
          <p:nvPr/>
        </p:nvSpPr>
        <p:spPr>
          <a:xfrm>
            <a:off x="2175358" y="1828800"/>
            <a:ext cx="1334110" cy="685800"/>
          </a:xfrm>
          <a:prstGeom prst="roundRect">
            <a:avLst>
              <a:gd name="adj" fmla="val 49333"/>
            </a:avLst>
          </a:prstGeom>
          <a:solidFill>
            <a:schemeClr val="tx1"/>
          </a:solidFill>
          <a:ln/>
        </p:spPr>
        <p:txBody>
          <a:bodyPr wrap="square" lIns="0" tIns="0" rIns="0" bIns="0" rtlCol="0" anchor="ctr"/>
          <a:lstStyle/>
          <a:p>
            <a:pPr algn="ctr" indent="0" marL="0">
              <a:buNone/>
            </a:pPr>
            <a:r>
              <a:rPr lang="en-US" sz="1500" dirty="0">
                <a:solidFill>
                  <a:schemeClr val="bg2"/>
                </a:solidFill>
                <a:latin typeface="Raleway SemiBold" pitchFamily="34" charset="0"/>
                <a:ea typeface="Raleway SemiBold" pitchFamily="34" charset="-122"/>
                <a:cs typeface="Raleway SemiBold" pitchFamily="34" charset="-120"/>
              </a:rPr>
              <a:t>Explore</a:t>
            </a:r>
            <a:endParaRPr lang="en-US" sz="1500" dirty="0"/>
          </a:p>
        </p:txBody>
      </p:sp>
      <p:sp>
        <p:nvSpPr>
          <p:cNvPr id="8" name="Shape 6"/>
          <p:cNvSpPr/>
          <p:nvPr/>
        </p:nvSpPr>
        <p:spPr>
          <a:xfrm>
            <a:off x="3564331" y="2075688"/>
            <a:ext cx="182880" cy="182880"/>
          </a:xfrm>
          <a:prstGeom prst="rightArrow">
            <a:avLst/>
          </a:prstGeom>
          <a:solidFill>
            <a:schemeClr val="accent2"/>
          </a:solidFill>
          <a:ln w="12700">
            <a:solidFill>
              <a:schemeClr val="accent2"/>
            </a:solidFill>
            <a:prstDash val="solid"/>
          </a:ln>
        </p:spPr>
      </p:sp>
      <p:sp>
        <p:nvSpPr>
          <p:cNvPr id="9" name="Journey: Taste"/>
          <p:cNvSpPr txBox="1"/>
          <p:nvPr/>
        </p:nvSpPr>
        <p:spPr>
          <a:xfrm>
            <a:off x="3802075" y="1828800"/>
            <a:ext cx="1334110" cy="685800"/>
          </a:xfrm>
          <a:prstGeom prst="roundRect">
            <a:avLst>
              <a:gd name="adj" fmla="val 49333"/>
            </a:avLst>
          </a:prstGeom>
          <a:solidFill>
            <a:schemeClr val="tx1"/>
          </a:solidFill>
          <a:ln/>
        </p:spPr>
        <p:txBody>
          <a:bodyPr wrap="square" lIns="0" tIns="0" rIns="0" bIns="0" rtlCol="0" anchor="ctr"/>
          <a:lstStyle/>
          <a:p>
            <a:pPr algn="ctr" indent="0" marL="0">
              <a:buNone/>
            </a:pPr>
            <a:r>
              <a:rPr lang="en-US" sz="1500" dirty="0">
                <a:solidFill>
                  <a:schemeClr val="bg2"/>
                </a:solidFill>
                <a:latin typeface="Raleway SemiBold" pitchFamily="34" charset="0"/>
                <a:ea typeface="Raleway SemiBold" pitchFamily="34" charset="-122"/>
                <a:cs typeface="Raleway SemiBold" pitchFamily="34" charset="-120"/>
              </a:rPr>
              <a:t>Taste</a:t>
            </a:r>
            <a:endParaRPr lang="en-US" sz="1500" dirty="0"/>
          </a:p>
        </p:txBody>
      </p:sp>
      <p:sp>
        <p:nvSpPr>
          <p:cNvPr id="10" name="Shape 8"/>
          <p:cNvSpPr/>
          <p:nvPr/>
        </p:nvSpPr>
        <p:spPr>
          <a:xfrm>
            <a:off x="5191049" y="2075688"/>
            <a:ext cx="182880" cy="182880"/>
          </a:xfrm>
          <a:prstGeom prst="rightArrow">
            <a:avLst/>
          </a:prstGeom>
          <a:solidFill>
            <a:schemeClr val="accent2"/>
          </a:solidFill>
          <a:ln w="12700">
            <a:solidFill>
              <a:schemeClr val="accent2"/>
            </a:solidFill>
            <a:prstDash val="solid"/>
          </a:ln>
        </p:spPr>
      </p:sp>
      <p:sp>
        <p:nvSpPr>
          <p:cNvPr id="11" name="Journey: Sit and talk"/>
          <p:cNvSpPr txBox="1"/>
          <p:nvPr/>
        </p:nvSpPr>
        <p:spPr>
          <a:xfrm>
            <a:off x="5428793" y="1828800"/>
            <a:ext cx="1334110" cy="685800"/>
          </a:xfrm>
          <a:prstGeom prst="roundRect">
            <a:avLst>
              <a:gd name="adj" fmla="val 49333"/>
            </a:avLst>
          </a:prstGeom>
          <a:solidFill>
            <a:schemeClr val="tx1"/>
          </a:solidFill>
          <a:ln/>
        </p:spPr>
        <p:txBody>
          <a:bodyPr wrap="square" lIns="0" tIns="0" rIns="0" bIns="0" rtlCol="0" anchor="ctr"/>
          <a:lstStyle/>
          <a:p>
            <a:pPr algn="ctr" indent="0" marL="0">
              <a:buNone/>
            </a:pPr>
            <a:r>
              <a:rPr lang="en-US" sz="1500" dirty="0">
                <a:solidFill>
                  <a:schemeClr val="bg2"/>
                </a:solidFill>
                <a:latin typeface="Raleway SemiBold" pitchFamily="34" charset="0"/>
                <a:ea typeface="Raleway SemiBold" pitchFamily="34" charset="-122"/>
                <a:cs typeface="Raleway SemiBold" pitchFamily="34" charset="-120"/>
              </a:rPr>
              <a:t>Sit and talk</a:t>
            </a:r>
            <a:endParaRPr lang="en-US" sz="1500" dirty="0"/>
          </a:p>
        </p:txBody>
      </p:sp>
      <p:sp>
        <p:nvSpPr>
          <p:cNvPr id="12" name="Shape 10"/>
          <p:cNvSpPr/>
          <p:nvPr/>
        </p:nvSpPr>
        <p:spPr>
          <a:xfrm>
            <a:off x="6817766" y="2075688"/>
            <a:ext cx="182880" cy="182880"/>
          </a:xfrm>
          <a:prstGeom prst="rightArrow">
            <a:avLst/>
          </a:prstGeom>
          <a:solidFill>
            <a:schemeClr val="accent2"/>
          </a:solidFill>
          <a:ln w="12700">
            <a:solidFill>
              <a:schemeClr val="accent2"/>
            </a:solidFill>
            <a:prstDash val="solid"/>
          </a:ln>
        </p:spPr>
      </p:sp>
      <p:sp>
        <p:nvSpPr>
          <p:cNvPr id="13" name="Journey: Save"/>
          <p:cNvSpPr txBox="1"/>
          <p:nvPr/>
        </p:nvSpPr>
        <p:spPr>
          <a:xfrm>
            <a:off x="7055510" y="1828800"/>
            <a:ext cx="1334110" cy="685800"/>
          </a:xfrm>
          <a:prstGeom prst="roundRect">
            <a:avLst>
              <a:gd name="adj" fmla="val 49333"/>
            </a:avLst>
          </a:prstGeom>
          <a:solidFill>
            <a:schemeClr val="tx1"/>
          </a:solidFill>
          <a:ln/>
        </p:spPr>
        <p:txBody>
          <a:bodyPr wrap="square" lIns="0" tIns="0" rIns="0" bIns="0" rtlCol="0" anchor="ctr"/>
          <a:lstStyle/>
          <a:p>
            <a:pPr algn="ctr" indent="0" marL="0">
              <a:buNone/>
            </a:pPr>
            <a:r>
              <a:rPr lang="en-US" sz="1500" dirty="0">
                <a:solidFill>
                  <a:schemeClr val="bg2"/>
                </a:solidFill>
                <a:latin typeface="Raleway SemiBold" pitchFamily="34" charset="0"/>
                <a:ea typeface="Raleway SemiBold" pitchFamily="34" charset="-122"/>
                <a:cs typeface="Raleway SemiBold" pitchFamily="34" charset="-120"/>
              </a:rPr>
              <a:t>Save</a:t>
            </a:r>
            <a:endParaRPr lang="en-US" sz="1500" dirty="0"/>
          </a:p>
        </p:txBody>
      </p:sp>
      <p:sp>
        <p:nvSpPr>
          <p:cNvPr id="14" name="Shape 12"/>
          <p:cNvSpPr/>
          <p:nvPr/>
        </p:nvSpPr>
        <p:spPr>
          <a:xfrm>
            <a:off x="8444484" y="2075688"/>
            <a:ext cx="182880" cy="182880"/>
          </a:xfrm>
          <a:prstGeom prst="rightArrow">
            <a:avLst/>
          </a:prstGeom>
          <a:solidFill>
            <a:schemeClr val="accent2"/>
          </a:solidFill>
          <a:ln w="12700">
            <a:solidFill>
              <a:schemeClr val="accent2"/>
            </a:solidFill>
            <a:prstDash val="solid"/>
          </a:ln>
        </p:spPr>
      </p:sp>
      <p:sp>
        <p:nvSpPr>
          <p:cNvPr id="15" name="Journey: Crown"/>
          <p:cNvSpPr txBox="1"/>
          <p:nvPr/>
        </p:nvSpPr>
        <p:spPr>
          <a:xfrm>
            <a:off x="8682228" y="1828800"/>
            <a:ext cx="1334110" cy="685800"/>
          </a:xfrm>
          <a:prstGeom prst="roundRect">
            <a:avLst>
              <a:gd name="adj" fmla="val 49333"/>
            </a:avLst>
          </a:prstGeom>
          <a:solidFill>
            <a:schemeClr val="tx1"/>
          </a:solidFill>
          <a:ln/>
        </p:spPr>
        <p:txBody>
          <a:bodyPr wrap="square" lIns="0" tIns="0" rIns="0" bIns="0" rtlCol="0" anchor="ctr"/>
          <a:lstStyle/>
          <a:p>
            <a:pPr algn="ctr" indent="0" marL="0">
              <a:buNone/>
            </a:pPr>
            <a:r>
              <a:rPr lang="en-US" sz="1500" dirty="0">
                <a:solidFill>
                  <a:schemeClr val="bg2"/>
                </a:solidFill>
                <a:latin typeface="Raleway SemiBold" pitchFamily="34" charset="0"/>
                <a:ea typeface="Raleway SemiBold" pitchFamily="34" charset="-122"/>
                <a:cs typeface="Raleway SemiBold" pitchFamily="34" charset="-120"/>
              </a:rPr>
              <a:t>Crown</a:t>
            </a:r>
            <a:endParaRPr lang="en-US" sz="1500" dirty="0"/>
          </a:p>
        </p:txBody>
      </p:sp>
      <p:sp>
        <p:nvSpPr>
          <p:cNvPr id="16" name="Shape 14"/>
          <p:cNvSpPr/>
          <p:nvPr/>
        </p:nvSpPr>
        <p:spPr>
          <a:xfrm>
            <a:off x="10071202" y="2075688"/>
            <a:ext cx="182880" cy="182880"/>
          </a:xfrm>
          <a:prstGeom prst="rightArrow">
            <a:avLst/>
          </a:prstGeom>
          <a:solidFill>
            <a:schemeClr val="accent2"/>
          </a:solidFill>
          <a:ln w="12700">
            <a:solidFill>
              <a:schemeClr val="accent2"/>
            </a:solidFill>
            <a:prstDash val="solid"/>
          </a:ln>
        </p:spPr>
      </p:sp>
      <p:sp>
        <p:nvSpPr>
          <p:cNvPr id="17" name="Journey: Revisit"/>
          <p:cNvSpPr txBox="1"/>
          <p:nvPr/>
        </p:nvSpPr>
        <p:spPr>
          <a:xfrm>
            <a:off x="10308946" y="1828800"/>
            <a:ext cx="1334110" cy="685800"/>
          </a:xfrm>
          <a:prstGeom prst="roundRect">
            <a:avLst>
              <a:gd name="adj" fmla="val 49333"/>
            </a:avLst>
          </a:prstGeom>
          <a:solidFill>
            <a:schemeClr val="tx1"/>
          </a:solidFill>
          <a:ln/>
        </p:spPr>
        <p:txBody>
          <a:bodyPr wrap="square" lIns="0" tIns="0" rIns="0" bIns="0" rtlCol="0" anchor="ctr"/>
          <a:lstStyle/>
          <a:p>
            <a:pPr algn="ctr" indent="0" marL="0">
              <a:buNone/>
            </a:pPr>
            <a:r>
              <a:rPr lang="en-US" sz="1500" dirty="0">
                <a:solidFill>
                  <a:schemeClr val="bg2"/>
                </a:solidFill>
                <a:latin typeface="Raleway SemiBold" pitchFamily="34" charset="0"/>
                <a:ea typeface="Raleway SemiBold" pitchFamily="34" charset="-122"/>
                <a:cs typeface="Raleway SemiBold" pitchFamily="34" charset="-120"/>
              </a:rPr>
              <a:t>Revisit</a:t>
            </a:r>
            <a:endParaRPr lang="en-US" sz="1500" dirty="0"/>
          </a:p>
        </p:txBody>
      </p:sp>
      <p:sp>
        <p:nvSpPr>
          <p:cNvPr id="18" name="Card: QUICK TO USE"/>
          <p:cNvSpPr/>
          <p:nvPr/>
        </p:nvSpPr>
        <p:spPr>
          <a:xfrm>
            <a:off x="548640" y="2971800"/>
            <a:ext cx="2567864" cy="1463040"/>
          </a:xfrm>
          <a:prstGeom prst="roundRect">
            <a:avLst>
              <a:gd name="adj" fmla="val 75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9" name="Text 17"/>
          <p:cNvSpPr txBox="1"/>
          <p:nvPr/>
        </p:nvSpPr>
        <p:spPr>
          <a:xfrm>
            <a:off x="777240" y="3200400"/>
            <a:ext cx="2110664" cy="10972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QUICK TO USE</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Easy to start, easy to join.</a:t>
            </a:r>
            <a:endParaRPr lang="en-US" sz="1500" dirty="0"/>
          </a:p>
        </p:txBody>
      </p:sp>
      <p:sp>
        <p:nvSpPr>
          <p:cNvPr id="20" name="Card: OPTIONAL QUESTIONS"/>
          <p:cNvSpPr/>
          <p:nvPr/>
        </p:nvSpPr>
        <p:spPr>
          <a:xfrm>
            <a:off x="3390824" y="2971800"/>
            <a:ext cx="2567864" cy="1463040"/>
          </a:xfrm>
          <a:prstGeom prst="roundRect">
            <a:avLst>
              <a:gd name="adj" fmla="val 75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1" name="Text 19"/>
          <p:cNvSpPr txBox="1"/>
          <p:nvPr/>
        </p:nvSpPr>
        <p:spPr>
          <a:xfrm>
            <a:off x="3619424" y="3200400"/>
            <a:ext cx="2110664" cy="10972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OPTIONAL QUESTIONS</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Visitors answer as much or as little as they like.</a:t>
            </a:r>
            <a:endParaRPr lang="en-US" sz="1500" dirty="0"/>
          </a:p>
        </p:txBody>
      </p:sp>
      <p:sp>
        <p:nvSpPr>
          <p:cNvPr id="22" name="Card: NO COMPULSORY TASTING"/>
          <p:cNvSpPr/>
          <p:nvPr/>
        </p:nvSpPr>
        <p:spPr>
          <a:xfrm>
            <a:off x="6233008" y="2971800"/>
            <a:ext cx="2567864" cy="1463040"/>
          </a:xfrm>
          <a:prstGeom prst="roundRect">
            <a:avLst>
              <a:gd name="adj" fmla="val 75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3" name="Text 21"/>
          <p:cNvSpPr txBox="1"/>
          <p:nvPr/>
        </p:nvSpPr>
        <p:spPr>
          <a:xfrm>
            <a:off x="6461608" y="3200400"/>
            <a:ext cx="2110664" cy="10972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NO COMPULSORY TASTING</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Tasting is always optional.</a:t>
            </a:r>
            <a:endParaRPr lang="en-US" sz="1500" dirty="0"/>
          </a:p>
        </p:txBody>
      </p:sp>
      <p:sp>
        <p:nvSpPr>
          <p:cNvPr id="24" name="Card: SET UP FOR YOUR EVENT"/>
          <p:cNvSpPr/>
          <p:nvPr/>
        </p:nvSpPr>
        <p:spPr>
          <a:xfrm>
            <a:off x="9075191" y="2971800"/>
            <a:ext cx="2567864" cy="1463040"/>
          </a:xfrm>
          <a:prstGeom prst="roundRect">
            <a:avLst>
              <a:gd name="adj" fmla="val 75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5" name="Text 23"/>
          <p:cNvSpPr txBox="1"/>
          <p:nvPr/>
        </p:nvSpPr>
        <p:spPr>
          <a:xfrm>
            <a:off x="9303791" y="3200400"/>
            <a:ext cx="2110664" cy="10972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SET UP FOR YOUR EVENT</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Tailored to how your day runs.</a:t>
            </a:r>
            <a:endParaRPr lang="en-US" sz="1500" dirty="0"/>
          </a:p>
        </p:txBody>
      </p:sp>
      <p:sp>
        <p:nvSpPr>
          <p:cNvPr id="26" name="Image placeholder"/>
          <p:cNvSpPr/>
          <p:nvPr/>
        </p:nvSpPr>
        <p:spPr>
          <a:xfrm>
            <a:off x="548640" y="4663440"/>
            <a:ext cx="11094415" cy="1280160"/>
          </a:xfrm>
          <a:prstGeom prst="roundRect">
            <a:avLst>
              <a:gd name="adj" fmla="val 8571"/>
            </a:avLst>
          </a:prstGeom>
          <a:solidFill>
            <a:schemeClr val="accent3"/>
          </a:solidFill>
          <a:ln w="12700">
            <a:solidFill>
              <a:schemeClr val="tx1"/>
            </a:solidFill>
            <a:prstDash val="dash"/>
          </a:ln>
        </p:spPr>
      </p:sp>
      <p:sp>
        <p:nvSpPr>
          <p:cNvPr id="27" name="Text 25"/>
          <p:cNvSpPr txBox="1"/>
          <p:nvPr/>
        </p:nvSpPr>
        <p:spPr>
          <a:xfrm>
            <a:off x="822960" y="4663440"/>
            <a:ext cx="10545775" cy="1280160"/>
          </a:xfrm>
          <a:prstGeom prst="rect">
            <a:avLst/>
          </a:prstGeom>
          <a:noFill/>
          <a:ln/>
        </p:spPr>
        <p:txBody>
          <a:bodyPr wrap="square" lIns="0" tIns="0" rIns="0" bIns="0" rtlCol="0" anchor="ctr"/>
          <a:lstStyle/>
          <a:p>
            <a:pPr algn="ct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Visitor screens — to add</a:t>
            </a:r>
            <a:endParaRPr lang="en-US" sz="14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The insight you receive</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Three layers, all built on consent.</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Layer: Your event"/>
          <p:cNvSpPr/>
          <p:nvPr/>
        </p:nvSpPr>
        <p:spPr>
          <a:xfrm>
            <a:off x="548640" y="1783080"/>
            <a:ext cx="11094415" cy="960120"/>
          </a:xfrm>
          <a:prstGeom prst="roundRect">
            <a:avLst>
              <a:gd name="adj" fmla="val 11429"/>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822960" y="1965960"/>
            <a:ext cx="594360" cy="594360"/>
          </a:xfrm>
          <a:prstGeom prst="ellipse">
            <a:avLst/>
          </a:prstGeom>
          <a:solidFill>
            <a:schemeClr val="tx1"/>
          </a:solidFill>
          <a:ln/>
        </p:spPr>
        <p:txBody>
          <a:bodyPr wrap="square" lIns="0" tIns="0" rIns="0" bIns="0" rtlCol="0" anchor="ctr"/>
          <a:lstStyle/>
          <a:p>
            <a:pPr algn="ctr" indent="0" marL="0">
              <a:buNone/>
            </a:pPr>
            <a:r>
              <a:rPr lang="en-US" sz="1600" dirty="0">
                <a:solidFill>
                  <a:schemeClr val="bg2"/>
                </a:solidFill>
                <a:latin typeface="Raleway SemiBold" pitchFamily="34" charset="0"/>
                <a:ea typeface="Raleway SemiBold" pitchFamily="34" charset="-122"/>
                <a:cs typeface="Raleway SemiBold" pitchFamily="34" charset="-120"/>
              </a:rPr>
              <a:t>1</a:t>
            </a:r>
            <a:endParaRPr lang="en-US" sz="1600" dirty="0"/>
          </a:p>
        </p:txBody>
      </p:sp>
      <p:sp>
        <p:nvSpPr>
          <p:cNvPr id="7" name="Text 5"/>
          <p:cNvSpPr txBox="1"/>
          <p:nvPr/>
        </p:nvSpPr>
        <p:spPr>
          <a:xfrm>
            <a:off x="1691640" y="1783080"/>
            <a:ext cx="2651760" cy="9601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Your event</a:t>
            </a:r>
            <a:endParaRPr lang="en-US" sz="1600" dirty="0"/>
          </a:p>
        </p:txBody>
      </p:sp>
      <p:sp>
        <p:nvSpPr>
          <p:cNvPr id="8" name="Text 6"/>
          <p:cNvSpPr txBox="1"/>
          <p:nvPr/>
        </p:nvSpPr>
        <p:spPr>
          <a:xfrm>
            <a:off x="4389120" y="1783080"/>
            <a:ext cx="6979615" cy="9601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rPr>
              <a:t>Combined discoveries, favourites, crown patterns, poll and tasting responses, and how visitors used your content.</a:t>
            </a:r>
            <a:endParaRPr lang="en-US" sz="1600" dirty="0"/>
          </a:p>
        </p:txBody>
      </p:sp>
      <p:sp>
        <p:nvSpPr>
          <p:cNvPr id="9" name="Layer: Your new contacts"/>
          <p:cNvSpPr/>
          <p:nvPr/>
        </p:nvSpPr>
        <p:spPr>
          <a:xfrm>
            <a:off x="548640" y="2880360"/>
            <a:ext cx="11094415" cy="960120"/>
          </a:xfrm>
          <a:prstGeom prst="roundRect">
            <a:avLst>
              <a:gd name="adj" fmla="val 11429"/>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822960" y="3063240"/>
            <a:ext cx="594360" cy="594360"/>
          </a:xfrm>
          <a:prstGeom prst="ellipse">
            <a:avLst/>
          </a:prstGeom>
          <a:solidFill>
            <a:schemeClr val="tx1"/>
          </a:solidFill>
          <a:ln/>
        </p:spPr>
        <p:txBody>
          <a:bodyPr wrap="square" lIns="0" tIns="0" rIns="0" bIns="0" rtlCol="0" anchor="ctr"/>
          <a:lstStyle/>
          <a:p>
            <a:pPr algn="ctr" indent="0" marL="0">
              <a:buNone/>
            </a:pPr>
            <a:r>
              <a:rPr lang="en-US" sz="1600" dirty="0">
                <a:solidFill>
                  <a:schemeClr val="bg2"/>
                </a:solidFill>
                <a:latin typeface="Raleway SemiBold" pitchFamily="34" charset="0"/>
                <a:ea typeface="Raleway SemiBold" pitchFamily="34" charset="-122"/>
                <a:cs typeface="Raleway SemiBold" pitchFamily="34" charset="-120"/>
              </a:rPr>
              <a:t>2</a:t>
            </a:r>
            <a:endParaRPr lang="en-US" sz="1600" dirty="0"/>
          </a:p>
        </p:txBody>
      </p:sp>
      <p:sp>
        <p:nvSpPr>
          <p:cNvPr id="11" name="Text 9"/>
          <p:cNvSpPr txBox="1"/>
          <p:nvPr/>
        </p:nvSpPr>
        <p:spPr>
          <a:xfrm>
            <a:off x="1691640" y="2880360"/>
            <a:ext cx="2651760" cy="9601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Your new contacts</a:t>
            </a:r>
            <a:endParaRPr lang="en-US" sz="1600" dirty="0"/>
          </a:p>
        </p:txBody>
      </p:sp>
      <p:sp>
        <p:nvSpPr>
          <p:cNvPr id="12" name="Text 10"/>
          <p:cNvSpPr txBox="1"/>
          <p:nvPr/>
        </p:nvSpPr>
        <p:spPr>
          <a:xfrm>
            <a:off x="4389120" y="2880360"/>
            <a:ext cx="6979615" cy="9601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rPr>
              <a:t>Individual visitors who choose to hear from you, and only them.</a:t>
            </a:r>
            <a:endParaRPr lang="en-US" sz="1600" dirty="0"/>
          </a:p>
        </p:txBody>
      </p:sp>
      <p:sp>
        <p:nvSpPr>
          <p:cNvPr id="13" name="Layer: Wider trends"/>
          <p:cNvSpPr/>
          <p:nvPr/>
        </p:nvSpPr>
        <p:spPr>
          <a:xfrm>
            <a:off x="548640" y="3977640"/>
            <a:ext cx="11094415" cy="960120"/>
          </a:xfrm>
          <a:prstGeom prst="roundRect">
            <a:avLst>
              <a:gd name="adj" fmla="val 11429"/>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4" name="Text 12"/>
          <p:cNvSpPr txBox="1"/>
          <p:nvPr/>
        </p:nvSpPr>
        <p:spPr>
          <a:xfrm>
            <a:off x="822960" y="4160520"/>
            <a:ext cx="594360" cy="594360"/>
          </a:xfrm>
          <a:prstGeom prst="ellipse">
            <a:avLst/>
          </a:prstGeom>
          <a:solidFill>
            <a:schemeClr val="tx1"/>
          </a:solidFill>
          <a:ln/>
        </p:spPr>
        <p:txBody>
          <a:bodyPr wrap="square" lIns="0" tIns="0" rIns="0" bIns="0" rtlCol="0" anchor="ctr"/>
          <a:lstStyle/>
          <a:p>
            <a:pPr algn="ctr" indent="0" marL="0">
              <a:buNone/>
            </a:pPr>
            <a:r>
              <a:rPr lang="en-US" sz="1600" dirty="0">
                <a:solidFill>
                  <a:schemeClr val="bg2"/>
                </a:solidFill>
                <a:latin typeface="Raleway SemiBold" pitchFamily="34" charset="0"/>
                <a:ea typeface="Raleway SemiBold" pitchFamily="34" charset="-122"/>
                <a:cs typeface="Raleway SemiBold" pitchFamily="34" charset="-120"/>
              </a:rPr>
              <a:t>3</a:t>
            </a:r>
            <a:endParaRPr lang="en-US" sz="1600" dirty="0"/>
          </a:p>
        </p:txBody>
      </p:sp>
      <p:sp>
        <p:nvSpPr>
          <p:cNvPr id="15" name="Text 13"/>
          <p:cNvSpPr txBox="1"/>
          <p:nvPr/>
        </p:nvSpPr>
        <p:spPr>
          <a:xfrm>
            <a:off x="1691640" y="3977640"/>
            <a:ext cx="2651760" cy="9601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Wider trends</a:t>
            </a:r>
            <a:endParaRPr lang="en-US" sz="1600" dirty="0"/>
          </a:p>
        </p:txBody>
      </p:sp>
      <p:sp>
        <p:nvSpPr>
          <p:cNvPr id="16" name="Text 14"/>
          <p:cNvSpPr txBox="1"/>
          <p:nvPr/>
        </p:nvSpPr>
        <p:spPr>
          <a:xfrm>
            <a:off x="4389120" y="3977640"/>
            <a:ext cx="6979615" cy="9601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rPr>
              <a:t>Carefully anonymised Entre Amis trends across events, where numbers and permissions allow.</a:t>
            </a:r>
            <a:endParaRPr lang="en-US" sz="1600" dirty="0"/>
          </a:p>
        </p:txBody>
      </p:sp>
      <p:sp>
        <p:nvSpPr>
          <p:cNvPr id="17" name="FLAG — delete before sharing"/>
          <p:cNvSpPr txBox="1"/>
          <p:nvPr/>
        </p:nvSpPr>
        <p:spPr>
          <a:xfrm>
            <a:off x="548640" y="5166360"/>
            <a:ext cx="5410048"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CONFIRM  </a:t>
            </a:r>
            <a:pPr indent="0" marL="0">
              <a:buNone/>
            </a:pPr>
            <a:r>
              <a:rPr lang="en-US" sz="1100" dirty="0">
                <a:solidFill>
                  <a:schemeClr val="tx1"/>
                </a:solidFill>
              </a:rPr>
              <a:t>Layer 2 depends on the proposed contact rule and legal review.</a:t>
            </a:r>
            <a:endParaRPr lang="en-US" sz="1100" dirty="0"/>
          </a:p>
        </p:txBody>
      </p:sp>
      <p:sp>
        <p:nvSpPr>
          <p:cNvPr id="18" name="FLAG — delete before sharing"/>
          <p:cNvSpPr txBox="1"/>
          <p:nvPr/>
        </p:nvSpPr>
        <p:spPr>
          <a:xfrm>
            <a:off x="6233008" y="5166360"/>
            <a:ext cx="5410048"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Whether crowned wines are reported, and to whom, without ranking vineyards.</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Honest insight starts with trust</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People only say what they really think when it's safe to.</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Promise: Consent first"/>
          <p:cNvSpPr/>
          <p:nvPr/>
        </p:nvSpPr>
        <p:spPr>
          <a:xfrm>
            <a:off x="548640" y="1783080"/>
            <a:ext cx="7680960" cy="603504"/>
          </a:xfrm>
          <a:prstGeom prst="roundRect">
            <a:avLst>
              <a:gd name="adj" fmla="val 18182"/>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822960" y="1783080"/>
            <a:ext cx="7223760" cy="60350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Consent first  </a:t>
            </a:r>
            <a:pPr indent="0" marL="0">
              <a:spcAft>
                <a:spcPts val="400"/>
              </a:spcAft>
              <a:buNone/>
            </a:pPr>
            <a:r>
              <a:rPr lang="en-US" sz="1400" dirty="0">
                <a:solidFill>
                  <a:schemeClr val="tx1"/>
                </a:solidFill>
              </a:rPr>
              <a:t>Nothing is collected for your insight without clear, informed consent.</a:t>
            </a:r>
            <a:endParaRPr lang="en-US" sz="1400" dirty="0"/>
          </a:p>
        </p:txBody>
      </p:sp>
      <p:sp>
        <p:nvSpPr>
          <p:cNvPr id="7" name="Promise: Anonymised"/>
          <p:cNvSpPr/>
          <p:nvPr/>
        </p:nvSpPr>
        <p:spPr>
          <a:xfrm>
            <a:off x="548640" y="2496312"/>
            <a:ext cx="7680960" cy="603504"/>
          </a:xfrm>
          <a:prstGeom prst="roundRect">
            <a:avLst>
              <a:gd name="adj" fmla="val 18182"/>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8" name="Text 6"/>
          <p:cNvSpPr txBox="1"/>
          <p:nvPr/>
        </p:nvSpPr>
        <p:spPr>
          <a:xfrm>
            <a:off x="822960" y="2496312"/>
            <a:ext cx="7223760" cy="60350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Anonymised  </a:t>
            </a:r>
            <a:pPr indent="0" marL="0">
              <a:spcAft>
                <a:spcPts val="400"/>
              </a:spcAft>
              <a:buNone/>
            </a:pPr>
            <a:r>
              <a:rPr lang="en-US" sz="1400" dirty="0">
                <a:solidFill>
                  <a:schemeClr val="tx1"/>
                </a:solidFill>
              </a:rPr>
              <a:t>Opinions and responses are combined and anonymised, never linked to a name.</a:t>
            </a:r>
            <a:endParaRPr lang="en-US" sz="1400" dirty="0"/>
          </a:p>
        </p:txBody>
      </p:sp>
      <p:sp>
        <p:nvSpPr>
          <p:cNvPr id="9" name="Promise: Never sold"/>
          <p:cNvSpPr/>
          <p:nvPr/>
        </p:nvSpPr>
        <p:spPr>
          <a:xfrm>
            <a:off x="548640" y="3209544"/>
            <a:ext cx="7680960" cy="603504"/>
          </a:xfrm>
          <a:prstGeom prst="roundRect">
            <a:avLst>
              <a:gd name="adj" fmla="val 18182"/>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822960" y="3209544"/>
            <a:ext cx="7223760" cy="60350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Never sold  </a:t>
            </a:r>
            <a:pPr indent="0" marL="0">
              <a:spcAft>
                <a:spcPts val="400"/>
              </a:spcAft>
              <a:buNone/>
            </a:pPr>
            <a:r>
              <a:rPr lang="en-US" sz="1400" dirty="0">
                <a:solidFill>
                  <a:schemeClr val="tx1"/>
                </a:solidFill>
              </a:rPr>
              <a:t>What someone says is never sold or passed on as individual data.</a:t>
            </a:r>
            <a:endParaRPr lang="en-US" sz="1400" dirty="0"/>
          </a:p>
        </p:txBody>
      </p:sp>
      <p:sp>
        <p:nvSpPr>
          <p:cNvPr id="11" name="Promise: Personal crowns stay personal"/>
          <p:cNvSpPr/>
          <p:nvPr/>
        </p:nvSpPr>
        <p:spPr>
          <a:xfrm>
            <a:off x="548640" y="3922776"/>
            <a:ext cx="7680960" cy="603504"/>
          </a:xfrm>
          <a:prstGeom prst="roundRect">
            <a:avLst>
              <a:gd name="adj" fmla="val 18182"/>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2" name="Text 10"/>
          <p:cNvSpPr txBox="1"/>
          <p:nvPr/>
        </p:nvSpPr>
        <p:spPr>
          <a:xfrm>
            <a:off x="822960" y="3922776"/>
            <a:ext cx="7223760" cy="60350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Personal crowns stay personal  </a:t>
            </a:r>
            <a:pPr indent="0" marL="0">
              <a:spcAft>
                <a:spcPts val="400"/>
              </a:spcAft>
              <a:buNone/>
            </a:pPr>
            <a:r>
              <a:rPr lang="en-US" sz="1400" dirty="0">
                <a:solidFill>
                  <a:schemeClr val="tx1"/>
                </a:solidFill>
              </a:rPr>
              <a:t>No public ranking of producers by default.</a:t>
            </a:r>
            <a:endParaRPr lang="en-US" sz="1400" dirty="0"/>
          </a:p>
        </p:txBody>
      </p:sp>
      <p:sp>
        <p:nvSpPr>
          <p:cNvPr id="13" name="Promise: No re-identification"/>
          <p:cNvSpPr/>
          <p:nvPr/>
        </p:nvSpPr>
        <p:spPr>
          <a:xfrm>
            <a:off x="548640" y="4636008"/>
            <a:ext cx="7680960" cy="603504"/>
          </a:xfrm>
          <a:prstGeom prst="roundRect">
            <a:avLst>
              <a:gd name="adj" fmla="val 18182"/>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4" name="Text 12"/>
          <p:cNvSpPr txBox="1"/>
          <p:nvPr/>
        </p:nvSpPr>
        <p:spPr>
          <a:xfrm>
            <a:off x="822960" y="4636008"/>
            <a:ext cx="7223760" cy="60350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No re-identification  </a:t>
            </a:r>
            <a:pPr indent="0" marL="0">
              <a:spcAft>
                <a:spcPts val="400"/>
              </a:spcAft>
              <a:buNone/>
            </a:pPr>
            <a:r>
              <a:rPr lang="en-US" sz="1400" dirty="0">
                <a:solidFill>
                  <a:schemeClr val="tx1"/>
                </a:solidFill>
              </a:rPr>
              <a:t>No automatic data sharing across platforms.</a:t>
            </a:r>
            <a:endParaRPr lang="en-US" sz="1400" dirty="0"/>
          </a:p>
        </p:txBody>
      </p:sp>
      <p:sp>
        <p:nvSpPr>
          <p:cNvPr id="15" name="Why it matters"/>
          <p:cNvSpPr/>
          <p:nvPr/>
        </p:nvSpPr>
        <p:spPr>
          <a:xfrm>
            <a:off x="8503920" y="1783080"/>
            <a:ext cx="3139135" cy="3456432"/>
          </a:xfrm>
          <a:prstGeom prst="roundRect">
            <a:avLst>
              <a:gd name="adj" fmla="val 3495"/>
            </a:avLst>
          </a:prstGeom>
          <a:solidFill>
            <a:schemeClr val="tx1"/>
          </a:solidFill>
          <a:ln w="12700">
            <a:solidFill>
              <a:schemeClr val="tx1"/>
            </a:solidFill>
            <a:prstDash val="solid"/>
          </a:ln>
        </p:spPr>
      </p:sp>
      <p:sp>
        <p:nvSpPr>
          <p:cNvPr id="16" name="Text 14"/>
          <p:cNvSpPr txBox="1"/>
          <p:nvPr/>
        </p:nvSpPr>
        <p:spPr>
          <a:xfrm>
            <a:off x="8778240" y="2011680"/>
            <a:ext cx="2590495" cy="3017520"/>
          </a:xfrm>
          <a:prstGeom prst="rect">
            <a:avLst/>
          </a:prstGeom>
          <a:noFill/>
          <a:ln/>
        </p:spPr>
        <p:txBody>
          <a:bodyPr wrap="square" lIns="0" tIns="0" rIns="0" bIns="0" rtlCol="0" anchor="t"/>
          <a:lstStyle/>
          <a:p>
            <a:pPr indent="0" marL="0">
              <a:spcAft>
                <a:spcPts val="400"/>
              </a:spcAft>
              <a:buNone/>
            </a:pPr>
            <a:r>
              <a:rPr lang="en-US" sz="1300" spc="150" kern="0" dirty="0">
                <a:solidFill>
                  <a:schemeClr val="bg2"/>
                </a:solidFill>
                <a:latin typeface="Raleway SemiBold" pitchFamily="34" charset="0"/>
                <a:ea typeface="Raleway SemiBold" pitchFamily="34" charset="-122"/>
                <a:cs typeface="Raleway SemiBold" pitchFamily="34" charset="-120"/>
              </a:rPr>
              <a:t>WHY IT MATTERS</a:t>
            </a:r>
            <a:endParaRPr lang="en-US" sz="1700" dirty="0"/>
          </a:p>
          <a:p>
            <a:pPr indent="0" marL="0">
              <a:spcAft>
                <a:spcPts val="400"/>
              </a:spcAft>
              <a:buNone/>
            </a:pPr>
            <a:r>
              <a:rPr lang="en-US" sz="800" dirty="0">
                <a:solidFill>
                  <a:schemeClr val="bg2"/>
                </a:solidFill>
              </a:rPr>
              <a:t> </a:t>
            </a:r>
            <a:endParaRPr lang="en-US" sz="1700" dirty="0"/>
          </a:p>
          <a:p>
            <a:pPr indent="0" marL="0">
              <a:spcAft>
                <a:spcPts val="400"/>
              </a:spcAft>
              <a:buNone/>
            </a:pPr>
            <a:r>
              <a:rPr lang="en-US" sz="1700" dirty="0">
                <a:solidFill>
                  <a:schemeClr val="bg2"/>
                </a:solidFill>
              </a:rPr>
              <a:t>Say what you really think. It only works if people are safe to. That trust is what makes the insight worth having.</a:t>
            </a:r>
            <a:endParaRPr lang="en-US" sz="1700" dirty="0"/>
          </a:p>
        </p:txBody>
      </p:sp>
      <p:sp>
        <p:nvSpPr>
          <p:cNvPr id="17" name="FLAG — delete before sharing"/>
          <p:cNvSpPr txBox="1"/>
          <p:nvPr/>
        </p:nvSpPr>
        <p:spPr>
          <a:xfrm>
            <a:off x="548640" y="5440680"/>
            <a:ext cx="11094415" cy="5029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'By default' and 'automatic' suggest exceptions. Keep, or make absolute?</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What a partnership might include</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A possible year-round relationship across your events.</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Card: DIGITAL"/>
          <p:cNvSpPr/>
          <p:nvPr/>
        </p:nvSpPr>
        <p:spPr>
          <a:xfrm>
            <a:off x="548640" y="1783080"/>
            <a:ext cx="3515258"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777240" y="2011680"/>
            <a:ext cx="3058058" cy="182880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DIGITAL</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The visitor experience, your producers' content, saved discoveries, polls, consent journeys and reporting.</a:t>
            </a:r>
            <a:endParaRPr lang="en-US" sz="1500" dirty="0"/>
          </a:p>
        </p:txBody>
      </p:sp>
      <p:sp>
        <p:nvSpPr>
          <p:cNvPr id="7" name="Card: AT THE EVENT"/>
          <p:cNvSpPr/>
          <p:nvPr/>
        </p:nvSpPr>
        <p:spPr>
          <a:xfrm>
            <a:off x="4338218" y="1783080"/>
            <a:ext cx="3515258"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8" name="Text 6"/>
          <p:cNvSpPr txBox="1"/>
          <p:nvPr/>
        </p:nvSpPr>
        <p:spPr>
          <a:xfrm>
            <a:off x="4566818" y="2011680"/>
            <a:ext cx="3058058" cy="182880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AT THE EVENT</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A small Entre Amis corner and scheduled moments on your main screen, fully costed.</a:t>
            </a:r>
            <a:endParaRPr lang="en-US" sz="1500" dirty="0"/>
          </a:p>
        </p:txBody>
      </p:sp>
      <p:sp>
        <p:nvSpPr>
          <p:cNvPr id="9" name="Card: AFTER THE EVENT"/>
          <p:cNvSpPr/>
          <p:nvPr/>
        </p:nvSpPr>
        <p:spPr>
          <a:xfrm>
            <a:off x="8127797" y="1783080"/>
            <a:ext cx="3515258"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8356397" y="2011680"/>
            <a:ext cx="3058058" cy="182880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AFTER THE EVENT</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The post-event visitor experience, combined insight reports, a partner review and a potential Christmas activation.</a:t>
            </a:r>
            <a:endParaRPr lang="en-US" sz="1500" dirty="0"/>
          </a:p>
        </p:txBody>
      </p:sp>
      <p:sp>
        <p:nvSpPr>
          <p:cNvPr id="11" name="FLAG — delete before sharing"/>
          <p:cNvSpPr txBox="1"/>
          <p:nvPr/>
        </p:nvSpPr>
        <p:spPr>
          <a:xfrm>
            <a:off x="548640" y="4251960"/>
            <a:ext cx="11094415" cy="64008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The indicative price line is removed: nothing may be priced until confirmed. Pricing belongs in each organiser's proposal.</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A founding partnership, not exclusivity</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Help shape the future of the Entre Amis event experience.</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Founding: FOUNDING EXPERIENCE PARTNER"/>
          <p:cNvSpPr/>
          <p:nvPr/>
        </p:nvSpPr>
        <p:spPr>
          <a:xfrm>
            <a:off x="548640" y="1783080"/>
            <a:ext cx="11094415" cy="896112"/>
          </a:xfrm>
          <a:prstGeom prst="roundRect">
            <a:avLst>
              <a:gd name="adj" fmla="val 1224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822960" y="1783080"/>
            <a:ext cx="3291840" cy="896112"/>
          </a:xfrm>
          <a:prstGeom prst="rect">
            <a:avLst/>
          </a:prstGeom>
          <a:noFill/>
          <a:ln/>
        </p:spPr>
        <p:txBody>
          <a:bodyPr wrap="square" lIns="0" tIns="0" rIns="0" bIns="0" rtlCol="0" anchor="ctr"/>
          <a:lstStyle/>
          <a:p>
            <a:pPr indent="0" marL="0">
              <a:spcAft>
                <a:spcPts val="400"/>
              </a:spcAft>
              <a:buNone/>
            </a:pPr>
            <a:r>
              <a:rPr lang="en-US" sz="1300" spc="150" kern="0" dirty="0">
                <a:solidFill>
                  <a:schemeClr val="tx1"/>
                </a:solidFill>
                <a:latin typeface="Raleway SemiBold" pitchFamily="34" charset="0"/>
                <a:ea typeface="Raleway SemiBold" pitchFamily="34" charset="-122"/>
                <a:cs typeface="Raleway SemiBold" pitchFamily="34" charset="-120"/>
              </a:rPr>
              <a:t>FOUNDING EXPERIENCE PARTNER</a:t>
            </a:r>
            <a:endParaRPr lang="en-US" sz="1300" dirty="0"/>
          </a:p>
        </p:txBody>
      </p:sp>
      <p:sp>
        <p:nvSpPr>
          <p:cNvPr id="7" name="Text 5"/>
          <p:cNvSpPr txBox="1"/>
          <p:nvPr/>
        </p:nvSpPr>
        <p:spPr>
          <a:xfrm>
            <a:off x="4297680" y="1783080"/>
            <a:ext cx="7071055" cy="896112"/>
          </a:xfrm>
          <a:prstGeom prst="rect">
            <a:avLst/>
          </a:prstGeom>
          <a:noFill/>
          <a:ln/>
        </p:spPr>
        <p:txBody>
          <a:bodyPr wrap="square" lIns="0" tIns="0" rIns="0" bIns="0" rtlCol="0" anchor="ctr"/>
          <a:lstStyle/>
          <a:p>
            <a:pPr indent="0" marL="0">
              <a:spcAft>
                <a:spcPts val="400"/>
              </a:spcAft>
              <a:buNone/>
            </a:pPr>
            <a:r>
              <a:rPr lang="en-US" sz="1500" dirty="0">
                <a:solidFill>
                  <a:schemeClr val="tx1"/>
                </a:solidFill>
              </a:rPr>
              <a:t>Co-design input, launch recognition, a set-up tailored to your event and a shared post-event learning review.</a:t>
            </a:r>
            <a:endParaRPr lang="en-US" sz="1500" dirty="0"/>
          </a:p>
        </p:txBody>
      </p:sp>
      <p:sp>
        <p:nvSpPr>
          <p:cNvPr id="8" name="Founding: TWO-YEAR INSIGHT BENEFIT"/>
          <p:cNvSpPr/>
          <p:nvPr/>
        </p:nvSpPr>
        <p:spPr>
          <a:xfrm>
            <a:off x="548640" y="2807208"/>
            <a:ext cx="11094415" cy="896112"/>
          </a:xfrm>
          <a:prstGeom prst="roundRect">
            <a:avLst>
              <a:gd name="adj" fmla="val 1224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9" name="Text 7"/>
          <p:cNvSpPr txBox="1"/>
          <p:nvPr/>
        </p:nvSpPr>
        <p:spPr>
          <a:xfrm>
            <a:off x="822960" y="2807208"/>
            <a:ext cx="3291840" cy="896112"/>
          </a:xfrm>
          <a:prstGeom prst="rect">
            <a:avLst/>
          </a:prstGeom>
          <a:noFill/>
          <a:ln/>
        </p:spPr>
        <p:txBody>
          <a:bodyPr wrap="square" lIns="0" tIns="0" rIns="0" bIns="0" rtlCol="0" anchor="ctr"/>
          <a:lstStyle/>
          <a:p>
            <a:pPr indent="0" marL="0">
              <a:spcAft>
                <a:spcPts val="400"/>
              </a:spcAft>
              <a:buNone/>
            </a:pPr>
            <a:r>
              <a:rPr lang="en-US" sz="1300" spc="150" kern="0" dirty="0">
                <a:solidFill>
                  <a:schemeClr val="tx1"/>
                </a:solidFill>
                <a:latin typeface="Raleway SemiBold" pitchFamily="34" charset="0"/>
                <a:ea typeface="Raleway SemiBold" pitchFamily="34" charset="-122"/>
                <a:cs typeface="Raleway SemiBold" pitchFamily="34" charset="-120"/>
              </a:rPr>
              <a:t>TWO-YEAR INSIGHT BENEFIT</a:t>
            </a:r>
            <a:endParaRPr lang="en-US" sz="1300" dirty="0"/>
          </a:p>
        </p:txBody>
      </p:sp>
      <p:sp>
        <p:nvSpPr>
          <p:cNvPr id="10" name="Text 8"/>
          <p:cNvSpPr txBox="1"/>
          <p:nvPr/>
        </p:nvSpPr>
        <p:spPr>
          <a:xfrm>
            <a:off x="4297680" y="2807208"/>
            <a:ext cx="7071055" cy="896112"/>
          </a:xfrm>
          <a:prstGeom prst="rect">
            <a:avLst/>
          </a:prstGeom>
          <a:noFill/>
          <a:ln/>
        </p:spPr>
        <p:txBody>
          <a:bodyPr wrap="square" lIns="0" tIns="0" rIns="0" bIns="0" rtlCol="0" anchor="ctr"/>
          <a:lstStyle/>
          <a:p>
            <a:pPr indent="0" marL="0">
              <a:spcAft>
                <a:spcPts val="400"/>
              </a:spcAft>
              <a:buNone/>
            </a:pPr>
            <a:r>
              <a:rPr lang="en-US" sz="1500" dirty="0">
                <a:solidFill>
                  <a:schemeClr val="tx1"/>
                </a:solidFill>
              </a:rPr>
              <a:t>Enhanced reporting and strategic insight conversations, within agreed deliverables and data-quality thresholds.</a:t>
            </a:r>
            <a:endParaRPr lang="en-US" sz="1500" dirty="0"/>
          </a:p>
        </p:txBody>
      </p:sp>
      <p:sp>
        <p:nvSpPr>
          <p:cNvPr id="11" name="Founding: PREFERENTIAL RATES"/>
          <p:cNvSpPr/>
          <p:nvPr/>
        </p:nvSpPr>
        <p:spPr>
          <a:xfrm>
            <a:off x="548640" y="3831336"/>
            <a:ext cx="11094415" cy="896112"/>
          </a:xfrm>
          <a:prstGeom prst="roundRect">
            <a:avLst>
              <a:gd name="adj" fmla="val 1224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2" name="Text 10"/>
          <p:cNvSpPr txBox="1"/>
          <p:nvPr/>
        </p:nvSpPr>
        <p:spPr>
          <a:xfrm>
            <a:off x="822960" y="3831336"/>
            <a:ext cx="3291840" cy="896112"/>
          </a:xfrm>
          <a:prstGeom prst="rect">
            <a:avLst/>
          </a:prstGeom>
          <a:noFill/>
          <a:ln/>
        </p:spPr>
        <p:txBody>
          <a:bodyPr wrap="square" lIns="0" tIns="0" rIns="0" bIns="0" rtlCol="0" anchor="ctr"/>
          <a:lstStyle/>
          <a:p>
            <a:pPr indent="0" marL="0">
              <a:spcAft>
                <a:spcPts val="400"/>
              </a:spcAft>
              <a:buNone/>
            </a:pPr>
            <a:r>
              <a:rPr lang="en-US" sz="1300" spc="150" kern="0" dirty="0">
                <a:solidFill>
                  <a:schemeClr val="tx1"/>
                </a:solidFill>
                <a:latin typeface="Raleway SemiBold" pitchFamily="34" charset="0"/>
                <a:ea typeface="Raleway SemiBold" pitchFamily="34" charset="-122"/>
                <a:cs typeface="Raleway SemiBold" pitchFamily="34" charset="-120"/>
              </a:rPr>
              <a:t>PREFERENTIAL RATES</a:t>
            </a:r>
            <a:endParaRPr lang="en-US" sz="1300" dirty="0"/>
          </a:p>
        </p:txBody>
      </p:sp>
      <p:sp>
        <p:nvSpPr>
          <p:cNvPr id="13" name="Text 11"/>
          <p:cNvSpPr txBox="1"/>
          <p:nvPr/>
        </p:nvSpPr>
        <p:spPr>
          <a:xfrm>
            <a:off x="4297680" y="3831336"/>
            <a:ext cx="7071055" cy="896112"/>
          </a:xfrm>
          <a:prstGeom prst="rect">
            <a:avLst/>
          </a:prstGeom>
          <a:noFill/>
          <a:ln/>
        </p:spPr>
        <p:txBody>
          <a:bodyPr wrap="square" lIns="0" tIns="0" rIns="0" bIns="0" rtlCol="0" anchor="ctr"/>
          <a:lstStyle/>
          <a:p>
            <a:pPr indent="0" marL="0">
              <a:spcAft>
                <a:spcPts val="400"/>
              </a:spcAft>
              <a:buNone/>
            </a:pPr>
            <a:r>
              <a:rPr lang="en-US" sz="1500" dirty="0">
                <a:solidFill>
                  <a:schemeClr val="tx1"/>
                </a:solidFill>
              </a:rPr>
              <a:t>A preferential rate for comparable future events. Annual adjustments and wider scope agreed separately. No exclusivity.</a:t>
            </a:r>
            <a:endParaRPr lang="en-US" sz="1500" dirty="0"/>
          </a:p>
        </p:txBody>
      </p:sp>
      <p:sp>
        <p:nvSpPr>
          <p:cNvPr id="14" name="FLAG — delete before sharing"/>
          <p:cNvSpPr txBox="1"/>
          <p:nvPr/>
        </p:nvSpPr>
        <p:spPr>
          <a:xfrm>
            <a:off x="548640" y="4983480"/>
            <a:ext cx="5410048"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Preferential rates imply pricing. Keep here, or move to the proposal?</a:t>
            </a:r>
            <a:endParaRPr lang="en-US" sz="1100" dirty="0"/>
          </a:p>
        </p:txBody>
      </p:sp>
      <p:sp>
        <p:nvSpPr>
          <p:cNvPr id="15" name="FLAG — delete before sharing"/>
          <p:cNvSpPr txBox="1"/>
          <p:nvPr/>
        </p:nvSpPr>
        <p:spPr>
          <a:xfrm>
            <a:off x="6233008" y="4983480"/>
            <a:ext cx="5410048"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'Launch recognition': confirm what is launching, and when.</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How we'll show it working</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The experience and evidence first.</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Card: CLICKABLE PROTOTYPE"/>
          <p:cNvSpPr/>
          <p:nvPr/>
        </p:nvSpPr>
        <p:spPr>
          <a:xfrm>
            <a:off x="548640" y="1783080"/>
            <a:ext cx="3515258" cy="2377440"/>
          </a:xfrm>
          <a:prstGeom prst="roundRect">
            <a:avLst>
              <a:gd name="adj" fmla="val 461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777240" y="2011680"/>
            <a:ext cx="3058058" cy="20116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CLICKABLE PROTOTYPE</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Your visitors' screens: discover, Meet the Maker, tasting prompts, save, crown, join in, memories and consent.</a:t>
            </a:r>
            <a:endParaRPr lang="en-US" sz="1500" dirty="0"/>
          </a:p>
        </p:txBody>
      </p:sp>
      <p:sp>
        <p:nvSpPr>
          <p:cNvPr id="7" name="Card: EXAMPLE INSIGHT REPORT"/>
          <p:cNvSpPr/>
          <p:nvPr/>
        </p:nvSpPr>
        <p:spPr>
          <a:xfrm>
            <a:off x="4338218" y="1783080"/>
            <a:ext cx="3515258" cy="2377440"/>
          </a:xfrm>
          <a:prstGeom prst="roundRect">
            <a:avLst>
              <a:gd name="adj" fmla="val 461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8" name="Text 6"/>
          <p:cNvSpPr txBox="1"/>
          <p:nvPr/>
        </p:nvSpPr>
        <p:spPr>
          <a:xfrm>
            <a:off x="4566818" y="2011680"/>
            <a:ext cx="3058058" cy="20116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EXAMPLE INSIGHT REPORT</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An illustrative dashboard and post-event report. Every number tied to a real interaction.</a:t>
            </a:r>
            <a:endParaRPr lang="en-US" sz="1500" dirty="0"/>
          </a:p>
        </p:txBody>
      </p:sp>
      <p:sp>
        <p:nvSpPr>
          <p:cNvPr id="9" name="Card: FIRST EVENT PILOT"/>
          <p:cNvSpPr/>
          <p:nvPr/>
        </p:nvSpPr>
        <p:spPr>
          <a:xfrm>
            <a:off x="8127797" y="1783080"/>
            <a:ext cx="3515258" cy="2377440"/>
          </a:xfrm>
          <a:prstGeom prst="roundRect">
            <a:avLst>
              <a:gd name="adj" fmla="val 461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8356397" y="2011680"/>
            <a:ext cx="3058058" cy="20116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FIRST EVENT PILOT</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Defined scope, costs, responsibilities, no exclusivity, and measures of success for your first event.</a:t>
            </a:r>
            <a:endParaRPr lang="en-US" sz="1500" dirty="0"/>
          </a:p>
        </p:txBody>
      </p:sp>
      <p:sp>
        <p:nvSpPr>
          <p:cNvPr id="11" name="FLAG — delete before sharing"/>
          <p:cNvSpPr txBox="1"/>
          <p:nvPr/>
        </p:nvSpPr>
        <p:spPr>
          <a:xfrm>
            <a:off x="548640" y="4434840"/>
            <a:ext cx="11094415" cy="64008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Where each of these is today (e.g. built, in progress, planned).</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Responsible by design</a:t>
            </a:r>
            <a:endParaRPr lang="en-US" sz="3600" dirty="0"/>
          </a:p>
        </p:txBody>
      </p:sp>
      <p:sp>
        <p:nvSpPr>
          <p:cNvPr id="3" name="Responsible: 18+ only."/>
          <p:cNvSpPr/>
          <p:nvPr/>
        </p:nvSpPr>
        <p:spPr>
          <a:xfrm>
            <a:off x="548640" y="1417320"/>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4" name="Text 2"/>
          <p:cNvSpPr txBox="1"/>
          <p:nvPr/>
        </p:nvSpPr>
        <p:spPr>
          <a:xfrm>
            <a:off x="777240" y="1527048"/>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18+</a:t>
            </a:r>
            <a:endParaRPr lang="en-US" sz="1400" dirty="0"/>
          </a:p>
        </p:txBody>
      </p:sp>
      <p:sp>
        <p:nvSpPr>
          <p:cNvPr id="5" name="Text 3"/>
          <p:cNvSpPr txBox="1"/>
          <p:nvPr/>
        </p:nvSpPr>
        <p:spPr>
          <a:xfrm>
            <a:off x="2423160" y="1417320"/>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18+ only.  </a:t>
            </a:r>
            <a:pPr indent="0" marL="0">
              <a:spcAft>
                <a:spcPts val="400"/>
              </a:spcAft>
              <a:buNone/>
            </a:pPr>
            <a:r>
              <a:rPr lang="en-US" sz="1600" dirty="0">
                <a:solidFill>
                  <a:schemeClr val="tx1"/>
                </a:solidFill>
              </a:rPr>
              <a:t>The game is clearly marked 18+, and the app has an age gate.</a:t>
            </a:r>
            <a:endParaRPr lang="en-US" sz="1600" dirty="0"/>
          </a:p>
        </p:txBody>
      </p:sp>
      <p:sp>
        <p:nvSpPr>
          <p:cNvPr id="6" name="Responsible: Never a drinking game."/>
          <p:cNvSpPr/>
          <p:nvPr/>
        </p:nvSpPr>
        <p:spPr>
          <a:xfrm>
            <a:off x="548640" y="2313432"/>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777240" y="2423160"/>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Corks</a:t>
            </a:r>
            <a:endParaRPr lang="en-US" sz="1400" dirty="0"/>
          </a:p>
        </p:txBody>
      </p:sp>
      <p:sp>
        <p:nvSpPr>
          <p:cNvPr id="8" name="Text 6"/>
          <p:cNvSpPr txBox="1"/>
          <p:nvPr/>
        </p:nvSpPr>
        <p:spPr>
          <a:xfrm>
            <a:off x="2423160" y="2313432"/>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Never a drinking game.  </a:t>
            </a:r>
            <a:pPr indent="0" marL="0">
              <a:spcAft>
                <a:spcPts val="400"/>
              </a:spcAft>
              <a:buNone/>
            </a:pPr>
            <a:r>
              <a:rPr lang="en-US" sz="1600" dirty="0">
                <a:solidFill>
                  <a:schemeClr val="tx1"/>
                </a:solidFill>
              </a:rPr>
              <a:t>Corks are won for conversation and play, never for how much anyone drinks.</a:t>
            </a:r>
            <a:endParaRPr lang="en-US" sz="1600" dirty="0"/>
          </a:p>
        </p:txBody>
      </p:sp>
      <p:sp>
        <p:nvSpPr>
          <p:cNvPr id="9" name="Responsible: A single glass is enough."/>
          <p:cNvSpPr/>
          <p:nvPr/>
        </p:nvSpPr>
        <p:spPr>
          <a:xfrm>
            <a:off x="548640" y="3209544"/>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777240" y="3319272"/>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1 glass</a:t>
            </a:r>
            <a:endParaRPr lang="en-US" sz="1400" dirty="0"/>
          </a:p>
        </p:txBody>
      </p:sp>
      <p:sp>
        <p:nvSpPr>
          <p:cNvPr id="11" name="Text 9"/>
          <p:cNvSpPr txBox="1"/>
          <p:nvPr/>
        </p:nvSpPr>
        <p:spPr>
          <a:xfrm>
            <a:off x="2423160" y="3209544"/>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A single glass is enough.  </a:t>
            </a:r>
            <a:pPr indent="0" marL="0">
              <a:spcAft>
                <a:spcPts val="400"/>
              </a:spcAft>
              <a:buNone/>
            </a:pPr>
            <a:r>
              <a:rPr lang="en-US" sz="1600" dirty="0">
                <a:solidFill>
                  <a:schemeClr val="tx1"/>
                </a:solidFill>
              </a:rPr>
              <a:t>Any wine works.</a:t>
            </a:r>
            <a:endParaRPr lang="en-US" sz="1600" dirty="0"/>
          </a:p>
        </p:txBody>
      </p:sp>
      <p:sp>
        <p:nvSpPr>
          <p:cNvPr id="12" name="Responsible: No pressure to taste."/>
          <p:cNvSpPr/>
          <p:nvPr/>
        </p:nvSpPr>
        <p:spPr>
          <a:xfrm>
            <a:off x="548640" y="4105656"/>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3" name="Text 11"/>
          <p:cNvSpPr txBox="1"/>
          <p:nvPr/>
        </p:nvSpPr>
        <p:spPr>
          <a:xfrm>
            <a:off x="777240" y="4215384"/>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Optional</a:t>
            </a:r>
            <a:endParaRPr lang="en-US" sz="1400" dirty="0"/>
          </a:p>
        </p:txBody>
      </p:sp>
      <p:sp>
        <p:nvSpPr>
          <p:cNvPr id="14" name="Text 12"/>
          <p:cNvSpPr txBox="1"/>
          <p:nvPr/>
        </p:nvSpPr>
        <p:spPr>
          <a:xfrm>
            <a:off x="2423160" y="4105656"/>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No pressure to taste.  </a:t>
            </a:r>
            <a:pPr indent="0" marL="0">
              <a:spcAft>
                <a:spcPts val="400"/>
              </a:spcAft>
              <a:buNone/>
            </a:pPr>
            <a:r>
              <a:rPr lang="en-US" sz="1600" dirty="0">
                <a:solidFill>
                  <a:schemeClr val="tx1"/>
                </a:solidFill>
              </a:rPr>
              <a:t>At events, tasting is always optional.</a:t>
            </a:r>
            <a:endParaRPr lang="en-US" sz="1600" dirty="0"/>
          </a:p>
        </p:txBody>
      </p:sp>
      <p:sp>
        <p:nvSpPr>
          <p:cNvPr id="15" name="Responsible: Safe to say what you think."/>
          <p:cNvSpPr/>
          <p:nvPr/>
        </p:nvSpPr>
        <p:spPr>
          <a:xfrm>
            <a:off x="548640" y="5001768"/>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6" name="Text 14"/>
          <p:cNvSpPr txBox="1"/>
          <p:nvPr/>
        </p:nvSpPr>
        <p:spPr>
          <a:xfrm>
            <a:off x="777240" y="5111496"/>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Consent</a:t>
            </a:r>
            <a:endParaRPr lang="en-US" sz="1400" dirty="0"/>
          </a:p>
        </p:txBody>
      </p:sp>
      <p:sp>
        <p:nvSpPr>
          <p:cNvPr id="17" name="Text 15"/>
          <p:cNvSpPr txBox="1"/>
          <p:nvPr/>
        </p:nvSpPr>
        <p:spPr>
          <a:xfrm>
            <a:off x="2423160" y="5001768"/>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Safe to say what you think.  </a:t>
            </a:r>
            <a:pPr indent="0" marL="0">
              <a:spcAft>
                <a:spcPts val="400"/>
              </a:spcAft>
              <a:buNone/>
            </a:pPr>
            <a:r>
              <a:rPr lang="en-US" sz="1600" dirty="0">
                <a:solidFill>
                  <a:schemeClr val="tx1"/>
                </a:solidFill>
              </a:rPr>
              <a:t>What people say is anonymised, needs their consent, and is never sold.</a:t>
            </a:r>
            <a:endParaRPr lang="en-US" sz="1600" dirty="0"/>
          </a:p>
        </p:txBody>
      </p:sp>
      <p:sp>
        <p:nvSpPr>
          <p:cNvPr id="19"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endParaRPr lang="en-US" sz="18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Who's behind Entre Amis</a:t>
            </a:r>
            <a:endParaRPr lang="en-US" sz="3600" dirty="0"/>
          </a:p>
        </p:txBody>
      </p:sp>
      <p:sp>
        <p:nvSpPr>
          <p:cNvPr id="3" name="Image placeholder"/>
          <p:cNvSpPr/>
          <p:nvPr/>
        </p:nvSpPr>
        <p:spPr>
          <a:xfrm>
            <a:off x="548640" y="1463040"/>
            <a:ext cx="3474720" cy="4206240"/>
          </a:xfrm>
          <a:prstGeom prst="roundRect">
            <a:avLst>
              <a:gd name="adj" fmla="val 3158"/>
            </a:avLst>
          </a:prstGeom>
          <a:solidFill>
            <a:schemeClr val="accent3"/>
          </a:solidFill>
          <a:ln w="12700">
            <a:solidFill>
              <a:schemeClr val="tx1"/>
            </a:solidFill>
            <a:prstDash val="dash"/>
          </a:ln>
        </p:spPr>
      </p:sp>
      <p:sp>
        <p:nvSpPr>
          <p:cNvPr id="4" name="Text 2"/>
          <p:cNvSpPr txBox="1"/>
          <p:nvPr/>
        </p:nvSpPr>
        <p:spPr>
          <a:xfrm>
            <a:off x="822960" y="1463040"/>
            <a:ext cx="2926080" cy="4206240"/>
          </a:xfrm>
          <a:prstGeom prst="rect">
            <a:avLst/>
          </a:prstGeom>
          <a:noFill/>
          <a:ln/>
        </p:spPr>
        <p:txBody>
          <a:bodyPr wrap="square" lIns="0" tIns="0" rIns="0" bIns="0" rtlCol="0" anchor="ctr"/>
          <a:lstStyle/>
          <a:p>
            <a:pPr algn="ct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Photo of Caroline — to add</a:t>
            </a:r>
            <a:endParaRPr lang="en-US" sz="1400" dirty="0"/>
          </a:p>
        </p:txBody>
      </p:sp>
      <p:sp>
        <p:nvSpPr>
          <p:cNvPr id="5" name="Text 3"/>
          <p:cNvSpPr txBox="1"/>
          <p:nvPr/>
        </p:nvSpPr>
        <p:spPr>
          <a:xfrm>
            <a:off x="4480560" y="1463040"/>
            <a:ext cx="7162495" cy="914400"/>
          </a:xfrm>
          <a:prstGeom prst="rect">
            <a:avLst/>
          </a:prstGeom>
          <a:noFill/>
          <a:ln/>
        </p:spPr>
        <p:txBody>
          <a:bodyPr wrap="square" lIns="0" tIns="0" rIns="0" bIns="0" rtlCol="0" anchor="t"/>
          <a:lstStyle/>
          <a:p>
            <a:pPr indent="0" marL="0">
              <a:spcAft>
                <a:spcPts val="400"/>
              </a:spcAft>
              <a:buNone/>
            </a:pPr>
            <a:r>
              <a:rPr lang="en-US" sz="3200" dirty="0">
                <a:solidFill>
                  <a:schemeClr val="tx1"/>
                </a:solidFill>
              </a:rPr>
              <a:t>Caroline [surname]</a:t>
            </a:r>
            <a:endParaRPr lang="en-US" sz="1400" dirty="0"/>
          </a:p>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Founder</a:t>
            </a:r>
            <a:endParaRPr lang="en-US" sz="1400" dirty="0"/>
          </a:p>
        </p:txBody>
      </p:sp>
      <p:sp>
        <p:nvSpPr>
          <p:cNvPr id="6" name="Credentials"/>
          <p:cNvSpPr/>
          <p:nvPr/>
        </p:nvSpPr>
        <p:spPr>
          <a:xfrm>
            <a:off x="4480560" y="2560320"/>
            <a:ext cx="7162495" cy="1371600"/>
          </a:xfrm>
          <a:prstGeom prst="roundRect">
            <a:avLst>
              <a:gd name="adj" fmla="val 8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4800600" y="2743200"/>
            <a:ext cx="6522415" cy="1097280"/>
          </a:xfrm>
          <a:prstGeom prst="rect">
            <a:avLst/>
          </a:prstGeom>
          <a:noFill/>
          <a:ln/>
        </p:spPr>
        <p:txBody>
          <a:bodyPr wrap="square" lIns="0" tIns="0" rIns="0" bIns="0" rtlCol="0" anchor="t"/>
          <a:lstStyle/>
          <a:p>
            <a:pPr marL="203200" indent="-203200">
              <a:spcAft>
                <a:spcPts val="1000"/>
              </a:spcAft>
              <a:buSzPct val="100000"/>
              <a:buChar char="•"/>
            </a:pPr>
            <a:r>
              <a:rPr lang="en-US" sz="1600" dirty="0">
                <a:solidFill>
                  <a:schemeClr val="tx1"/>
                </a:solidFill>
              </a:rPr>
              <a:t>A marketing and commercial leader with over 30 years across UK and international brands.</a:t>
            </a:r>
            <a:endParaRPr lang="en-US" sz="1600" dirty="0"/>
          </a:p>
          <a:p>
            <a:pPr marL="203200" indent="-203200">
              <a:spcAft>
                <a:spcPts val="400"/>
              </a:spcAft>
              <a:buSzPct val="100000"/>
              <a:buChar char="•"/>
            </a:pPr>
            <a:r>
              <a:rPr lang="en-US" sz="1600" dirty="0">
                <a:solidFill>
                  <a:schemeClr val="tx1"/>
                </a:solidFill>
              </a:rPr>
              <a:t>WSET Level 3 in Wines, with Distinction.</a:t>
            </a:r>
            <a:endParaRPr lang="en-US" sz="1600" dirty="0"/>
          </a:p>
        </p:txBody>
      </p:sp>
      <p:sp>
        <p:nvSpPr>
          <p:cNvPr id="8" name="Text 6"/>
          <p:cNvSpPr txBox="1"/>
          <p:nvPr/>
        </p:nvSpPr>
        <p:spPr>
          <a:xfrm>
            <a:off x="4480560" y="4114800"/>
            <a:ext cx="7162495" cy="640080"/>
          </a:xfrm>
          <a:prstGeom prst="rect">
            <a:avLst/>
          </a:prstGeom>
          <a:noFill/>
          <a:ln/>
        </p:spPr>
        <p:txBody>
          <a:bodyPr wrap="square" lIns="0" tIns="0" rIns="0" bIns="0" rtlCol="0" anchor="t"/>
          <a:lstStyle/>
          <a:p>
            <a:pPr indent="0" marL="0">
              <a:spcAft>
                <a:spcPts val="400"/>
              </a:spcAft>
              <a:buNone/>
            </a:pPr>
            <a:r>
              <a:rPr lang="en-US" sz="1800" i="1" dirty="0">
                <a:solidFill>
                  <a:schemeClr val="tx1"/>
                </a:solidFill>
              </a:rPr>
              <a:t>Entre Amis brings together Caroline's marketing experience and her focus on customers.</a:t>
            </a:r>
            <a:endParaRPr lang="en-US" sz="1800" dirty="0"/>
          </a:p>
        </p:txBody>
      </p:sp>
      <p:sp>
        <p:nvSpPr>
          <p:cNvPr id="9" name="FLAG — delete before sharing"/>
          <p:cNvSpPr txBox="1"/>
          <p:nvPr/>
        </p:nvSpPr>
        <p:spPr>
          <a:xfrm>
            <a:off x="4480560" y="4937760"/>
            <a:ext cx="3444088"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Your surname and a photo.</a:t>
            </a:r>
            <a:endParaRPr lang="en-US" sz="1100" dirty="0"/>
          </a:p>
        </p:txBody>
      </p:sp>
      <p:sp>
        <p:nvSpPr>
          <p:cNvPr id="10" name="FLAG — delete before sharing"/>
          <p:cNvSpPr txBox="1"/>
          <p:nvPr/>
        </p:nvSpPr>
        <p:spPr>
          <a:xfrm>
            <a:off x="8198968" y="4937760"/>
            <a:ext cx="3444088"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Optional: a short line in your own words.</a:t>
            </a:r>
            <a:endParaRPr lang="en-US" sz="1100" dirty="0"/>
          </a:p>
        </p:txBody>
      </p:sp>
      <p:sp>
        <p:nvSpPr>
          <p:cNvPr id="12"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endParaRPr lang="en-US" sz="18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Entre Amis logo">    </p:cNvPr>
          <p:cNvPicPr>
            <a:picLocks noChangeAspect="1"/>
          </p:cNvPicPr>
          <p:nvPr/>
        </p:nvPicPr>
        <p:blipFill>
          <a:blip r:embed="rId1"/>
          <a:stretch>
            <a:fillRect/>
          </a:stretch>
        </p:blipFill>
        <p:spPr>
          <a:xfrm>
            <a:off x="4541368" y="1828800"/>
            <a:ext cx="3108960" cy="1564707"/>
          </a:xfrm>
          <a:prstGeom prst="rect">
            <a:avLst/>
          </a:prstGeom>
        </p:spPr>
      </p:pic>
      <p:sp>
        <p:nvSpPr>
          <p:cNvPr id="3" name="Text 0"/>
          <p:cNvSpPr txBox="1"/>
          <p:nvPr/>
        </p:nvSpPr>
        <p:spPr>
          <a:xfrm>
            <a:off x="548640" y="3657600"/>
            <a:ext cx="11094415" cy="457200"/>
          </a:xfrm>
          <a:prstGeom prst="rect">
            <a:avLst/>
          </a:prstGeom>
          <a:noFill/>
          <a:ln/>
        </p:spPr>
        <p:txBody>
          <a:bodyPr wrap="square" lIns="0" tIns="0" rIns="0" bIns="0" rtlCol="0" anchor="t"/>
          <a:lstStyle/>
          <a:p>
            <a:pPr algn="ctr" indent="0" marL="0">
              <a:spcAft>
                <a:spcPts val="400"/>
              </a:spcAft>
              <a:buNone/>
            </a:pPr>
            <a:r>
              <a:rPr lang="en-US" sz="2000" dirty="0">
                <a:solidFill>
                  <a:schemeClr val="tx1"/>
                </a:solidFill>
              </a:rPr>
              <a:t>Say what you really think.</a:t>
            </a:r>
            <a:endParaRPr lang="en-US" sz="2000" dirty="0"/>
          </a:p>
        </p:txBody>
      </p:sp>
      <p:sp>
        <p:nvSpPr>
          <p:cNvPr id="4" name="FLAG — delete before sharing"/>
          <p:cNvSpPr txBox="1"/>
          <p:nvPr/>
        </p:nvSpPr>
        <p:spPr>
          <a:xfrm>
            <a:off x="3809848" y="4480560"/>
            <a:ext cx="4572000" cy="54864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2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200" dirty="0">
                <a:solidFill>
                  <a:schemeClr val="tx1"/>
                </a:solidFill>
              </a:rPr>
              <a:t>Contact details.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Before this pack is shared</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Working notes. Delete this slide, and every white box with a blush border, before sharing.</a:t>
            </a:r>
            <a:endParaRPr lang="en-US" sz="1800" dirty="0"/>
          </a:p>
        </p:txBody>
      </p:sp>
      <p:sp>
        <p:nvSpPr>
          <p:cNvPr id="4" name="TO DECIDE OR CONFIRM"/>
          <p:cNvSpPr/>
          <p:nvPr/>
        </p:nvSpPr>
        <p:spPr>
          <a:xfrm>
            <a:off x="548640" y="1783080"/>
            <a:ext cx="5410048" cy="4251960"/>
          </a:xfrm>
          <a:prstGeom prst="roundRect">
            <a:avLst>
              <a:gd name="adj" fmla="val 2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5" name="Text 3"/>
          <p:cNvSpPr txBox="1"/>
          <p:nvPr/>
        </p:nvSpPr>
        <p:spPr>
          <a:xfrm>
            <a:off x="868680" y="2057400"/>
            <a:ext cx="4769968" cy="3840480"/>
          </a:xfrm>
          <a:prstGeom prst="rect">
            <a:avLst/>
          </a:prstGeom>
          <a:noFill/>
          <a:ln/>
        </p:spPr>
        <p:txBody>
          <a:bodyPr wrap="square" lIns="0" tIns="0" rIns="0" bIns="0" rtlCol="0" anchor="t"/>
          <a:lstStyle/>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TO DECIDE OR CONFIRM</a:t>
            </a:r>
            <a:endParaRPr lang="en-US" sz="1400" dirty="0"/>
          </a:p>
          <a:p>
            <a:pPr indent="0" marL="0">
              <a:spcAft>
                <a:spcPts val="400"/>
              </a:spcAft>
              <a:buNone/>
            </a:pPr>
            <a:r>
              <a:rPr lang="en-US" sz="600" dirty="0">
                <a:solidFill>
                  <a:schemeClr val="tx1"/>
                </a:solidFill>
              </a:rPr>
              <a:t> </a:t>
            </a:r>
            <a:endParaRPr lang="en-US" sz="1400" dirty="0"/>
          </a:p>
          <a:p>
            <a:pPr marL="203200" indent="-203200">
              <a:spcAft>
                <a:spcPts val="600"/>
              </a:spcAft>
              <a:buSzPct val="100000"/>
              <a:buChar char="•"/>
            </a:pPr>
            <a:r>
              <a:rPr lang="en-US" sz="1400" dirty="0">
                <a:solidFill>
                  <a:schemeClr val="tx1"/>
                </a:solidFill>
              </a:rPr>
              <a:t>Event Mode: its stage and how it differs from Partner Mode</a:t>
            </a:r>
            <a:endParaRPr lang="en-US" sz="1400" dirty="0"/>
          </a:p>
          <a:p>
            <a:pPr marL="203200" indent="-203200">
              <a:spcAft>
                <a:spcPts val="600"/>
              </a:spcAft>
              <a:buSzPct val="100000"/>
              <a:buChar char="•"/>
            </a:pPr>
            <a:r>
              <a:rPr lang="en-US" sz="1400" dirty="0">
                <a:solidFill>
                  <a:schemeClr val="tx1"/>
                </a:solidFill>
              </a:rPr>
              <a:t>Quizzes and prizes (slide 4)</a:t>
            </a:r>
            <a:endParaRPr lang="en-US" sz="1400" dirty="0"/>
          </a:p>
          <a:p>
            <a:pPr marL="203200" indent="-203200">
              <a:spcAft>
                <a:spcPts val="600"/>
              </a:spcAft>
              <a:buSzPct val="100000"/>
              <a:buChar char="•"/>
            </a:pPr>
            <a:r>
              <a:rPr lang="en-US" sz="1400" dirty="0">
                <a:solidFill>
                  <a:schemeClr val="tx1"/>
                </a:solidFill>
              </a:rPr>
              <a:t>QR joining at every event (slide 5)</a:t>
            </a:r>
            <a:endParaRPr lang="en-US" sz="1400" dirty="0"/>
          </a:p>
          <a:p>
            <a:pPr marL="203200" indent="-203200">
              <a:spcAft>
                <a:spcPts val="600"/>
              </a:spcAft>
              <a:buSzPct val="100000"/>
              <a:buChar char="•"/>
            </a:pPr>
            <a:r>
              <a:rPr lang="en-US" sz="1400" dirty="0">
                <a:solidFill>
                  <a:schemeClr val="tx1"/>
                </a:solidFill>
              </a:rPr>
              <a:t>Contacts rule, legal review; reporting crowns (slides 4, 7)</a:t>
            </a:r>
            <a:endParaRPr lang="en-US" sz="1400" dirty="0"/>
          </a:p>
          <a:p>
            <a:pPr marL="203200" indent="-203200">
              <a:spcAft>
                <a:spcPts val="600"/>
              </a:spcAft>
              <a:buSzPct val="100000"/>
              <a:buChar char="•"/>
            </a:pPr>
            <a:r>
              <a:rPr lang="en-US" sz="1400" dirty="0">
                <a:solidFill>
                  <a:schemeClr val="tx1"/>
                </a:solidFill>
              </a:rPr>
              <a:t>'By default' and 'automatic' (slide 8)</a:t>
            </a:r>
            <a:endParaRPr lang="en-US" sz="1400" dirty="0"/>
          </a:p>
          <a:p>
            <a:pPr marL="203200" indent="-203200">
              <a:spcAft>
                <a:spcPts val="600"/>
              </a:spcAft>
              <a:buSzPct val="100000"/>
              <a:buChar char="•"/>
            </a:pPr>
            <a:r>
              <a:rPr lang="en-US" sz="1400" dirty="0">
                <a:solidFill>
                  <a:schemeClr val="tx1"/>
                </a:solidFill>
              </a:rPr>
              <a:t>Pricing, preferential rates, launch recognition (slides 9, 10)</a:t>
            </a:r>
            <a:endParaRPr lang="en-US" sz="1400" dirty="0"/>
          </a:p>
        </p:txBody>
      </p:sp>
      <p:sp>
        <p:nvSpPr>
          <p:cNvPr id="6" name="TO ADD"/>
          <p:cNvSpPr/>
          <p:nvPr/>
        </p:nvSpPr>
        <p:spPr>
          <a:xfrm>
            <a:off x="6233008" y="1783080"/>
            <a:ext cx="5410048" cy="4251960"/>
          </a:xfrm>
          <a:prstGeom prst="roundRect">
            <a:avLst>
              <a:gd name="adj" fmla="val 2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6553048" y="2057400"/>
            <a:ext cx="4769968" cy="3840480"/>
          </a:xfrm>
          <a:prstGeom prst="rect">
            <a:avLst/>
          </a:prstGeom>
          <a:noFill/>
          <a:ln/>
        </p:spPr>
        <p:txBody>
          <a:bodyPr wrap="square" lIns="0" tIns="0" rIns="0" bIns="0" rtlCol="0" anchor="t"/>
          <a:lstStyle/>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TO ADD</a:t>
            </a:r>
            <a:endParaRPr lang="en-US" sz="1400" dirty="0"/>
          </a:p>
          <a:p>
            <a:pPr indent="0" marL="0">
              <a:spcAft>
                <a:spcPts val="400"/>
              </a:spcAft>
              <a:buNone/>
            </a:pPr>
            <a:r>
              <a:rPr lang="en-US" sz="600" dirty="0">
                <a:solidFill>
                  <a:schemeClr val="tx1"/>
                </a:solidFill>
              </a:rPr>
              <a:t> </a:t>
            </a:r>
            <a:endParaRPr lang="en-US" sz="1400" dirty="0"/>
          </a:p>
          <a:p>
            <a:pPr marL="203200" indent="-203200">
              <a:spcAft>
                <a:spcPts val="600"/>
              </a:spcAft>
              <a:buSzPct val="100000"/>
              <a:buChar char="•"/>
            </a:pPr>
            <a:r>
              <a:rPr lang="en-US" sz="1400" dirty="0">
                <a:solidFill>
                  <a:schemeClr val="tx1"/>
                </a:solidFill>
              </a:rPr>
              <a:t>Master logo artwork files</a:t>
            </a:r>
            <a:endParaRPr lang="en-US" sz="1400" dirty="0"/>
          </a:p>
          <a:p>
            <a:pPr marL="203200" indent="-203200">
              <a:spcAft>
                <a:spcPts val="600"/>
              </a:spcAft>
              <a:buSzPct val="100000"/>
              <a:buChar char="•"/>
            </a:pPr>
            <a:r>
              <a:rPr lang="en-US" sz="1400" dirty="0">
                <a:solidFill>
                  <a:schemeClr val="tx1"/>
                </a:solidFill>
              </a:rPr>
              <a:t>Organiser evidence for slide 3</a:t>
            </a:r>
            <a:endParaRPr lang="en-US" sz="1400" dirty="0"/>
          </a:p>
          <a:p>
            <a:pPr marL="203200" indent="-203200">
              <a:spcAft>
                <a:spcPts val="600"/>
              </a:spcAft>
              <a:buSzPct val="100000"/>
              <a:buChar char="•"/>
            </a:pPr>
            <a:r>
              <a:rPr lang="en-US" sz="1400" dirty="0">
                <a:solidFill>
                  <a:schemeClr val="tx1"/>
                </a:solidFill>
              </a:rPr>
              <a:t>Visitor screens and photos (slides 5, 6)</a:t>
            </a:r>
            <a:endParaRPr lang="en-US" sz="1400" dirty="0"/>
          </a:p>
          <a:p>
            <a:pPr marL="203200" indent="-203200">
              <a:spcAft>
                <a:spcPts val="600"/>
              </a:spcAft>
              <a:buSzPct val="100000"/>
              <a:buChar char="•"/>
            </a:pPr>
            <a:r>
              <a:rPr lang="en-US" sz="1400" dirty="0">
                <a:solidFill>
                  <a:schemeClr val="tx1"/>
                </a:solidFill>
              </a:rPr>
              <a:t>Stage of each proof step (slide 11)</a:t>
            </a:r>
            <a:endParaRPr lang="en-US" sz="1400" dirty="0"/>
          </a:p>
          <a:p>
            <a:pPr marL="203200" indent="-203200">
              <a:spcAft>
                <a:spcPts val="600"/>
              </a:spcAft>
              <a:buSzPct val="100000"/>
              <a:buChar char="•"/>
            </a:pPr>
            <a:r>
              <a:rPr lang="en-US" sz="1400" dirty="0">
                <a:solidFill>
                  <a:schemeClr val="tx1"/>
                </a:solidFill>
              </a:rPr>
              <a:t>Your surname and photo (slide 13)</a:t>
            </a:r>
            <a:endParaRPr lang="en-US" sz="1400" dirty="0"/>
          </a:p>
          <a:p>
            <a:pPr marL="203200" indent="-203200">
              <a:spcAft>
                <a:spcPts val="600"/>
              </a:spcAft>
              <a:buSzPct val="100000"/>
              <a:buChar char="•"/>
            </a:pPr>
            <a:r>
              <a:rPr lang="en-US" sz="1400" dirty="0">
                <a:solidFill>
                  <a:schemeClr val="tx1"/>
                </a:solidFill>
              </a:rPr>
              <a:t>Contact details (back cover)</a:t>
            </a:r>
            <a:endParaRPr lang="en-US" sz="14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Entre Amis Sous-bois">
  <a:themeElements>
    <a:clrScheme name="Entre Amis Sous-bois">
      <a:dk1>
        <a:srgbClr val="565A32"/>
      </a:dk1>
      <a:lt1>
        <a:srgbClr val="FFFFFF"/>
      </a:lt1>
      <a:dk2>
        <a:srgbClr val="565A32"/>
      </a:dk2>
      <a:lt2>
        <a:srgbClr val="EFEAE0"/>
      </a:lt2>
      <a:accent1>
        <a:srgbClr val="565A32"/>
      </a:accent1>
      <a:accent2>
        <a:srgbClr val="8B8B5C"/>
      </a:accent2>
      <a:accent3>
        <a:srgbClr val="B9BC9A"/>
      </a:accent3>
      <a:accent4>
        <a:srgbClr val="E3AC9A"/>
      </a:accent4>
      <a:accent5>
        <a:srgbClr val="EFEAE0"/>
      </a:accent5>
      <a:accent6>
        <a:srgbClr val="565A32"/>
      </a:accent6>
      <a:hlink>
        <a:srgbClr val="565A32"/>
      </a:hlink>
      <a:folHlink>
        <a:srgbClr val="8B8B5C"/>
      </a:folHlink>
    </a:clrScheme>
    <a:fontScheme name="Entre Amis Sous-bois">
      <a:majorFont>
        <a:latin typeface="Raleway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aleway Ligh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Entre Amis — Event Mode</dc:title>
  <dc:subject>PptxGenJS Presentation</dc:subject>
  <dc:creator>Entre Amis</dc:creator>
  <cp:lastModifiedBy>Entre Amis</cp:lastModifiedBy>
  <cp:revision>1</cp:revision>
  <dcterms:created xsi:type="dcterms:W3CDTF">2026-10-12T07:02:10Z</dcterms:created>
  <dcterms:modified xsi:type="dcterms:W3CDTF">2026-10-12T07:02:10Z</dcterms:modified>
</cp:coreProperties>
</file>