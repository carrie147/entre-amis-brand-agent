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6cc0697-0e51-d675-a9d0-1e4d9deca65f}">
          <p14:sldIdLst>
            <p14:sldId id="256"/>
            <p14:sldId id="257"/>
          </p14:sldIdLst>
        </p14:section>
        <p14:section name="Event Mode" id="{ca67fd7e-22e2-a15c-872d-56c97c85cf14}">
          <p14:sldIdLst>
            <p14:sldId id="258"/>
            <p14:sldId id="259"/>
            <p14:sldId id="260"/>
            <p14:sldId id="261"/>
            <p14:sldId id="262"/>
            <p14:sldId id="263"/>
          </p14:sldIdLst>
        </p14:section>
        <p14:section name="Working together" id="{0af013f5-d6bc-e853-3f9a-ed154621ee08}">
          <p14:sldIdLst>
            <p14:sldId id="264"/>
            <p14:sldId id="265"/>
            <p14:sldId id="266"/>
          </p14:sldIdLst>
        </p14:section>
        <p14:section name="About us" id="{ec7c7bf8-d1ff-97de-e2f1-7e5d43783ca3}">
          <p14:sldIdLst>
            <p14:sldId id="267"/>
            <p14:sldId id="268"/>
            <p14:sldId id="269"/>
          </p14:sldIdLst>
        </p14:section>
        <p14:section name="Working notes — delete before sharing" id="{5fe85ec4-f169-ec1a-8239-fff1bb542b94}">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to organisers: wine festivals and tasting events, and regional wine bodies that take on a marketing role for an area (organisations like Vineyards of Hampshire or Vins de Provence). 'Marketing areas' replaced, as it's too generic. Named events and organisations are kept out so the pack can go to anyone; use names in each organiser's own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 explicit that this is the brand, before the pack turns to Event Mode. Every line uses confirmed content apart from the third card's 'an honest view of what people think', drawn from the Partner Mode data rule ('helps partners understand what people genuinely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from 'The event opportunity: a real gap' so it speaks to the organiser's problem first. Ticket buyers and 'one person may buy eight tickets' are your points. 'Where do all the wines you discovered go?' becomes the third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spine for the pack, as you suggested. Visitor side from the October 'During / Personal / After' slide. Quizzes and prizes left off until decided: quizzes need to fit 'no wrong answers', and prizes near alcohol need checking against CAP and Portman Group rules. 'Save wines in seconds' isn't used: it's a speed claim and suggests wine recognition, which isn't claimable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Replaces 'The Entre Amis table' and 'One platform. Different event formats.' The table is no longer front and centre: it's one small way Entre Amis shows up. 'Comfortable seats... a place to connect and find comfort, never a sales space' is your wording. The fee line ('Staffing, furniture, transport, setup and operational support must be covered by the agreed event fee') moves to each organiser's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Subtitle and cards now speak to the organiser. 'Enhance' and 'lasting memories' were benefit claims, so they're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insight' with the labels fixed to match their descriptions (they were swapped in the October deck). Event Mode contacts go to the organiser by default; individual vineyards only where each is named in the visitor's permission (proposed, Brand Brain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the confirmed Partner Mode data rules ('That trust is the brand — Say what you really think only works if people are safe to do so') and the promises from 'Three layers of insight'. It answers the organiser's likely first question about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'Hosted Entre Amis Table' is now 'a small Entre Amis corner', in line with how Entre Amis shows up at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typo fixed: 'foundering' (sinking) is now 'founding'. 'Insight' restored, as it's allowed in partner materials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'Before we build event partner mode'. The 'Ecosystem story' card was a note about the deck itself, so it's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005840"/>
            <a:ext cx="3108960" cy="1564707"/>
          </a:xfrm>
          <a:prstGeom prst="rect">
            <a:avLst/>
          </a:prstGeom>
        </p:spPr>
      </p:pic>
      <p:sp>
        <p:nvSpPr>
          <p:cNvPr id="3" name="Expression marker: EVENT MODE"/>
          <p:cNvSpPr txBox="1"/>
          <p:nvPr/>
        </p:nvSpPr>
        <p:spPr>
          <a:xfrm>
            <a:off x="4724248" y="2834640"/>
            <a:ext cx="2743200" cy="457200"/>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4" name="Text 1"/>
          <p:cNvSpPr txBox="1"/>
          <p:nvPr/>
        </p:nvSpPr>
        <p:spPr>
          <a:xfrm>
            <a:off x="548640" y="347472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For wine festivals, tasting events and regional wine bodies</a:t>
            </a:r>
            <a:endParaRPr lang="en-US" sz="2800" dirty="0"/>
          </a:p>
        </p:txBody>
      </p:sp>
      <p:sp>
        <p:nvSpPr>
          <p:cNvPr id="5" name="Text 2"/>
          <p:cNvSpPr txBox="1"/>
          <p:nvPr/>
        </p:nvSpPr>
        <p:spPr>
          <a:xfrm>
            <a:off x="548640" y="4114800"/>
            <a:ext cx="11094415" cy="365760"/>
          </a:xfrm>
          <a:prstGeom prst="rect">
            <a:avLst/>
          </a:prstGeom>
          <a:noFill/>
          <a:ln/>
        </p:spPr>
        <p:txBody>
          <a:bodyPr wrap="square" lIns="0" tIns="0" rIns="0" bIns="0" rtlCol="0" anchor="t"/>
          <a:lstStyle/>
          <a:p>
            <a:pPr algn="ctr" indent="0" marL="0">
              <a:spcAft>
                <a:spcPts val="400"/>
              </a:spcAft>
              <a:buNone/>
            </a:pPr>
            <a:r>
              <a:rPr lang="en-US" sz="1600" i="1" dirty="0">
                <a:solidFill>
                  <a:schemeClr val="tx1"/>
                </a:solidFill>
              </a:rPr>
              <a:t>What your visitors really think, and what it tells you.</a:t>
            </a:r>
            <a:endParaRPr lang="en-US" sz="1600" dirty="0"/>
          </a:p>
        </p:txBody>
      </p:sp>
      <p:sp>
        <p:nvSpPr>
          <p:cNvPr id="6"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Event Mode is proposed in the Brand Brain. Its stage, and how it differs from Partner Mode, are still to decide. The italic line is new descriptive copy: keep or change.</a:t>
            </a:r>
            <a:endParaRPr lang="en-US" sz="1100" dirty="0"/>
          </a:p>
        </p:txBody>
      </p:sp>
      <p:sp>
        <p:nvSpPr>
          <p:cNvPr id="7"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low resolution).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brand behind Event Mode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Conversation, not knowledge.</a:t>
            </a:r>
            <a:endParaRPr lang="en-US" sz="1800" dirty="0"/>
          </a:p>
        </p:txBody>
      </p:sp>
      <p:sp>
        <p:nvSpPr>
          <p:cNvPr id="4" name="Idea statement"/>
          <p:cNvSpPr/>
          <p:nvPr/>
        </p:nvSpPr>
        <p:spPr>
          <a:xfrm>
            <a:off x="548640" y="1783080"/>
            <a:ext cx="11094415" cy="1097280"/>
          </a:xfrm>
          <a:prstGeom prst="roundRect">
            <a:avLst>
              <a:gd name="adj" fmla="val 10000"/>
            </a:avLst>
          </a:prstGeom>
          <a:solidFill>
            <a:schemeClr val="tx1"/>
          </a:solidFill>
          <a:ln w="12700">
            <a:solidFill>
              <a:schemeClr val="tx1"/>
            </a:solidFill>
            <a:prstDash val="solid"/>
          </a:ln>
        </p:spPr>
      </p:sp>
      <p:sp>
        <p:nvSpPr>
          <p:cNvPr id="5" name="Text 3"/>
          <p:cNvSpPr txBox="1"/>
          <p:nvPr/>
        </p:nvSpPr>
        <p:spPr>
          <a:xfrm>
            <a:off x="1005840" y="1783080"/>
            <a:ext cx="10180015" cy="109728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We start with a simple belief: conversation flows when nobody is worried about getting it right.</a:t>
            </a:r>
            <a:endParaRPr lang="en-US" sz="2200" dirty="0"/>
          </a:p>
        </p:txBody>
      </p:sp>
      <p:sp>
        <p:nvSpPr>
          <p:cNvPr id="6" name="Card: WHO WE ARE"/>
          <p:cNvSpPr/>
          <p:nvPr/>
        </p:nvSpPr>
        <p:spPr>
          <a:xfrm>
            <a:off x="548640" y="3108960"/>
            <a:ext cx="3515258" cy="1874520"/>
          </a:xfrm>
          <a:prstGeom prst="roundRect">
            <a:avLst>
              <a:gd name="adj" fmla="val 58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337560"/>
            <a:ext cx="3058058" cy="15087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WE ARE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Entre Amis is French for "between friends". A wine brand where everyone has something worth saying, whatever they know.</a:t>
            </a:r>
            <a:endParaRPr lang="en-US" sz="1500" dirty="0"/>
          </a:p>
        </p:txBody>
      </p:sp>
      <p:sp>
        <p:nvSpPr>
          <p:cNvPr id="8" name="Card: WHAT WE MAKE"/>
          <p:cNvSpPr/>
          <p:nvPr/>
        </p:nvSpPr>
        <p:spPr>
          <a:xfrm>
            <a:off x="4338218" y="3108960"/>
            <a:ext cx="3515258" cy="1874520"/>
          </a:xfrm>
          <a:prstGeom prst="roundRect">
            <a:avLst>
              <a:gd name="adj" fmla="val 58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337560"/>
            <a:ext cx="3058058" cy="15087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MAKE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table game and an app that turn any wine into conversation, and Partner Mode and Event Mode for the wine world.</a:t>
            </a:r>
            <a:endParaRPr lang="en-US" sz="1500" dirty="0"/>
          </a:p>
        </p:txBody>
      </p:sp>
      <p:sp>
        <p:nvSpPr>
          <p:cNvPr id="10" name="Card: WHAT WE BRING YOU"/>
          <p:cNvSpPr/>
          <p:nvPr/>
        </p:nvSpPr>
        <p:spPr>
          <a:xfrm>
            <a:off x="8127797" y="3108960"/>
            <a:ext cx="3515258" cy="1874520"/>
          </a:xfrm>
          <a:prstGeom prst="roundRect">
            <a:avLst>
              <a:gd name="adj" fmla="val 58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337560"/>
            <a:ext cx="3058058" cy="15087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BRING YOU</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What we add isn't content. It's connection, and an honest view of what people think.</a:t>
            </a:r>
            <a:endParaRPr lang="en-US" sz="1500" dirty="0"/>
          </a:p>
        </p:txBody>
      </p:sp>
      <p:sp>
        <p:nvSpPr>
          <p:cNvPr id="12" name="FLAG — delete before sharing"/>
          <p:cNvSpPr txBox="1"/>
          <p:nvPr/>
        </p:nvSpPr>
        <p:spPr>
          <a:xfrm>
            <a:off x="548640" y="5212080"/>
            <a:ext cx="11094415"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DISCUSS  </a:t>
            </a:r>
            <a:pPr indent="0" marL="0">
              <a:buNone/>
            </a:pPr>
            <a:r>
              <a:rPr lang="en-US" sz="1100" dirty="0">
                <a:solidFill>
                  <a:schemeClr val="tx1"/>
                </a:solidFill>
              </a:rPr>
              <a:t>Your new thought: conversations are a source of rich learning and connection. It could be the bridge from the brand to insight on this slide. Not used yet; let's work out the wording together.</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 know after a tasting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Often, only who bought the tickets.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WHO CAME"/>
          <p:cNvSpPr/>
          <p:nvPr/>
        </p:nvSpPr>
        <p:spPr>
          <a:xfrm>
            <a:off x="548640"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CAME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You often know the ticket buyer, not everyone with them. One person may buy eight tickets.</a:t>
            </a:r>
            <a:endParaRPr lang="en-US" sz="1600" dirty="0"/>
          </a:p>
        </p:txBody>
      </p:sp>
      <p:sp>
        <p:nvSpPr>
          <p:cNvPr id="7" name="Card: WHAT THEY THOUGHT"/>
          <p:cNvSpPr/>
          <p:nvPr/>
        </p:nvSpPr>
        <p:spPr>
          <a:xfrm>
            <a:off x="4338218"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THEY THOUGHT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Visitors talk about the wines all day. Most of what they say isn't captured.</a:t>
            </a:r>
            <a:endParaRPr lang="en-US" sz="1600" dirty="0"/>
          </a:p>
        </p:txBody>
      </p:sp>
      <p:sp>
        <p:nvSpPr>
          <p:cNvPr id="9" name="Card: WHAT HAPPENS NEXT"/>
          <p:cNvSpPr/>
          <p:nvPr/>
        </p:nvSpPr>
        <p:spPr>
          <a:xfrm>
            <a:off x="8127797"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HAPPENS NEXT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The wines and producers visitors discovered are easily forgotten once the day ends.</a:t>
            </a:r>
            <a:endParaRPr lang="en-US" sz="1600" dirty="0"/>
          </a:p>
        </p:txBody>
      </p:sp>
      <p:sp>
        <p:nvSpPr>
          <p:cNvPr id="11" name="Event Mode answer"/>
          <p:cNvSpPr/>
          <p:nvPr/>
        </p:nvSpPr>
        <p:spPr>
          <a:xfrm>
            <a:off x="548640" y="4160520"/>
            <a:ext cx="11094415" cy="914400"/>
          </a:xfrm>
          <a:prstGeom prst="roundRect">
            <a:avLst>
              <a:gd name="adj" fmla="val 12000"/>
            </a:avLst>
          </a:prstGeom>
          <a:solidFill>
            <a:schemeClr val="tx1"/>
          </a:solidFill>
          <a:ln w="12700">
            <a:solidFill>
              <a:schemeClr val="tx1"/>
            </a:solidFill>
            <a:prstDash val="solid"/>
          </a:ln>
        </p:spPr>
      </p:sp>
      <p:sp>
        <p:nvSpPr>
          <p:cNvPr id="12" name="Text 10"/>
          <p:cNvSpPr txBox="1"/>
          <p:nvPr/>
        </p:nvSpPr>
        <p:spPr>
          <a:xfrm>
            <a:off x="1005840" y="4160520"/>
            <a:ext cx="10180015" cy="914400"/>
          </a:xfrm>
          <a:prstGeom prst="rect">
            <a:avLst/>
          </a:prstGeom>
          <a:noFill/>
          <a:ln/>
        </p:spPr>
        <p:txBody>
          <a:bodyPr wrap="square" lIns="0" tIns="0" rIns="0" bIns="0" rtlCol="0" anchor="ctr"/>
          <a:lstStyle/>
          <a:p>
            <a:pPr algn="ctr" indent="0" marL="0">
              <a:spcAft>
                <a:spcPts val="400"/>
              </a:spcAft>
              <a:buNone/>
            </a:pPr>
            <a:r>
              <a:rPr lang="en-US" sz="1800" dirty="0">
                <a:solidFill>
                  <a:schemeClr val="bg2"/>
                </a:solidFill>
              </a:rPr>
              <a:t>Event Mode turns the conversations at your event into insight you can use, and gives visitors a reason to remember the day.</a:t>
            </a:r>
            <a:endParaRPr lang="en-US" sz="1800" dirty="0"/>
          </a:p>
        </p:txBody>
      </p:sp>
      <p:sp>
        <p:nvSpPr>
          <p:cNvPr id="13" name="FLAG — delete before sharing"/>
          <p:cNvSpPr txBox="1"/>
          <p:nvPr/>
        </p:nvSpPr>
        <p:spPr>
          <a:xfrm>
            <a:off x="548640" y="525780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Evidence for 'most of what they say isn't captured' and 'easily forgotten' from organiser conversations, so these read as findings, not assumptions.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your visitors get. What you get.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experience, two sets of benefits.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Your visitors get"/>
          <p:cNvSpPr/>
          <p:nvPr/>
        </p:nvSpPr>
        <p:spPr>
          <a:xfrm>
            <a:off x="548640" y="1783080"/>
            <a:ext cx="5410048" cy="3657600"/>
          </a:xfrm>
          <a:prstGeom prst="roundRect">
            <a:avLst>
              <a:gd name="adj" fmla="val 3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68680"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YOUR VISITORS GET</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800"/>
              </a:spcAft>
              <a:buSzPct val="100000"/>
              <a:buChar char="•"/>
            </a:pPr>
            <a:r>
              <a:rPr lang="en-US" sz="1600" dirty="0">
                <a:solidFill>
                  <a:schemeClr val="tx1"/>
                </a:solidFill>
              </a:rPr>
              <a:t>Meet the Maker: producer stories and videos.</a:t>
            </a:r>
            <a:endParaRPr lang="en-US" sz="1600" dirty="0"/>
          </a:p>
          <a:p>
            <a:pPr marL="203200" indent="-203200">
              <a:spcAft>
                <a:spcPts val="800"/>
              </a:spcAft>
              <a:buSzPct val="100000"/>
              <a:buChar char="•"/>
            </a:pPr>
            <a:r>
              <a:rPr lang="en-US" sz="1600" dirty="0">
                <a:solidFill>
                  <a:schemeClr val="tx1"/>
                </a:solidFill>
              </a:rPr>
              <a:t>Tasting prompts, polls and questions, with no wrong answers.</a:t>
            </a:r>
            <a:endParaRPr lang="en-US" sz="1600" dirty="0"/>
          </a:p>
          <a:p>
            <a:pPr marL="203200" indent="-203200">
              <a:spcAft>
                <a:spcPts val="800"/>
              </a:spcAft>
              <a:buSzPct val="100000"/>
              <a:buChar char="•"/>
            </a:pPr>
            <a:r>
              <a:rPr lang="en-US" sz="1600" dirty="0">
                <a:solidFill>
                  <a:schemeClr val="tx1"/>
                </a:solidFill>
              </a:rPr>
              <a:t>Their wines and notes saved as they go.</a:t>
            </a:r>
            <a:endParaRPr lang="en-US" sz="1600" dirty="0"/>
          </a:p>
          <a:p>
            <a:pPr marL="203200" indent="-203200">
              <a:spcAft>
                <a:spcPts val="800"/>
              </a:spcAft>
              <a:buSzPct val="100000"/>
              <a:buChar char="•"/>
            </a:pPr>
            <a:r>
              <a:rPr lang="en-US" sz="1600" dirty="0">
                <a:solidFill>
                  <a:schemeClr val="tx1"/>
                </a:solidFill>
              </a:rPr>
              <a:t>Their own Wine of the Day, crowned.</a:t>
            </a:r>
            <a:endParaRPr lang="en-US" sz="1600" dirty="0"/>
          </a:p>
          <a:p>
            <a:pPr marL="203200" indent="-203200">
              <a:spcAft>
                <a:spcPts val="800"/>
              </a:spcAft>
              <a:buSzPct val="100000"/>
              <a:buChar char="•"/>
            </a:pPr>
            <a:r>
              <a:rPr lang="en-US" sz="1600" dirty="0">
                <a:solidFill>
                  <a:schemeClr val="tx1"/>
                </a:solidFill>
              </a:rPr>
              <a:t>A personal record to revisit after the event.</a:t>
            </a:r>
            <a:endParaRPr lang="en-US" sz="1600" dirty="0"/>
          </a:p>
        </p:txBody>
      </p:sp>
      <p:sp>
        <p:nvSpPr>
          <p:cNvPr id="7" name="You get"/>
          <p:cNvSpPr/>
          <p:nvPr/>
        </p:nvSpPr>
        <p:spPr>
          <a:xfrm>
            <a:off x="6233008" y="1783080"/>
            <a:ext cx="5410048" cy="3657600"/>
          </a:xfrm>
          <a:prstGeom prst="roundRect">
            <a:avLst>
              <a:gd name="adj" fmla="val 3000"/>
            </a:avLst>
          </a:prstGeom>
          <a:solidFill>
            <a:schemeClr val="tx1"/>
          </a:solidFill>
          <a:ln w="12700">
            <a:solidFill>
              <a:schemeClr val="tx1"/>
            </a:solidFill>
            <a:prstDash val="solid"/>
          </a:ln>
        </p:spPr>
      </p:sp>
      <p:sp>
        <p:nvSpPr>
          <p:cNvPr id="8" name="Text 6"/>
          <p:cNvSpPr txBox="1"/>
          <p:nvPr/>
        </p:nvSpPr>
        <p:spPr>
          <a:xfrm>
            <a:off x="6553048"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bg2"/>
                </a:solidFill>
                <a:latin typeface="Raleway SemiBold" pitchFamily="34" charset="0"/>
                <a:ea typeface="Raleway SemiBold" pitchFamily="34" charset="-122"/>
                <a:cs typeface="Raleway SemiBold" pitchFamily="34" charset="-120"/>
              </a:rPr>
              <a:t>YOU GET</a:t>
            </a:r>
            <a:endParaRPr lang="en-US" sz="1600" dirty="0"/>
          </a:p>
          <a:p>
            <a:pPr indent="0" marL="0">
              <a:spcAft>
                <a:spcPts val="400"/>
              </a:spcAft>
              <a:buNone/>
            </a:pPr>
            <a:r>
              <a:rPr lang="en-US" sz="800" dirty="0">
                <a:solidFill>
                  <a:schemeClr val="bg2"/>
                </a:solidFill>
              </a:rPr>
              <a:t> </a:t>
            </a:r>
            <a:endParaRPr lang="en-US" sz="1600" dirty="0"/>
          </a:p>
          <a:p>
            <a:pPr marL="203200" indent="-203200">
              <a:spcAft>
                <a:spcPts val="800"/>
              </a:spcAft>
              <a:buSzPct val="100000"/>
              <a:buChar char="•"/>
            </a:pPr>
            <a:r>
              <a:rPr lang="en-US" sz="1600" dirty="0">
                <a:solidFill>
                  <a:schemeClr val="bg2"/>
                </a:solidFill>
              </a:rPr>
              <a:t>Insight into what visitors really think, in their own words.</a:t>
            </a:r>
            <a:endParaRPr lang="en-US" sz="1600" dirty="0"/>
          </a:p>
          <a:p>
            <a:pPr marL="203200" indent="-203200">
              <a:spcAft>
                <a:spcPts val="800"/>
              </a:spcAft>
              <a:buSzPct val="100000"/>
              <a:buChar char="•"/>
            </a:pPr>
            <a:r>
              <a:rPr lang="en-US" sz="1600" dirty="0">
                <a:solidFill>
                  <a:schemeClr val="bg2"/>
                </a:solidFill>
              </a:rPr>
              <a:t>Combined, anonymised reporting on saved wines, crowns, polls and tasting responses.</a:t>
            </a:r>
            <a:endParaRPr lang="en-US" sz="1600" dirty="0"/>
          </a:p>
          <a:p>
            <a:pPr marL="203200" indent="-203200">
              <a:spcAft>
                <a:spcPts val="800"/>
              </a:spcAft>
              <a:buSzPct val="100000"/>
              <a:buChar char="•"/>
            </a:pPr>
            <a:r>
              <a:rPr lang="en-US" sz="1600" dirty="0">
                <a:solidFill>
                  <a:schemeClr val="bg2"/>
                </a:solidFill>
              </a:rPr>
              <a:t>A home for your producers' stories, and a view of how visitors use them.</a:t>
            </a:r>
            <a:endParaRPr lang="en-US" sz="1600" dirty="0"/>
          </a:p>
          <a:p>
            <a:pPr marL="203200" indent="-203200">
              <a:spcAft>
                <a:spcPts val="800"/>
              </a:spcAft>
              <a:buSzPct val="100000"/>
              <a:buChar char="•"/>
            </a:pPr>
            <a:r>
              <a:rPr lang="en-US" sz="1600" dirty="0">
                <a:solidFill>
                  <a:schemeClr val="bg2"/>
                </a:solidFill>
              </a:rPr>
              <a:t>New contacts, where visitors choose to hear from you.</a:t>
            </a:r>
            <a:endParaRPr lang="en-US" sz="1600" dirty="0"/>
          </a:p>
          <a:p>
            <a:pPr marL="203200" indent="-203200">
              <a:spcAft>
                <a:spcPts val="800"/>
              </a:spcAft>
              <a:buSzPct val="100000"/>
              <a:buChar char="•"/>
            </a:pPr>
            <a:r>
              <a:rPr lang="en-US" sz="1600" dirty="0">
                <a:solidFill>
                  <a:schemeClr val="bg2"/>
                </a:solidFill>
              </a:rPr>
              <a:t>A reason to reconnect after the event.</a:t>
            </a:r>
            <a:endParaRPr lang="en-US" sz="1600" dirty="0"/>
          </a:p>
        </p:txBody>
      </p:sp>
      <p:sp>
        <p:nvSpPr>
          <p:cNvPr id="9" name="FLAG — delete before sharing"/>
          <p:cNvSpPr txBox="1"/>
          <p:nvPr/>
        </p:nvSpPr>
        <p:spPr>
          <a:xfrm>
            <a:off x="548640"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Quizzes and prizes (in the October deck): keep, and how?</a:t>
            </a:r>
            <a:endParaRPr lang="en-US" sz="1100" dirty="0"/>
          </a:p>
        </p:txBody>
      </p:sp>
      <p:sp>
        <p:nvSpPr>
          <p:cNvPr id="10" name="FLAG — delete before sharing"/>
          <p:cNvSpPr txBox="1"/>
          <p:nvPr/>
        </p:nvSpPr>
        <p:spPr>
          <a:xfrm>
            <a:off x="6233008"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Contacts: proposed rule, needs legal review.</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 show up at your event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Mostly on visitors' phones and through the tasting itself.</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ON VISITORS' PHONES"/>
          <p:cNvSpPr/>
          <p:nvPr/>
        </p:nvSpPr>
        <p:spPr>
          <a:xfrm>
            <a:off x="548640"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VISITORS' PHONES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QR code is all it takes. The experience runs alongside the tasting, at each visitor's own pace.</a:t>
            </a:r>
            <a:endParaRPr lang="en-US" sz="1500" dirty="0"/>
          </a:p>
        </p:txBody>
      </p:sp>
      <p:sp>
        <p:nvSpPr>
          <p:cNvPr id="7" name="Card: ON YOUR MAIN SCREEN"/>
          <p:cNvSpPr/>
          <p:nvPr/>
        </p:nvSpPr>
        <p:spPr>
          <a:xfrm>
            <a:off x="4338218"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YOUR MAIN SCREEN</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Where you have one: live shared questions and results, in scheduled moments.</a:t>
            </a:r>
            <a:endParaRPr lang="en-US" sz="1500" dirty="0"/>
          </a:p>
        </p:txBody>
      </p:sp>
      <p:sp>
        <p:nvSpPr>
          <p:cNvPr id="9" name="Card: A SMALL ENTRE AMIS CORNER"/>
          <p:cNvSpPr/>
          <p:nvPr/>
        </p:nvSpPr>
        <p:spPr>
          <a:xfrm>
            <a:off x="8127797"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SMALL ENTRE AMIS CORNER</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Comfortable seats and a place to connect and find comfort. Never a sales space.</a:t>
            </a:r>
            <a:endParaRPr lang="en-US" sz="1500" dirty="0"/>
          </a:p>
        </p:txBody>
      </p:sp>
      <p:sp>
        <p:nvSpPr>
          <p:cNvPr id="11" name="Text 9"/>
          <p:cNvSpPr txBox="1"/>
          <p:nvPr/>
        </p:nvSpPr>
        <p:spPr>
          <a:xfrm>
            <a:off x="548640" y="4160520"/>
            <a:ext cx="7132320" cy="91440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IT FITS DIFFERENT EVENTS</a:t>
            </a:r>
            <a:endParaRPr lang="en-US" sz="1500" dirty="0"/>
          </a:p>
          <a:p>
            <a:pPr indent="0" marL="0">
              <a:spcAft>
                <a:spcPts val="400"/>
              </a:spcAft>
              <a:buNone/>
            </a:pPr>
            <a:r>
              <a:rPr lang="en-US" sz="1500" dirty="0">
                <a:solidFill>
                  <a:schemeClr val="tx1"/>
                </a:solidFill>
              </a:rPr>
              <a:t>Large festivals with a main screen.  Tented tastings with no installed screens.  A smaller seasonal follow-up to reconnect with visitors.</a:t>
            </a:r>
            <a:endParaRPr lang="en-US" sz="1500" dirty="0"/>
          </a:p>
        </p:txBody>
      </p:sp>
      <p:sp>
        <p:nvSpPr>
          <p:cNvPr id="12" name="Image placeholder"/>
          <p:cNvSpPr/>
          <p:nvPr/>
        </p:nvSpPr>
        <p:spPr>
          <a:xfrm>
            <a:off x="7955280" y="4114800"/>
            <a:ext cx="3687775" cy="1783080"/>
          </a:xfrm>
          <a:prstGeom prst="roundRect">
            <a:avLst>
              <a:gd name="adj" fmla="val 6154"/>
            </a:avLst>
          </a:prstGeom>
          <a:solidFill>
            <a:schemeClr val="accent3"/>
          </a:solidFill>
          <a:ln w="12700">
            <a:solidFill>
              <a:schemeClr val="tx1"/>
            </a:solidFill>
            <a:prstDash val="dash"/>
          </a:ln>
        </p:spPr>
      </p:sp>
      <p:sp>
        <p:nvSpPr>
          <p:cNvPr id="13" name="Text 11"/>
          <p:cNvSpPr txBox="1"/>
          <p:nvPr/>
        </p:nvSpPr>
        <p:spPr>
          <a:xfrm>
            <a:off x="8229600" y="4114800"/>
            <a:ext cx="3139135" cy="178308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corner or the app in use — to add</a:t>
            </a:r>
            <a:endParaRPr lang="en-US" sz="1400" dirty="0"/>
          </a:p>
        </p:txBody>
      </p:sp>
      <p:sp>
        <p:nvSpPr>
          <p:cNvPr id="14" name="FLAG — delete before sharing"/>
          <p:cNvSpPr txBox="1"/>
          <p:nvPr/>
        </p:nvSpPr>
        <p:spPr>
          <a:xfrm>
            <a:off x="548640" y="5303520"/>
            <a:ext cx="7132320" cy="59436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'A QR code is all it takes' assumes visitors join by QR at every event.</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Your visitors'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Built around what actually happens at a discovery day.</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Journey: Arrive"/>
          <p:cNvSpPr txBox="1"/>
          <p:nvPr/>
        </p:nvSpPr>
        <p:spPr>
          <a:xfrm>
            <a:off x="54864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Arrive</a:t>
            </a:r>
            <a:endParaRPr lang="en-US" sz="1500" dirty="0"/>
          </a:p>
        </p:txBody>
      </p:sp>
      <p:sp>
        <p:nvSpPr>
          <p:cNvPr id="6" name="Shape 4"/>
          <p:cNvSpPr/>
          <p:nvPr/>
        </p:nvSpPr>
        <p:spPr>
          <a:xfrm>
            <a:off x="1937614" y="2075688"/>
            <a:ext cx="182880" cy="182880"/>
          </a:xfrm>
          <a:prstGeom prst="rightArrow">
            <a:avLst/>
          </a:prstGeom>
          <a:solidFill>
            <a:schemeClr val="accent2"/>
          </a:solidFill>
          <a:ln w="12700">
            <a:solidFill>
              <a:schemeClr val="accent2"/>
            </a:solidFill>
            <a:prstDash val="solid"/>
          </a:ln>
        </p:spPr>
      </p:sp>
      <p:sp>
        <p:nvSpPr>
          <p:cNvPr id="7" name="Journey: Explore"/>
          <p:cNvSpPr txBox="1"/>
          <p:nvPr/>
        </p:nvSpPr>
        <p:spPr>
          <a:xfrm>
            <a:off x="217535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Explore</a:t>
            </a:r>
            <a:endParaRPr lang="en-US" sz="1500" dirty="0"/>
          </a:p>
        </p:txBody>
      </p:sp>
      <p:sp>
        <p:nvSpPr>
          <p:cNvPr id="8" name="Shape 6"/>
          <p:cNvSpPr/>
          <p:nvPr/>
        </p:nvSpPr>
        <p:spPr>
          <a:xfrm>
            <a:off x="3564331" y="2075688"/>
            <a:ext cx="182880" cy="182880"/>
          </a:xfrm>
          <a:prstGeom prst="rightArrow">
            <a:avLst/>
          </a:prstGeom>
          <a:solidFill>
            <a:schemeClr val="accent2"/>
          </a:solidFill>
          <a:ln w="12700">
            <a:solidFill>
              <a:schemeClr val="accent2"/>
            </a:solidFill>
            <a:prstDash val="solid"/>
          </a:ln>
        </p:spPr>
      </p:sp>
      <p:sp>
        <p:nvSpPr>
          <p:cNvPr id="9" name="Journey: Taste"/>
          <p:cNvSpPr txBox="1"/>
          <p:nvPr/>
        </p:nvSpPr>
        <p:spPr>
          <a:xfrm>
            <a:off x="3802075"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Taste</a:t>
            </a:r>
            <a:endParaRPr lang="en-US" sz="1500" dirty="0"/>
          </a:p>
        </p:txBody>
      </p:sp>
      <p:sp>
        <p:nvSpPr>
          <p:cNvPr id="10" name="Shape 8"/>
          <p:cNvSpPr/>
          <p:nvPr/>
        </p:nvSpPr>
        <p:spPr>
          <a:xfrm>
            <a:off x="5191049" y="2075688"/>
            <a:ext cx="182880" cy="182880"/>
          </a:xfrm>
          <a:prstGeom prst="rightArrow">
            <a:avLst/>
          </a:prstGeom>
          <a:solidFill>
            <a:schemeClr val="accent2"/>
          </a:solidFill>
          <a:ln w="12700">
            <a:solidFill>
              <a:schemeClr val="accent2"/>
            </a:solidFill>
            <a:prstDash val="solid"/>
          </a:ln>
        </p:spPr>
      </p:sp>
      <p:sp>
        <p:nvSpPr>
          <p:cNvPr id="11" name="Journey: Sit and talk"/>
          <p:cNvSpPr txBox="1"/>
          <p:nvPr/>
        </p:nvSpPr>
        <p:spPr>
          <a:xfrm>
            <a:off x="5428793"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Sit and talk</a:t>
            </a:r>
            <a:endParaRPr lang="en-US" sz="1500" dirty="0"/>
          </a:p>
        </p:txBody>
      </p:sp>
      <p:sp>
        <p:nvSpPr>
          <p:cNvPr id="12" name="Shape 10"/>
          <p:cNvSpPr/>
          <p:nvPr/>
        </p:nvSpPr>
        <p:spPr>
          <a:xfrm>
            <a:off x="6817766" y="2075688"/>
            <a:ext cx="182880" cy="182880"/>
          </a:xfrm>
          <a:prstGeom prst="rightArrow">
            <a:avLst/>
          </a:prstGeom>
          <a:solidFill>
            <a:schemeClr val="accent2"/>
          </a:solidFill>
          <a:ln w="12700">
            <a:solidFill>
              <a:schemeClr val="accent2"/>
            </a:solidFill>
            <a:prstDash val="solid"/>
          </a:ln>
        </p:spPr>
      </p:sp>
      <p:sp>
        <p:nvSpPr>
          <p:cNvPr id="13" name="Journey: Save"/>
          <p:cNvSpPr txBox="1"/>
          <p:nvPr/>
        </p:nvSpPr>
        <p:spPr>
          <a:xfrm>
            <a:off x="705551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Save</a:t>
            </a:r>
            <a:endParaRPr lang="en-US" sz="1500" dirty="0"/>
          </a:p>
        </p:txBody>
      </p:sp>
      <p:sp>
        <p:nvSpPr>
          <p:cNvPr id="14" name="Shape 12"/>
          <p:cNvSpPr/>
          <p:nvPr/>
        </p:nvSpPr>
        <p:spPr>
          <a:xfrm>
            <a:off x="8444484" y="2075688"/>
            <a:ext cx="182880" cy="182880"/>
          </a:xfrm>
          <a:prstGeom prst="rightArrow">
            <a:avLst/>
          </a:prstGeom>
          <a:solidFill>
            <a:schemeClr val="accent2"/>
          </a:solidFill>
          <a:ln w="12700">
            <a:solidFill>
              <a:schemeClr val="accent2"/>
            </a:solidFill>
            <a:prstDash val="solid"/>
          </a:ln>
        </p:spPr>
      </p:sp>
      <p:sp>
        <p:nvSpPr>
          <p:cNvPr id="15" name="Journey: Crown"/>
          <p:cNvSpPr txBox="1"/>
          <p:nvPr/>
        </p:nvSpPr>
        <p:spPr>
          <a:xfrm>
            <a:off x="868222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Crown</a:t>
            </a:r>
            <a:endParaRPr lang="en-US" sz="1500" dirty="0"/>
          </a:p>
        </p:txBody>
      </p:sp>
      <p:sp>
        <p:nvSpPr>
          <p:cNvPr id="16" name="Shape 14"/>
          <p:cNvSpPr/>
          <p:nvPr/>
        </p:nvSpPr>
        <p:spPr>
          <a:xfrm>
            <a:off x="10071202" y="2075688"/>
            <a:ext cx="182880" cy="182880"/>
          </a:xfrm>
          <a:prstGeom prst="rightArrow">
            <a:avLst/>
          </a:prstGeom>
          <a:solidFill>
            <a:schemeClr val="accent2"/>
          </a:solidFill>
          <a:ln w="12700">
            <a:solidFill>
              <a:schemeClr val="accent2"/>
            </a:solidFill>
            <a:prstDash val="solid"/>
          </a:ln>
        </p:spPr>
      </p:sp>
      <p:sp>
        <p:nvSpPr>
          <p:cNvPr id="17" name="Journey: Revisit"/>
          <p:cNvSpPr txBox="1"/>
          <p:nvPr/>
        </p:nvSpPr>
        <p:spPr>
          <a:xfrm>
            <a:off x="10308946"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Revisit</a:t>
            </a:r>
            <a:endParaRPr lang="en-US" sz="1500" dirty="0"/>
          </a:p>
        </p:txBody>
      </p:sp>
      <p:sp>
        <p:nvSpPr>
          <p:cNvPr id="18" name="Card: QUICK TO USE"/>
          <p:cNvSpPr/>
          <p:nvPr/>
        </p:nvSpPr>
        <p:spPr>
          <a:xfrm>
            <a:off x="548640"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9" name="Text 17"/>
          <p:cNvSpPr txBox="1"/>
          <p:nvPr/>
        </p:nvSpPr>
        <p:spPr>
          <a:xfrm>
            <a:off x="777240"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QUICK TO USE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Easy to start, easy to join.</a:t>
            </a:r>
            <a:endParaRPr lang="en-US" sz="1500" dirty="0"/>
          </a:p>
        </p:txBody>
      </p:sp>
      <p:sp>
        <p:nvSpPr>
          <p:cNvPr id="20" name="Card: OPTIONAL QUESTIONS"/>
          <p:cNvSpPr/>
          <p:nvPr/>
        </p:nvSpPr>
        <p:spPr>
          <a:xfrm>
            <a:off x="3390824"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1" name="Text 19"/>
          <p:cNvSpPr txBox="1"/>
          <p:nvPr/>
        </p:nvSpPr>
        <p:spPr>
          <a:xfrm>
            <a:off x="3619424"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OPTIONAL QUESTIONS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Visitors answer as much or as little as they like.</a:t>
            </a:r>
            <a:endParaRPr lang="en-US" sz="1500" dirty="0"/>
          </a:p>
        </p:txBody>
      </p:sp>
      <p:sp>
        <p:nvSpPr>
          <p:cNvPr id="22" name="Card: NO COMPULSORY TASTING"/>
          <p:cNvSpPr/>
          <p:nvPr/>
        </p:nvSpPr>
        <p:spPr>
          <a:xfrm>
            <a:off x="6233008"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3" name="Text 21"/>
          <p:cNvSpPr txBox="1"/>
          <p:nvPr/>
        </p:nvSpPr>
        <p:spPr>
          <a:xfrm>
            <a:off x="6461608"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COMPULSORY TASTING</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Tasting is always optional.</a:t>
            </a:r>
            <a:endParaRPr lang="en-US" sz="1500" dirty="0"/>
          </a:p>
        </p:txBody>
      </p:sp>
      <p:sp>
        <p:nvSpPr>
          <p:cNvPr id="24" name="Card: SET UP FOR YOUR EVENT"/>
          <p:cNvSpPr/>
          <p:nvPr/>
        </p:nvSpPr>
        <p:spPr>
          <a:xfrm>
            <a:off x="9075191"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5" name="Text 23"/>
          <p:cNvSpPr txBox="1"/>
          <p:nvPr/>
        </p:nvSpPr>
        <p:spPr>
          <a:xfrm>
            <a:off x="9303791"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SET UP FOR YOUR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Tailored to how your day runs.</a:t>
            </a:r>
            <a:endParaRPr lang="en-US" sz="1500" dirty="0"/>
          </a:p>
        </p:txBody>
      </p:sp>
      <p:sp>
        <p:nvSpPr>
          <p:cNvPr id="26" name="Image placeholder"/>
          <p:cNvSpPr/>
          <p:nvPr/>
        </p:nvSpPr>
        <p:spPr>
          <a:xfrm>
            <a:off x="548640" y="4663440"/>
            <a:ext cx="11094415" cy="1280160"/>
          </a:xfrm>
          <a:prstGeom prst="roundRect">
            <a:avLst>
              <a:gd name="adj" fmla="val 8571"/>
            </a:avLst>
          </a:prstGeom>
          <a:solidFill>
            <a:schemeClr val="accent3"/>
          </a:solidFill>
          <a:ln w="12700">
            <a:solidFill>
              <a:schemeClr val="tx1"/>
            </a:solidFill>
            <a:prstDash val="dash"/>
          </a:ln>
        </p:spPr>
      </p:sp>
      <p:sp>
        <p:nvSpPr>
          <p:cNvPr id="27" name="Text 25"/>
          <p:cNvSpPr txBox="1"/>
          <p:nvPr/>
        </p:nvSpPr>
        <p:spPr>
          <a:xfrm>
            <a:off x="822960" y="4663440"/>
            <a:ext cx="10545775" cy="128016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Visitor screens — to add</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insight you receive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Three layers, all built on consent.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Layer: Your event"/>
          <p:cNvSpPr/>
          <p:nvPr/>
        </p:nvSpPr>
        <p:spPr>
          <a:xfrm>
            <a:off x="548640" y="178308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96596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1</a:t>
            </a:r>
            <a:endParaRPr lang="en-US" sz="1600" dirty="0"/>
          </a:p>
        </p:txBody>
      </p:sp>
      <p:sp>
        <p:nvSpPr>
          <p:cNvPr id="7" name="Text 5"/>
          <p:cNvSpPr txBox="1"/>
          <p:nvPr/>
        </p:nvSpPr>
        <p:spPr>
          <a:xfrm>
            <a:off x="1691640" y="178308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event</a:t>
            </a:r>
            <a:endParaRPr lang="en-US" sz="1600" dirty="0"/>
          </a:p>
        </p:txBody>
      </p:sp>
      <p:sp>
        <p:nvSpPr>
          <p:cNvPr id="8" name="Text 6"/>
          <p:cNvSpPr txBox="1"/>
          <p:nvPr/>
        </p:nvSpPr>
        <p:spPr>
          <a:xfrm>
            <a:off x="4389120" y="178308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Combined discoveries, favourites, crown patterns, poll and tasting responses, and how visitors used your content.</a:t>
            </a:r>
            <a:endParaRPr lang="en-US" sz="1600" dirty="0"/>
          </a:p>
        </p:txBody>
      </p:sp>
      <p:sp>
        <p:nvSpPr>
          <p:cNvPr id="9" name="Layer: Your new contacts"/>
          <p:cNvSpPr/>
          <p:nvPr/>
        </p:nvSpPr>
        <p:spPr>
          <a:xfrm>
            <a:off x="548640" y="288036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06324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2</a:t>
            </a:r>
            <a:endParaRPr lang="en-US" sz="1600" dirty="0"/>
          </a:p>
        </p:txBody>
      </p:sp>
      <p:sp>
        <p:nvSpPr>
          <p:cNvPr id="11" name="Text 9"/>
          <p:cNvSpPr txBox="1"/>
          <p:nvPr/>
        </p:nvSpPr>
        <p:spPr>
          <a:xfrm>
            <a:off x="1691640" y="288036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new contacts</a:t>
            </a:r>
            <a:endParaRPr lang="en-US" sz="1600" dirty="0"/>
          </a:p>
        </p:txBody>
      </p:sp>
      <p:sp>
        <p:nvSpPr>
          <p:cNvPr id="12" name="Text 10"/>
          <p:cNvSpPr txBox="1"/>
          <p:nvPr/>
        </p:nvSpPr>
        <p:spPr>
          <a:xfrm>
            <a:off x="4389120" y="288036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Individual visitors who choose to hear from you, and only them.</a:t>
            </a:r>
            <a:endParaRPr lang="en-US" sz="1600" dirty="0"/>
          </a:p>
        </p:txBody>
      </p:sp>
      <p:sp>
        <p:nvSpPr>
          <p:cNvPr id="13" name="Layer: Wider trends"/>
          <p:cNvSpPr/>
          <p:nvPr/>
        </p:nvSpPr>
        <p:spPr>
          <a:xfrm>
            <a:off x="548640" y="397764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16052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3</a:t>
            </a:r>
            <a:endParaRPr lang="en-US" sz="1600" dirty="0"/>
          </a:p>
        </p:txBody>
      </p:sp>
      <p:sp>
        <p:nvSpPr>
          <p:cNvPr id="15" name="Text 13"/>
          <p:cNvSpPr txBox="1"/>
          <p:nvPr/>
        </p:nvSpPr>
        <p:spPr>
          <a:xfrm>
            <a:off x="1691640" y="397764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Wider trends</a:t>
            </a:r>
            <a:endParaRPr lang="en-US" sz="1600" dirty="0"/>
          </a:p>
        </p:txBody>
      </p:sp>
      <p:sp>
        <p:nvSpPr>
          <p:cNvPr id="16" name="Text 14"/>
          <p:cNvSpPr txBox="1"/>
          <p:nvPr/>
        </p:nvSpPr>
        <p:spPr>
          <a:xfrm>
            <a:off x="4389120" y="397764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Carefully anonymised Entre Amis trends across events, where numbers and permissions allow.</a:t>
            </a:r>
            <a:endParaRPr lang="en-US" sz="1600" dirty="0"/>
          </a:p>
        </p:txBody>
      </p:sp>
      <p:sp>
        <p:nvSpPr>
          <p:cNvPr id="17" name="FLAG — delete before sharing"/>
          <p:cNvSpPr txBox="1"/>
          <p:nvPr/>
        </p:nvSpPr>
        <p:spPr>
          <a:xfrm>
            <a:off x="548640"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Layer 2 depends on the proposed contact rule and legal review.</a:t>
            </a:r>
            <a:endParaRPr lang="en-US" sz="1100" dirty="0"/>
          </a:p>
        </p:txBody>
      </p:sp>
      <p:sp>
        <p:nvSpPr>
          <p:cNvPr id="18" name="FLAG — delete before sharing"/>
          <p:cNvSpPr txBox="1"/>
          <p:nvPr/>
        </p:nvSpPr>
        <p:spPr>
          <a:xfrm>
            <a:off x="6233008"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Whether crowned wines are reported, and to whom, without ranking vineyards.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Honest insight starts with trust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People only say what they really think when it's safe to.</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Promise: Consent first"/>
          <p:cNvSpPr/>
          <p:nvPr/>
        </p:nvSpPr>
        <p:spPr>
          <a:xfrm>
            <a:off x="548640" y="1783080"/>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Consent first  </a:t>
            </a:r>
            <a:pPr indent="0" marL="0">
              <a:spcAft>
                <a:spcPts val="400"/>
              </a:spcAft>
              <a:buNone/>
            </a:pPr>
            <a:r>
              <a:rPr lang="en-US" sz="1400" dirty="0">
                <a:solidFill>
                  <a:schemeClr val="tx1"/>
                </a:solidFill>
              </a:rPr>
              <a:t>Nothing is collected for your insight without clear, informed consent.</a:t>
            </a:r>
            <a:endParaRPr lang="en-US" sz="1400" dirty="0"/>
          </a:p>
        </p:txBody>
      </p:sp>
      <p:sp>
        <p:nvSpPr>
          <p:cNvPr id="7" name="Promise: Anonymised"/>
          <p:cNvSpPr/>
          <p:nvPr/>
        </p:nvSpPr>
        <p:spPr>
          <a:xfrm>
            <a:off x="548640" y="2496312"/>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822960" y="2496312"/>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Anonymised  </a:t>
            </a:r>
            <a:pPr indent="0" marL="0">
              <a:spcAft>
                <a:spcPts val="400"/>
              </a:spcAft>
              <a:buNone/>
            </a:pPr>
            <a:r>
              <a:rPr lang="en-US" sz="1400" dirty="0">
                <a:solidFill>
                  <a:schemeClr val="tx1"/>
                </a:solidFill>
              </a:rPr>
              <a:t>Opinions and tasting responses are combined and anonymised, never linked to a name.</a:t>
            </a:r>
            <a:endParaRPr lang="en-US" sz="1400" dirty="0"/>
          </a:p>
        </p:txBody>
      </p:sp>
      <p:sp>
        <p:nvSpPr>
          <p:cNvPr id="9" name="Promise: Never sold"/>
          <p:cNvSpPr/>
          <p:nvPr/>
        </p:nvSpPr>
        <p:spPr>
          <a:xfrm>
            <a:off x="548640" y="3209544"/>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209544"/>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Never sold  </a:t>
            </a:r>
            <a:pPr indent="0" marL="0">
              <a:spcAft>
                <a:spcPts val="400"/>
              </a:spcAft>
              <a:buNone/>
            </a:pPr>
            <a:r>
              <a:rPr lang="en-US" sz="1400" dirty="0">
                <a:solidFill>
                  <a:schemeClr val="tx1"/>
                </a:solidFill>
              </a:rPr>
              <a:t>What someone says is never sold or passed on as individual data.</a:t>
            </a:r>
            <a:endParaRPr lang="en-US" sz="1400" dirty="0"/>
          </a:p>
        </p:txBody>
      </p:sp>
      <p:sp>
        <p:nvSpPr>
          <p:cNvPr id="11" name="Promise: Personal crowns stay personal"/>
          <p:cNvSpPr/>
          <p:nvPr/>
        </p:nvSpPr>
        <p:spPr>
          <a:xfrm>
            <a:off x="548640" y="3922776"/>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922776"/>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Personal crowns stay personal  </a:t>
            </a:r>
            <a:pPr indent="0" marL="0">
              <a:spcAft>
                <a:spcPts val="400"/>
              </a:spcAft>
              <a:buNone/>
            </a:pPr>
            <a:r>
              <a:rPr lang="en-US" sz="1400" dirty="0">
                <a:solidFill>
                  <a:schemeClr val="tx1"/>
                </a:solidFill>
              </a:rPr>
              <a:t>No public ranking of vineyards by default.</a:t>
            </a:r>
            <a:endParaRPr lang="en-US" sz="1400" dirty="0"/>
          </a:p>
        </p:txBody>
      </p:sp>
      <p:sp>
        <p:nvSpPr>
          <p:cNvPr id="13" name="Promise: No re-identification"/>
          <p:cNvSpPr/>
          <p:nvPr/>
        </p:nvSpPr>
        <p:spPr>
          <a:xfrm>
            <a:off x="548640" y="4636008"/>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636008"/>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No re-identification  </a:t>
            </a:r>
            <a:pPr indent="0" marL="0">
              <a:spcAft>
                <a:spcPts val="400"/>
              </a:spcAft>
              <a:buNone/>
            </a:pPr>
            <a:r>
              <a:rPr lang="en-US" sz="1400" dirty="0">
                <a:solidFill>
                  <a:schemeClr val="tx1"/>
                </a:solidFill>
              </a:rPr>
              <a:t>No automatic data sharing across platforms.</a:t>
            </a:r>
            <a:endParaRPr lang="en-US" sz="1400" dirty="0"/>
          </a:p>
        </p:txBody>
      </p:sp>
      <p:sp>
        <p:nvSpPr>
          <p:cNvPr id="15" name="Why it matters"/>
          <p:cNvSpPr/>
          <p:nvPr/>
        </p:nvSpPr>
        <p:spPr>
          <a:xfrm>
            <a:off x="8503920" y="1783080"/>
            <a:ext cx="3139135" cy="3456432"/>
          </a:xfrm>
          <a:prstGeom prst="roundRect">
            <a:avLst>
              <a:gd name="adj" fmla="val 3495"/>
            </a:avLst>
          </a:prstGeom>
          <a:solidFill>
            <a:schemeClr val="tx1"/>
          </a:solidFill>
          <a:ln w="12700">
            <a:solidFill>
              <a:schemeClr val="tx1"/>
            </a:solidFill>
            <a:prstDash val="solid"/>
          </a:ln>
        </p:spPr>
      </p:sp>
      <p:sp>
        <p:nvSpPr>
          <p:cNvPr id="16" name="Text 14"/>
          <p:cNvSpPr txBox="1"/>
          <p:nvPr/>
        </p:nvSpPr>
        <p:spPr>
          <a:xfrm>
            <a:off x="8778240" y="2011680"/>
            <a:ext cx="2590495" cy="301752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WHY IT MATTERS</a:t>
            </a:r>
            <a:endParaRPr lang="en-US" sz="1700" dirty="0"/>
          </a:p>
          <a:p>
            <a:pPr indent="0" marL="0">
              <a:spcAft>
                <a:spcPts val="400"/>
              </a:spcAft>
              <a:buNone/>
            </a:pPr>
            <a:r>
              <a:rPr lang="en-US" sz="800" dirty="0">
                <a:solidFill>
                  <a:schemeClr val="bg2"/>
                </a:solidFill>
              </a:rPr>
              <a:t> </a:t>
            </a:r>
            <a:endParaRPr lang="en-US" sz="1700" dirty="0"/>
          </a:p>
          <a:p>
            <a:pPr indent="0" marL="0">
              <a:spcAft>
                <a:spcPts val="400"/>
              </a:spcAft>
              <a:buNone/>
            </a:pPr>
            <a:r>
              <a:rPr lang="en-US" sz="1700" dirty="0">
                <a:solidFill>
                  <a:schemeClr val="bg2"/>
                </a:solidFill>
              </a:rPr>
              <a:t>Say what you really think. It only works if people are safe to. That trust is what makes the insight worth having.</a:t>
            </a:r>
            <a:endParaRPr lang="en-US" sz="1700" dirty="0"/>
          </a:p>
        </p:txBody>
      </p:sp>
      <p:sp>
        <p:nvSpPr>
          <p:cNvPr id="17" name="FLAG — delete before sharing"/>
          <p:cNvSpPr txBox="1"/>
          <p:nvPr/>
        </p:nvSpPr>
        <p:spPr>
          <a:xfrm>
            <a:off x="548640" y="5440680"/>
            <a:ext cx="11094415"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'By default' and 'automatic' suggest exceptions. Keep, or make absolute?</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a partnership might include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possible year-round relationship across your events.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DIGITAL"/>
          <p:cNvSpPr/>
          <p:nvPr/>
        </p:nvSpPr>
        <p:spPr>
          <a:xfrm>
            <a:off x="548640"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visitor experience, your producers' content, saved discoveries, polls, consent journeys and reporting.</a:t>
            </a:r>
            <a:endParaRPr lang="en-US" sz="1500" dirty="0"/>
          </a:p>
        </p:txBody>
      </p:sp>
      <p:sp>
        <p:nvSpPr>
          <p:cNvPr id="7" name="Card: AT THE EVENT"/>
          <p:cNvSpPr/>
          <p:nvPr/>
        </p:nvSpPr>
        <p:spPr>
          <a:xfrm>
            <a:off x="4338218"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AT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small Entre Amis corner and scheduled moments on your main screen, fully costed.</a:t>
            </a:r>
            <a:endParaRPr lang="en-US" sz="1500" dirty="0"/>
          </a:p>
        </p:txBody>
      </p:sp>
      <p:sp>
        <p:nvSpPr>
          <p:cNvPr id="9" name="Card: AFTER THE EVENT"/>
          <p:cNvSpPr/>
          <p:nvPr/>
        </p:nvSpPr>
        <p:spPr>
          <a:xfrm>
            <a:off x="8127797"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AFTER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post-event visitor experience, combined insight reports, a partner review and a potential Christmas activation.</a:t>
            </a:r>
            <a:endParaRPr lang="en-US" sz="1500" dirty="0"/>
          </a:p>
        </p:txBody>
      </p:sp>
      <p:sp>
        <p:nvSpPr>
          <p:cNvPr id="11" name="FLAG — delete before sharing"/>
          <p:cNvSpPr txBox="1"/>
          <p:nvPr/>
        </p:nvSpPr>
        <p:spPr>
          <a:xfrm>
            <a:off x="548640" y="425196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indicative price line is removed: nothing may be priced until confirmed. Pricing belongs in each organiser's proposal.</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A founding partnership, not exclusivity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Help shape the future of the Entre Amis event experience.</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Founding: FOUNDING EXPERIENCE PARTNER"/>
          <p:cNvSpPr/>
          <p:nvPr/>
        </p:nvSpPr>
        <p:spPr>
          <a:xfrm>
            <a:off x="548640" y="1783080"/>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FOUNDING EXPERIENCE PARTNER</a:t>
            </a:r>
            <a:endParaRPr lang="en-US" sz="1300" dirty="0"/>
          </a:p>
        </p:txBody>
      </p:sp>
      <p:sp>
        <p:nvSpPr>
          <p:cNvPr id="7" name="Text 5"/>
          <p:cNvSpPr txBox="1"/>
          <p:nvPr/>
        </p:nvSpPr>
        <p:spPr>
          <a:xfrm>
            <a:off x="4297680" y="1783080"/>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Co-design input, launch recognition, a set-up tailored to your event and a shared post-event learning review.</a:t>
            </a:r>
            <a:endParaRPr lang="en-US" sz="1500" dirty="0"/>
          </a:p>
        </p:txBody>
      </p:sp>
      <p:sp>
        <p:nvSpPr>
          <p:cNvPr id="8" name="Founding: TWO-YEAR INSIGHT BENEFIT"/>
          <p:cNvSpPr/>
          <p:nvPr/>
        </p:nvSpPr>
        <p:spPr>
          <a:xfrm>
            <a:off x="548640" y="2807208"/>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822960" y="2807208"/>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TWO-YEAR INSIGHT BENEFIT</a:t>
            </a:r>
            <a:endParaRPr lang="en-US" sz="1300" dirty="0"/>
          </a:p>
        </p:txBody>
      </p:sp>
      <p:sp>
        <p:nvSpPr>
          <p:cNvPr id="10" name="Text 8"/>
          <p:cNvSpPr txBox="1"/>
          <p:nvPr/>
        </p:nvSpPr>
        <p:spPr>
          <a:xfrm>
            <a:off x="4297680" y="2807208"/>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Enhanced reporting and strategic insight conversations, within agreed deliverables and data-quality thresholds.</a:t>
            </a:r>
            <a:endParaRPr lang="en-US" sz="1500" dirty="0"/>
          </a:p>
        </p:txBody>
      </p:sp>
      <p:sp>
        <p:nvSpPr>
          <p:cNvPr id="11" name="Founding: PREFERENTIAL RATES"/>
          <p:cNvSpPr/>
          <p:nvPr/>
        </p:nvSpPr>
        <p:spPr>
          <a:xfrm>
            <a:off x="548640" y="3831336"/>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831336"/>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PREFERENTIAL RATES</a:t>
            </a:r>
            <a:endParaRPr lang="en-US" sz="1300" dirty="0"/>
          </a:p>
        </p:txBody>
      </p:sp>
      <p:sp>
        <p:nvSpPr>
          <p:cNvPr id="13" name="Text 11"/>
          <p:cNvSpPr txBox="1"/>
          <p:nvPr/>
        </p:nvSpPr>
        <p:spPr>
          <a:xfrm>
            <a:off x="4297680" y="3831336"/>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A preferential rate for comparable future events. Annual adjustments and wider scope agreed separately. No exclusivity.</a:t>
            </a:r>
            <a:endParaRPr lang="en-US" sz="1500" dirty="0"/>
          </a:p>
        </p:txBody>
      </p:sp>
      <p:sp>
        <p:nvSpPr>
          <p:cNvPr id="14" name="FLAG — delete before sharing"/>
          <p:cNvSpPr txBox="1"/>
          <p:nvPr/>
        </p:nvSpPr>
        <p:spPr>
          <a:xfrm>
            <a:off x="548640"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Preferential rates imply pricing. Keep here, or move to the proposal?</a:t>
            </a:r>
            <a:endParaRPr lang="en-US" sz="1100" dirty="0"/>
          </a:p>
        </p:txBody>
      </p:sp>
      <p:sp>
        <p:nvSpPr>
          <p:cNvPr id="15" name="FLAG — delete before sharing"/>
          <p:cNvSpPr txBox="1"/>
          <p:nvPr/>
        </p:nvSpPr>
        <p:spPr>
          <a:xfrm>
            <a:off x="6233008"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'Launch recognition': confirm what is launching, and when.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we'll show it working</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experience and evidence first.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CLICKABLE PROTOTYPE"/>
          <p:cNvSpPr/>
          <p:nvPr/>
        </p:nvSpPr>
        <p:spPr>
          <a:xfrm>
            <a:off x="548640"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CLICKABLE PROTOTYPE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Your visitors' screens: discover, Meet the Maker, tasting prompts, save, crown, join in, memories and consent.</a:t>
            </a:r>
            <a:endParaRPr lang="en-US" sz="1500" dirty="0"/>
          </a:p>
        </p:txBody>
      </p:sp>
      <p:sp>
        <p:nvSpPr>
          <p:cNvPr id="7" name="Card: EXAMPLE INSIGHT REPORT"/>
          <p:cNvSpPr/>
          <p:nvPr/>
        </p:nvSpPr>
        <p:spPr>
          <a:xfrm>
            <a:off x="4338218"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EXAMPLE INSIGHT REPORT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An illustrative dashboard and post-event report. Every number tied to a real interaction.</a:t>
            </a:r>
            <a:endParaRPr lang="en-US" sz="1500" dirty="0"/>
          </a:p>
        </p:txBody>
      </p:sp>
      <p:sp>
        <p:nvSpPr>
          <p:cNvPr id="9" name="Card: FIRST EVENT PILOT"/>
          <p:cNvSpPr/>
          <p:nvPr/>
        </p:nvSpPr>
        <p:spPr>
          <a:xfrm>
            <a:off x="8127797"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FIRST EVENT PILOT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Defined scope, costs, responsibilities, no exclusivity, and measures of success for your first event.</a:t>
            </a:r>
            <a:endParaRPr lang="en-US" sz="1500" dirty="0"/>
          </a:p>
        </p:txBody>
      </p:sp>
      <p:sp>
        <p:nvSpPr>
          <p:cNvPr id="11" name="FLAG — delete before sharing"/>
          <p:cNvSpPr txBox="1"/>
          <p:nvPr/>
        </p:nvSpPr>
        <p:spPr>
          <a:xfrm>
            <a:off x="548640" y="443484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Where each of these is today (e.g. built, in progress, planned).</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pack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Event Mode: confirm, set its stage and how it differs from Partner Mode</a:t>
            </a:r>
            <a:endParaRPr lang="en-US" sz="1400" dirty="0"/>
          </a:p>
          <a:p>
            <a:pPr marL="203200" indent="-203200">
              <a:spcAft>
                <a:spcPts val="600"/>
              </a:spcAft>
              <a:buSzPct val="100000"/>
              <a:buChar char="•"/>
            </a:pPr>
            <a:r>
              <a:rPr lang="en-US" sz="1400" dirty="0">
                <a:solidFill>
                  <a:schemeClr val="tx1"/>
                </a:solidFill>
              </a:rPr>
              <a:t>Cover line (slide 1)</a:t>
            </a:r>
            <a:endParaRPr lang="en-US" sz="1400" dirty="0"/>
          </a:p>
          <a:p>
            <a:pPr marL="203200" indent="-203200">
              <a:spcAft>
                <a:spcPts val="600"/>
              </a:spcAft>
              <a:buSzPct val="100000"/>
              <a:buChar char="•"/>
            </a:pPr>
            <a:r>
              <a:rPr lang="en-US" sz="1400" dirty="0">
                <a:solidFill>
                  <a:schemeClr val="tx1"/>
                </a:solidFill>
              </a:rPr>
              <a:t>Conversations as a source of learning and connection (slide 2)</a:t>
            </a:r>
            <a:endParaRPr lang="en-US" sz="1400" dirty="0"/>
          </a:p>
          <a:p>
            <a:pPr marL="203200" indent="-203200">
              <a:spcAft>
                <a:spcPts val="600"/>
              </a:spcAft>
              <a:buSzPct val="100000"/>
              <a:buChar char="•"/>
            </a:pPr>
            <a:r>
              <a:rPr lang="en-US" sz="1400" dirty="0">
                <a:solidFill>
                  <a:schemeClr val="tx1"/>
                </a:solidFill>
              </a:rPr>
              <a:t>Quizzes and prizes (slide 4)</a:t>
            </a:r>
            <a:endParaRPr lang="en-US" sz="1400" dirty="0"/>
          </a:p>
          <a:p>
            <a:pPr marL="203200" indent="-203200">
              <a:spcAft>
                <a:spcPts val="600"/>
              </a:spcAft>
              <a:buSzPct val="100000"/>
              <a:buChar char="•"/>
            </a:pPr>
            <a:r>
              <a:rPr lang="en-US" sz="1400" dirty="0">
                <a:solidFill>
                  <a:schemeClr val="tx1"/>
                </a:solidFill>
              </a:rPr>
              <a:t>QR joining at every event (slide 5)</a:t>
            </a:r>
            <a:endParaRPr lang="en-US" sz="1400" dirty="0"/>
          </a:p>
          <a:p>
            <a:pPr marL="203200" indent="-203200">
              <a:spcAft>
                <a:spcPts val="600"/>
              </a:spcAft>
              <a:buSzPct val="100000"/>
              <a:buChar char="•"/>
            </a:pPr>
            <a:r>
              <a:rPr lang="en-US" sz="1400" dirty="0">
                <a:solidFill>
                  <a:schemeClr val="tx1"/>
                </a:solidFill>
              </a:rPr>
              <a:t>Contacts rule, legal review; reporting crowns (slides 4, 7)</a:t>
            </a:r>
            <a:endParaRPr lang="en-US" sz="1400" dirty="0"/>
          </a:p>
          <a:p>
            <a:pPr marL="203200" indent="-203200">
              <a:spcAft>
                <a:spcPts val="600"/>
              </a:spcAft>
              <a:buSzPct val="100000"/>
              <a:buChar char="•"/>
            </a:pPr>
            <a:r>
              <a:rPr lang="en-US" sz="1400" dirty="0">
                <a:solidFill>
                  <a:schemeClr val="tx1"/>
                </a:solidFill>
              </a:rPr>
              <a:t>'By default' and 'automatic' (slide 8)</a:t>
            </a:r>
            <a:endParaRPr lang="en-US" sz="1400" dirty="0"/>
          </a:p>
          <a:p>
            <a:pPr marL="203200" indent="-203200">
              <a:spcAft>
                <a:spcPts val="600"/>
              </a:spcAft>
              <a:buSzPct val="100000"/>
              <a:buChar char="•"/>
            </a:pPr>
            <a:r>
              <a:rPr lang="en-US" sz="1400" dirty="0">
                <a:solidFill>
                  <a:schemeClr val="tx1"/>
                </a:solidFill>
              </a:rPr>
              <a:t>Pricing, preferential rates, launch recognition (slides 9, 10)</a:t>
            </a:r>
            <a:endParaRPr lang="en-US" sz="14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Master logo artwork files</a:t>
            </a:r>
            <a:endParaRPr lang="en-US" sz="1400" dirty="0"/>
          </a:p>
          <a:p>
            <a:pPr marL="203200" indent="-203200">
              <a:spcAft>
                <a:spcPts val="600"/>
              </a:spcAft>
              <a:buSzPct val="100000"/>
              <a:buChar char="•"/>
            </a:pPr>
            <a:r>
              <a:rPr lang="en-US" sz="1400" dirty="0">
                <a:solidFill>
                  <a:schemeClr val="tx1"/>
                </a:solidFill>
              </a:rPr>
              <a:t>Organiser evidence for slide 3</a:t>
            </a:r>
            <a:endParaRPr lang="en-US" sz="1400" dirty="0"/>
          </a:p>
          <a:p>
            <a:pPr marL="203200" indent="-203200">
              <a:spcAft>
                <a:spcPts val="600"/>
              </a:spcAft>
              <a:buSzPct val="100000"/>
              <a:buChar char="•"/>
            </a:pPr>
            <a:r>
              <a:rPr lang="en-US" sz="1400" dirty="0">
                <a:solidFill>
                  <a:schemeClr val="tx1"/>
                </a:solidFill>
              </a:rPr>
              <a:t>Visitor screens and photos (slides 5, 6)</a:t>
            </a:r>
            <a:endParaRPr lang="en-US" sz="1400" dirty="0"/>
          </a:p>
          <a:p>
            <a:pPr marL="203200" indent="-203200">
              <a:spcAft>
                <a:spcPts val="600"/>
              </a:spcAft>
              <a:buSzPct val="100000"/>
              <a:buChar char="•"/>
            </a:pPr>
            <a:r>
              <a:rPr lang="en-US" sz="1400" dirty="0">
                <a:solidFill>
                  <a:schemeClr val="tx1"/>
                </a:solidFill>
              </a:rPr>
              <a:t>Stage of each proof step (slide 11)</a:t>
            </a:r>
            <a:endParaRPr lang="en-US" sz="1400" dirty="0"/>
          </a:p>
          <a:p>
            <a:pPr marL="203200" indent="-203200">
              <a:spcAft>
                <a:spcPts val="600"/>
              </a:spcAft>
              <a:buSzPct val="100000"/>
              <a:buChar char="•"/>
            </a:pPr>
            <a:r>
              <a:rPr lang="en-US" sz="1400" dirty="0">
                <a:solidFill>
                  <a:schemeClr val="tx1"/>
                </a:solidFill>
              </a:rPr>
              <a:t>Your surname and photo (slide 13)</a:t>
            </a:r>
            <a:endParaRPr lang="en-US" sz="1400" dirty="0"/>
          </a:p>
          <a:p>
            <a:pPr marL="203200" indent="-203200">
              <a:spcAft>
                <a:spcPts val="600"/>
              </a:spcAft>
              <a:buSzPct val="100000"/>
              <a:buChar char="•"/>
            </a:pPr>
            <a:r>
              <a:rPr lang="en-US" sz="1400" dirty="0">
                <a:solidFill>
                  <a:schemeClr val="tx1"/>
                </a:solidFill>
              </a:rPr>
              <a:t>Contact details (back cover)</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Event Mode</dc:title>
  <dc:subject>PptxGenJS Presentation</dc:subject>
  <dc:creator>Entre Amis</dc:creator>
  <cp:lastModifiedBy>Entre Amis</cp:lastModifiedBy>
  <cp:revision>1</cp:revision>
  <dcterms:created xsi:type="dcterms:W3CDTF">2026-10-11T09:21:39Z</dcterms:created>
  <dcterms:modified xsi:type="dcterms:W3CDTF">2026-10-11T09:21:39Z</dcterms:modified>
</cp:coreProperties>
</file>