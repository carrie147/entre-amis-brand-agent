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33f4a7c-84d6-e14e-b85b-34da76baac3b}">
          <p14:sldIdLst>
            <p14:sldId id="256"/>
            <p14:sldId id="257"/>
          </p14:sldIdLst>
        </p14:section>
        <p14:section name="Event Mode" id="{5c06281f-40ef-6ac5-95fb-06289d15b9f4}">
          <p14:sldIdLst>
            <p14:sldId id="258"/>
            <p14:sldId id="259"/>
            <p14:sldId id="260"/>
            <p14:sldId id="261"/>
            <p14:sldId id="262"/>
            <p14:sldId id="263"/>
          </p14:sldIdLst>
        </p14:section>
        <p14:section name="Working together" id="{90f776cc-7feb-77f4-985f-7a8ec8a44a68}">
          <p14:sldIdLst>
            <p14:sldId id="264"/>
            <p14:sldId id="265"/>
            <p14:sldId id="266"/>
          </p14:sldIdLst>
        </p14:section>
        <p14:section name="About us" id="{2b71a44f-8b6c-8b3c-9c62-dd1154a10944}">
          <p14:sldIdLst>
            <p14:sldId id="267"/>
            <p14:sldId id="268"/>
            <p14:sldId id="269"/>
          </p14:sldIdLst>
        </p14:section>
        <p14:section name="Working notes — delete before sharing" id="{257337bf-78b8-6f9e-12fa-8561940db1cc}">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Event Mode pack, for organisers of combined events and marketing areas. Built from slides 14–22 of the October deck, in the same style as the core brand story. Named events (Fizz Fest Hampshire, Wine Garden of England, Festive Fizz Fest Winchester) are kept out so the pack can go to any organiser; put them in each organiser's own proposal.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one-slide introduction for organisers who haven't seen the core brand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Heading and question swapped, as on the partner slide. 'Save wines in seconds' changed to 'save the wines you like as you go': a speed claim, and it suggests wine recognition, which isn't claimable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Generic versions of the three named formats in the October deck (Fizz Fest Hampshire; Wine Garden of England, Kent; Festive Fizz Fest, Winchester). Use the names in that organiser's proposal, not in this pack.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bodies expand the October line: 'Quick to use. Optional questions. No compulsory tasting. Able to be tailored to enhance physical experience and help create lasting memories.' 'Enhance' and 'lasting memories' were benefit claims, so they're reworded.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cost line appeared on two slides in the October deck. It's a commercial term, so it reads better in each organiser's proposal.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'Useful insight' renamed 'What visitors think': 'insight' as a product is internal language. 'A gateway to enhanced experiences, relationships and insights' shortened. Contacts: in Event Mode they go to the organiser by default; vineyards only where each is named in the visitor's permission (proposed, Brand Brain 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October deck the labels and descriptions didn't match ('Event insight' described wider trends). Renamed 'Your event', 'Visitor contacts' and 'Wider trends'. 'Insight' removed from headings (internal language). 'Remove re-identification risk' reworded as 'No risk of identifying anyone'.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'Aggregate insight' is now 'combined reporting' (internal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Heading typo fixed: 'foundering' (sinking) is now 'founding'. 'Two year insight benefit' renamed (internal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'Before we build event partner mode'. The 'Ecosystem story' card was a note about this deck itself, so it's left out. 'Commercial pilot' is now 'First event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slide, built from confirmed responsible-drinking and Partner Mode data rules. 'No pressure to taste' comes from the visitor journey slide in the October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Brand voice about Caroline, not written as her. A first-person line would work well here, but it must be Caroline's own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run the pre-publish check in brand-brain/03-guardrails.md.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EA Cover">
    <p:bg>
      <p:bgPr>
        <a:solidFill>
          <a:schemeClr val="bg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EA Content">
    <p:bg>
      <p:bgPr>
        <a:solidFill>
          <a:schemeClr val="bg2"/>
        </a:solidFill>
      </p:bgPr>
    </p:bg>
    <p:spTree>
      <p:nvGrpSpPr>
        <p:cNvPr id="1" name=""/>
        <p:cNvGrpSpPr/>
        <p:nvPr/>
      </p:nvGrpSpPr>
      <p:grpSpPr>
        <a:xfrm>
          <a:off x="0" y="0"/>
          <a:ext cx="0" cy="0"/>
          <a:chOff x="0" y="0"/>
          <a:chExt cx="0" cy="0"/>
        </a:xfrm>
      </p:grpSpPr>
      <p:sp>
        <p:nvSpPr>
          <p:cNvPr id="2" name="Text 0"/>
          <p:cNvSpPr txBox="1"/>
          <p:nvPr/>
        </p:nvSpPr>
        <p:spPr>
          <a:xfrm>
            <a:off x="548640" y="6355080"/>
            <a:ext cx="4572000" cy="274320"/>
          </a:xfrm>
          <a:prstGeom prst="rect">
            <a:avLst/>
          </a:prstGeom>
          <a:noFill/>
          <a:ln/>
        </p:spPr>
        <p:txBody>
          <a:bodyPr wrap="square" lIns="0" tIns="0" rIns="0" bIns="0" rtlCol="0" anchor="ctr"/>
          <a:lstStyle/>
          <a:p>
            <a:pPr indent="0" marL="0">
              <a:buNone/>
            </a:pPr>
            <a:r>
              <a:rPr lang="en-US" sz="1000" dirty="0">
                <a:solidFill>
                  <a:schemeClr val="tx1"/>
                </a:solidFill>
              </a:rPr>
              <a:t>Say what you really think.</a:t>
            </a:r>
            <a:endParaRPr lang="en-US" sz="1000" dirty="0"/>
          </a:p>
        </p:txBody>
      </p:sp>
      <p:pic>
        <p:nvPicPr>
          <p:cNvPr id="3" name="Image 0" descr="Entre Amis logo">    </p:cNvPr>
          <p:cNvPicPr>
            <a:picLocks noChangeAspect="1"/>
          </p:cNvPicPr>
          <p:nvPr/>
        </p:nvPicPr>
        <p:blipFill>
          <a:blip r:embed="rId1"/>
          <a:stretch>
            <a:fillRect/>
          </a:stretch>
        </p:blipFill>
        <p:spPr>
          <a:xfrm>
            <a:off x="10637215" y="6144768"/>
            <a:ext cx="1005840" cy="506229"/>
          </a:xfrm>
          <a:prstGeom prst="rect">
            <a:avLst/>
          </a:prstGeom>
        </p:spPr>
      </p:pic>
      <p:sp>
        <p:nvSpPr>
          <p:cNvPr id="4" name="Text 1"/>
          <p:cNvSpPr/>
          <p:nvPr>
            <p:ph idx="102" type="title" hasCustomPrompt="1"/>
          </p:nvPr>
        </p:nvSpPr>
        <p:spPr>
          <a:xfrm>
            <a:off x="548640" y="411480"/>
            <a:ext cx="8138160" cy="685800"/>
          </a:xfrm>
          <a:prstGeom prst="rect">
            <a:avLst/>
          </a:prstGeom>
          <a:noFill/>
          <a:ln/>
        </p:spPr>
        <p:txBody>
          <a:bodyPr wrap="square" rtlCol="0"/>
          <a:lstStyle>
            <a:lvl1pPr algn="l" indent="0" marL="0">
              <a:buNone/>
              <a:defRPr lang="en-US" sz="3600" dirty="0">
                <a:solidFill>
                  <a:schemeClr val="tx1"/>
                </a:solidFill>
                <a:latin typeface="Raleway Light" pitchFamily="34" charset="0"/>
                <a:ea typeface="Raleway Light" pitchFamily="34" charset="-122"/>
                <a:cs typeface="Raleway Light" pitchFamily="34" charset="-120"/>
              </a:defRPr>
            </a:lvl1pPr>
          </a:lstStyle>
          <a:p>
            <a:pPr algn="l" indent="0" marL="0">
              <a:buNone/>
            </a:pPr>
            <a:endParaRPr lang="en-US" sz="3600" dirty="0"/>
          </a:p>
        </p:txBody>
      </p:sp>
      <p:sp>
        <p:nvSpPr>
          <p:cNvPr id="5" name="Text 1"/>
          <p:cNvSpPr/>
          <p:nvPr>
            <p:ph idx="103" type="body" hasCustomPrompt="1"/>
          </p:nvPr>
        </p:nvSpPr>
        <p:spPr>
          <a:xfrm>
            <a:off x="548640" y="1115568"/>
            <a:ext cx="11094415" cy="411480"/>
          </a:xfrm>
          <a:prstGeom prst="rect">
            <a:avLst/>
          </a:prstGeom>
          <a:noFill/>
          <a:ln/>
        </p:spPr>
        <p:txBody>
          <a:bodyPr wrap="square" rtlCol="0"/>
          <a:lstStyle>
            <a:lvl1pPr algn="l" indent="0" marL="0">
              <a:buNone/>
              <a:defRPr lang="en-US" sz="1800" dirty="0">
                <a:solidFill>
                  <a:schemeClr val="tx1"/>
                </a:solidFill>
                <a:latin typeface="Raleway Light" pitchFamily="34" charset="0"/>
                <a:ea typeface="Raleway Light" pitchFamily="34" charset="-122"/>
                <a:cs typeface="Raleway Light" pitchFamily="34" charset="-120"/>
              </a:defRPr>
            </a:lvl1pPr>
          </a:lstStyle>
          <a:p>
            <a:pPr algn="l" indent="0" marL="0">
              <a:buNone/>
            </a:pPr>
            <a:endParaRPr lang="en-US" sz="1800" dirty="0"/>
          </a:p>
        </p:txBody>
      </p:sp>
      <p:sp>
        <p:nvSpPr>
          <p:cNvPr id="25" name="Slide Number Placeholder 0"/>
          <p:cNvSpPr>
            <a:spLocks noGrp="1"/>
          </p:cNvSpPr>
          <p:nvPr>
            <p:ph type="sldNum" sz="quarter" idx="4294967295"/>
          </p:nvPr>
        </p:nvSpPr>
        <p:spPr>
          <a:xfrm>
            <a:off x="10180015"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latin typeface="Raleway Light"/>
                <a:ea typeface="Raleway Light"/>
                <a:cs typeface="Raleway Light"/>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180015"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latin typeface="Raleway Light"/>
                <a:ea typeface="Raleway Light"/>
                <a:cs typeface="Raleway Light"/>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Entre Amis logo">    </p:cNvPr>
          <p:cNvPicPr>
            <a:picLocks noChangeAspect="1"/>
          </p:cNvPicPr>
          <p:nvPr/>
        </p:nvPicPr>
        <p:blipFill>
          <a:blip r:embed="rId1"/>
          <a:stretch>
            <a:fillRect/>
          </a:stretch>
        </p:blipFill>
        <p:spPr>
          <a:xfrm>
            <a:off x="4541368" y="1005840"/>
            <a:ext cx="3108960" cy="1564707"/>
          </a:xfrm>
          <a:prstGeom prst="rect">
            <a:avLst/>
          </a:prstGeom>
        </p:spPr>
      </p:pic>
      <p:sp>
        <p:nvSpPr>
          <p:cNvPr id="3" name="Expression marker: EVENT MODE"/>
          <p:cNvSpPr txBox="1"/>
          <p:nvPr/>
        </p:nvSpPr>
        <p:spPr>
          <a:xfrm>
            <a:off x="4724248" y="2834640"/>
            <a:ext cx="2743200" cy="457200"/>
          </a:xfrm>
          <a:prstGeom prst="roundRect">
            <a:avLst>
              <a:gd name="adj" fmla="val 50000"/>
            </a:avLst>
          </a:prstGeom>
          <a:solidFill>
            <a:schemeClr val="accent4"/>
          </a:solidFill>
          <a:ln/>
        </p:spPr>
        <p:txBody>
          <a:bodyPr wrap="square" lIns="0" tIns="0" rIns="0" bIns="0" rtlCol="0" anchor="ctr"/>
          <a:lstStyle/>
          <a:p>
            <a:pPr algn="ctr" indent="0" marL="0">
              <a:buNone/>
            </a:pPr>
            <a:r>
              <a:rPr lang="en-US" sz="1400" spc="150" kern="0" dirty="0">
                <a:solidFill>
                  <a:schemeClr val="tx1"/>
                </a:solidFill>
                <a:latin typeface="Raleway SemiBold" pitchFamily="34" charset="0"/>
                <a:ea typeface="Raleway SemiBold" pitchFamily="34" charset="-122"/>
                <a:cs typeface="Raleway SemiBold" pitchFamily="34" charset="-120"/>
              </a:rPr>
              <a:t>EVENT MODE</a:t>
            </a:r>
            <a:endParaRPr lang="en-US" sz="1400" dirty="0"/>
          </a:p>
        </p:txBody>
      </p:sp>
      <p:sp>
        <p:nvSpPr>
          <p:cNvPr id="4" name="Text 1"/>
          <p:cNvSpPr txBox="1"/>
          <p:nvPr/>
        </p:nvSpPr>
        <p:spPr>
          <a:xfrm>
            <a:off x="548640" y="3474720"/>
            <a:ext cx="11094415" cy="548640"/>
          </a:xfrm>
          <a:prstGeom prst="rect">
            <a:avLst/>
          </a:prstGeom>
          <a:noFill/>
          <a:ln/>
        </p:spPr>
        <p:txBody>
          <a:bodyPr wrap="square" lIns="0" tIns="0" rIns="0" bIns="0" rtlCol="0" anchor="t"/>
          <a:lstStyle/>
          <a:p>
            <a:pPr algn="ctr" indent="0" marL="0">
              <a:spcAft>
                <a:spcPts val="400"/>
              </a:spcAft>
              <a:buNone/>
            </a:pPr>
            <a:r>
              <a:rPr lang="en-US" sz="2800" dirty="0">
                <a:solidFill>
                  <a:schemeClr val="tx1"/>
                </a:solidFill>
              </a:rPr>
              <a:t>For wine events, festivals and marketing areas</a:t>
            </a:r>
            <a:endParaRPr lang="en-US" sz="2800" dirty="0"/>
          </a:p>
        </p:txBody>
      </p:sp>
      <p:sp>
        <p:nvSpPr>
          <p:cNvPr id="5" name="Text 2"/>
          <p:cNvSpPr txBox="1"/>
          <p:nvPr/>
        </p:nvSpPr>
        <p:spPr>
          <a:xfrm>
            <a:off x="548640" y="4069080"/>
            <a:ext cx="11094415" cy="365760"/>
          </a:xfrm>
          <a:prstGeom prst="rect">
            <a:avLst/>
          </a:prstGeom>
          <a:noFill/>
          <a:ln/>
        </p:spPr>
        <p:txBody>
          <a:bodyPr wrap="square" lIns="0" tIns="0" rIns="0" bIns="0" rtlCol="0" anchor="t"/>
          <a:lstStyle/>
          <a:p>
            <a:pPr algn="ctr" indent="0" marL="0">
              <a:spcAft>
                <a:spcPts val="400"/>
              </a:spcAft>
              <a:buNone/>
            </a:pPr>
            <a:r>
              <a:rPr lang="en-US" sz="1600" i="1" dirty="0">
                <a:solidFill>
                  <a:schemeClr val="tx1"/>
                </a:solidFill>
              </a:rPr>
              <a:t>The setting changes. The spirit never does.</a:t>
            </a:r>
            <a:endParaRPr lang="en-US" sz="1600" dirty="0"/>
          </a:p>
        </p:txBody>
      </p:sp>
      <p:sp>
        <p:nvSpPr>
          <p:cNvPr id="6" name="FLAG — delete before sharing"/>
          <p:cNvSpPr txBox="1"/>
          <p:nvPr/>
        </p:nvSpPr>
        <p:spPr>
          <a:xfrm>
            <a:off x="548640" y="5074920"/>
            <a:ext cx="5394960" cy="868680"/>
          </a:xfrm>
          <a:prstGeom prst="rect">
            <a:avLst/>
          </a:prstGeom>
          <a:solidFill>
            <a:schemeClr val="bg1"/>
          </a:solidFill>
          <a:ln w="25400">
            <a:solidFill>
              <a:schemeClr val="accent4"/>
            </a:solidFill>
          </a:ln>
        </p:spPr>
        <p:txBody>
          <a:bodyPr wrap="square" lIns="38100" tIns="76200" rIns="76200" bIns="38100" rtlCol="0" anchor="ctr"/>
          <a:lstStyle/>
          <a:p>
            <a:pPr indent="0" marL="0">
              <a:buNone/>
            </a:pPr>
            <a:r>
              <a:rPr lang="en-US" sz="1100" dirty="0">
                <a:solidFill>
                  <a:schemeClr val="tx1"/>
                </a:solidFill>
                <a:latin typeface="Raleway SemiBold" pitchFamily="34" charset="0"/>
                <a:ea typeface="Raleway SemiBold" pitchFamily="34" charset="-122"/>
                <a:cs typeface="Raleway SemiBold" pitchFamily="34" charset="-120"/>
              </a:rPr>
              <a:t>TO CONFIRM  </a:t>
            </a:r>
            <a:pPr indent="0" marL="0">
              <a:buNone/>
            </a:pPr>
            <a:r>
              <a:rPr lang="en-US" sz="1100" dirty="0">
                <a:solidFill>
                  <a:schemeClr val="tx1"/>
                </a:solidFill>
              </a:rPr>
              <a:t>Event Mode is proposed in the Brand Brain. Its stage, and how it differs from Partner Mode, are still to decide.</a:t>
            </a:r>
            <a:endParaRPr lang="en-US" sz="1100" dirty="0"/>
          </a:p>
        </p:txBody>
      </p:sp>
      <p:sp>
        <p:nvSpPr>
          <p:cNvPr id="7" name="FLAG — delete before sharing"/>
          <p:cNvSpPr txBox="1"/>
          <p:nvPr/>
        </p:nvSpPr>
        <p:spPr>
          <a:xfrm>
            <a:off x="6248095" y="5074920"/>
            <a:ext cx="5394960" cy="868680"/>
          </a:xfrm>
          <a:prstGeom prst="rect">
            <a:avLst/>
          </a:prstGeom>
          <a:solidFill>
            <a:schemeClr val="bg1"/>
          </a:solidFill>
          <a:ln w="25400">
            <a:solidFill>
              <a:schemeClr val="accent4"/>
            </a:solidFill>
          </a:ln>
        </p:spPr>
        <p:txBody>
          <a:bodyPr wrap="square" lIns="38100" tIns="76200" rIns="76200" bIns="38100" rtlCol="0" anchor="ctr"/>
          <a:lstStyle/>
          <a:p>
            <a:pPr indent="0" marL="0">
              <a:buNone/>
            </a:pPr>
            <a:r>
              <a:rPr lang="en-US" sz="1100" dirty="0">
                <a:solidFill>
                  <a:schemeClr val="tx1"/>
                </a:solidFill>
                <a:latin typeface="Raleway SemiBold" pitchFamily="34" charset="0"/>
                <a:ea typeface="Raleway SemiBold" pitchFamily="34" charset="-122"/>
                <a:cs typeface="Raleway SemiBold" pitchFamily="34" charset="-120"/>
              </a:rPr>
              <a:t>TO ADD  </a:t>
            </a:r>
            <a:pPr indent="0" marL="0">
              <a:buNone/>
            </a:pPr>
            <a:r>
              <a:rPr lang="en-US" sz="1100" dirty="0">
                <a:solidFill>
                  <a:schemeClr val="tx1"/>
                </a:solidFill>
              </a:rPr>
              <a:t>Master logo artwork files (this logo is low resolution).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8138160" cy="685800"/>
          </a:xfrm>
          <a:prstGeom prst="rect">
            <a:avLst/>
          </a:prstGeom>
          <a:noFill/>
          <a:ln/>
        </p:spPr>
        <p:txBody>
          <a:bodyPr wrap="square" lIns="0" tIns="0" rIns="0" bIns="0" rtlCol="0" anchor="t"/>
          <a:lstStyle/>
          <a:p>
            <a:pPr algn="l" indent="0" marL="0">
              <a:buNone/>
            </a:pPr>
            <a:r>
              <a:rPr lang="en-US" sz="3600" dirty="0">
                <a:solidFill>
                  <a:schemeClr val="tx1"/>
                </a:solidFill>
                <a:latin typeface="Raleway Light" pitchFamily="34" charset="0"/>
                <a:ea typeface="Raleway Light" pitchFamily="34" charset="-122"/>
                <a:cs typeface="Raleway Light" pitchFamily="34" charset="-120"/>
              </a:rPr>
              <a:t>Conversation, not knowledge.</a:t>
            </a:r>
            <a:endParaRPr lang="en-US" sz="3600" dirty="0"/>
          </a:p>
        </p:txBody>
      </p:sp>
      <p:sp>
        <p:nvSpPr>
          <p:cNvPr id="3" name="Text 1"/>
          <p:cNvSpPr/>
          <p:nvPr>
            <p:ph idx="103" type="body" hasCustomPrompt="1"/>
          </p:nvPr>
        </p:nvSpPr>
        <p:spPr>
          <a:xfrm>
            <a:off x="548640" y="1115568"/>
            <a:ext cx="11094415" cy="411480"/>
          </a:xfrm>
          <a:prstGeom prst="rect">
            <a:avLst/>
          </a:prstGeom>
          <a:noFill/>
          <a:ln/>
        </p:spPr>
        <p:txBody>
          <a:bodyPr wrap="square" lIns="0" tIns="0" rIns="0" bIns="0" rtlCol="0" anchor="t"/>
          <a:lstStyle/>
          <a:p>
            <a:pPr algn="l" indent="0" marL="0">
              <a:buNone/>
            </a:pPr>
            <a:r>
              <a:rPr lang="en-US" sz="1800" dirty="0">
                <a:solidFill>
                  <a:schemeClr val="tx1"/>
                </a:solidFill>
                <a:latin typeface="Raleway Light" pitchFamily="34" charset="0"/>
                <a:ea typeface="Raleway Light" pitchFamily="34" charset="-122"/>
                <a:cs typeface="Raleway Light" pitchFamily="34" charset="-120"/>
              </a:rPr>
              <a:t>Who we are</a:t>
            </a:r>
            <a:endParaRPr lang="en-US" sz="1800" dirty="0"/>
          </a:p>
        </p:txBody>
      </p:sp>
      <p:sp>
        <p:nvSpPr>
          <p:cNvPr id="4" name="Idea statement"/>
          <p:cNvSpPr/>
          <p:nvPr/>
        </p:nvSpPr>
        <p:spPr>
          <a:xfrm>
            <a:off x="548640" y="1783080"/>
            <a:ext cx="11094415" cy="1188720"/>
          </a:xfrm>
          <a:prstGeom prst="roundRect">
            <a:avLst>
              <a:gd name="adj" fmla="val 9231"/>
            </a:avLst>
          </a:prstGeom>
          <a:solidFill>
            <a:schemeClr val="tx1"/>
          </a:solidFill>
          <a:ln w="12700">
            <a:solidFill>
              <a:schemeClr val="tx1"/>
            </a:solidFill>
            <a:prstDash val="solid"/>
          </a:ln>
        </p:spPr>
      </p:sp>
      <p:sp>
        <p:nvSpPr>
          <p:cNvPr id="5" name="Text 3"/>
          <p:cNvSpPr txBox="1"/>
          <p:nvPr/>
        </p:nvSpPr>
        <p:spPr>
          <a:xfrm>
            <a:off x="1005840" y="1783080"/>
            <a:ext cx="10180015" cy="1188720"/>
          </a:xfrm>
          <a:prstGeom prst="rect">
            <a:avLst/>
          </a:prstGeom>
          <a:noFill/>
          <a:ln/>
        </p:spPr>
        <p:txBody>
          <a:bodyPr wrap="square" lIns="0" tIns="0" rIns="0" bIns="0" rtlCol="0" anchor="ctr"/>
          <a:lstStyle/>
          <a:p>
            <a:pPr algn="ctr" indent="0" marL="0">
              <a:spcAft>
                <a:spcPts val="400"/>
              </a:spcAft>
              <a:buNone/>
            </a:pPr>
            <a:r>
              <a:rPr lang="en-US" sz="2400" dirty="0">
                <a:solidFill>
                  <a:schemeClr val="bg2"/>
                </a:solidFill>
              </a:rPr>
              <a:t>We start with a simple belief: conversation flows when nobody is worried about getting it right.</a:t>
            </a:r>
            <a:endParaRPr lang="en-US" sz="2400" dirty="0"/>
          </a:p>
        </p:txBody>
      </p:sp>
      <p:sp>
        <p:nvSpPr>
          <p:cNvPr id="6" name="Card: BETWEEN FRIENDS"/>
          <p:cNvSpPr/>
          <p:nvPr/>
        </p:nvSpPr>
        <p:spPr>
          <a:xfrm>
            <a:off x="548640" y="3291840"/>
            <a:ext cx="3515258" cy="2194560"/>
          </a:xfrm>
          <a:prstGeom prst="roundRect">
            <a:avLst>
              <a:gd name="adj" fmla="val 5000"/>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7" name="Text 5"/>
          <p:cNvSpPr txBox="1"/>
          <p:nvPr/>
        </p:nvSpPr>
        <p:spPr>
          <a:xfrm>
            <a:off x="777240" y="3520440"/>
            <a:ext cx="3058058" cy="1828800"/>
          </a:xfrm>
          <a:prstGeom prst="rect">
            <a:avLst/>
          </a:prstGeom>
          <a:noFill/>
          <a:ln/>
        </p:spPr>
        <p:txBody>
          <a:bodyPr wrap="square" lIns="0" tIns="0" rIns="0" bIns="0" rtlCol="0" anchor="t"/>
          <a:lstStyle/>
          <a:p>
            <a:pPr indent="0" marL="0">
              <a:spcAft>
                <a:spcPts val="400"/>
              </a:spcAft>
              <a:buNone/>
            </a:pPr>
            <a:r>
              <a:rPr lang="en-US" sz="1200" spc="150" kern="0" dirty="0">
                <a:solidFill>
                  <a:schemeClr val="tx1"/>
                </a:solidFill>
                <a:latin typeface="Raleway SemiBold" pitchFamily="34" charset="0"/>
                <a:ea typeface="Raleway SemiBold" pitchFamily="34" charset="-122"/>
                <a:cs typeface="Raleway SemiBold" pitchFamily="34" charset="-120"/>
              </a:rPr>
              <a:t>BETWEEN FRIENDS</a:t>
            </a:r>
            <a:endParaRPr lang="en-US" sz="1500" dirty="0"/>
          </a:p>
          <a:p>
            <a:pPr indent="0" marL="0">
              <a:spcAft>
                <a:spcPts val="400"/>
              </a:spcAft>
              <a:buNone/>
            </a:pPr>
            <a:r>
              <a:rPr lang="en-US" sz="600" dirty="0">
                <a:solidFill>
                  <a:schemeClr val="tx1"/>
                </a:solidFill>
              </a:rPr>
              <a:t> </a:t>
            </a:r>
            <a:endParaRPr lang="en-US" sz="1500" dirty="0"/>
          </a:p>
          <a:p>
            <a:pPr indent="0" marL="0">
              <a:spcAft>
                <a:spcPts val="400"/>
              </a:spcAft>
              <a:buNone/>
            </a:pPr>
            <a:r>
              <a:rPr lang="en-US" sz="1500" dirty="0">
                <a:solidFill>
                  <a:schemeClr val="tx1"/>
                </a:solidFill>
              </a:rPr>
              <a:t>Entre Amis is French for "between friends". Any wine. Any table. Everyone has something worth saying.</a:t>
            </a:r>
            <a:endParaRPr lang="en-US" sz="1500" dirty="0"/>
          </a:p>
        </p:txBody>
      </p:sp>
      <p:sp>
        <p:nvSpPr>
          <p:cNvPr id="8" name="Card: WHAT WE ADD"/>
          <p:cNvSpPr/>
          <p:nvPr/>
        </p:nvSpPr>
        <p:spPr>
          <a:xfrm>
            <a:off x="4338218" y="3291840"/>
            <a:ext cx="3515258" cy="2194560"/>
          </a:xfrm>
          <a:prstGeom prst="roundRect">
            <a:avLst>
              <a:gd name="adj" fmla="val 5000"/>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9" name="Text 7"/>
          <p:cNvSpPr txBox="1"/>
          <p:nvPr/>
        </p:nvSpPr>
        <p:spPr>
          <a:xfrm>
            <a:off x="4566818" y="3520440"/>
            <a:ext cx="3058058" cy="1828800"/>
          </a:xfrm>
          <a:prstGeom prst="rect">
            <a:avLst/>
          </a:prstGeom>
          <a:noFill/>
          <a:ln/>
        </p:spPr>
        <p:txBody>
          <a:bodyPr wrap="square" lIns="0" tIns="0" rIns="0" bIns="0" rtlCol="0" anchor="t"/>
          <a:lstStyle/>
          <a:p>
            <a:pPr indent="0" marL="0">
              <a:spcAft>
                <a:spcPts val="400"/>
              </a:spcAft>
              <a:buNone/>
            </a:pPr>
            <a:r>
              <a:rPr lang="en-US" sz="1200" spc="150" kern="0" dirty="0">
                <a:solidFill>
                  <a:schemeClr val="tx1"/>
                </a:solidFill>
                <a:latin typeface="Raleway SemiBold" pitchFamily="34" charset="0"/>
                <a:ea typeface="Raleway SemiBold" pitchFamily="34" charset="-122"/>
                <a:cs typeface="Raleway SemiBold" pitchFamily="34" charset="-120"/>
              </a:rPr>
              <a:t>WHAT WE ADD</a:t>
            </a:r>
            <a:endParaRPr lang="en-US" sz="1500" dirty="0"/>
          </a:p>
          <a:p>
            <a:pPr indent="0" marL="0">
              <a:spcAft>
                <a:spcPts val="400"/>
              </a:spcAft>
              <a:buNone/>
            </a:pPr>
            <a:r>
              <a:rPr lang="en-US" sz="600" dirty="0">
                <a:solidFill>
                  <a:schemeClr val="tx1"/>
                </a:solidFill>
              </a:rPr>
              <a:t> </a:t>
            </a:r>
            <a:endParaRPr lang="en-US" sz="1500" dirty="0"/>
          </a:p>
          <a:p>
            <a:pPr indent="0" marL="0">
              <a:spcAft>
                <a:spcPts val="400"/>
              </a:spcAft>
              <a:buNone/>
            </a:pPr>
            <a:r>
              <a:rPr lang="en-US" sz="1500" dirty="0">
                <a:solidFill>
                  <a:schemeClr val="tx1"/>
                </a:solidFill>
              </a:rPr>
              <a:t>What we add isn't content. It's connection. We help capture what people say and really think, and help them remember.</a:t>
            </a:r>
            <a:endParaRPr lang="en-US" sz="1500" dirty="0"/>
          </a:p>
        </p:txBody>
      </p:sp>
      <p:sp>
        <p:nvSpPr>
          <p:cNvPr id="10" name="Card: THE FRIEND AT THE TABLE"/>
          <p:cNvSpPr/>
          <p:nvPr/>
        </p:nvSpPr>
        <p:spPr>
          <a:xfrm>
            <a:off x="8127797" y="3291840"/>
            <a:ext cx="3515258" cy="2194560"/>
          </a:xfrm>
          <a:prstGeom prst="roundRect">
            <a:avLst>
              <a:gd name="adj" fmla="val 5000"/>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11" name="Text 9"/>
          <p:cNvSpPr txBox="1"/>
          <p:nvPr/>
        </p:nvSpPr>
        <p:spPr>
          <a:xfrm>
            <a:off x="8356397" y="3520440"/>
            <a:ext cx="3058058" cy="1828800"/>
          </a:xfrm>
          <a:prstGeom prst="rect">
            <a:avLst/>
          </a:prstGeom>
          <a:noFill/>
          <a:ln/>
        </p:spPr>
        <p:txBody>
          <a:bodyPr wrap="square" lIns="0" tIns="0" rIns="0" bIns="0" rtlCol="0" anchor="t"/>
          <a:lstStyle/>
          <a:p>
            <a:pPr indent="0" marL="0">
              <a:spcAft>
                <a:spcPts val="400"/>
              </a:spcAft>
              <a:buNone/>
            </a:pPr>
            <a:r>
              <a:rPr lang="en-US" sz="1200" spc="150" kern="0" dirty="0">
                <a:solidFill>
                  <a:schemeClr val="tx1"/>
                </a:solidFill>
                <a:latin typeface="Raleway SemiBold" pitchFamily="34" charset="0"/>
                <a:ea typeface="Raleway SemiBold" pitchFamily="34" charset="-122"/>
                <a:cs typeface="Raleway SemiBold" pitchFamily="34" charset="-120"/>
              </a:rPr>
              <a:t>THE FRIEND AT THE TABLE</a:t>
            </a:r>
            <a:endParaRPr lang="en-US" sz="1500" dirty="0"/>
          </a:p>
          <a:p>
            <a:pPr indent="0" marL="0">
              <a:spcAft>
                <a:spcPts val="400"/>
              </a:spcAft>
              <a:buNone/>
            </a:pPr>
            <a:r>
              <a:rPr lang="en-US" sz="600" dirty="0">
                <a:solidFill>
                  <a:schemeClr val="tx1"/>
                </a:solidFill>
              </a:rPr>
              <a:t> </a:t>
            </a:r>
            <a:endParaRPr lang="en-US" sz="1500" dirty="0"/>
          </a:p>
          <a:p>
            <a:pPr indent="0" marL="0">
              <a:spcAft>
                <a:spcPts val="400"/>
              </a:spcAft>
              <a:buNone/>
            </a:pPr>
            <a:r>
              <a:rPr lang="en-US" sz="1500" dirty="0">
                <a:solidFill>
                  <a:schemeClr val="tx1"/>
                </a:solidFill>
              </a:rPr>
              <a:t>Knows enough to make things interesting. Never makes anyone feel left out.</a:t>
            </a:r>
            <a:endParaRPr lang="en-US" sz="1500" dirty="0"/>
          </a:p>
        </p:txBody>
      </p:sp>
      <p:sp>
        <p:nvSpPr>
          <p:cNvPr id="25" name="Slide Number Placeholder 0"/>
          <p:cNvSpPr>
            <a:spLocks noGrp="1"/>
          </p:cNvSpPr>
          <p:nvPr>
            <p:ph type="sldNum" sz="quarter" idx="4294967295"/>
          </p:nvPr>
        </p:nvSpPr>
        <p:spPr>
          <a:xfrm>
            <a:off x="10180015"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latin typeface="Raleway Light"/>
                <a:ea typeface="Raleway Light"/>
                <a:cs typeface="Raleway Light"/>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8138160" cy="685800"/>
          </a:xfrm>
          <a:prstGeom prst="rect">
            <a:avLst/>
          </a:prstGeom>
          <a:noFill/>
          <a:ln/>
        </p:spPr>
        <p:txBody>
          <a:bodyPr wrap="square" lIns="0" tIns="0" rIns="0" bIns="0" rtlCol="0" anchor="t"/>
          <a:lstStyle/>
          <a:p>
            <a:pPr algn="l" indent="0" marL="0">
              <a:buNone/>
            </a:pPr>
            <a:r>
              <a:rPr lang="en-US" sz="3600" dirty="0">
                <a:solidFill>
                  <a:schemeClr val="tx1"/>
                </a:solidFill>
                <a:latin typeface="Raleway Light" pitchFamily="34" charset="0"/>
                <a:ea typeface="Raleway Light" pitchFamily="34" charset="-122"/>
                <a:cs typeface="Raleway Light" pitchFamily="34" charset="-120"/>
              </a:rPr>
              <a:t>The event opportunity</a:t>
            </a:r>
            <a:endParaRPr lang="en-US" sz="3600" dirty="0"/>
          </a:p>
        </p:txBody>
      </p:sp>
      <p:sp>
        <p:nvSpPr>
          <p:cNvPr id="3" name="Text 1"/>
          <p:cNvSpPr/>
          <p:nvPr>
            <p:ph idx="103" type="body" hasCustomPrompt="1"/>
          </p:nvPr>
        </p:nvSpPr>
        <p:spPr>
          <a:xfrm>
            <a:off x="548640" y="1115568"/>
            <a:ext cx="11094415" cy="411480"/>
          </a:xfrm>
          <a:prstGeom prst="rect">
            <a:avLst/>
          </a:prstGeom>
          <a:noFill/>
          <a:ln/>
        </p:spPr>
        <p:txBody>
          <a:bodyPr wrap="square" lIns="0" tIns="0" rIns="0" bIns="0" rtlCol="0" anchor="t"/>
          <a:lstStyle/>
          <a:p>
            <a:pPr algn="l" indent="0" marL="0">
              <a:buNone/>
            </a:pPr>
            <a:r>
              <a:rPr lang="en-US" sz="1800" dirty="0">
                <a:solidFill>
                  <a:schemeClr val="tx1"/>
                </a:solidFill>
                <a:latin typeface="Raleway Light" pitchFamily="34" charset="0"/>
                <a:ea typeface="Raleway Light" pitchFamily="34" charset="-122"/>
                <a:cs typeface="Raleway Light" pitchFamily="34" charset="-120"/>
              </a:rPr>
              <a:t>After a wonderful tasting day, where do all the wines you discovered go?</a:t>
            </a:r>
            <a:endParaRPr lang="en-US" sz="1800" dirty="0"/>
          </a:p>
        </p:txBody>
      </p:sp>
      <p:sp>
        <p:nvSpPr>
          <p:cNvPr id="4" name="Expression marker: EVENT MODE"/>
          <p:cNvSpPr txBox="1"/>
          <p:nvPr/>
        </p:nvSpPr>
        <p:spPr>
          <a:xfrm>
            <a:off x="9265615" y="457200"/>
            <a:ext cx="2377440" cy="384048"/>
          </a:xfrm>
          <a:prstGeom prst="roundRect">
            <a:avLst>
              <a:gd name="adj" fmla="val 50000"/>
            </a:avLst>
          </a:prstGeom>
          <a:solidFill>
            <a:schemeClr val="accent4"/>
          </a:solidFill>
          <a:ln/>
        </p:spPr>
        <p:txBody>
          <a:bodyPr wrap="square" lIns="0" tIns="0" rIns="0" bIns="0" rtlCol="0" anchor="ctr"/>
          <a:lstStyle/>
          <a:p>
            <a:pPr algn="ctr" indent="0" marL="0">
              <a:buNone/>
            </a:pPr>
            <a:r>
              <a:rPr lang="en-US" sz="1400" spc="150" kern="0" dirty="0">
                <a:solidFill>
                  <a:schemeClr val="tx1"/>
                </a:solidFill>
                <a:latin typeface="Raleway SemiBold" pitchFamily="34" charset="0"/>
                <a:ea typeface="Raleway SemiBold" pitchFamily="34" charset="-122"/>
                <a:cs typeface="Raleway SemiBold" pitchFamily="34" charset="-120"/>
              </a:rPr>
              <a:t>EVENT MODE</a:t>
            </a:r>
            <a:endParaRPr lang="en-US" sz="1400" dirty="0"/>
          </a:p>
        </p:txBody>
      </p:sp>
      <p:sp>
        <p:nvSpPr>
          <p:cNvPr id="5" name="Moment: DURING"/>
          <p:cNvSpPr/>
          <p:nvPr/>
        </p:nvSpPr>
        <p:spPr>
          <a:xfrm>
            <a:off x="548640" y="1783080"/>
            <a:ext cx="7863840" cy="822960"/>
          </a:xfrm>
          <a:prstGeom prst="roundRect">
            <a:avLst>
              <a:gd name="adj" fmla="val 13333"/>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6" name="Text 4"/>
          <p:cNvSpPr txBox="1"/>
          <p:nvPr/>
        </p:nvSpPr>
        <p:spPr>
          <a:xfrm>
            <a:off x="822960" y="1783080"/>
            <a:ext cx="1463040" cy="822960"/>
          </a:xfrm>
          <a:prstGeom prst="rect">
            <a:avLst/>
          </a:prstGeom>
          <a:noFill/>
          <a:ln/>
        </p:spPr>
        <p:txBody>
          <a:bodyPr wrap="square" lIns="0" tIns="0" rIns="0" bIns="0" rtlCol="0" anchor="ctr"/>
          <a:lstStyle/>
          <a:p>
            <a:pPr indent="0" marL="0">
              <a:spcAft>
                <a:spcPts val="400"/>
              </a:spcAft>
              <a:buNone/>
            </a:pPr>
            <a:r>
              <a:rPr lang="en-US" sz="1400" spc="150" kern="0" dirty="0">
                <a:solidFill>
                  <a:schemeClr val="tx1"/>
                </a:solidFill>
                <a:latin typeface="Raleway SemiBold" pitchFamily="34" charset="0"/>
                <a:ea typeface="Raleway SemiBold" pitchFamily="34" charset="-122"/>
                <a:cs typeface="Raleway SemiBold" pitchFamily="34" charset="-120"/>
              </a:rPr>
              <a:t>DURING</a:t>
            </a:r>
            <a:endParaRPr lang="en-US" sz="1400" dirty="0"/>
          </a:p>
        </p:txBody>
      </p:sp>
      <p:sp>
        <p:nvSpPr>
          <p:cNvPr id="7" name="Text 5"/>
          <p:cNvSpPr txBox="1"/>
          <p:nvPr/>
        </p:nvSpPr>
        <p:spPr>
          <a:xfrm>
            <a:off x="2377440" y="1783080"/>
            <a:ext cx="5852160" cy="822960"/>
          </a:xfrm>
          <a:prstGeom prst="rect">
            <a:avLst/>
          </a:prstGeom>
          <a:noFill/>
          <a:ln/>
        </p:spPr>
        <p:txBody>
          <a:bodyPr wrap="square" lIns="0" tIns="0" rIns="0" bIns="0" rtlCol="0" anchor="ctr"/>
          <a:lstStyle/>
          <a:p>
            <a:pPr indent="0" marL="0">
              <a:spcAft>
                <a:spcPts val="400"/>
              </a:spcAft>
              <a:buNone/>
            </a:pPr>
            <a:r>
              <a:rPr lang="en-US" sz="1500" dirty="0">
                <a:solidFill>
                  <a:schemeClr val="tx1"/>
                </a:solidFill>
              </a:rPr>
              <a:t>Meet the Maker, vineyard and wine information, tasting prompts, polls, quizzes, comments and prizes.</a:t>
            </a:r>
            <a:endParaRPr lang="en-US" sz="1500" dirty="0"/>
          </a:p>
        </p:txBody>
      </p:sp>
      <p:sp>
        <p:nvSpPr>
          <p:cNvPr id="8" name="Moment: PERSONAL"/>
          <p:cNvSpPr/>
          <p:nvPr/>
        </p:nvSpPr>
        <p:spPr>
          <a:xfrm>
            <a:off x="548640" y="2743200"/>
            <a:ext cx="7863840" cy="822960"/>
          </a:xfrm>
          <a:prstGeom prst="roundRect">
            <a:avLst>
              <a:gd name="adj" fmla="val 13333"/>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9" name="Text 7"/>
          <p:cNvSpPr txBox="1"/>
          <p:nvPr/>
        </p:nvSpPr>
        <p:spPr>
          <a:xfrm>
            <a:off x="822960" y="2743200"/>
            <a:ext cx="1463040" cy="822960"/>
          </a:xfrm>
          <a:prstGeom prst="rect">
            <a:avLst/>
          </a:prstGeom>
          <a:noFill/>
          <a:ln/>
        </p:spPr>
        <p:txBody>
          <a:bodyPr wrap="square" lIns="0" tIns="0" rIns="0" bIns="0" rtlCol="0" anchor="ctr"/>
          <a:lstStyle/>
          <a:p>
            <a:pPr indent="0" marL="0">
              <a:spcAft>
                <a:spcPts val="400"/>
              </a:spcAft>
              <a:buNone/>
            </a:pPr>
            <a:r>
              <a:rPr lang="en-US" sz="1400" spc="150" kern="0" dirty="0">
                <a:solidFill>
                  <a:schemeClr val="tx1"/>
                </a:solidFill>
                <a:latin typeface="Raleway SemiBold" pitchFamily="34" charset="0"/>
                <a:ea typeface="Raleway SemiBold" pitchFamily="34" charset="-122"/>
                <a:cs typeface="Raleway SemiBold" pitchFamily="34" charset="-120"/>
              </a:rPr>
              <a:t>PERSONAL</a:t>
            </a:r>
            <a:endParaRPr lang="en-US" sz="1400" dirty="0"/>
          </a:p>
        </p:txBody>
      </p:sp>
      <p:sp>
        <p:nvSpPr>
          <p:cNvPr id="10" name="Text 8"/>
          <p:cNvSpPr txBox="1"/>
          <p:nvPr/>
        </p:nvSpPr>
        <p:spPr>
          <a:xfrm>
            <a:off x="2377440" y="2743200"/>
            <a:ext cx="5852160" cy="822960"/>
          </a:xfrm>
          <a:prstGeom prst="rect">
            <a:avLst/>
          </a:prstGeom>
          <a:noFill/>
          <a:ln/>
        </p:spPr>
        <p:txBody>
          <a:bodyPr wrap="square" lIns="0" tIns="0" rIns="0" bIns="0" rtlCol="0" anchor="ctr"/>
          <a:lstStyle/>
          <a:p>
            <a:pPr indent="0" marL="0">
              <a:spcAft>
                <a:spcPts val="400"/>
              </a:spcAft>
              <a:buNone/>
            </a:pPr>
            <a:r>
              <a:rPr lang="en-US" sz="1500" dirty="0">
                <a:solidFill>
                  <a:schemeClr val="tx1"/>
                </a:solidFill>
              </a:rPr>
              <a:t>Save the wines you like as you go, keep your notes in one place, understand what you enjoy, and crown your own Wine of the Day.</a:t>
            </a:r>
            <a:endParaRPr lang="en-US" sz="1500" dirty="0"/>
          </a:p>
        </p:txBody>
      </p:sp>
      <p:sp>
        <p:nvSpPr>
          <p:cNvPr id="11" name="Moment: AFTER"/>
          <p:cNvSpPr/>
          <p:nvPr/>
        </p:nvSpPr>
        <p:spPr>
          <a:xfrm>
            <a:off x="548640" y="3703320"/>
            <a:ext cx="7863840" cy="822960"/>
          </a:xfrm>
          <a:prstGeom prst="roundRect">
            <a:avLst>
              <a:gd name="adj" fmla="val 13333"/>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12" name="Text 10"/>
          <p:cNvSpPr txBox="1"/>
          <p:nvPr/>
        </p:nvSpPr>
        <p:spPr>
          <a:xfrm>
            <a:off x="822960" y="3703320"/>
            <a:ext cx="1463040" cy="822960"/>
          </a:xfrm>
          <a:prstGeom prst="rect">
            <a:avLst/>
          </a:prstGeom>
          <a:noFill/>
          <a:ln/>
        </p:spPr>
        <p:txBody>
          <a:bodyPr wrap="square" lIns="0" tIns="0" rIns="0" bIns="0" rtlCol="0" anchor="ctr"/>
          <a:lstStyle/>
          <a:p>
            <a:pPr indent="0" marL="0">
              <a:spcAft>
                <a:spcPts val="400"/>
              </a:spcAft>
              <a:buNone/>
            </a:pPr>
            <a:r>
              <a:rPr lang="en-US" sz="1400" spc="150" kern="0" dirty="0">
                <a:solidFill>
                  <a:schemeClr val="tx1"/>
                </a:solidFill>
                <a:latin typeface="Raleway SemiBold" pitchFamily="34" charset="0"/>
                <a:ea typeface="Raleway SemiBold" pitchFamily="34" charset="-122"/>
                <a:cs typeface="Raleway SemiBold" pitchFamily="34" charset="-120"/>
              </a:rPr>
              <a:t>AFTER</a:t>
            </a:r>
            <a:endParaRPr lang="en-US" sz="1400" dirty="0"/>
          </a:p>
        </p:txBody>
      </p:sp>
      <p:sp>
        <p:nvSpPr>
          <p:cNvPr id="13" name="Text 11"/>
          <p:cNvSpPr txBox="1"/>
          <p:nvPr/>
        </p:nvSpPr>
        <p:spPr>
          <a:xfrm>
            <a:off x="2377440" y="3703320"/>
            <a:ext cx="5852160" cy="822960"/>
          </a:xfrm>
          <a:prstGeom prst="rect">
            <a:avLst/>
          </a:prstGeom>
          <a:noFill/>
          <a:ln/>
        </p:spPr>
        <p:txBody>
          <a:bodyPr wrap="square" lIns="0" tIns="0" rIns="0" bIns="0" rtlCol="0" anchor="ctr"/>
          <a:lstStyle/>
          <a:p>
            <a:pPr indent="0" marL="0">
              <a:spcAft>
                <a:spcPts val="400"/>
              </a:spcAft>
              <a:buNone/>
            </a:pPr>
            <a:r>
              <a:rPr lang="en-US" sz="1500" dirty="0">
                <a:solidFill>
                  <a:schemeClr val="tx1"/>
                </a:solidFill>
              </a:rPr>
              <a:t>A personal record of discoveries, producers and favourites to revisit long after the event.</a:t>
            </a:r>
            <a:endParaRPr lang="en-US" sz="1500" dirty="0"/>
          </a:p>
        </p:txBody>
      </p:sp>
      <p:sp>
        <p:nvSpPr>
          <p:cNvPr id="14" name="Image placeholder"/>
          <p:cNvSpPr/>
          <p:nvPr/>
        </p:nvSpPr>
        <p:spPr>
          <a:xfrm>
            <a:off x="8686800" y="1783080"/>
            <a:ext cx="2956255" cy="2743200"/>
          </a:xfrm>
          <a:prstGeom prst="roundRect">
            <a:avLst>
              <a:gd name="adj" fmla="val 4000"/>
            </a:avLst>
          </a:prstGeom>
          <a:solidFill>
            <a:schemeClr val="accent3"/>
          </a:solidFill>
          <a:ln w="12700">
            <a:solidFill>
              <a:schemeClr val="tx1"/>
            </a:solidFill>
            <a:prstDash val="dash"/>
          </a:ln>
        </p:spPr>
      </p:sp>
      <p:sp>
        <p:nvSpPr>
          <p:cNvPr id="15" name="Text 13"/>
          <p:cNvSpPr txBox="1"/>
          <p:nvPr/>
        </p:nvSpPr>
        <p:spPr>
          <a:xfrm>
            <a:off x="8961120" y="1783080"/>
            <a:ext cx="2407615" cy="2743200"/>
          </a:xfrm>
          <a:prstGeom prst="rect">
            <a:avLst/>
          </a:prstGeom>
          <a:noFill/>
          <a:ln/>
        </p:spPr>
        <p:txBody>
          <a:bodyPr wrap="square" lIns="0" tIns="0" rIns="0" bIns="0" rtlCol="0" anchor="ctr"/>
          <a:lstStyle/>
          <a:p>
            <a:pPr algn="ctr" indent="0" marL="0">
              <a:spcAft>
                <a:spcPts val="400"/>
              </a:spcAft>
              <a:buNone/>
            </a:pPr>
            <a:r>
              <a:rPr lang="en-US" sz="1400" dirty="0">
                <a:solidFill>
                  <a:schemeClr val="tx1"/>
                </a:solidFill>
                <a:latin typeface="Raleway SemiBold" pitchFamily="34" charset="0"/>
                <a:ea typeface="Raleway SemiBold" pitchFamily="34" charset="-122"/>
                <a:cs typeface="Raleway SemiBold" pitchFamily="34" charset="-120"/>
              </a:rPr>
              <a:t>Visitor screens — to add</a:t>
            </a:r>
            <a:endParaRPr lang="en-US" sz="1400" dirty="0"/>
          </a:p>
        </p:txBody>
      </p:sp>
      <p:sp>
        <p:nvSpPr>
          <p:cNvPr id="16" name="FLAG — delete before sharing"/>
          <p:cNvSpPr txBox="1"/>
          <p:nvPr/>
        </p:nvSpPr>
        <p:spPr>
          <a:xfrm>
            <a:off x="548640" y="4754880"/>
            <a:ext cx="5394960" cy="868680"/>
          </a:xfrm>
          <a:prstGeom prst="rect">
            <a:avLst/>
          </a:prstGeom>
          <a:solidFill>
            <a:schemeClr val="bg1"/>
          </a:solidFill>
          <a:ln w="25400">
            <a:solidFill>
              <a:schemeClr val="accent4"/>
            </a:solidFill>
          </a:ln>
        </p:spPr>
        <p:txBody>
          <a:bodyPr wrap="square" lIns="38100" tIns="76200" rIns="76200" bIns="38100" rtlCol="0" anchor="ctr"/>
          <a:lstStyle/>
          <a:p>
            <a:pPr indent="0" marL="0">
              <a:buNone/>
            </a:pPr>
            <a:r>
              <a:rPr lang="en-US" sz="1100" dirty="0">
                <a:solidFill>
                  <a:schemeClr val="tx1"/>
                </a:solidFill>
                <a:latin typeface="Raleway SemiBold" pitchFamily="34" charset="0"/>
                <a:ea typeface="Raleway SemiBold" pitchFamily="34" charset="-122"/>
                <a:cs typeface="Raleway SemiBold" pitchFamily="34" charset="-120"/>
              </a:rPr>
              <a:t>TO DECIDE  </a:t>
            </a:r>
            <a:pPr indent="0" marL="0">
              <a:buNone/>
            </a:pPr>
            <a:r>
              <a:rPr lang="en-US" sz="1100" dirty="0">
                <a:solidFill>
                  <a:schemeClr val="tx1"/>
                </a:solidFill>
              </a:rPr>
              <a:t>Quizzes: how they stay true to 'no wrong answers'. Prizes: check against alcohol promotion rules (CAP, Portman Group).</a:t>
            </a:r>
            <a:endParaRPr lang="en-US" sz="1100" dirty="0"/>
          </a:p>
        </p:txBody>
      </p:sp>
      <p:sp>
        <p:nvSpPr>
          <p:cNvPr id="17" name="FLAG — delete before sharing"/>
          <p:cNvSpPr txBox="1"/>
          <p:nvPr/>
        </p:nvSpPr>
        <p:spPr>
          <a:xfrm>
            <a:off x="6217920" y="4754880"/>
            <a:ext cx="5425135" cy="868680"/>
          </a:xfrm>
          <a:prstGeom prst="rect">
            <a:avLst/>
          </a:prstGeom>
          <a:solidFill>
            <a:schemeClr val="bg1"/>
          </a:solidFill>
          <a:ln w="25400">
            <a:solidFill>
              <a:schemeClr val="accent4"/>
            </a:solidFill>
          </a:ln>
        </p:spPr>
        <p:txBody>
          <a:bodyPr wrap="square" lIns="38100" tIns="76200" rIns="76200" bIns="38100" rtlCol="0" anchor="ctr"/>
          <a:lstStyle/>
          <a:p>
            <a:pPr indent="0" marL="0">
              <a:buNone/>
            </a:pPr>
            <a:r>
              <a:rPr lang="en-US" sz="1100" dirty="0">
                <a:solidFill>
                  <a:schemeClr val="tx1"/>
                </a:solidFill>
                <a:latin typeface="Raleway SemiBold" pitchFamily="34" charset="0"/>
                <a:ea typeface="Raleway SemiBold" pitchFamily="34" charset="-122"/>
                <a:cs typeface="Raleway SemiBold" pitchFamily="34" charset="-120"/>
              </a:rPr>
              <a:t>TO DECIDE  </a:t>
            </a:r>
            <a:pPr indent="0" marL="0">
              <a:buNone/>
            </a:pPr>
            <a:r>
              <a:rPr lang="en-US" sz="1100" dirty="0">
                <a:solidFill>
                  <a:schemeClr val="tx1"/>
                </a:solidFill>
              </a:rPr>
              <a:t>Original heading 'a real gap' is a claim. Kept as 'The event opportunity' until there's evidence.</a:t>
            </a:r>
            <a:endParaRPr lang="en-US" sz="1100" dirty="0"/>
          </a:p>
        </p:txBody>
      </p:sp>
      <p:sp>
        <p:nvSpPr>
          <p:cNvPr id="25" name="Slide Number Placeholder 0"/>
          <p:cNvSpPr>
            <a:spLocks noGrp="1"/>
          </p:cNvSpPr>
          <p:nvPr>
            <p:ph type="sldNum" sz="quarter" idx="4294967295"/>
          </p:nvPr>
        </p:nvSpPr>
        <p:spPr>
          <a:xfrm>
            <a:off x="10180015"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latin typeface="Raleway Light"/>
                <a:ea typeface="Raleway Light"/>
                <a:cs typeface="Raleway Light"/>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8138160" cy="685800"/>
          </a:xfrm>
          <a:prstGeom prst="rect">
            <a:avLst/>
          </a:prstGeom>
          <a:noFill/>
          <a:ln/>
        </p:spPr>
        <p:txBody>
          <a:bodyPr wrap="square" lIns="0" tIns="0" rIns="0" bIns="0" rtlCol="0" anchor="t"/>
          <a:lstStyle/>
          <a:p>
            <a:pPr algn="l" indent="0" marL="0">
              <a:buNone/>
            </a:pPr>
            <a:r>
              <a:rPr lang="en-US" sz="3600" dirty="0">
                <a:solidFill>
                  <a:schemeClr val="tx1"/>
                </a:solidFill>
                <a:latin typeface="Raleway Light" pitchFamily="34" charset="0"/>
                <a:ea typeface="Raleway Light" pitchFamily="34" charset="-122"/>
                <a:cs typeface="Raleway Light" pitchFamily="34" charset="-120"/>
              </a:rPr>
              <a:t>One idea. Different event formats.</a:t>
            </a:r>
            <a:endParaRPr lang="en-US" sz="3600" dirty="0"/>
          </a:p>
        </p:txBody>
      </p:sp>
      <p:sp>
        <p:nvSpPr>
          <p:cNvPr id="3" name="Text 1"/>
          <p:cNvSpPr/>
          <p:nvPr>
            <p:ph idx="103" type="body" hasCustomPrompt="1"/>
          </p:nvPr>
        </p:nvSpPr>
        <p:spPr>
          <a:xfrm>
            <a:off x="548640" y="1115568"/>
            <a:ext cx="11094415" cy="411480"/>
          </a:xfrm>
          <a:prstGeom prst="rect">
            <a:avLst/>
          </a:prstGeom>
          <a:noFill/>
          <a:ln/>
        </p:spPr>
        <p:txBody>
          <a:bodyPr wrap="square" lIns="0" tIns="0" rIns="0" bIns="0" rtlCol="0" anchor="t"/>
          <a:lstStyle/>
          <a:p>
            <a:pPr algn="l" indent="0" marL="0">
              <a:buNone/>
            </a:pPr>
            <a:r>
              <a:rPr lang="en-US" sz="1800" dirty="0">
                <a:solidFill>
                  <a:schemeClr val="tx1"/>
                </a:solidFill>
                <a:latin typeface="Raleway Light" pitchFamily="34" charset="0"/>
                <a:ea typeface="Raleway Light" pitchFamily="34" charset="-122"/>
                <a:cs typeface="Raleway Light" pitchFamily="34" charset="-120"/>
              </a:rPr>
              <a:t>Each event is a different expression of the same idea.</a:t>
            </a:r>
            <a:endParaRPr lang="en-US" sz="1800" dirty="0"/>
          </a:p>
        </p:txBody>
      </p:sp>
      <p:sp>
        <p:nvSpPr>
          <p:cNvPr id="4" name="Expression marker: EVENT MODE"/>
          <p:cNvSpPr txBox="1"/>
          <p:nvPr/>
        </p:nvSpPr>
        <p:spPr>
          <a:xfrm>
            <a:off x="9265615" y="457200"/>
            <a:ext cx="2377440" cy="384048"/>
          </a:xfrm>
          <a:prstGeom prst="roundRect">
            <a:avLst>
              <a:gd name="adj" fmla="val 50000"/>
            </a:avLst>
          </a:prstGeom>
          <a:solidFill>
            <a:schemeClr val="accent4"/>
          </a:solidFill>
          <a:ln/>
        </p:spPr>
        <p:txBody>
          <a:bodyPr wrap="square" lIns="0" tIns="0" rIns="0" bIns="0" rtlCol="0" anchor="ctr"/>
          <a:lstStyle/>
          <a:p>
            <a:pPr algn="ctr" indent="0" marL="0">
              <a:buNone/>
            </a:pPr>
            <a:r>
              <a:rPr lang="en-US" sz="1400" spc="150" kern="0" dirty="0">
                <a:solidFill>
                  <a:schemeClr val="tx1"/>
                </a:solidFill>
                <a:latin typeface="Raleway SemiBold" pitchFamily="34" charset="0"/>
                <a:ea typeface="Raleway SemiBold" pitchFamily="34" charset="-122"/>
                <a:cs typeface="Raleway SemiBold" pitchFamily="34" charset="-120"/>
              </a:rPr>
              <a:t>EVENT MODE</a:t>
            </a:r>
            <a:endParaRPr lang="en-US" sz="1400" dirty="0"/>
          </a:p>
        </p:txBody>
      </p:sp>
      <p:sp>
        <p:nvSpPr>
          <p:cNvPr id="5" name="Card: LARGE FESTIVALS"/>
          <p:cNvSpPr/>
          <p:nvPr/>
        </p:nvSpPr>
        <p:spPr>
          <a:xfrm>
            <a:off x="548640" y="1783080"/>
            <a:ext cx="3515258" cy="2377440"/>
          </a:xfrm>
          <a:prstGeom prst="roundRect">
            <a:avLst>
              <a:gd name="adj" fmla="val 4615"/>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6" name="Text 4"/>
          <p:cNvSpPr txBox="1"/>
          <p:nvPr/>
        </p:nvSpPr>
        <p:spPr>
          <a:xfrm>
            <a:off x="777240" y="2011680"/>
            <a:ext cx="3058058" cy="2011680"/>
          </a:xfrm>
          <a:prstGeom prst="rect">
            <a:avLst/>
          </a:prstGeom>
          <a:noFill/>
          <a:ln/>
        </p:spPr>
        <p:txBody>
          <a:bodyPr wrap="square" lIns="0" tIns="0" rIns="0" bIns="0" rtlCol="0" anchor="t"/>
          <a:lstStyle/>
          <a:p>
            <a:pPr indent="0" marL="0">
              <a:spcAft>
                <a:spcPts val="400"/>
              </a:spcAft>
              <a:buNone/>
            </a:pPr>
            <a:r>
              <a:rPr lang="en-US" sz="1200" spc="150" kern="0" dirty="0">
                <a:solidFill>
                  <a:schemeClr val="tx1"/>
                </a:solidFill>
                <a:latin typeface="Raleway SemiBold" pitchFamily="34" charset="0"/>
                <a:ea typeface="Raleway SemiBold" pitchFamily="34" charset="-122"/>
                <a:cs typeface="Raleway SemiBold" pitchFamily="34" charset="-120"/>
              </a:rPr>
              <a:t>LARGE FESTIVALS</a:t>
            </a:r>
            <a:endParaRPr lang="en-US" sz="1600" dirty="0"/>
          </a:p>
          <a:p>
            <a:pPr indent="0" marL="0">
              <a:spcAft>
                <a:spcPts val="400"/>
              </a:spcAft>
              <a:buNone/>
            </a:pPr>
            <a:r>
              <a:rPr lang="en-US" sz="600" dirty="0">
                <a:solidFill>
                  <a:schemeClr val="tx1"/>
                </a:solidFill>
              </a:rPr>
              <a:t> </a:t>
            </a:r>
            <a:endParaRPr lang="en-US" sz="1600" dirty="0"/>
          </a:p>
          <a:p>
            <a:pPr indent="0" marL="0">
              <a:spcAft>
                <a:spcPts val="400"/>
              </a:spcAft>
              <a:buNone/>
            </a:pPr>
            <a:r>
              <a:rPr lang="en-US" sz="1600" dirty="0">
                <a:solidFill>
                  <a:schemeClr val="tx1"/>
                </a:solidFill>
              </a:rPr>
              <a:t>An existing main screen offers live shared questions, results and prize moments. The visitor experience lives on the phone.</a:t>
            </a:r>
            <a:endParaRPr lang="en-US" sz="1600" dirty="0"/>
          </a:p>
        </p:txBody>
      </p:sp>
      <p:sp>
        <p:nvSpPr>
          <p:cNvPr id="7" name="Card: TENTED TASTINGS"/>
          <p:cNvSpPr/>
          <p:nvPr/>
        </p:nvSpPr>
        <p:spPr>
          <a:xfrm>
            <a:off x="4338218" y="1783080"/>
            <a:ext cx="3515258" cy="2377440"/>
          </a:xfrm>
          <a:prstGeom prst="roundRect">
            <a:avLst>
              <a:gd name="adj" fmla="val 4615"/>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8" name="Text 6"/>
          <p:cNvSpPr txBox="1"/>
          <p:nvPr/>
        </p:nvSpPr>
        <p:spPr>
          <a:xfrm>
            <a:off x="4566818" y="2011680"/>
            <a:ext cx="3058058" cy="2011680"/>
          </a:xfrm>
          <a:prstGeom prst="rect">
            <a:avLst/>
          </a:prstGeom>
          <a:noFill/>
          <a:ln/>
        </p:spPr>
        <p:txBody>
          <a:bodyPr wrap="square" lIns="0" tIns="0" rIns="0" bIns="0" rtlCol="0" anchor="t"/>
          <a:lstStyle/>
          <a:p>
            <a:pPr indent="0" marL="0">
              <a:spcAft>
                <a:spcPts val="400"/>
              </a:spcAft>
              <a:buNone/>
            </a:pPr>
            <a:r>
              <a:rPr lang="en-US" sz="1200" spc="150" kern="0" dirty="0">
                <a:solidFill>
                  <a:schemeClr val="tx1"/>
                </a:solidFill>
                <a:latin typeface="Raleway SemiBold" pitchFamily="34" charset="0"/>
                <a:ea typeface="Raleway SemiBold" pitchFamily="34" charset="-122"/>
                <a:cs typeface="Raleway SemiBold" pitchFamily="34" charset="-120"/>
              </a:rPr>
              <a:t>TENTED TASTINGS</a:t>
            </a:r>
            <a:endParaRPr lang="en-US" sz="1600" dirty="0"/>
          </a:p>
          <a:p>
            <a:pPr indent="0" marL="0">
              <a:spcAft>
                <a:spcPts val="400"/>
              </a:spcAft>
              <a:buNone/>
            </a:pPr>
            <a:r>
              <a:rPr lang="en-US" sz="600" dirty="0">
                <a:solidFill>
                  <a:schemeClr val="tx1"/>
                </a:solidFill>
              </a:rPr>
              <a:t> </a:t>
            </a:r>
            <a:endParaRPr lang="en-US" sz="1600" dirty="0"/>
          </a:p>
          <a:p>
            <a:pPr indent="0" marL="0">
              <a:spcAft>
                <a:spcPts val="400"/>
              </a:spcAft>
              <a:buNone/>
            </a:pPr>
            <a:r>
              <a:rPr lang="en-US" sz="1600" dirty="0">
                <a:solidFill>
                  <a:schemeClr val="tx1"/>
                </a:solidFill>
              </a:rPr>
              <a:t>Quieter moments between tastings create time to explore, reflect and take part. QR access in tents, with no installed screens.</a:t>
            </a:r>
            <a:endParaRPr lang="en-US" sz="1600" dirty="0"/>
          </a:p>
        </p:txBody>
      </p:sp>
      <p:sp>
        <p:nvSpPr>
          <p:cNvPr id="9" name="Card: SEASONAL FOLLOW-UP"/>
          <p:cNvSpPr/>
          <p:nvPr/>
        </p:nvSpPr>
        <p:spPr>
          <a:xfrm>
            <a:off x="8127797" y="1783080"/>
            <a:ext cx="3515258" cy="2377440"/>
          </a:xfrm>
          <a:prstGeom prst="roundRect">
            <a:avLst>
              <a:gd name="adj" fmla="val 4615"/>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10" name="Text 8"/>
          <p:cNvSpPr txBox="1"/>
          <p:nvPr/>
        </p:nvSpPr>
        <p:spPr>
          <a:xfrm>
            <a:off x="8356397" y="2011680"/>
            <a:ext cx="3058058" cy="2011680"/>
          </a:xfrm>
          <a:prstGeom prst="rect">
            <a:avLst/>
          </a:prstGeom>
          <a:noFill/>
          <a:ln/>
        </p:spPr>
        <p:txBody>
          <a:bodyPr wrap="square" lIns="0" tIns="0" rIns="0" bIns="0" rtlCol="0" anchor="t"/>
          <a:lstStyle/>
          <a:p>
            <a:pPr indent="0" marL="0">
              <a:spcAft>
                <a:spcPts val="400"/>
              </a:spcAft>
              <a:buNone/>
            </a:pPr>
            <a:r>
              <a:rPr lang="en-US" sz="1200" spc="150" kern="0" dirty="0">
                <a:solidFill>
                  <a:schemeClr val="tx1"/>
                </a:solidFill>
                <a:latin typeface="Raleway SemiBold" pitchFamily="34" charset="0"/>
                <a:ea typeface="Raleway SemiBold" pitchFamily="34" charset="-122"/>
                <a:cs typeface="Raleway SemiBold" pitchFamily="34" charset="-120"/>
              </a:rPr>
              <a:t>SEASONAL FOLLOW-UP</a:t>
            </a:r>
            <a:endParaRPr lang="en-US" sz="1600" dirty="0"/>
          </a:p>
          <a:p>
            <a:pPr indent="0" marL="0">
              <a:spcAft>
                <a:spcPts val="400"/>
              </a:spcAft>
              <a:buNone/>
            </a:pPr>
            <a:r>
              <a:rPr lang="en-US" sz="600" dirty="0">
                <a:solidFill>
                  <a:schemeClr val="tx1"/>
                </a:solidFill>
              </a:rPr>
              <a:t> </a:t>
            </a:r>
            <a:endParaRPr lang="en-US" sz="1600" dirty="0"/>
          </a:p>
          <a:p>
            <a:pPr indent="0" marL="0">
              <a:spcAft>
                <a:spcPts val="400"/>
              </a:spcAft>
              <a:buNone/>
            </a:pPr>
            <a:r>
              <a:rPr lang="en-US" sz="1600" dirty="0">
                <a:solidFill>
                  <a:schemeClr val="tx1"/>
                </a:solidFill>
              </a:rPr>
              <a:t>A smaller second activation, reconnecting with visitors and extending the annual partnership.</a:t>
            </a:r>
            <a:endParaRPr lang="en-US" sz="1600" dirty="0"/>
          </a:p>
        </p:txBody>
      </p:sp>
      <p:sp>
        <p:nvSpPr>
          <p:cNvPr id="11" name="Image placeholder"/>
          <p:cNvSpPr/>
          <p:nvPr/>
        </p:nvSpPr>
        <p:spPr>
          <a:xfrm>
            <a:off x="548640" y="4434840"/>
            <a:ext cx="11094415" cy="1463040"/>
          </a:xfrm>
          <a:prstGeom prst="roundRect">
            <a:avLst>
              <a:gd name="adj" fmla="val 7500"/>
            </a:avLst>
          </a:prstGeom>
          <a:solidFill>
            <a:schemeClr val="accent3"/>
          </a:solidFill>
          <a:ln w="12700">
            <a:solidFill>
              <a:schemeClr val="tx1"/>
            </a:solidFill>
            <a:prstDash val="dash"/>
          </a:ln>
        </p:spPr>
      </p:sp>
      <p:sp>
        <p:nvSpPr>
          <p:cNvPr id="12" name="Text 10"/>
          <p:cNvSpPr txBox="1"/>
          <p:nvPr/>
        </p:nvSpPr>
        <p:spPr>
          <a:xfrm>
            <a:off x="822960" y="4434840"/>
            <a:ext cx="10545775" cy="1463040"/>
          </a:xfrm>
          <a:prstGeom prst="rect">
            <a:avLst/>
          </a:prstGeom>
          <a:noFill/>
          <a:ln/>
        </p:spPr>
        <p:txBody>
          <a:bodyPr wrap="square" lIns="0" tIns="0" rIns="0" bIns="0" rtlCol="0" anchor="ctr"/>
          <a:lstStyle/>
          <a:p>
            <a:pPr algn="ctr" indent="0" marL="0">
              <a:spcAft>
                <a:spcPts val="400"/>
              </a:spcAft>
              <a:buNone/>
            </a:pPr>
            <a:r>
              <a:rPr lang="en-US" sz="1400" dirty="0">
                <a:solidFill>
                  <a:schemeClr val="tx1"/>
                </a:solidFill>
                <a:latin typeface="Raleway SemiBold" pitchFamily="34" charset="0"/>
                <a:ea typeface="Raleway SemiBold" pitchFamily="34" charset="-122"/>
                <a:cs typeface="Raleway SemiBold" pitchFamily="34" charset="-120"/>
              </a:rPr>
              <a:t>Event photography — to add</a:t>
            </a:r>
            <a:endParaRPr lang="en-US" sz="1400" dirty="0"/>
          </a:p>
        </p:txBody>
      </p:sp>
      <p:sp>
        <p:nvSpPr>
          <p:cNvPr id="25" name="Slide Number Placeholder 0"/>
          <p:cNvSpPr>
            <a:spLocks noGrp="1"/>
          </p:cNvSpPr>
          <p:nvPr>
            <p:ph type="sldNum" sz="quarter" idx="4294967295"/>
          </p:nvPr>
        </p:nvSpPr>
        <p:spPr>
          <a:xfrm>
            <a:off x="10180015"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latin typeface="Raleway Light"/>
                <a:ea typeface="Raleway Light"/>
                <a:cs typeface="Raleway Light"/>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8138160" cy="685800"/>
          </a:xfrm>
          <a:prstGeom prst="rect">
            <a:avLst/>
          </a:prstGeom>
          <a:noFill/>
          <a:ln/>
        </p:spPr>
        <p:txBody>
          <a:bodyPr wrap="square" lIns="0" tIns="0" rIns="0" bIns="0" rtlCol="0" anchor="t"/>
          <a:lstStyle/>
          <a:p>
            <a:pPr algn="l" indent="0" marL="0">
              <a:buNone/>
            </a:pPr>
            <a:r>
              <a:rPr lang="en-US" sz="3600" dirty="0">
                <a:solidFill>
                  <a:schemeClr val="tx1"/>
                </a:solidFill>
                <a:latin typeface="Raleway Light" pitchFamily="34" charset="0"/>
                <a:ea typeface="Raleway Light" pitchFamily="34" charset="-122"/>
                <a:cs typeface="Raleway Light" pitchFamily="34" charset="-120"/>
              </a:rPr>
              <a:t>The visitor journey</a:t>
            </a:r>
            <a:endParaRPr lang="en-US" sz="3600" dirty="0"/>
          </a:p>
        </p:txBody>
      </p:sp>
      <p:sp>
        <p:nvSpPr>
          <p:cNvPr id="3" name="Text 1"/>
          <p:cNvSpPr/>
          <p:nvPr>
            <p:ph idx="103" type="body" hasCustomPrompt="1"/>
          </p:nvPr>
        </p:nvSpPr>
        <p:spPr>
          <a:xfrm>
            <a:off x="548640" y="1115568"/>
            <a:ext cx="11094415" cy="411480"/>
          </a:xfrm>
          <a:prstGeom prst="rect">
            <a:avLst/>
          </a:prstGeom>
          <a:noFill/>
          <a:ln/>
        </p:spPr>
        <p:txBody>
          <a:bodyPr wrap="square" lIns="0" tIns="0" rIns="0" bIns="0" rtlCol="0" anchor="t"/>
          <a:lstStyle/>
          <a:p>
            <a:pPr algn="l" indent="0" marL="0">
              <a:buNone/>
            </a:pPr>
            <a:r>
              <a:rPr lang="en-US" sz="1800" dirty="0">
                <a:solidFill>
                  <a:schemeClr val="tx1"/>
                </a:solidFill>
                <a:latin typeface="Raleway Light" pitchFamily="34" charset="0"/>
                <a:ea typeface="Raleway Light" pitchFamily="34" charset="-122"/>
                <a:cs typeface="Raleway Light" pitchFamily="34" charset="-120"/>
              </a:rPr>
              <a:t>Designed around what actually happens at a discovery day.</a:t>
            </a:r>
            <a:endParaRPr lang="en-US" sz="1800" dirty="0"/>
          </a:p>
        </p:txBody>
      </p:sp>
      <p:sp>
        <p:nvSpPr>
          <p:cNvPr id="4" name="Expression marker: EVENT MODE"/>
          <p:cNvSpPr txBox="1"/>
          <p:nvPr/>
        </p:nvSpPr>
        <p:spPr>
          <a:xfrm>
            <a:off x="9265615" y="457200"/>
            <a:ext cx="2377440" cy="384048"/>
          </a:xfrm>
          <a:prstGeom prst="roundRect">
            <a:avLst>
              <a:gd name="adj" fmla="val 50000"/>
            </a:avLst>
          </a:prstGeom>
          <a:solidFill>
            <a:schemeClr val="accent4"/>
          </a:solidFill>
          <a:ln/>
        </p:spPr>
        <p:txBody>
          <a:bodyPr wrap="square" lIns="0" tIns="0" rIns="0" bIns="0" rtlCol="0" anchor="ctr"/>
          <a:lstStyle/>
          <a:p>
            <a:pPr algn="ctr" indent="0" marL="0">
              <a:buNone/>
            </a:pPr>
            <a:r>
              <a:rPr lang="en-US" sz="1400" spc="150" kern="0" dirty="0">
                <a:solidFill>
                  <a:schemeClr val="tx1"/>
                </a:solidFill>
                <a:latin typeface="Raleway SemiBold" pitchFamily="34" charset="0"/>
                <a:ea typeface="Raleway SemiBold" pitchFamily="34" charset="-122"/>
                <a:cs typeface="Raleway SemiBold" pitchFamily="34" charset="-120"/>
              </a:rPr>
              <a:t>EVENT MODE</a:t>
            </a:r>
            <a:endParaRPr lang="en-US" sz="1400" dirty="0"/>
          </a:p>
        </p:txBody>
      </p:sp>
      <p:sp>
        <p:nvSpPr>
          <p:cNvPr id="5" name="Journey: Arrive"/>
          <p:cNvSpPr txBox="1"/>
          <p:nvPr/>
        </p:nvSpPr>
        <p:spPr>
          <a:xfrm>
            <a:off x="548640" y="1828800"/>
            <a:ext cx="1334110" cy="685800"/>
          </a:xfrm>
          <a:prstGeom prst="roundRect">
            <a:avLst>
              <a:gd name="adj" fmla="val 49333"/>
            </a:avLst>
          </a:prstGeom>
          <a:solidFill>
            <a:schemeClr val="tx1"/>
          </a:solidFill>
          <a:ln/>
        </p:spPr>
        <p:txBody>
          <a:bodyPr wrap="square" lIns="0" tIns="0" rIns="0" bIns="0" rtlCol="0" anchor="ctr"/>
          <a:lstStyle/>
          <a:p>
            <a:pPr algn="ctr" indent="0" marL="0">
              <a:buNone/>
            </a:pPr>
            <a:r>
              <a:rPr lang="en-US" sz="1500" dirty="0">
                <a:solidFill>
                  <a:schemeClr val="bg2"/>
                </a:solidFill>
                <a:latin typeface="Raleway SemiBold" pitchFamily="34" charset="0"/>
                <a:ea typeface="Raleway SemiBold" pitchFamily="34" charset="-122"/>
                <a:cs typeface="Raleway SemiBold" pitchFamily="34" charset="-120"/>
              </a:rPr>
              <a:t>Arrive</a:t>
            </a:r>
            <a:endParaRPr lang="en-US" sz="1500" dirty="0"/>
          </a:p>
        </p:txBody>
      </p:sp>
      <p:sp>
        <p:nvSpPr>
          <p:cNvPr id="6" name="Shape 4"/>
          <p:cNvSpPr/>
          <p:nvPr/>
        </p:nvSpPr>
        <p:spPr>
          <a:xfrm>
            <a:off x="1937614" y="2075688"/>
            <a:ext cx="182880" cy="182880"/>
          </a:xfrm>
          <a:prstGeom prst="rightArrow">
            <a:avLst/>
          </a:prstGeom>
          <a:solidFill>
            <a:schemeClr val="accent2"/>
          </a:solidFill>
          <a:ln w="12700">
            <a:solidFill>
              <a:schemeClr val="accent2"/>
            </a:solidFill>
            <a:prstDash val="solid"/>
          </a:ln>
        </p:spPr>
      </p:sp>
      <p:sp>
        <p:nvSpPr>
          <p:cNvPr id="7" name="Journey: Explore"/>
          <p:cNvSpPr txBox="1"/>
          <p:nvPr/>
        </p:nvSpPr>
        <p:spPr>
          <a:xfrm>
            <a:off x="2175358" y="1828800"/>
            <a:ext cx="1334110" cy="685800"/>
          </a:xfrm>
          <a:prstGeom prst="roundRect">
            <a:avLst>
              <a:gd name="adj" fmla="val 49333"/>
            </a:avLst>
          </a:prstGeom>
          <a:solidFill>
            <a:schemeClr val="tx1"/>
          </a:solidFill>
          <a:ln/>
        </p:spPr>
        <p:txBody>
          <a:bodyPr wrap="square" lIns="0" tIns="0" rIns="0" bIns="0" rtlCol="0" anchor="ctr"/>
          <a:lstStyle/>
          <a:p>
            <a:pPr algn="ctr" indent="0" marL="0">
              <a:buNone/>
            </a:pPr>
            <a:r>
              <a:rPr lang="en-US" sz="1500" dirty="0">
                <a:solidFill>
                  <a:schemeClr val="bg2"/>
                </a:solidFill>
                <a:latin typeface="Raleway SemiBold" pitchFamily="34" charset="0"/>
                <a:ea typeface="Raleway SemiBold" pitchFamily="34" charset="-122"/>
                <a:cs typeface="Raleway SemiBold" pitchFamily="34" charset="-120"/>
              </a:rPr>
              <a:t>Explore</a:t>
            </a:r>
            <a:endParaRPr lang="en-US" sz="1500" dirty="0"/>
          </a:p>
        </p:txBody>
      </p:sp>
      <p:sp>
        <p:nvSpPr>
          <p:cNvPr id="8" name="Shape 6"/>
          <p:cNvSpPr/>
          <p:nvPr/>
        </p:nvSpPr>
        <p:spPr>
          <a:xfrm>
            <a:off x="3564331" y="2075688"/>
            <a:ext cx="182880" cy="182880"/>
          </a:xfrm>
          <a:prstGeom prst="rightArrow">
            <a:avLst/>
          </a:prstGeom>
          <a:solidFill>
            <a:schemeClr val="accent2"/>
          </a:solidFill>
          <a:ln w="12700">
            <a:solidFill>
              <a:schemeClr val="accent2"/>
            </a:solidFill>
            <a:prstDash val="solid"/>
          </a:ln>
        </p:spPr>
      </p:sp>
      <p:sp>
        <p:nvSpPr>
          <p:cNvPr id="9" name="Journey: Taste"/>
          <p:cNvSpPr txBox="1"/>
          <p:nvPr/>
        </p:nvSpPr>
        <p:spPr>
          <a:xfrm>
            <a:off x="3802075" y="1828800"/>
            <a:ext cx="1334110" cy="685800"/>
          </a:xfrm>
          <a:prstGeom prst="roundRect">
            <a:avLst>
              <a:gd name="adj" fmla="val 49333"/>
            </a:avLst>
          </a:prstGeom>
          <a:solidFill>
            <a:schemeClr val="tx1"/>
          </a:solidFill>
          <a:ln/>
        </p:spPr>
        <p:txBody>
          <a:bodyPr wrap="square" lIns="0" tIns="0" rIns="0" bIns="0" rtlCol="0" anchor="ctr"/>
          <a:lstStyle/>
          <a:p>
            <a:pPr algn="ctr" indent="0" marL="0">
              <a:buNone/>
            </a:pPr>
            <a:r>
              <a:rPr lang="en-US" sz="1500" dirty="0">
                <a:solidFill>
                  <a:schemeClr val="bg2"/>
                </a:solidFill>
                <a:latin typeface="Raleway SemiBold" pitchFamily="34" charset="0"/>
                <a:ea typeface="Raleway SemiBold" pitchFamily="34" charset="-122"/>
                <a:cs typeface="Raleway SemiBold" pitchFamily="34" charset="-120"/>
              </a:rPr>
              <a:t>Taste</a:t>
            </a:r>
            <a:endParaRPr lang="en-US" sz="1500" dirty="0"/>
          </a:p>
        </p:txBody>
      </p:sp>
      <p:sp>
        <p:nvSpPr>
          <p:cNvPr id="10" name="Shape 8"/>
          <p:cNvSpPr/>
          <p:nvPr/>
        </p:nvSpPr>
        <p:spPr>
          <a:xfrm>
            <a:off x="5191049" y="2075688"/>
            <a:ext cx="182880" cy="182880"/>
          </a:xfrm>
          <a:prstGeom prst="rightArrow">
            <a:avLst/>
          </a:prstGeom>
          <a:solidFill>
            <a:schemeClr val="accent2"/>
          </a:solidFill>
          <a:ln w="12700">
            <a:solidFill>
              <a:schemeClr val="accent2"/>
            </a:solidFill>
            <a:prstDash val="solid"/>
          </a:ln>
        </p:spPr>
      </p:sp>
      <p:sp>
        <p:nvSpPr>
          <p:cNvPr id="11" name="Journey: Sit and talk"/>
          <p:cNvSpPr txBox="1"/>
          <p:nvPr/>
        </p:nvSpPr>
        <p:spPr>
          <a:xfrm>
            <a:off x="5428793" y="1828800"/>
            <a:ext cx="1334110" cy="685800"/>
          </a:xfrm>
          <a:prstGeom prst="roundRect">
            <a:avLst>
              <a:gd name="adj" fmla="val 49333"/>
            </a:avLst>
          </a:prstGeom>
          <a:solidFill>
            <a:schemeClr val="tx1"/>
          </a:solidFill>
          <a:ln/>
        </p:spPr>
        <p:txBody>
          <a:bodyPr wrap="square" lIns="0" tIns="0" rIns="0" bIns="0" rtlCol="0" anchor="ctr"/>
          <a:lstStyle/>
          <a:p>
            <a:pPr algn="ctr" indent="0" marL="0">
              <a:buNone/>
            </a:pPr>
            <a:r>
              <a:rPr lang="en-US" sz="1500" dirty="0">
                <a:solidFill>
                  <a:schemeClr val="bg2"/>
                </a:solidFill>
                <a:latin typeface="Raleway SemiBold" pitchFamily="34" charset="0"/>
                <a:ea typeface="Raleway SemiBold" pitchFamily="34" charset="-122"/>
                <a:cs typeface="Raleway SemiBold" pitchFamily="34" charset="-120"/>
              </a:rPr>
              <a:t>Sit and talk</a:t>
            </a:r>
            <a:endParaRPr lang="en-US" sz="1500" dirty="0"/>
          </a:p>
        </p:txBody>
      </p:sp>
      <p:sp>
        <p:nvSpPr>
          <p:cNvPr id="12" name="Shape 10"/>
          <p:cNvSpPr/>
          <p:nvPr/>
        </p:nvSpPr>
        <p:spPr>
          <a:xfrm>
            <a:off x="6817766" y="2075688"/>
            <a:ext cx="182880" cy="182880"/>
          </a:xfrm>
          <a:prstGeom prst="rightArrow">
            <a:avLst/>
          </a:prstGeom>
          <a:solidFill>
            <a:schemeClr val="accent2"/>
          </a:solidFill>
          <a:ln w="12700">
            <a:solidFill>
              <a:schemeClr val="accent2"/>
            </a:solidFill>
            <a:prstDash val="solid"/>
          </a:ln>
        </p:spPr>
      </p:sp>
      <p:sp>
        <p:nvSpPr>
          <p:cNvPr id="13" name="Journey: Save"/>
          <p:cNvSpPr txBox="1"/>
          <p:nvPr/>
        </p:nvSpPr>
        <p:spPr>
          <a:xfrm>
            <a:off x="7055510" y="1828800"/>
            <a:ext cx="1334110" cy="685800"/>
          </a:xfrm>
          <a:prstGeom prst="roundRect">
            <a:avLst>
              <a:gd name="adj" fmla="val 49333"/>
            </a:avLst>
          </a:prstGeom>
          <a:solidFill>
            <a:schemeClr val="tx1"/>
          </a:solidFill>
          <a:ln/>
        </p:spPr>
        <p:txBody>
          <a:bodyPr wrap="square" lIns="0" tIns="0" rIns="0" bIns="0" rtlCol="0" anchor="ctr"/>
          <a:lstStyle/>
          <a:p>
            <a:pPr algn="ctr" indent="0" marL="0">
              <a:buNone/>
            </a:pPr>
            <a:r>
              <a:rPr lang="en-US" sz="1500" dirty="0">
                <a:solidFill>
                  <a:schemeClr val="bg2"/>
                </a:solidFill>
                <a:latin typeface="Raleway SemiBold" pitchFamily="34" charset="0"/>
                <a:ea typeface="Raleway SemiBold" pitchFamily="34" charset="-122"/>
                <a:cs typeface="Raleway SemiBold" pitchFamily="34" charset="-120"/>
              </a:rPr>
              <a:t>Save</a:t>
            </a:r>
            <a:endParaRPr lang="en-US" sz="1500" dirty="0"/>
          </a:p>
        </p:txBody>
      </p:sp>
      <p:sp>
        <p:nvSpPr>
          <p:cNvPr id="14" name="Shape 12"/>
          <p:cNvSpPr/>
          <p:nvPr/>
        </p:nvSpPr>
        <p:spPr>
          <a:xfrm>
            <a:off x="8444484" y="2075688"/>
            <a:ext cx="182880" cy="182880"/>
          </a:xfrm>
          <a:prstGeom prst="rightArrow">
            <a:avLst/>
          </a:prstGeom>
          <a:solidFill>
            <a:schemeClr val="accent2"/>
          </a:solidFill>
          <a:ln w="12700">
            <a:solidFill>
              <a:schemeClr val="accent2"/>
            </a:solidFill>
            <a:prstDash val="solid"/>
          </a:ln>
        </p:spPr>
      </p:sp>
      <p:sp>
        <p:nvSpPr>
          <p:cNvPr id="15" name="Journey: Crown"/>
          <p:cNvSpPr txBox="1"/>
          <p:nvPr/>
        </p:nvSpPr>
        <p:spPr>
          <a:xfrm>
            <a:off x="8682228" y="1828800"/>
            <a:ext cx="1334110" cy="685800"/>
          </a:xfrm>
          <a:prstGeom prst="roundRect">
            <a:avLst>
              <a:gd name="adj" fmla="val 49333"/>
            </a:avLst>
          </a:prstGeom>
          <a:solidFill>
            <a:schemeClr val="tx1"/>
          </a:solidFill>
          <a:ln/>
        </p:spPr>
        <p:txBody>
          <a:bodyPr wrap="square" lIns="0" tIns="0" rIns="0" bIns="0" rtlCol="0" anchor="ctr"/>
          <a:lstStyle/>
          <a:p>
            <a:pPr algn="ctr" indent="0" marL="0">
              <a:buNone/>
            </a:pPr>
            <a:r>
              <a:rPr lang="en-US" sz="1500" dirty="0">
                <a:solidFill>
                  <a:schemeClr val="bg2"/>
                </a:solidFill>
                <a:latin typeface="Raleway SemiBold" pitchFamily="34" charset="0"/>
                <a:ea typeface="Raleway SemiBold" pitchFamily="34" charset="-122"/>
                <a:cs typeface="Raleway SemiBold" pitchFamily="34" charset="-120"/>
              </a:rPr>
              <a:t>Crown</a:t>
            </a:r>
            <a:endParaRPr lang="en-US" sz="1500" dirty="0"/>
          </a:p>
        </p:txBody>
      </p:sp>
      <p:sp>
        <p:nvSpPr>
          <p:cNvPr id="16" name="Shape 14"/>
          <p:cNvSpPr/>
          <p:nvPr/>
        </p:nvSpPr>
        <p:spPr>
          <a:xfrm>
            <a:off x="10071202" y="2075688"/>
            <a:ext cx="182880" cy="182880"/>
          </a:xfrm>
          <a:prstGeom prst="rightArrow">
            <a:avLst/>
          </a:prstGeom>
          <a:solidFill>
            <a:schemeClr val="accent2"/>
          </a:solidFill>
          <a:ln w="12700">
            <a:solidFill>
              <a:schemeClr val="accent2"/>
            </a:solidFill>
            <a:prstDash val="solid"/>
          </a:ln>
        </p:spPr>
      </p:sp>
      <p:sp>
        <p:nvSpPr>
          <p:cNvPr id="17" name="Journey: Revisit"/>
          <p:cNvSpPr txBox="1"/>
          <p:nvPr/>
        </p:nvSpPr>
        <p:spPr>
          <a:xfrm>
            <a:off x="10308946" y="1828800"/>
            <a:ext cx="1334110" cy="685800"/>
          </a:xfrm>
          <a:prstGeom prst="roundRect">
            <a:avLst>
              <a:gd name="adj" fmla="val 49333"/>
            </a:avLst>
          </a:prstGeom>
          <a:solidFill>
            <a:schemeClr val="tx1"/>
          </a:solidFill>
          <a:ln/>
        </p:spPr>
        <p:txBody>
          <a:bodyPr wrap="square" lIns="0" tIns="0" rIns="0" bIns="0" rtlCol="0" anchor="ctr"/>
          <a:lstStyle/>
          <a:p>
            <a:pPr algn="ctr" indent="0" marL="0">
              <a:buNone/>
            </a:pPr>
            <a:r>
              <a:rPr lang="en-US" sz="1500" dirty="0">
                <a:solidFill>
                  <a:schemeClr val="bg2"/>
                </a:solidFill>
                <a:latin typeface="Raleway SemiBold" pitchFamily="34" charset="0"/>
                <a:ea typeface="Raleway SemiBold" pitchFamily="34" charset="-122"/>
                <a:cs typeface="Raleway SemiBold" pitchFamily="34" charset="-120"/>
              </a:rPr>
              <a:t>Revisit</a:t>
            </a:r>
            <a:endParaRPr lang="en-US" sz="1500" dirty="0"/>
          </a:p>
        </p:txBody>
      </p:sp>
      <p:sp>
        <p:nvSpPr>
          <p:cNvPr id="18" name="Card: QUICK TO USE"/>
          <p:cNvSpPr/>
          <p:nvPr/>
        </p:nvSpPr>
        <p:spPr>
          <a:xfrm>
            <a:off x="548640" y="2971800"/>
            <a:ext cx="2567864" cy="1463040"/>
          </a:xfrm>
          <a:prstGeom prst="roundRect">
            <a:avLst>
              <a:gd name="adj" fmla="val 7500"/>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19" name="Text 17"/>
          <p:cNvSpPr txBox="1"/>
          <p:nvPr/>
        </p:nvSpPr>
        <p:spPr>
          <a:xfrm>
            <a:off x="777240" y="3200400"/>
            <a:ext cx="2110664" cy="1097280"/>
          </a:xfrm>
          <a:prstGeom prst="rect">
            <a:avLst/>
          </a:prstGeom>
          <a:noFill/>
          <a:ln/>
        </p:spPr>
        <p:txBody>
          <a:bodyPr wrap="square" lIns="0" tIns="0" rIns="0" bIns="0" rtlCol="0" anchor="t"/>
          <a:lstStyle/>
          <a:p>
            <a:pPr indent="0" marL="0">
              <a:spcAft>
                <a:spcPts val="400"/>
              </a:spcAft>
              <a:buNone/>
            </a:pPr>
            <a:r>
              <a:rPr lang="en-US" sz="1200" spc="150" kern="0" dirty="0">
                <a:solidFill>
                  <a:schemeClr val="tx1"/>
                </a:solidFill>
                <a:latin typeface="Raleway SemiBold" pitchFamily="34" charset="0"/>
                <a:ea typeface="Raleway SemiBold" pitchFamily="34" charset="-122"/>
                <a:cs typeface="Raleway SemiBold" pitchFamily="34" charset="-120"/>
              </a:rPr>
              <a:t>QUICK TO USE</a:t>
            </a:r>
            <a:endParaRPr lang="en-US" sz="1500" dirty="0"/>
          </a:p>
          <a:p>
            <a:pPr indent="0" marL="0">
              <a:spcAft>
                <a:spcPts val="400"/>
              </a:spcAft>
              <a:buNone/>
            </a:pPr>
            <a:r>
              <a:rPr lang="en-US" sz="600" dirty="0">
                <a:solidFill>
                  <a:schemeClr val="tx1"/>
                </a:solidFill>
              </a:rPr>
              <a:t> </a:t>
            </a:r>
            <a:endParaRPr lang="en-US" sz="1500" dirty="0"/>
          </a:p>
          <a:p>
            <a:pPr indent="0" marL="0">
              <a:spcAft>
                <a:spcPts val="400"/>
              </a:spcAft>
              <a:buNone/>
            </a:pPr>
            <a:r>
              <a:rPr lang="en-US" sz="1500" dirty="0">
                <a:solidFill>
                  <a:schemeClr val="tx1"/>
                </a:solidFill>
              </a:rPr>
              <a:t>Easy to start, easy to join.</a:t>
            </a:r>
            <a:endParaRPr lang="en-US" sz="1500" dirty="0"/>
          </a:p>
        </p:txBody>
      </p:sp>
      <p:sp>
        <p:nvSpPr>
          <p:cNvPr id="20" name="Card: OPTIONAL QUESTIONS"/>
          <p:cNvSpPr/>
          <p:nvPr/>
        </p:nvSpPr>
        <p:spPr>
          <a:xfrm>
            <a:off x="3390824" y="2971800"/>
            <a:ext cx="2567864" cy="1463040"/>
          </a:xfrm>
          <a:prstGeom prst="roundRect">
            <a:avLst>
              <a:gd name="adj" fmla="val 7500"/>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21" name="Text 19"/>
          <p:cNvSpPr txBox="1"/>
          <p:nvPr/>
        </p:nvSpPr>
        <p:spPr>
          <a:xfrm>
            <a:off x="3619424" y="3200400"/>
            <a:ext cx="2110664" cy="1097280"/>
          </a:xfrm>
          <a:prstGeom prst="rect">
            <a:avLst/>
          </a:prstGeom>
          <a:noFill/>
          <a:ln/>
        </p:spPr>
        <p:txBody>
          <a:bodyPr wrap="square" lIns="0" tIns="0" rIns="0" bIns="0" rtlCol="0" anchor="t"/>
          <a:lstStyle/>
          <a:p>
            <a:pPr indent="0" marL="0">
              <a:spcAft>
                <a:spcPts val="400"/>
              </a:spcAft>
              <a:buNone/>
            </a:pPr>
            <a:r>
              <a:rPr lang="en-US" sz="1200" spc="150" kern="0" dirty="0">
                <a:solidFill>
                  <a:schemeClr val="tx1"/>
                </a:solidFill>
                <a:latin typeface="Raleway SemiBold" pitchFamily="34" charset="0"/>
                <a:ea typeface="Raleway SemiBold" pitchFamily="34" charset="-122"/>
                <a:cs typeface="Raleway SemiBold" pitchFamily="34" charset="-120"/>
              </a:rPr>
              <a:t>OPTIONAL QUESTIONS</a:t>
            </a:r>
            <a:endParaRPr lang="en-US" sz="1500" dirty="0"/>
          </a:p>
          <a:p>
            <a:pPr indent="0" marL="0">
              <a:spcAft>
                <a:spcPts val="400"/>
              </a:spcAft>
              <a:buNone/>
            </a:pPr>
            <a:r>
              <a:rPr lang="en-US" sz="600" dirty="0">
                <a:solidFill>
                  <a:schemeClr val="tx1"/>
                </a:solidFill>
              </a:rPr>
              <a:t> </a:t>
            </a:r>
            <a:endParaRPr lang="en-US" sz="1500" dirty="0"/>
          </a:p>
          <a:p>
            <a:pPr indent="0" marL="0">
              <a:spcAft>
                <a:spcPts val="400"/>
              </a:spcAft>
              <a:buNone/>
            </a:pPr>
            <a:r>
              <a:rPr lang="en-US" sz="1500" dirty="0">
                <a:solidFill>
                  <a:schemeClr val="tx1"/>
                </a:solidFill>
              </a:rPr>
              <a:t>Visitors answer as much or as little as they like.</a:t>
            </a:r>
            <a:endParaRPr lang="en-US" sz="1500" dirty="0"/>
          </a:p>
        </p:txBody>
      </p:sp>
      <p:sp>
        <p:nvSpPr>
          <p:cNvPr id="22" name="Card: NO COMPULSORY TASTING"/>
          <p:cNvSpPr/>
          <p:nvPr/>
        </p:nvSpPr>
        <p:spPr>
          <a:xfrm>
            <a:off x="6233008" y="2971800"/>
            <a:ext cx="2567864" cy="1463040"/>
          </a:xfrm>
          <a:prstGeom prst="roundRect">
            <a:avLst>
              <a:gd name="adj" fmla="val 7500"/>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23" name="Text 21"/>
          <p:cNvSpPr txBox="1"/>
          <p:nvPr/>
        </p:nvSpPr>
        <p:spPr>
          <a:xfrm>
            <a:off x="6461608" y="3200400"/>
            <a:ext cx="2110664" cy="1097280"/>
          </a:xfrm>
          <a:prstGeom prst="rect">
            <a:avLst/>
          </a:prstGeom>
          <a:noFill/>
          <a:ln/>
        </p:spPr>
        <p:txBody>
          <a:bodyPr wrap="square" lIns="0" tIns="0" rIns="0" bIns="0" rtlCol="0" anchor="t"/>
          <a:lstStyle/>
          <a:p>
            <a:pPr indent="0" marL="0">
              <a:spcAft>
                <a:spcPts val="400"/>
              </a:spcAft>
              <a:buNone/>
            </a:pPr>
            <a:r>
              <a:rPr lang="en-US" sz="1200" spc="150" kern="0" dirty="0">
                <a:solidFill>
                  <a:schemeClr val="tx1"/>
                </a:solidFill>
                <a:latin typeface="Raleway SemiBold" pitchFamily="34" charset="0"/>
                <a:ea typeface="Raleway SemiBold" pitchFamily="34" charset="-122"/>
                <a:cs typeface="Raleway SemiBold" pitchFamily="34" charset="-120"/>
              </a:rPr>
              <a:t>NO COMPULSORY TASTING</a:t>
            </a:r>
            <a:endParaRPr lang="en-US" sz="1500" dirty="0"/>
          </a:p>
          <a:p>
            <a:pPr indent="0" marL="0">
              <a:spcAft>
                <a:spcPts val="400"/>
              </a:spcAft>
              <a:buNone/>
            </a:pPr>
            <a:r>
              <a:rPr lang="en-US" sz="600" dirty="0">
                <a:solidFill>
                  <a:schemeClr val="tx1"/>
                </a:solidFill>
              </a:rPr>
              <a:t> </a:t>
            </a:r>
            <a:endParaRPr lang="en-US" sz="1500" dirty="0"/>
          </a:p>
          <a:p>
            <a:pPr indent="0" marL="0">
              <a:spcAft>
                <a:spcPts val="400"/>
              </a:spcAft>
              <a:buNone/>
            </a:pPr>
            <a:r>
              <a:rPr lang="en-US" sz="1500" dirty="0">
                <a:solidFill>
                  <a:schemeClr val="tx1"/>
                </a:solidFill>
              </a:rPr>
              <a:t>Tasting is always optional.</a:t>
            </a:r>
            <a:endParaRPr lang="en-US" sz="1500" dirty="0"/>
          </a:p>
        </p:txBody>
      </p:sp>
      <p:sp>
        <p:nvSpPr>
          <p:cNvPr id="24" name="Card: TAILORED TO EACH EVENT"/>
          <p:cNvSpPr/>
          <p:nvPr/>
        </p:nvSpPr>
        <p:spPr>
          <a:xfrm>
            <a:off x="9075191" y="2971800"/>
            <a:ext cx="2567864" cy="1463040"/>
          </a:xfrm>
          <a:prstGeom prst="roundRect">
            <a:avLst>
              <a:gd name="adj" fmla="val 7500"/>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25" name="Text 23"/>
          <p:cNvSpPr txBox="1"/>
          <p:nvPr/>
        </p:nvSpPr>
        <p:spPr>
          <a:xfrm>
            <a:off x="9303791" y="3200400"/>
            <a:ext cx="2110664" cy="1097280"/>
          </a:xfrm>
          <a:prstGeom prst="rect">
            <a:avLst/>
          </a:prstGeom>
          <a:noFill/>
          <a:ln/>
        </p:spPr>
        <p:txBody>
          <a:bodyPr wrap="square" lIns="0" tIns="0" rIns="0" bIns="0" rtlCol="0" anchor="t"/>
          <a:lstStyle/>
          <a:p>
            <a:pPr indent="0" marL="0">
              <a:spcAft>
                <a:spcPts val="400"/>
              </a:spcAft>
              <a:buNone/>
            </a:pPr>
            <a:r>
              <a:rPr lang="en-US" sz="1200" spc="150" kern="0" dirty="0">
                <a:solidFill>
                  <a:schemeClr val="tx1"/>
                </a:solidFill>
                <a:latin typeface="Raleway SemiBold" pitchFamily="34" charset="0"/>
                <a:ea typeface="Raleway SemiBold" pitchFamily="34" charset="-122"/>
                <a:cs typeface="Raleway SemiBold" pitchFamily="34" charset="-120"/>
              </a:rPr>
              <a:t>TAILORED TO EACH EVENT</a:t>
            </a:r>
            <a:endParaRPr lang="en-US" sz="1500" dirty="0"/>
          </a:p>
          <a:p>
            <a:pPr indent="0" marL="0">
              <a:spcAft>
                <a:spcPts val="400"/>
              </a:spcAft>
              <a:buNone/>
            </a:pPr>
            <a:r>
              <a:rPr lang="en-US" sz="600" dirty="0">
                <a:solidFill>
                  <a:schemeClr val="tx1"/>
                </a:solidFill>
              </a:rPr>
              <a:t> </a:t>
            </a:r>
            <a:endParaRPr lang="en-US" sz="1500" dirty="0"/>
          </a:p>
          <a:p>
            <a:pPr indent="0" marL="0">
              <a:spcAft>
                <a:spcPts val="400"/>
              </a:spcAft>
              <a:buNone/>
            </a:pPr>
            <a:r>
              <a:rPr lang="en-US" sz="1500" dirty="0">
                <a:solidFill>
                  <a:schemeClr val="tx1"/>
                </a:solidFill>
              </a:rPr>
              <a:t>Adds to the day itself, and helps visitors remember it.</a:t>
            </a:r>
            <a:endParaRPr lang="en-US" sz="1500" dirty="0"/>
          </a:p>
        </p:txBody>
      </p:sp>
      <p:sp>
        <p:nvSpPr>
          <p:cNvPr id="26" name="Image placeholder"/>
          <p:cNvSpPr/>
          <p:nvPr/>
        </p:nvSpPr>
        <p:spPr>
          <a:xfrm>
            <a:off x="548640" y="4663440"/>
            <a:ext cx="11094415" cy="1280160"/>
          </a:xfrm>
          <a:prstGeom prst="roundRect">
            <a:avLst>
              <a:gd name="adj" fmla="val 8571"/>
            </a:avLst>
          </a:prstGeom>
          <a:solidFill>
            <a:schemeClr val="accent3"/>
          </a:solidFill>
          <a:ln w="12700">
            <a:solidFill>
              <a:schemeClr val="tx1"/>
            </a:solidFill>
            <a:prstDash val="dash"/>
          </a:ln>
        </p:spPr>
      </p:sp>
      <p:sp>
        <p:nvSpPr>
          <p:cNvPr id="27" name="Text 25"/>
          <p:cNvSpPr txBox="1"/>
          <p:nvPr/>
        </p:nvSpPr>
        <p:spPr>
          <a:xfrm>
            <a:off x="822960" y="4663440"/>
            <a:ext cx="10545775" cy="1280160"/>
          </a:xfrm>
          <a:prstGeom prst="rect">
            <a:avLst/>
          </a:prstGeom>
          <a:noFill/>
          <a:ln/>
        </p:spPr>
        <p:txBody>
          <a:bodyPr wrap="square" lIns="0" tIns="0" rIns="0" bIns="0" rtlCol="0" anchor="ctr"/>
          <a:lstStyle/>
          <a:p>
            <a:pPr algn="ctr" indent="0" marL="0">
              <a:spcAft>
                <a:spcPts val="400"/>
              </a:spcAft>
              <a:buNone/>
            </a:pPr>
            <a:r>
              <a:rPr lang="en-US" sz="1400" dirty="0">
                <a:solidFill>
                  <a:schemeClr val="tx1"/>
                </a:solidFill>
                <a:latin typeface="Raleway SemiBold" pitchFamily="34" charset="0"/>
                <a:ea typeface="Raleway SemiBold" pitchFamily="34" charset="-122"/>
                <a:cs typeface="Raleway SemiBold" pitchFamily="34" charset="-120"/>
              </a:rPr>
              <a:t>Journey screens or photos — to add</a:t>
            </a:r>
            <a:endParaRPr lang="en-US" sz="1400" dirty="0"/>
          </a:p>
        </p:txBody>
      </p:sp>
      <p:sp>
        <p:nvSpPr>
          <p:cNvPr id="25" name="Slide Number Placeholder 0"/>
          <p:cNvSpPr>
            <a:spLocks noGrp="1"/>
          </p:cNvSpPr>
          <p:nvPr>
            <p:ph type="sldNum" sz="quarter" idx="4294967295"/>
          </p:nvPr>
        </p:nvSpPr>
        <p:spPr>
          <a:xfrm>
            <a:off x="10180015"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latin typeface="Raleway Light"/>
                <a:ea typeface="Raleway Light"/>
                <a:cs typeface="Raleway Light"/>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8138160" cy="685800"/>
          </a:xfrm>
          <a:prstGeom prst="rect">
            <a:avLst/>
          </a:prstGeom>
          <a:noFill/>
          <a:ln/>
        </p:spPr>
        <p:txBody>
          <a:bodyPr wrap="square" lIns="0" tIns="0" rIns="0" bIns="0" rtlCol="0" anchor="t"/>
          <a:lstStyle/>
          <a:p>
            <a:pPr algn="l" indent="0" marL="0">
              <a:buNone/>
            </a:pPr>
            <a:r>
              <a:rPr lang="en-US" sz="3600" dirty="0">
                <a:solidFill>
                  <a:schemeClr val="tx1"/>
                </a:solidFill>
                <a:latin typeface="Raleway Light" pitchFamily="34" charset="0"/>
                <a:ea typeface="Raleway Light" pitchFamily="34" charset="-122"/>
                <a:cs typeface="Raleway Light" pitchFamily="34" charset="-120"/>
              </a:rPr>
              <a:t>The Entre Amis table</a:t>
            </a:r>
            <a:endParaRPr lang="en-US" sz="3600" dirty="0"/>
          </a:p>
        </p:txBody>
      </p:sp>
      <p:sp>
        <p:nvSpPr>
          <p:cNvPr id="3" name="Text 1"/>
          <p:cNvSpPr/>
          <p:nvPr>
            <p:ph idx="103" type="body" hasCustomPrompt="1"/>
          </p:nvPr>
        </p:nvSpPr>
        <p:spPr>
          <a:xfrm>
            <a:off x="548640" y="1115568"/>
            <a:ext cx="11094415" cy="411480"/>
          </a:xfrm>
          <a:prstGeom prst="rect">
            <a:avLst/>
          </a:prstGeom>
          <a:noFill/>
          <a:ln/>
        </p:spPr>
        <p:txBody>
          <a:bodyPr wrap="square" lIns="0" tIns="0" rIns="0" bIns="0" rtlCol="0" anchor="t"/>
          <a:lstStyle/>
          <a:p>
            <a:pPr algn="l" indent="0" marL="0">
              <a:buNone/>
            </a:pPr>
            <a:r>
              <a:rPr lang="en-US" sz="1800" dirty="0">
                <a:solidFill>
                  <a:schemeClr val="tx1"/>
                </a:solidFill>
                <a:latin typeface="Raleway Light" pitchFamily="34" charset="0"/>
                <a:ea typeface="Raleway Light" pitchFamily="34" charset="-122"/>
                <a:cs typeface="Raleway Light" pitchFamily="34" charset="-120"/>
              </a:rPr>
              <a:t>An invitation to experience the brand, never a sales stand.</a:t>
            </a:r>
            <a:endParaRPr lang="en-US" sz="1800" dirty="0"/>
          </a:p>
        </p:txBody>
      </p:sp>
      <p:sp>
        <p:nvSpPr>
          <p:cNvPr id="4" name="Expression marker: EVENT MODE"/>
          <p:cNvSpPr txBox="1"/>
          <p:nvPr/>
        </p:nvSpPr>
        <p:spPr>
          <a:xfrm>
            <a:off x="9265615" y="457200"/>
            <a:ext cx="2377440" cy="384048"/>
          </a:xfrm>
          <a:prstGeom prst="roundRect">
            <a:avLst>
              <a:gd name="adj" fmla="val 50000"/>
            </a:avLst>
          </a:prstGeom>
          <a:solidFill>
            <a:schemeClr val="accent4"/>
          </a:solidFill>
          <a:ln/>
        </p:spPr>
        <p:txBody>
          <a:bodyPr wrap="square" lIns="0" tIns="0" rIns="0" bIns="0" rtlCol="0" anchor="ctr"/>
          <a:lstStyle/>
          <a:p>
            <a:pPr algn="ctr" indent="0" marL="0">
              <a:buNone/>
            </a:pPr>
            <a:r>
              <a:rPr lang="en-US" sz="1400" spc="150" kern="0" dirty="0">
                <a:solidFill>
                  <a:schemeClr val="tx1"/>
                </a:solidFill>
                <a:latin typeface="Raleway SemiBold" pitchFamily="34" charset="0"/>
                <a:ea typeface="Raleway SemiBold" pitchFamily="34" charset="-122"/>
                <a:cs typeface="Raleway SemiBold" pitchFamily="34" charset="-120"/>
              </a:rPr>
              <a:t>EVENT MODE</a:t>
            </a:r>
            <a:endParaRPr lang="en-US" sz="1400" dirty="0"/>
          </a:p>
        </p:txBody>
      </p:sp>
      <p:sp>
        <p:nvSpPr>
          <p:cNvPr id="5" name="Image placeholder"/>
          <p:cNvSpPr/>
          <p:nvPr/>
        </p:nvSpPr>
        <p:spPr>
          <a:xfrm>
            <a:off x="548640" y="1783080"/>
            <a:ext cx="4206240" cy="3931920"/>
          </a:xfrm>
          <a:prstGeom prst="roundRect">
            <a:avLst>
              <a:gd name="adj" fmla="val 2791"/>
            </a:avLst>
          </a:prstGeom>
          <a:solidFill>
            <a:schemeClr val="accent3"/>
          </a:solidFill>
          <a:ln w="12700">
            <a:solidFill>
              <a:schemeClr val="tx1"/>
            </a:solidFill>
            <a:prstDash val="dash"/>
          </a:ln>
        </p:spPr>
      </p:sp>
      <p:sp>
        <p:nvSpPr>
          <p:cNvPr id="6" name="Text 4"/>
          <p:cNvSpPr txBox="1"/>
          <p:nvPr/>
        </p:nvSpPr>
        <p:spPr>
          <a:xfrm>
            <a:off x="822960" y="1783080"/>
            <a:ext cx="3657600" cy="3931920"/>
          </a:xfrm>
          <a:prstGeom prst="rect">
            <a:avLst/>
          </a:prstGeom>
          <a:noFill/>
          <a:ln/>
        </p:spPr>
        <p:txBody>
          <a:bodyPr wrap="square" lIns="0" tIns="0" rIns="0" bIns="0" rtlCol="0" anchor="ctr"/>
          <a:lstStyle/>
          <a:p>
            <a:pPr algn="ctr" indent="0" marL="0">
              <a:spcAft>
                <a:spcPts val="400"/>
              </a:spcAft>
              <a:buNone/>
            </a:pPr>
            <a:r>
              <a:rPr lang="en-US" sz="1400" dirty="0">
                <a:solidFill>
                  <a:schemeClr val="tx1"/>
                </a:solidFill>
                <a:latin typeface="Raleway SemiBold" pitchFamily="34" charset="0"/>
                <a:ea typeface="Raleway SemiBold" pitchFamily="34" charset="-122"/>
                <a:cs typeface="Raleway SemiBold" pitchFamily="34" charset="-120"/>
              </a:rPr>
              <a:t>Photo of an Entre Amis table — to add</a:t>
            </a:r>
            <a:endParaRPr lang="en-US" sz="1400" dirty="0"/>
          </a:p>
        </p:txBody>
      </p:sp>
      <p:sp>
        <p:nvSpPr>
          <p:cNvPr id="7" name="Table: THE SETTING"/>
          <p:cNvSpPr/>
          <p:nvPr/>
        </p:nvSpPr>
        <p:spPr>
          <a:xfrm>
            <a:off x="5029200" y="1783080"/>
            <a:ext cx="6613855" cy="914400"/>
          </a:xfrm>
          <a:prstGeom prst="roundRect">
            <a:avLst>
              <a:gd name="adj" fmla="val 12000"/>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8" name="Text 6"/>
          <p:cNvSpPr txBox="1"/>
          <p:nvPr/>
        </p:nvSpPr>
        <p:spPr>
          <a:xfrm>
            <a:off x="5303520" y="1783080"/>
            <a:ext cx="1920240" cy="914400"/>
          </a:xfrm>
          <a:prstGeom prst="rect">
            <a:avLst/>
          </a:prstGeom>
          <a:noFill/>
          <a:ln/>
        </p:spPr>
        <p:txBody>
          <a:bodyPr wrap="square" lIns="0" tIns="0" rIns="0" bIns="0" rtlCol="0" anchor="ctr"/>
          <a:lstStyle/>
          <a:p>
            <a:pPr indent="0" marL="0">
              <a:spcAft>
                <a:spcPts val="400"/>
              </a:spcAft>
              <a:buNone/>
            </a:pPr>
            <a:r>
              <a:rPr lang="en-US" sz="1300" spc="150" kern="0" dirty="0">
                <a:solidFill>
                  <a:schemeClr val="tx1"/>
                </a:solidFill>
                <a:latin typeface="Raleway SemiBold" pitchFamily="34" charset="0"/>
                <a:ea typeface="Raleway SemiBold" pitchFamily="34" charset="-122"/>
                <a:cs typeface="Raleway SemiBold" pitchFamily="34" charset="-120"/>
              </a:rPr>
              <a:t>THE SETTING</a:t>
            </a:r>
            <a:endParaRPr lang="en-US" sz="1300" dirty="0"/>
          </a:p>
        </p:txBody>
      </p:sp>
      <p:sp>
        <p:nvSpPr>
          <p:cNvPr id="9" name="Text 7"/>
          <p:cNvSpPr txBox="1"/>
          <p:nvPr/>
        </p:nvSpPr>
        <p:spPr>
          <a:xfrm>
            <a:off x="7315200" y="1783080"/>
            <a:ext cx="4053535" cy="914400"/>
          </a:xfrm>
          <a:prstGeom prst="rect">
            <a:avLst/>
          </a:prstGeom>
          <a:noFill/>
          <a:ln/>
        </p:spPr>
        <p:txBody>
          <a:bodyPr wrap="square" lIns="0" tIns="0" rIns="0" bIns="0" rtlCol="0" anchor="ctr"/>
          <a:lstStyle/>
          <a:p>
            <a:pPr indent="0" marL="0">
              <a:spcAft>
                <a:spcPts val="400"/>
              </a:spcAft>
              <a:buNone/>
            </a:pPr>
            <a:r>
              <a:rPr lang="en-US" sz="1400" dirty="0">
                <a:solidFill>
                  <a:schemeClr val="tx1"/>
                </a:solidFill>
              </a:rPr>
              <a:t>A beautifully dressed dining table, comfortable chairs and tactile details, with the game and crown naturally in place.</a:t>
            </a:r>
            <a:endParaRPr lang="en-US" sz="1400" dirty="0"/>
          </a:p>
        </p:txBody>
      </p:sp>
      <p:sp>
        <p:nvSpPr>
          <p:cNvPr id="10" name="Table: THE EXPERIENCE"/>
          <p:cNvSpPr/>
          <p:nvPr/>
        </p:nvSpPr>
        <p:spPr>
          <a:xfrm>
            <a:off x="5029200" y="2834640"/>
            <a:ext cx="6613855" cy="914400"/>
          </a:xfrm>
          <a:prstGeom prst="roundRect">
            <a:avLst>
              <a:gd name="adj" fmla="val 12000"/>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11" name="Text 9"/>
          <p:cNvSpPr txBox="1"/>
          <p:nvPr/>
        </p:nvSpPr>
        <p:spPr>
          <a:xfrm>
            <a:off x="5303520" y="2834640"/>
            <a:ext cx="1920240" cy="914400"/>
          </a:xfrm>
          <a:prstGeom prst="rect">
            <a:avLst/>
          </a:prstGeom>
          <a:noFill/>
          <a:ln/>
        </p:spPr>
        <p:txBody>
          <a:bodyPr wrap="square" lIns="0" tIns="0" rIns="0" bIns="0" rtlCol="0" anchor="ctr"/>
          <a:lstStyle/>
          <a:p>
            <a:pPr indent="0" marL="0">
              <a:spcAft>
                <a:spcPts val="400"/>
              </a:spcAft>
              <a:buNone/>
            </a:pPr>
            <a:r>
              <a:rPr lang="en-US" sz="1300" spc="150" kern="0" dirty="0">
                <a:solidFill>
                  <a:schemeClr val="tx1"/>
                </a:solidFill>
                <a:latin typeface="Raleway SemiBold" pitchFamily="34" charset="0"/>
                <a:ea typeface="Raleway SemiBold" pitchFamily="34" charset="-122"/>
                <a:cs typeface="Raleway SemiBold" pitchFamily="34" charset="-120"/>
              </a:rPr>
              <a:t>THE EXPERIENCE</a:t>
            </a:r>
            <a:endParaRPr lang="en-US" sz="1300" dirty="0"/>
          </a:p>
        </p:txBody>
      </p:sp>
      <p:sp>
        <p:nvSpPr>
          <p:cNvPr id="12" name="Text 10"/>
          <p:cNvSpPr txBox="1"/>
          <p:nvPr/>
        </p:nvSpPr>
        <p:spPr>
          <a:xfrm>
            <a:off x="7315200" y="2834640"/>
            <a:ext cx="4053535" cy="914400"/>
          </a:xfrm>
          <a:prstGeom prst="rect">
            <a:avLst/>
          </a:prstGeom>
          <a:noFill/>
          <a:ln/>
        </p:spPr>
        <p:txBody>
          <a:bodyPr wrap="square" lIns="0" tIns="0" rIns="0" bIns="0" rtlCol="0" anchor="ctr"/>
          <a:lstStyle/>
          <a:p>
            <a:pPr indent="0" marL="0">
              <a:spcAft>
                <a:spcPts val="400"/>
              </a:spcAft>
              <a:buNone/>
            </a:pPr>
            <a:r>
              <a:rPr lang="en-US" sz="1400" dirty="0">
                <a:solidFill>
                  <a:schemeClr val="tx1"/>
                </a:solidFill>
              </a:rPr>
              <a:t>Short hosted conversations, tasting prompts and playful challenges. Demonstrations, never a hard sell.</a:t>
            </a:r>
            <a:endParaRPr lang="en-US" sz="1400" dirty="0"/>
          </a:p>
        </p:txBody>
      </p:sp>
      <p:sp>
        <p:nvSpPr>
          <p:cNvPr id="13" name="Table: THE CONNECTION"/>
          <p:cNvSpPr/>
          <p:nvPr/>
        </p:nvSpPr>
        <p:spPr>
          <a:xfrm>
            <a:off x="5029200" y="3886200"/>
            <a:ext cx="6613855" cy="914400"/>
          </a:xfrm>
          <a:prstGeom prst="roundRect">
            <a:avLst>
              <a:gd name="adj" fmla="val 12000"/>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14" name="Text 12"/>
          <p:cNvSpPr txBox="1"/>
          <p:nvPr/>
        </p:nvSpPr>
        <p:spPr>
          <a:xfrm>
            <a:off x="5303520" y="3886200"/>
            <a:ext cx="1920240" cy="914400"/>
          </a:xfrm>
          <a:prstGeom prst="rect">
            <a:avLst/>
          </a:prstGeom>
          <a:noFill/>
          <a:ln/>
        </p:spPr>
        <p:txBody>
          <a:bodyPr wrap="square" lIns="0" tIns="0" rIns="0" bIns="0" rtlCol="0" anchor="ctr"/>
          <a:lstStyle/>
          <a:p>
            <a:pPr indent="0" marL="0">
              <a:spcAft>
                <a:spcPts val="400"/>
              </a:spcAft>
              <a:buNone/>
            </a:pPr>
            <a:r>
              <a:rPr lang="en-US" sz="1300" spc="150" kern="0" dirty="0">
                <a:solidFill>
                  <a:schemeClr val="tx1"/>
                </a:solidFill>
                <a:latin typeface="Raleway SemiBold" pitchFamily="34" charset="0"/>
                <a:ea typeface="Raleway SemiBold" pitchFamily="34" charset="-122"/>
                <a:cs typeface="Raleway SemiBold" pitchFamily="34" charset="-120"/>
              </a:rPr>
              <a:t>THE CONNECTION</a:t>
            </a:r>
            <a:endParaRPr lang="en-US" sz="1300" dirty="0"/>
          </a:p>
        </p:txBody>
      </p:sp>
      <p:sp>
        <p:nvSpPr>
          <p:cNvPr id="15" name="Text 13"/>
          <p:cNvSpPr txBox="1"/>
          <p:nvPr/>
        </p:nvSpPr>
        <p:spPr>
          <a:xfrm>
            <a:off x="7315200" y="3886200"/>
            <a:ext cx="4053535" cy="914400"/>
          </a:xfrm>
          <a:prstGeom prst="rect">
            <a:avLst/>
          </a:prstGeom>
          <a:noFill/>
          <a:ln/>
        </p:spPr>
        <p:txBody>
          <a:bodyPr wrap="square" lIns="0" tIns="0" rIns="0" bIns="0" rtlCol="0" anchor="ctr"/>
          <a:lstStyle/>
          <a:p>
            <a:pPr indent="0" marL="0">
              <a:spcAft>
                <a:spcPts val="400"/>
              </a:spcAft>
              <a:buNone/>
            </a:pPr>
            <a:r>
              <a:rPr lang="en-US" sz="1400" dirty="0">
                <a:solidFill>
                  <a:schemeClr val="tx1"/>
                </a:solidFill>
              </a:rPr>
              <a:t>Optional event-screen moments and content. Being there in person supports the visitor experience on the phone.</a:t>
            </a:r>
            <a:endParaRPr lang="en-US" sz="1400" dirty="0"/>
          </a:p>
        </p:txBody>
      </p:sp>
      <p:sp>
        <p:nvSpPr>
          <p:cNvPr id="16" name="FLAG — delete before sharing"/>
          <p:cNvSpPr txBox="1"/>
          <p:nvPr/>
        </p:nvSpPr>
        <p:spPr>
          <a:xfrm>
            <a:off x="5029200" y="4983480"/>
            <a:ext cx="6613855" cy="731520"/>
          </a:xfrm>
          <a:prstGeom prst="rect">
            <a:avLst/>
          </a:prstGeom>
          <a:solidFill>
            <a:schemeClr val="bg1"/>
          </a:solidFill>
          <a:ln w="25400">
            <a:solidFill>
              <a:schemeClr val="accent4"/>
            </a:solidFill>
          </a:ln>
        </p:spPr>
        <p:txBody>
          <a:bodyPr wrap="square" lIns="38100" tIns="76200" rIns="76200" bIns="38100" rtlCol="0" anchor="ctr"/>
          <a:lstStyle/>
          <a:p>
            <a:pPr indent="0" marL="0">
              <a:buNone/>
            </a:pPr>
            <a:r>
              <a:rPr lang="en-US" sz="1000" dirty="0">
                <a:solidFill>
                  <a:schemeClr val="tx1"/>
                </a:solidFill>
                <a:latin typeface="Raleway SemiBold" pitchFamily="34" charset="0"/>
                <a:ea typeface="Raleway SemiBold" pitchFamily="34" charset="-122"/>
                <a:cs typeface="Raleway SemiBold" pitchFamily="34" charset="-120"/>
              </a:rPr>
              <a:t>TO DECIDE  </a:t>
            </a:r>
            <a:pPr indent="0" marL="0">
              <a:buNone/>
            </a:pPr>
            <a:r>
              <a:rPr lang="en-US" sz="1000" dirty="0">
                <a:solidFill>
                  <a:schemeClr val="tx1"/>
                </a:solidFill>
              </a:rPr>
              <a:t>'Staffing, furniture, transport, setup and operational support must be covered by the agreed event fee.' Suggest this goes in the proposal, not the pack.</a:t>
            </a:r>
            <a:endParaRPr lang="en-US" sz="1000" dirty="0"/>
          </a:p>
        </p:txBody>
      </p:sp>
      <p:sp>
        <p:nvSpPr>
          <p:cNvPr id="25" name="Slide Number Placeholder 0"/>
          <p:cNvSpPr>
            <a:spLocks noGrp="1"/>
          </p:cNvSpPr>
          <p:nvPr>
            <p:ph type="sldNum" sz="quarter" idx="4294967295"/>
          </p:nvPr>
        </p:nvSpPr>
        <p:spPr>
          <a:xfrm>
            <a:off x="10180015"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latin typeface="Raleway Light"/>
                <a:ea typeface="Raleway Light"/>
                <a:cs typeface="Raleway Light"/>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8138160" cy="685800"/>
          </a:xfrm>
          <a:prstGeom prst="rect">
            <a:avLst/>
          </a:prstGeom>
          <a:noFill/>
          <a:ln/>
        </p:spPr>
        <p:txBody>
          <a:bodyPr wrap="square" lIns="0" tIns="0" rIns="0" bIns="0" rtlCol="0" anchor="t"/>
          <a:lstStyle/>
          <a:p>
            <a:pPr algn="l" indent="0" marL="0">
              <a:buNone/>
            </a:pPr>
            <a:r>
              <a:rPr lang="en-US" sz="3600" dirty="0">
                <a:solidFill>
                  <a:schemeClr val="tx1"/>
                </a:solidFill>
                <a:latin typeface="Raleway Light" pitchFamily="34" charset="0"/>
                <a:ea typeface="Raleway Light" pitchFamily="34" charset="-122"/>
                <a:cs typeface="Raleway Light" pitchFamily="34" charset="-120"/>
              </a:rPr>
              <a:t>The organiser's opportunity</a:t>
            </a:r>
            <a:endParaRPr lang="en-US" sz="3600" dirty="0"/>
          </a:p>
        </p:txBody>
      </p:sp>
      <p:sp>
        <p:nvSpPr>
          <p:cNvPr id="3" name="Text 1"/>
          <p:cNvSpPr/>
          <p:nvPr>
            <p:ph idx="103" type="body" hasCustomPrompt="1"/>
          </p:nvPr>
        </p:nvSpPr>
        <p:spPr>
          <a:xfrm>
            <a:off x="548640" y="1115568"/>
            <a:ext cx="11094415" cy="411480"/>
          </a:xfrm>
          <a:prstGeom prst="rect">
            <a:avLst/>
          </a:prstGeom>
          <a:noFill/>
          <a:ln/>
        </p:spPr>
        <p:txBody>
          <a:bodyPr wrap="square" lIns="0" tIns="0" rIns="0" bIns="0" rtlCol="0" anchor="t"/>
          <a:lstStyle/>
          <a:p>
            <a:pPr algn="l" indent="0" marL="0">
              <a:buNone/>
            </a:pPr>
            <a:r>
              <a:rPr lang="en-US" sz="1800" dirty="0">
                <a:solidFill>
                  <a:schemeClr val="tx1"/>
                </a:solidFill>
                <a:latin typeface="Raleway Light" pitchFamily="34" charset="0"/>
                <a:ea typeface="Raleway Light" pitchFamily="34" charset="-122"/>
                <a:cs typeface="Raleway Light" pitchFamily="34" charset="-120"/>
              </a:rPr>
              <a:t>Experiences, relationships and understanding.</a:t>
            </a:r>
            <a:endParaRPr lang="en-US" sz="1800" dirty="0"/>
          </a:p>
        </p:txBody>
      </p:sp>
      <p:sp>
        <p:nvSpPr>
          <p:cNvPr id="4" name="Expression marker: EVENT MODE"/>
          <p:cNvSpPr txBox="1"/>
          <p:nvPr/>
        </p:nvSpPr>
        <p:spPr>
          <a:xfrm>
            <a:off x="9265615" y="457200"/>
            <a:ext cx="2377440" cy="384048"/>
          </a:xfrm>
          <a:prstGeom prst="roundRect">
            <a:avLst>
              <a:gd name="adj" fmla="val 50000"/>
            </a:avLst>
          </a:prstGeom>
          <a:solidFill>
            <a:schemeClr val="accent4"/>
          </a:solidFill>
          <a:ln/>
        </p:spPr>
        <p:txBody>
          <a:bodyPr wrap="square" lIns="0" tIns="0" rIns="0" bIns="0" rtlCol="0" anchor="ctr"/>
          <a:lstStyle/>
          <a:p>
            <a:pPr algn="ctr" indent="0" marL="0">
              <a:buNone/>
            </a:pPr>
            <a:r>
              <a:rPr lang="en-US" sz="1400" spc="150" kern="0" dirty="0">
                <a:solidFill>
                  <a:schemeClr val="tx1"/>
                </a:solidFill>
                <a:latin typeface="Raleway SemiBold" pitchFamily="34" charset="0"/>
                <a:ea typeface="Raleway SemiBold" pitchFamily="34" charset="-122"/>
                <a:cs typeface="Raleway SemiBold" pitchFamily="34" charset="-120"/>
              </a:rPr>
              <a:t>EVENT MODE</a:t>
            </a:r>
            <a:endParaRPr lang="en-US" sz="1400" dirty="0"/>
          </a:p>
        </p:txBody>
      </p:sp>
      <p:sp>
        <p:nvSpPr>
          <p:cNvPr id="5" name="Card: RICHER EXPERIENCES"/>
          <p:cNvSpPr/>
          <p:nvPr/>
        </p:nvSpPr>
        <p:spPr>
          <a:xfrm>
            <a:off x="548640" y="1783080"/>
            <a:ext cx="3515258" cy="2331720"/>
          </a:xfrm>
          <a:prstGeom prst="roundRect">
            <a:avLst>
              <a:gd name="adj" fmla="val 4706"/>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6" name="Text 4"/>
          <p:cNvSpPr txBox="1"/>
          <p:nvPr/>
        </p:nvSpPr>
        <p:spPr>
          <a:xfrm>
            <a:off x="777240" y="2011680"/>
            <a:ext cx="3058058" cy="1965960"/>
          </a:xfrm>
          <a:prstGeom prst="rect">
            <a:avLst/>
          </a:prstGeom>
          <a:noFill/>
          <a:ln/>
        </p:spPr>
        <p:txBody>
          <a:bodyPr wrap="square" lIns="0" tIns="0" rIns="0" bIns="0" rtlCol="0" anchor="t"/>
          <a:lstStyle/>
          <a:p>
            <a:pPr indent="0" marL="0">
              <a:spcAft>
                <a:spcPts val="400"/>
              </a:spcAft>
              <a:buNone/>
            </a:pPr>
            <a:r>
              <a:rPr lang="en-US" sz="1200" spc="150" kern="0" dirty="0">
                <a:solidFill>
                  <a:schemeClr val="tx1"/>
                </a:solidFill>
                <a:latin typeface="Raleway SemiBold" pitchFamily="34" charset="0"/>
                <a:ea typeface="Raleway SemiBold" pitchFamily="34" charset="-122"/>
                <a:cs typeface="Raleway SemiBold" pitchFamily="34" charset="-120"/>
              </a:rPr>
              <a:t>RICHER EXPERIENCES</a:t>
            </a:r>
            <a:endParaRPr lang="en-US" sz="1500" dirty="0"/>
          </a:p>
          <a:p>
            <a:pPr indent="0" marL="0">
              <a:spcAft>
                <a:spcPts val="400"/>
              </a:spcAft>
              <a:buNone/>
            </a:pPr>
            <a:r>
              <a:rPr lang="en-US" sz="600" dirty="0">
                <a:solidFill>
                  <a:schemeClr val="tx1"/>
                </a:solidFill>
              </a:rPr>
              <a:t> </a:t>
            </a:r>
            <a:endParaRPr lang="en-US" sz="1500" dirty="0"/>
          </a:p>
          <a:p>
            <a:pPr indent="0" marL="0">
              <a:spcAft>
                <a:spcPts val="400"/>
              </a:spcAft>
              <a:buNone/>
            </a:pPr>
            <a:r>
              <a:rPr lang="en-US" sz="1500" dirty="0">
                <a:solidFill>
                  <a:schemeClr val="tx1"/>
                </a:solidFill>
              </a:rPr>
              <a:t>Visitors take part, learn and remember. Producer videos and stories gain a useful home.</a:t>
            </a:r>
            <a:endParaRPr lang="en-US" sz="1500" dirty="0"/>
          </a:p>
        </p:txBody>
      </p:sp>
      <p:sp>
        <p:nvSpPr>
          <p:cNvPr id="7" name="Card: CLOSER RELATIONSHIPS"/>
          <p:cNvSpPr/>
          <p:nvPr/>
        </p:nvSpPr>
        <p:spPr>
          <a:xfrm>
            <a:off x="4338218" y="1783080"/>
            <a:ext cx="3515258" cy="2331720"/>
          </a:xfrm>
          <a:prstGeom prst="roundRect">
            <a:avLst>
              <a:gd name="adj" fmla="val 4706"/>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8" name="Text 6"/>
          <p:cNvSpPr txBox="1"/>
          <p:nvPr/>
        </p:nvSpPr>
        <p:spPr>
          <a:xfrm>
            <a:off x="4566818" y="2011680"/>
            <a:ext cx="3058058" cy="1965960"/>
          </a:xfrm>
          <a:prstGeom prst="rect">
            <a:avLst/>
          </a:prstGeom>
          <a:noFill/>
          <a:ln/>
        </p:spPr>
        <p:txBody>
          <a:bodyPr wrap="square" lIns="0" tIns="0" rIns="0" bIns="0" rtlCol="0" anchor="t"/>
          <a:lstStyle/>
          <a:p>
            <a:pPr indent="0" marL="0">
              <a:spcAft>
                <a:spcPts val="400"/>
              </a:spcAft>
              <a:buNone/>
            </a:pPr>
            <a:r>
              <a:rPr lang="en-US" sz="1200" spc="150" kern="0" dirty="0">
                <a:solidFill>
                  <a:schemeClr val="tx1"/>
                </a:solidFill>
                <a:latin typeface="Raleway SemiBold" pitchFamily="34" charset="0"/>
                <a:ea typeface="Raleway SemiBold" pitchFamily="34" charset="-122"/>
                <a:cs typeface="Raleway SemiBold" pitchFamily="34" charset="-120"/>
              </a:rPr>
              <a:t>CLOSER RELATIONSHIPS</a:t>
            </a:r>
            <a:endParaRPr lang="en-US" sz="1500" dirty="0"/>
          </a:p>
          <a:p>
            <a:pPr indent="0" marL="0">
              <a:spcAft>
                <a:spcPts val="400"/>
              </a:spcAft>
              <a:buNone/>
            </a:pPr>
            <a:r>
              <a:rPr lang="en-US" sz="600" dirty="0">
                <a:solidFill>
                  <a:schemeClr val="tx1"/>
                </a:solidFill>
              </a:rPr>
              <a:t> </a:t>
            </a:r>
            <a:endParaRPr lang="en-US" sz="1500" dirty="0"/>
          </a:p>
          <a:p>
            <a:pPr indent="0" marL="0">
              <a:spcAft>
                <a:spcPts val="400"/>
              </a:spcAft>
              <a:buNone/>
            </a:pPr>
            <a:r>
              <a:rPr lang="en-US" sz="1500" dirty="0">
                <a:solidFill>
                  <a:schemeClr val="tx1"/>
                </a:solidFill>
              </a:rPr>
              <a:t>One person may buy eight tickets. Taking part individually can help you reach the other attendees, only with their clear permission.</a:t>
            </a:r>
            <a:endParaRPr lang="en-US" sz="1500" dirty="0"/>
          </a:p>
        </p:txBody>
      </p:sp>
      <p:sp>
        <p:nvSpPr>
          <p:cNvPr id="9" name="Card: WHAT VISITORS THINK"/>
          <p:cNvSpPr/>
          <p:nvPr/>
        </p:nvSpPr>
        <p:spPr>
          <a:xfrm>
            <a:off x="8127797" y="1783080"/>
            <a:ext cx="3515258" cy="2331720"/>
          </a:xfrm>
          <a:prstGeom prst="roundRect">
            <a:avLst>
              <a:gd name="adj" fmla="val 4706"/>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10" name="Text 8"/>
          <p:cNvSpPr txBox="1"/>
          <p:nvPr/>
        </p:nvSpPr>
        <p:spPr>
          <a:xfrm>
            <a:off x="8356397" y="2011680"/>
            <a:ext cx="3058058" cy="1965960"/>
          </a:xfrm>
          <a:prstGeom prst="rect">
            <a:avLst/>
          </a:prstGeom>
          <a:noFill/>
          <a:ln/>
        </p:spPr>
        <p:txBody>
          <a:bodyPr wrap="square" lIns="0" tIns="0" rIns="0" bIns="0" rtlCol="0" anchor="t"/>
          <a:lstStyle/>
          <a:p>
            <a:pPr indent="0" marL="0">
              <a:spcAft>
                <a:spcPts val="400"/>
              </a:spcAft>
              <a:buNone/>
            </a:pPr>
            <a:r>
              <a:rPr lang="en-US" sz="1200" spc="150" kern="0" dirty="0">
                <a:solidFill>
                  <a:schemeClr val="tx1"/>
                </a:solidFill>
                <a:latin typeface="Raleway SemiBold" pitchFamily="34" charset="0"/>
                <a:ea typeface="Raleway SemiBold" pitchFamily="34" charset="-122"/>
                <a:cs typeface="Raleway SemiBold" pitchFamily="34" charset="-120"/>
              </a:rPr>
              <a:t>WHAT VISITORS THINK</a:t>
            </a:r>
            <a:endParaRPr lang="en-US" sz="1500" dirty="0"/>
          </a:p>
          <a:p>
            <a:pPr indent="0" marL="0">
              <a:spcAft>
                <a:spcPts val="400"/>
              </a:spcAft>
              <a:buNone/>
            </a:pPr>
            <a:r>
              <a:rPr lang="en-US" sz="600" dirty="0">
                <a:solidFill>
                  <a:schemeClr val="tx1"/>
                </a:solidFill>
              </a:rPr>
              <a:t> </a:t>
            </a:r>
            <a:endParaRPr lang="en-US" sz="1500" dirty="0"/>
          </a:p>
          <a:p>
            <a:pPr indent="0" marL="0">
              <a:spcAft>
                <a:spcPts val="400"/>
              </a:spcAft>
              <a:buNone/>
            </a:pPr>
            <a:r>
              <a:rPr lang="en-US" sz="1500" dirty="0">
                <a:solidFill>
                  <a:schemeClr val="tx1"/>
                </a:solidFill>
              </a:rPr>
              <a:t>Engagement, saved wines, crowned wines, tasting responses, content use and post-event activity.</a:t>
            </a:r>
            <a:endParaRPr lang="en-US" sz="1500" dirty="0"/>
          </a:p>
        </p:txBody>
      </p:sp>
      <p:sp>
        <p:nvSpPr>
          <p:cNvPr id="11" name="FLAG — delete before sharing"/>
          <p:cNvSpPr txBox="1"/>
          <p:nvPr/>
        </p:nvSpPr>
        <p:spPr>
          <a:xfrm>
            <a:off x="548640" y="4389120"/>
            <a:ext cx="3520440" cy="914400"/>
          </a:xfrm>
          <a:prstGeom prst="rect">
            <a:avLst/>
          </a:prstGeom>
          <a:solidFill>
            <a:schemeClr val="bg1"/>
          </a:solidFill>
          <a:ln w="25400">
            <a:solidFill>
              <a:schemeClr val="accent4"/>
            </a:solidFill>
          </a:ln>
        </p:spPr>
        <p:txBody>
          <a:bodyPr wrap="square" lIns="38100" tIns="76200" rIns="76200" bIns="38100" rtlCol="0" anchor="ctr"/>
          <a:lstStyle/>
          <a:p>
            <a:pPr indent="0" marL="0">
              <a:buNone/>
            </a:pPr>
            <a:r>
              <a:rPr lang="en-US" sz="1100" dirty="0">
                <a:solidFill>
                  <a:schemeClr val="tx1"/>
                </a:solidFill>
                <a:latin typeface="Raleway SemiBold" pitchFamily="34" charset="0"/>
                <a:ea typeface="Raleway SemiBold" pitchFamily="34" charset="-122"/>
                <a:cs typeface="Raleway SemiBold" pitchFamily="34" charset="-120"/>
              </a:rPr>
              <a:t>CLAIM  </a:t>
            </a:r>
            <a:pPr indent="0" marL="0">
              <a:buNone/>
            </a:pPr>
            <a:r>
              <a:rPr lang="en-US" sz="1100" dirty="0">
                <a:solidFill>
                  <a:schemeClr val="tx1"/>
                </a:solidFill>
              </a:rPr>
              <a:t>needs founder approval: 'richer experiences' (was 'enhanced experiences').</a:t>
            </a:r>
            <a:endParaRPr lang="en-US" sz="1100" dirty="0"/>
          </a:p>
        </p:txBody>
      </p:sp>
      <p:sp>
        <p:nvSpPr>
          <p:cNvPr id="12" name="FLAG — delete before sharing"/>
          <p:cNvSpPr txBox="1"/>
          <p:nvPr/>
        </p:nvSpPr>
        <p:spPr>
          <a:xfrm>
            <a:off x="4343400" y="4389120"/>
            <a:ext cx="3520440" cy="914400"/>
          </a:xfrm>
          <a:prstGeom prst="rect">
            <a:avLst/>
          </a:prstGeom>
          <a:solidFill>
            <a:schemeClr val="bg1"/>
          </a:solidFill>
          <a:ln w="25400">
            <a:solidFill>
              <a:schemeClr val="accent4"/>
            </a:solidFill>
          </a:ln>
        </p:spPr>
        <p:txBody>
          <a:bodyPr wrap="square" lIns="38100" tIns="76200" rIns="76200" bIns="38100" rtlCol="0" anchor="ctr"/>
          <a:lstStyle/>
          <a:p>
            <a:pPr indent="0" marL="0">
              <a:buNone/>
            </a:pPr>
            <a:r>
              <a:rPr lang="en-US" sz="1100" dirty="0">
                <a:solidFill>
                  <a:schemeClr val="tx1"/>
                </a:solidFill>
                <a:latin typeface="Raleway SemiBold" pitchFamily="34" charset="0"/>
                <a:ea typeface="Raleway SemiBold" pitchFamily="34" charset="-122"/>
                <a:cs typeface="Raleway SemiBold" pitchFamily="34" charset="-120"/>
              </a:rPr>
              <a:t>TO CONFIRM  </a:t>
            </a:r>
            <a:pPr indent="0" marL="0">
              <a:buNone/>
            </a:pPr>
            <a:r>
              <a:rPr lang="en-US" sz="1100" dirty="0">
                <a:solidFill>
                  <a:schemeClr val="tx1"/>
                </a:solidFill>
              </a:rPr>
              <a:t>Sharing contacts with permission is proposed and needs legal review (UK GDPR).</a:t>
            </a:r>
            <a:endParaRPr lang="en-US" sz="1100" dirty="0"/>
          </a:p>
        </p:txBody>
      </p:sp>
      <p:sp>
        <p:nvSpPr>
          <p:cNvPr id="13" name="FLAG — delete before sharing"/>
          <p:cNvSpPr txBox="1"/>
          <p:nvPr/>
        </p:nvSpPr>
        <p:spPr>
          <a:xfrm>
            <a:off x="8138160" y="4389120"/>
            <a:ext cx="3504895" cy="914400"/>
          </a:xfrm>
          <a:prstGeom prst="rect">
            <a:avLst/>
          </a:prstGeom>
          <a:solidFill>
            <a:schemeClr val="bg1"/>
          </a:solidFill>
          <a:ln w="25400">
            <a:solidFill>
              <a:schemeClr val="accent4"/>
            </a:solidFill>
          </a:ln>
        </p:spPr>
        <p:txBody>
          <a:bodyPr wrap="square" lIns="38100" tIns="76200" rIns="76200" bIns="38100" rtlCol="0" anchor="ctr"/>
          <a:lstStyle/>
          <a:p>
            <a:pPr indent="0" marL="0">
              <a:buNone/>
            </a:pPr>
            <a:r>
              <a:rPr lang="en-US" sz="1100" dirty="0">
                <a:solidFill>
                  <a:schemeClr val="tx1"/>
                </a:solidFill>
                <a:latin typeface="Raleway SemiBold" pitchFamily="34" charset="0"/>
                <a:ea typeface="Raleway SemiBold" pitchFamily="34" charset="-122"/>
                <a:cs typeface="Raleway SemiBold" pitchFamily="34" charset="-120"/>
              </a:rPr>
              <a:t>TO DECIDE  </a:t>
            </a:r>
            <a:pPr indent="0" marL="0">
              <a:buNone/>
            </a:pPr>
            <a:r>
              <a:rPr lang="en-US" sz="1100" dirty="0">
                <a:solidFill>
                  <a:schemeClr val="tx1"/>
                </a:solidFill>
              </a:rPr>
              <a:t>Whether crowned wines are reported, and to whom, without ranking vineyards.</a:t>
            </a:r>
            <a:endParaRPr lang="en-US" sz="1100" dirty="0"/>
          </a:p>
        </p:txBody>
      </p:sp>
      <p:sp>
        <p:nvSpPr>
          <p:cNvPr id="25" name="Slide Number Placeholder 0"/>
          <p:cNvSpPr>
            <a:spLocks noGrp="1"/>
          </p:cNvSpPr>
          <p:nvPr>
            <p:ph type="sldNum" sz="quarter" idx="4294967295"/>
          </p:nvPr>
        </p:nvSpPr>
        <p:spPr>
          <a:xfrm>
            <a:off x="10180015"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latin typeface="Raleway Light"/>
                <a:ea typeface="Raleway Light"/>
                <a:cs typeface="Raleway Light"/>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8138160" cy="685800"/>
          </a:xfrm>
          <a:prstGeom prst="rect">
            <a:avLst/>
          </a:prstGeom>
          <a:noFill/>
          <a:ln/>
        </p:spPr>
        <p:txBody>
          <a:bodyPr wrap="square" lIns="0" tIns="0" rIns="0" bIns="0" rtlCol="0" anchor="t"/>
          <a:lstStyle/>
          <a:p>
            <a:pPr algn="l" indent="0" marL="0">
              <a:buNone/>
            </a:pPr>
            <a:r>
              <a:rPr lang="en-US" sz="3600" dirty="0">
                <a:solidFill>
                  <a:schemeClr val="tx1"/>
                </a:solidFill>
                <a:latin typeface="Raleway Light" pitchFamily="34" charset="0"/>
                <a:ea typeface="Raleway Light" pitchFamily="34" charset="-122"/>
                <a:cs typeface="Raleway Light" pitchFamily="34" charset="-120"/>
              </a:rPr>
              <a:t>Three layers of understanding</a:t>
            </a:r>
            <a:endParaRPr lang="en-US" sz="3600" dirty="0"/>
          </a:p>
        </p:txBody>
      </p:sp>
      <p:sp>
        <p:nvSpPr>
          <p:cNvPr id="3" name="Text 1"/>
          <p:cNvSpPr/>
          <p:nvPr>
            <p:ph idx="103" type="body" hasCustomPrompt="1"/>
          </p:nvPr>
        </p:nvSpPr>
        <p:spPr>
          <a:xfrm>
            <a:off x="548640" y="1115568"/>
            <a:ext cx="11094415" cy="411480"/>
          </a:xfrm>
          <a:prstGeom prst="rect">
            <a:avLst/>
          </a:prstGeom>
          <a:noFill/>
          <a:ln/>
        </p:spPr>
        <p:txBody>
          <a:bodyPr wrap="square" lIns="0" tIns="0" rIns="0" bIns="0" rtlCol="0" anchor="t"/>
          <a:lstStyle/>
          <a:p>
            <a:pPr algn="l" indent="0" marL="0">
              <a:buNone/>
            </a:pPr>
            <a:r>
              <a:rPr lang="en-US" sz="1800" dirty="0">
                <a:solidFill>
                  <a:schemeClr val="tx1"/>
                </a:solidFill>
                <a:latin typeface="Raleway Light" pitchFamily="34" charset="0"/>
                <a:ea typeface="Raleway Light" pitchFamily="34" charset="-122"/>
                <a:cs typeface="Raleway Light" pitchFamily="34" charset="-120"/>
              </a:rPr>
              <a:t>More understanding for organisers, without turning vineyards into public competitors.</a:t>
            </a:r>
            <a:endParaRPr lang="en-US" sz="1800" dirty="0"/>
          </a:p>
        </p:txBody>
      </p:sp>
      <p:sp>
        <p:nvSpPr>
          <p:cNvPr id="4" name="Expression marker: EVENT MODE"/>
          <p:cNvSpPr txBox="1"/>
          <p:nvPr/>
        </p:nvSpPr>
        <p:spPr>
          <a:xfrm>
            <a:off x="9265615" y="457200"/>
            <a:ext cx="2377440" cy="384048"/>
          </a:xfrm>
          <a:prstGeom prst="roundRect">
            <a:avLst>
              <a:gd name="adj" fmla="val 50000"/>
            </a:avLst>
          </a:prstGeom>
          <a:solidFill>
            <a:schemeClr val="accent4"/>
          </a:solidFill>
          <a:ln/>
        </p:spPr>
        <p:txBody>
          <a:bodyPr wrap="square" lIns="0" tIns="0" rIns="0" bIns="0" rtlCol="0" anchor="ctr"/>
          <a:lstStyle/>
          <a:p>
            <a:pPr algn="ctr" indent="0" marL="0">
              <a:buNone/>
            </a:pPr>
            <a:r>
              <a:rPr lang="en-US" sz="1400" spc="150" kern="0" dirty="0">
                <a:solidFill>
                  <a:schemeClr val="tx1"/>
                </a:solidFill>
                <a:latin typeface="Raleway SemiBold" pitchFamily="34" charset="0"/>
                <a:ea typeface="Raleway SemiBold" pitchFamily="34" charset="-122"/>
                <a:cs typeface="Raleway SemiBold" pitchFamily="34" charset="-120"/>
              </a:rPr>
              <a:t>EVENT MODE</a:t>
            </a:r>
            <a:endParaRPr lang="en-US" sz="1400" dirty="0"/>
          </a:p>
        </p:txBody>
      </p:sp>
      <p:sp>
        <p:nvSpPr>
          <p:cNvPr id="5" name="Layer: Your event"/>
          <p:cNvSpPr/>
          <p:nvPr/>
        </p:nvSpPr>
        <p:spPr>
          <a:xfrm>
            <a:off x="548640" y="1783080"/>
            <a:ext cx="6949440" cy="896112"/>
          </a:xfrm>
          <a:prstGeom prst="roundRect">
            <a:avLst>
              <a:gd name="adj" fmla="val 12245"/>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6" name="Text 4"/>
          <p:cNvSpPr txBox="1"/>
          <p:nvPr/>
        </p:nvSpPr>
        <p:spPr>
          <a:xfrm>
            <a:off x="777240" y="1938528"/>
            <a:ext cx="585216" cy="585216"/>
          </a:xfrm>
          <a:prstGeom prst="ellipse">
            <a:avLst/>
          </a:prstGeom>
          <a:solidFill>
            <a:schemeClr val="tx1"/>
          </a:solidFill>
          <a:ln/>
        </p:spPr>
        <p:txBody>
          <a:bodyPr wrap="square" lIns="0" tIns="0" rIns="0" bIns="0" rtlCol="0" anchor="ctr"/>
          <a:lstStyle/>
          <a:p>
            <a:pPr algn="ctr" indent="0" marL="0">
              <a:buNone/>
            </a:pPr>
            <a:r>
              <a:rPr lang="en-US" sz="1600" dirty="0">
                <a:solidFill>
                  <a:schemeClr val="bg2"/>
                </a:solidFill>
                <a:latin typeface="Raleway SemiBold" pitchFamily="34" charset="0"/>
                <a:ea typeface="Raleway SemiBold" pitchFamily="34" charset="-122"/>
                <a:cs typeface="Raleway SemiBold" pitchFamily="34" charset="-120"/>
              </a:rPr>
              <a:t>1</a:t>
            </a:r>
            <a:endParaRPr lang="en-US" sz="1600" dirty="0"/>
          </a:p>
        </p:txBody>
      </p:sp>
      <p:sp>
        <p:nvSpPr>
          <p:cNvPr id="7" name="Text 5"/>
          <p:cNvSpPr txBox="1"/>
          <p:nvPr/>
        </p:nvSpPr>
        <p:spPr>
          <a:xfrm>
            <a:off x="1554480" y="1783080"/>
            <a:ext cx="5760720" cy="896112"/>
          </a:xfrm>
          <a:prstGeom prst="rect">
            <a:avLst/>
          </a:prstGeom>
          <a:noFill/>
          <a:ln/>
        </p:spPr>
        <p:txBody>
          <a:bodyPr wrap="square" lIns="0" tIns="0" rIns="0" bIns="0" rtlCol="0" anchor="ctr"/>
          <a:lstStyle/>
          <a:p>
            <a:pPr indent="0" marL="0">
              <a:spcAft>
                <a:spcPts val="400"/>
              </a:spcAft>
              <a:buNone/>
            </a:pPr>
            <a:r>
              <a:rPr lang="en-US" sz="1400" dirty="0">
                <a:solidFill>
                  <a:schemeClr val="tx1"/>
                </a:solidFill>
                <a:latin typeface="Raleway SemiBold" pitchFamily="34" charset="0"/>
                <a:ea typeface="Raleway SemiBold" pitchFamily="34" charset="-122"/>
                <a:cs typeface="Raleway SemiBold" pitchFamily="34" charset="-120"/>
              </a:rPr>
              <a:t>Your event  </a:t>
            </a:r>
            <a:pPr indent="0" marL="0">
              <a:spcAft>
                <a:spcPts val="400"/>
              </a:spcAft>
              <a:buNone/>
            </a:pPr>
            <a:r>
              <a:rPr lang="en-US" sz="1400" dirty="0">
                <a:solidFill>
                  <a:schemeClr val="tx1"/>
                </a:solidFill>
              </a:rPr>
              <a:t>Combined discoveries, favourites, crown patterns, polls, quiz responses and content engagement.</a:t>
            </a:r>
            <a:endParaRPr lang="en-US" sz="1400" dirty="0"/>
          </a:p>
        </p:txBody>
      </p:sp>
      <p:sp>
        <p:nvSpPr>
          <p:cNvPr id="8" name="Layer: Visitor contacts"/>
          <p:cNvSpPr/>
          <p:nvPr/>
        </p:nvSpPr>
        <p:spPr>
          <a:xfrm>
            <a:off x="548640" y="2807208"/>
            <a:ext cx="6949440" cy="896112"/>
          </a:xfrm>
          <a:prstGeom prst="roundRect">
            <a:avLst>
              <a:gd name="adj" fmla="val 12245"/>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9" name="Text 7"/>
          <p:cNvSpPr txBox="1"/>
          <p:nvPr/>
        </p:nvSpPr>
        <p:spPr>
          <a:xfrm>
            <a:off x="777240" y="2962656"/>
            <a:ext cx="585216" cy="585216"/>
          </a:xfrm>
          <a:prstGeom prst="ellipse">
            <a:avLst/>
          </a:prstGeom>
          <a:solidFill>
            <a:schemeClr val="tx1"/>
          </a:solidFill>
          <a:ln/>
        </p:spPr>
        <p:txBody>
          <a:bodyPr wrap="square" lIns="0" tIns="0" rIns="0" bIns="0" rtlCol="0" anchor="ctr"/>
          <a:lstStyle/>
          <a:p>
            <a:pPr algn="ctr" indent="0" marL="0">
              <a:buNone/>
            </a:pPr>
            <a:r>
              <a:rPr lang="en-US" sz="1600" dirty="0">
                <a:solidFill>
                  <a:schemeClr val="bg2"/>
                </a:solidFill>
                <a:latin typeface="Raleway SemiBold" pitchFamily="34" charset="0"/>
                <a:ea typeface="Raleway SemiBold" pitchFamily="34" charset="-122"/>
                <a:cs typeface="Raleway SemiBold" pitchFamily="34" charset="-120"/>
              </a:rPr>
              <a:t>2</a:t>
            </a:r>
            <a:endParaRPr lang="en-US" sz="1600" dirty="0"/>
          </a:p>
        </p:txBody>
      </p:sp>
      <p:sp>
        <p:nvSpPr>
          <p:cNvPr id="10" name="Text 8"/>
          <p:cNvSpPr txBox="1"/>
          <p:nvPr/>
        </p:nvSpPr>
        <p:spPr>
          <a:xfrm>
            <a:off x="1554480" y="2807208"/>
            <a:ext cx="5760720" cy="896112"/>
          </a:xfrm>
          <a:prstGeom prst="rect">
            <a:avLst/>
          </a:prstGeom>
          <a:noFill/>
          <a:ln/>
        </p:spPr>
        <p:txBody>
          <a:bodyPr wrap="square" lIns="0" tIns="0" rIns="0" bIns="0" rtlCol="0" anchor="ctr"/>
          <a:lstStyle/>
          <a:p>
            <a:pPr indent="0" marL="0">
              <a:spcAft>
                <a:spcPts val="400"/>
              </a:spcAft>
              <a:buNone/>
            </a:pPr>
            <a:r>
              <a:rPr lang="en-US" sz="1400" dirty="0">
                <a:solidFill>
                  <a:schemeClr val="tx1"/>
                </a:solidFill>
                <a:latin typeface="Raleway SemiBold" pitchFamily="34" charset="0"/>
                <a:ea typeface="Raleway SemiBold" pitchFamily="34" charset="-122"/>
                <a:cs typeface="Raleway SemiBold" pitchFamily="34" charset="-120"/>
              </a:rPr>
              <a:t>Visitor contacts  </a:t>
            </a:r>
            <a:pPr indent="0" marL="0">
              <a:spcAft>
                <a:spcPts val="400"/>
              </a:spcAft>
              <a:buNone/>
            </a:pPr>
            <a:r>
              <a:rPr lang="en-US" sz="1400" dirty="0">
                <a:solidFill>
                  <a:schemeClr val="tx1"/>
                </a:solidFill>
              </a:rPr>
              <a:t>New relationships with individual attendees who expressly opt in to hearing from you.</a:t>
            </a:r>
            <a:endParaRPr lang="en-US" sz="1400" dirty="0"/>
          </a:p>
        </p:txBody>
      </p:sp>
      <p:sp>
        <p:nvSpPr>
          <p:cNvPr id="11" name="Layer: Wider trends"/>
          <p:cNvSpPr/>
          <p:nvPr/>
        </p:nvSpPr>
        <p:spPr>
          <a:xfrm>
            <a:off x="548640" y="3831336"/>
            <a:ext cx="6949440" cy="896112"/>
          </a:xfrm>
          <a:prstGeom prst="roundRect">
            <a:avLst>
              <a:gd name="adj" fmla="val 12245"/>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12" name="Text 10"/>
          <p:cNvSpPr txBox="1"/>
          <p:nvPr/>
        </p:nvSpPr>
        <p:spPr>
          <a:xfrm>
            <a:off x="777240" y="3986784"/>
            <a:ext cx="585216" cy="585216"/>
          </a:xfrm>
          <a:prstGeom prst="ellipse">
            <a:avLst/>
          </a:prstGeom>
          <a:solidFill>
            <a:schemeClr val="tx1"/>
          </a:solidFill>
          <a:ln/>
        </p:spPr>
        <p:txBody>
          <a:bodyPr wrap="square" lIns="0" tIns="0" rIns="0" bIns="0" rtlCol="0" anchor="ctr"/>
          <a:lstStyle/>
          <a:p>
            <a:pPr algn="ctr" indent="0" marL="0">
              <a:buNone/>
            </a:pPr>
            <a:r>
              <a:rPr lang="en-US" sz="1600" dirty="0">
                <a:solidFill>
                  <a:schemeClr val="bg2"/>
                </a:solidFill>
                <a:latin typeface="Raleway SemiBold" pitchFamily="34" charset="0"/>
                <a:ea typeface="Raleway SemiBold" pitchFamily="34" charset="-122"/>
                <a:cs typeface="Raleway SemiBold" pitchFamily="34" charset="-120"/>
              </a:rPr>
              <a:t>3</a:t>
            </a:r>
            <a:endParaRPr lang="en-US" sz="1600" dirty="0"/>
          </a:p>
        </p:txBody>
      </p:sp>
      <p:sp>
        <p:nvSpPr>
          <p:cNvPr id="13" name="Text 11"/>
          <p:cNvSpPr txBox="1"/>
          <p:nvPr/>
        </p:nvSpPr>
        <p:spPr>
          <a:xfrm>
            <a:off x="1554480" y="3831336"/>
            <a:ext cx="5760720" cy="896112"/>
          </a:xfrm>
          <a:prstGeom prst="rect">
            <a:avLst/>
          </a:prstGeom>
          <a:noFill/>
          <a:ln/>
        </p:spPr>
        <p:txBody>
          <a:bodyPr wrap="square" lIns="0" tIns="0" rIns="0" bIns="0" rtlCol="0" anchor="ctr"/>
          <a:lstStyle/>
          <a:p>
            <a:pPr indent="0" marL="0">
              <a:spcAft>
                <a:spcPts val="400"/>
              </a:spcAft>
              <a:buNone/>
            </a:pPr>
            <a:r>
              <a:rPr lang="en-US" sz="1400" dirty="0">
                <a:solidFill>
                  <a:schemeClr val="tx1"/>
                </a:solidFill>
                <a:latin typeface="Raleway SemiBold" pitchFamily="34" charset="0"/>
                <a:ea typeface="Raleway SemiBold" pitchFamily="34" charset="-122"/>
                <a:cs typeface="Raleway SemiBold" pitchFamily="34" charset="-120"/>
              </a:rPr>
              <a:t>Wider trends  </a:t>
            </a:r>
            <a:pPr indent="0" marL="0">
              <a:spcAft>
                <a:spcPts val="400"/>
              </a:spcAft>
              <a:buNone/>
            </a:pPr>
            <a:r>
              <a:rPr lang="en-US" sz="1400" dirty="0">
                <a:solidFill>
                  <a:schemeClr val="tx1"/>
                </a:solidFill>
              </a:rPr>
              <a:t>Carefully anonymised, combined Entre Amis trends, where sample size and permissions support them.</a:t>
            </a:r>
            <a:endParaRPr lang="en-US" sz="1400" dirty="0"/>
          </a:p>
        </p:txBody>
      </p:sp>
      <p:sp>
        <p:nvSpPr>
          <p:cNvPr id="14" name="Our promises"/>
          <p:cNvSpPr/>
          <p:nvPr/>
        </p:nvSpPr>
        <p:spPr>
          <a:xfrm>
            <a:off x="7772400" y="1783080"/>
            <a:ext cx="3870655" cy="2944368"/>
          </a:xfrm>
          <a:prstGeom prst="roundRect">
            <a:avLst>
              <a:gd name="adj" fmla="val 3727"/>
            </a:avLst>
          </a:prstGeom>
          <a:solidFill>
            <a:schemeClr val="tx1"/>
          </a:solidFill>
          <a:ln w="12700">
            <a:solidFill>
              <a:schemeClr val="tx1"/>
            </a:solidFill>
            <a:prstDash val="solid"/>
          </a:ln>
        </p:spPr>
      </p:sp>
      <p:sp>
        <p:nvSpPr>
          <p:cNvPr id="15" name="Text 13"/>
          <p:cNvSpPr txBox="1"/>
          <p:nvPr/>
        </p:nvSpPr>
        <p:spPr>
          <a:xfrm>
            <a:off x="8046720" y="2011680"/>
            <a:ext cx="3322015" cy="2560320"/>
          </a:xfrm>
          <a:prstGeom prst="rect">
            <a:avLst/>
          </a:prstGeom>
          <a:noFill/>
          <a:ln/>
        </p:spPr>
        <p:txBody>
          <a:bodyPr wrap="square" lIns="0" tIns="0" rIns="0" bIns="0" rtlCol="0" anchor="t"/>
          <a:lstStyle/>
          <a:p>
            <a:pPr indent="0" marL="0">
              <a:spcAft>
                <a:spcPts val="400"/>
              </a:spcAft>
              <a:buNone/>
            </a:pPr>
            <a:r>
              <a:rPr lang="en-US" sz="1300" spc="150" kern="0" dirty="0">
                <a:solidFill>
                  <a:schemeClr val="bg2"/>
                </a:solidFill>
                <a:latin typeface="Raleway SemiBold" pitchFamily="34" charset="0"/>
                <a:ea typeface="Raleway SemiBold" pitchFamily="34" charset="-122"/>
                <a:cs typeface="Raleway SemiBold" pitchFamily="34" charset="-120"/>
              </a:rPr>
              <a:t>OUR PROMISES</a:t>
            </a:r>
            <a:endParaRPr lang="en-US" sz="1500" dirty="0"/>
          </a:p>
          <a:p>
            <a:pPr indent="0" marL="0">
              <a:spcAft>
                <a:spcPts val="400"/>
              </a:spcAft>
              <a:buNone/>
            </a:pPr>
            <a:r>
              <a:rPr lang="en-US" sz="600" dirty="0">
                <a:solidFill>
                  <a:schemeClr val="bg2"/>
                </a:solidFill>
              </a:rPr>
              <a:t> </a:t>
            </a:r>
            <a:endParaRPr lang="en-US" sz="1500" dirty="0"/>
          </a:p>
          <a:p>
            <a:pPr marL="203200" indent="-203200">
              <a:spcAft>
                <a:spcPts val="800"/>
              </a:spcAft>
              <a:buSzPct val="100000"/>
              <a:buChar char="•"/>
            </a:pPr>
            <a:r>
              <a:rPr lang="en-US" sz="1500" dirty="0">
                <a:solidFill>
                  <a:schemeClr val="bg2"/>
                </a:solidFill>
              </a:rPr>
              <a:t>Personal crowns stay personal.</a:t>
            </a:r>
            <a:endParaRPr lang="en-US" sz="1500" dirty="0"/>
          </a:p>
          <a:p>
            <a:pPr marL="203200" indent="-203200">
              <a:spcAft>
                <a:spcPts val="800"/>
              </a:spcAft>
              <a:buSzPct val="100000"/>
              <a:buChar char="•"/>
            </a:pPr>
            <a:r>
              <a:rPr lang="en-US" sz="1500" dirty="0">
                <a:solidFill>
                  <a:schemeClr val="bg2"/>
                </a:solidFill>
              </a:rPr>
              <a:t>No public ranking by default.</a:t>
            </a:r>
            <a:endParaRPr lang="en-US" sz="1500" dirty="0"/>
          </a:p>
          <a:p>
            <a:pPr marL="203200" indent="-203200">
              <a:spcAft>
                <a:spcPts val="800"/>
              </a:spcAft>
              <a:buSzPct val="100000"/>
              <a:buChar char="•"/>
            </a:pPr>
            <a:r>
              <a:rPr lang="en-US" sz="1500" dirty="0">
                <a:solidFill>
                  <a:schemeClr val="bg2"/>
                </a:solidFill>
              </a:rPr>
              <a:t>No risk of identifying anyone.</a:t>
            </a:r>
            <a:endParaRPr lang="en-US" sz="1500" dirty="0"/>
          </a:p>
          <a:p>
            <a:pPr marL="203200" indent="-203200">
              <a:spcAft>
                <a:spcPts val="800"/>
              </a:spcAft>
              <a:buSzPct val="100000"/>
              <a:buChar char="•"/>
            </a:pPr>
            <a:r>
              <a:rPr lang="en-US" sz="1500" dirty="0">
                <a:solidFill>
                  <a:schemeClr val="bg2"/>
                </a:solidFill>
              </a:rPr>
              <a:t>No automatic data sharing across platforms.</a:t>
            </a:r>
            <a:endParaRPr lang="en-US" sz="1500" dirty="0"/>
          </a:p>
        </p:txBody>
      </p:sp>
      <p:sp>
        <p:nvSpPr>
          <p:cNvPr id="16" name="FLAG — delete before sharing"/>
          <p:cNvSpPr txBox="1"/>
          <p:nvPr/>
        </p:nvSpPr>
        <p:spPr>
          <a:xfrm>
            <a:off x="548640" y="4983480"/>
            <a:ext cx="6949440" cy="731520"/>
          </a:xfrm>
          <a:prstGeom prst="rect">
            <a:avLst/>
          </a:prstGeom>
          <a:solidFill>
            <a:schemeClr val="bg1"/>
          </a:solidFill>
          <a:ln w="25400">
            <a:solidFill>
              <a:schemeClr val="accent4"/>
            </a:solidFill>
          </a:ln>
        </p:spPr>
        <p:txBody>
          <a:bodyPr wrap="square" lIns="38100" tIns="76200" rIns="76200" bIns="38100" rtlCol="0" anchor="ctr"/>
          <a:lstStyle/>
          <a:p>
            <a:pPr indent="0" marL="0">
              <a:buNone/>
            </a:pPr>
            <a:r>
              <a:rPr lang="en-US" sz="1100" dirty="0">
                <a:solidFill>
                  <a:schemeClr val="tx1"/>
                </a:solidFill>
                <a:latin typeface="Raleway SemiBold" pitchFamily="34" charset="0"/>
                <a:ea typeface="Raleway SemiBold" pitchFamily="34" charset="-122"/>
                <a:cs typeface="Raleway SemiBold" pitchFamily="34" charset="-120"/>
              </a:rPr>
              <a:t>TO CONFIRM  </a:t>
            </a:r>
            <a:pPr indent="0" marL="0">
              <a:buNone/>
            </a:pPr>
            <a:r>
              <a:rPr lang="en-US" sz="1100" dirty="0">
                <a:solidFill>
                  <a:schemeClr val="tx1"/>
                </a:solidFill>
              </a:rPr>
              <a:t>Layer 2 depends on the proposed contact rule and legal review. Layer names now match their descriptions (they were swapped).</a:t>
            </a:r>
            <a:endParaRPr lang="en-US" sz="1100" dirty="0"/>
          </a:p>
        </p:txBody>
      </p:sp>
      <p:sp>
        <p:nvSpPr>
          <p:cNvPr id="17" name="FLAG — delete before sharing"/>
          <p:cNvSpPr txBox="1"/>
          <p:nvPr/>
        </p:nvSpPr>
        <p:spPr>
          <a:xfrm>
            <a:off x="7772400" y="4983480"/>
            <a:ext cx="3870655" cy="731520"/>
          </a:xfrm>
          <a:prstGeom prst="rect">
            <a:avLst/>
          </a:prstGeom>
          <a:solidFill>
            <a:schemeClr val="bg1"/>
          </a:solidFill>
          <a:ln w="25400">
            <a:solidFill>
              <a:schemeClr val="accent4"/>
            </a:solidFill>
          </a:ln>
        </p:spPr>
        <p:txBody>
          <a:bodyPr wrap="square" lIns="38100" tIns="76200" rIns="76200" bIns="38100" rtlCol="0" anchor="ctr"/>
          <a:lstStyle/>
          <a:p>
            <a:pPr indent="0" marL="0">
              <a:buNone/>
            </a:pPr>
            <a:r>
              <a:rPr lang="en-US" sz="1100" dirty="0">
                <a:solidFill>
                  <a:schemeClr val="tx1"/>
                </a:solidFill>
                <a:latin typeface="Raleway SemiBold" pitchFamily="34" charset="0"/>
                <a:ea typeface="Raleway SemiBold" pitchFamily="34" charset="-122"/>
                <a:cs typeface="Raleway SemiBold" pitchFamily="34" charset="-120"/>
              </a:rPr>
              <a:t>TO DECIDE  </a:t>
            </a:r>
            <a:pPr indent="0" marL="0">
              <a:buNone/>
            </a:pPr>
            <a:r>
              <a:rPr lang="en-US" sz="1100" dirty="0">
                <a:solidFill>
                  <a:schemeClr val="tx1"/>
                </a:solidFill>
              </a:rPr>
              <a:t>'by default' and 'automatic' suggest exceptions. Keep, or make absolute?</a:t>
            </a:r>
            <a:endParaRPr lang="en-US" sz="1100" dirty="0"/>
          </a:p>
        </p:txBody>
      </p:sp>
      <p:sp>
        <p:nvSpPr>
          <p:cNvPr id="25" name="Slide Number Placeholder 0"/>
          <p:cNvSpPr>
            <a:spLocks noGrp="1"/>
          </p:cNvSpPr>
          <p:nvPr>
            <p:ph type="sldNum" sz="quarter" idx="4294967295"/>
          </p:nvPr>
        </p:nvSpPr>
        <p:spPr>
          <a:xfrm>
            <a:off x="10180015"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latin typeface="Raleway Light"/>
                <a:ea typeface="Raleway Light"/>
                <a:cs typeface="Raleway Light"/>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8138160" cy="685800"/>
          </a:xfrm>
          <a:prstGeom prst="rect">
            <a:avLst/>
          </a:prstGeom>
          <a:noFill/>
          <a:ln/>
        </p:spPr>
        <p:txBody>
          <a:bodyPr wrap="square" lIns="0" tIns="0" rIns="0" bIns="0" rtlCol="0" anchor="t"/>
          <a:lstStyle/>
          <a:p>
            <a:pPr algn="l" indent="0" marL="0">
              <a:buNone/>
            </a:pPr>
            <a:r>
              <a:rPr lang="en-US" sz="3600" dirty="0">
                <a:solidFill>
                  <a:schemeClr val="tx1"/>
                </a:solidFill>
                <a:latin typeface="Raleway Light" pitchFamily="34" charset="0"/>
                <a:ea typeface="Raleway Light" pitchFamily="34" charset="-122"/>
                <a:cs typeface="Raleway Light" pitchFamily="34" charset="-120"/>
              </a:rPr>
              <a:t>What a partnership might include</a:t>
            </a:r>
            <a:endParaRPr lang="en-US" sz="3600" dirty="0"/>
          </a:p>
        </p:txBody>
      </p:sp>
      <p:sp>
        <p:nvSpPr>
          <p:cNvPr id="3" name="Text 1"/>
          <p:cNvSpPr/>
          <p:nvPr>
            <p:ph idx="103" type="body" hasCustomPrompt="1"/>
          </p:nvPr>
        </p:nvSpPr>
        <p:spPr>
          <a:xfrm>
            <a:off x="548640" y="1115568"/>
            <a:ext cx="11094415" cy="411480"/>
          </a:xfrm>
          <a:prstGeom prst="rect">
            <a:avLst/>
          </a:prstGeom>
          <a:noFill/>
          <a:ln/>
        </p:spPr>
        <p:txBody>
          <a:bodyPr wrap="square" lIns="0" tIns="0" rIns="0" bIns="0" rtlCol="0" anchor="t"/>
          <a:lstStyle/>
          <a:p>
            <a:pPr algn="l" indent="0" marL="0">
              <a:buNone/>
            </a:pPr>
            <a:r>
              <a:rPr lang="en-US" sz="1800" dirty="0">
                <a:solidFill>
                  <a:schemeClr val="tx1"/>
                </a:solidFill>
                <a:latin typeface="Raleway Light" pitchFamily="34" charset="0"/>
                <a:ea typeface="Raleway Light" pitchFamily="34" charset="-122"/>
                <a:cs typeface="Raleway Light" pitchFamily="34" charset="-120"/>
              </a:rPr>
              <a:t>A possible year-round relationship across your events.</a:t>
            </a:r>
            <a:endParaRPr lang="en-US" sz="1800" dirty="0"/>
          </a:p>
        </p:txBody>
      </p:sp>
      <p:sp>
        <p:nvSpPr>
          <p:cNvPr id="4" name="Expression marker: EVENT MODE"/>
          <p:cNvSpPr txBox="1"/>
          <p:nvPr/>
        </p:nvSpPr>
        <p:spPr>
          <a:xfrm>
            <a:off x="9265615" y="457200"/>
            <a:ext cx="2377440" cy="384048"/>
          </a:xfrm>
          <a:prstGeom prst="roundRect">
            <a:avLst>
              <a:gd name="adj" fmla="val 50000"/>
            </a:avLst>
          </a:prstGeom>
          <a:solidFill>
            <a:schemeClr val="accent4"/>
          </a:solidFill>
          <a:ln/>
        </p:spPr>
        <p:txBody>
          <a:bodyPr wrap="square" lIns="0" tIns="0" rIns="0" bIns="0" rtlCol="0" anchor="ctr"/>
          <a:lstStyle/>
          <a:p>
            <a:pPr algn="ctr" indent="0" marL="0">
              <a:buNone/>
            </a:pPr>
            <a:r>
              <a:rPr lang="en-US" sz="1400" spc="150" kern="0" dirty="0">
                <a:solidFill>
                  <a:schemeClr val="tx1"/>
                </a:solidFill>
                <a:latin typeface="Raleway SemiBold" pitchFamily="34" charset="0"/>
                <a:ea typeface="Raleway SemiBold" pitchFamily="34" charset="-122"/>
                <a:cs typeface="Raleway SemiBold" pitchFamily="34" charset="-120"/>
              </a:rPr>
              <a:t>EVENT MODE</a:t>
            </a:r>
            <a:endParaRPr lang="en-US" sz="1400" dirty="0"/>
          </a:p>
        </p:txBody>
      </p:sp>
      <p:sp>
        <p:nvSpPr>
          <p:cNvPr id="5" name="Card: DIGITAL"/>
          <p:cNvSpPr/>
          <p:nvPr/>
        </p:nvSpPr>
        <p:spPr>
          <a:xfrm>
            <a:off x="548640" y="1783080"/>
            <a:ext cx="3515258" cy="2194560"/>
          </a:xfrm>
          <a:prstGeom prst="roundRect">
            <a:avLst>
              <a:gd name="adj" fmla="val 5000"/>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6" name="Text 4"/>
          <p:cNvSpPr txBox="1"/>
          <p:nvPr/>
        </p:nvSpPr>
        <p:spPr>
          <a:xfrm>
            <a:off x="777240" y="2011680"/>
            <a:ext cx="3058058" cy="1828800"/>
          </a:xfrm>
          <a:prstGeom prst="rect">
            <a:avLst/>
          </a:prstGeom>
          <a:noFill/>
          <a:ln/>
        </p:spPr>
        <p:txBody>
          <a:bodyPr wrap="square" lIns="0" tIns="0" rIns="0" bIns="0" rtlCol="0" anchor="t"/>
          <a:lstStyle/>
          <a:p>
            <a:pPr indent="0" marL="0">
              <a:spcAft>
                <a:spcPts val="400"/>
              </a:spcAft>
              <a:buNone/>
            </a:pPr>
            <a:r>
              <a:rPr lang="en-US" sz="1200" spc="150" kern="0" dirty="0">
                <a:solidFill>
                  <a:schemeClr val="tx1"/>
                </a:solidFill>
                <a:latin typeface="Raleway SemiBold" pitchFamily="34" charset="0"/>
                <a:ea typeface="Raleway SemiBold" pitchFamily="34" charset="-122"/>
                <a:cs typeface="Raleway SemiBold" pitchFamily="34" charset="-120"/>
              </a:rPr>
              <a:t>DIGITAL</a:t>
            </a:r>
            <a:endParaRPr lang="en-US" sz="1500" dirty="0"/>
          </a:p>
          <a:p>
            <a:pPr indent="0" marL="0">
              <a:spcAft>
                <a:spcPts val="400"/>
              </a:spcAft>
              <a:buNone/>
            </a:pPr>
            <a:r>
              <a:rPr lang="en-US" sz="600" dirty="0">
                <a:solidFill>
                  <a:schemeClr val="tx1"/>
                </a:solidFill>
              </a:rPr>
              <a:t> </a:t>
            </a:r>
            <a:endParaRPr lang="en-US" sz="1500" dirty="0"/>
          </a:p>
          <a:p>
            <a:pPr indent="0" marL="0">
              <a:spcAft>
                <a:spcPts val="400"/>
              </a:spcAft>
              <a:buNone/>
            </a:pPr>
            <a:r>
              <a:rPr lang="en-US" sz="1500" dirty="0">
                <a:solidFill>
                  <a:schemeClr val="tx1"/>
                </a:solidFill>
              </a:rPr>
              <a:t>Visitor experience, producer content, saved discoveries, polls and quizzes, consent journeys and reporting.</a:t>
            </a:r>
            <a:endParaRPr lang="en-US" sz="1500" dirty="0"/>
          </a:p>
        </p:txBody>
      </p:sp>
      <p:sp>
        <p:nvSpPr>
          <p:cNvPr id="7" name="Card: PHYSICAL"/>
          <p:cNvSpPr/>
          <p:nvPr/>
        </p:nvSpPr>
        <p:spPr>
          <a:xfrm>
            <a:off x="4338218" y="1783080"/>
            <a:ext cx="3515258" cy="2194560"/>
          </a:xfrm>
          <a:prstGeom prst="roundRect">
            <a:avLst>
              <a:gd name="adj" fmla="val 5000"/>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8" name="Text 6"/>
          <p:cNvSpPr txBox="1"/>
          <p:nvPr/>
        </p:nvSpPr>
        <p:spPr>
          <a:xfrm>
            <a:off x="4566818" y="2011680"/>
            <a:ext cx="3058058" cy="1828800"/>
          </a:xfrm>
          <a:prstGeom prst="rect">
            <a:avLst/>
          </a:prstGeom>
          <a:noFill/>
          <a:ln/>
        </p:spPr>
        <p:txBody>
          <a:bodyPr wrap="square" lIns="0" tIns="0" rIns="0" bIns="0" rtlCol="0" anchor="t"/>
          <a:lstStyle/>
          <a:p>
            <a:pPr indent="0" marL="0">
              <a:spcAft>
                <a:spcPts val="400"/>
              </a:spcAft>
              <a:buNone/>
            </a:pPr>
            <a:r>
              <a:rPr lang="en-US" sz="1200" spc="150" kern="0" dirty="0">
                <a:solidFill>
                  <a:schemeClr val="tx1"/>
                </a:solidFill>
                <a:latin typeface="Raleway SemiBold" pitchFamily="34" charset="0"/>
                <a:ea typeface="Raleway SemiBold" pitchFamily="34" charset="-122"/>
                <a:cs typeface="Raleway SemiBold" pitchFamily="34" charset="-120"/>
              </a:rPr>
              <a:t>PHYSICAL</a:t>
            </a:r>
            <a:endParaRPr lang="en-US" sz="1500" dirty="0"/>
          </a:p>
          <a:p>
            <a:pPr indent="0" marL="0">
              <a:spcAft>
                <a:spcPts val="400"/>
              </a:spcAft>
              <a:buNone/>
            </a:pPr>
            <a:r>
              <a:rPr lang="en-US" sz="600" dirty="0">
                <a:solidFill>
                  <a:schemeClr val="tx1"/>
                </a:solidFill>
              </a:rPr>
              <a:t> </a:t>
            </a:r>
            <a:endParaRPr lang="en-US" sz="1500" dirty="0"/>
          </a:p>
          <a:p>
            <a:pPr indent="0" marL="0">
              <a:spcAft>
                <a:spcPts val="400"/>
              </a:spcAft>
              <a:buNone/>
            </a:pPr>
            <a:r>
              <a:rPr lang="en-US" sz="1500" dirty="0">
                <a:solidFill>
                  <a:schemeClr val="tx1"/>
                </a:solidFill>
              </a:rPr>
              <a:t>A hosted Entre Amis table and scheduled screen moments at the main event, fully costed.</a:t>
            </a:r>
            <a:endParaRPr lang="en-US" sz="1500" dirty="0"/>
          </a:p>
        </p:txBody>
      </p:sp>
      <p:sp>
        <p:nvSpPr>
          <p:cNvPr id="9" name="Card: ONGOING"/>
          <p:cNvSpPr/>
          <p:nvPr/>
        </p:nvSpPr>
        <p:spPr>
          <a:xfrm>
            <a:off x="8127797" y="1783080"/>
            <a:ext cx="3515258" cy="2194560"/>
          </a:xfrm>
          <a:prstGeom prst="roundRect">
            <a:avLst>
              <a:gd name="adj" fmla="val 5000"/>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10" name="Text 8"/>
          <p:cNvSpPr txBox="1"/>
          <p:nvPr/>
        </p:nvSpPr>
        <p:spPr>
          <a:xfrm>
            <a:off x="8356397" y="2011680"/>
            <a:ext cx="3058058" cy="1828800"/>
          </a:xfrm>
          <a:prstGeom prst="rect">
            <a:avLst/>
          </a:prstGeom>
          <a:noFill/>
          <a:ln/>
        </p:spPr>
        <p:txBody>
          <a:bodyPr wrap="square" lIns="0" tIns="0" rIns="0" bIns="0" rtlCol="0" anchor="t"/>
          <a:lstStyle/>
          <a:p>
            <a:pPr indent="0" marL="0">
              <a:spcAft>
                <a:spcPts val="400"/>
              </a:spcAft>
              <a:buNone/>
            </a:pPr>
            <a:r>
              <a:rPr lang="en-US" sz="1200" spc="150" kern="0" dirty="0">
                <a:solidFill>
                  <a:schemeClr val="tx1"/>
                </a:solidFill>
                <a:latin typeface="Raleway SemiBold" pitchFamily="34" charset="0"/>
                <a:ea typeface="Raleway SemiBold" pitchFamily="34" charset="-122"/>
                <a:cs typeface="Raleway SemiBold" pitchFamily="34" charset="-120"/>
              </a:rPr>
              <a:t>ONGOING</a:t>
            </a:r>
            <a:endParaRPr lang="en-US" sz="1500" dirty="0"/>
          </a:p>
          <a:p>
            <a:pPr indent="0" marL="0">
              <a:spcAft>
                <a:spcPts val="400"/>
              </a:spcAft>
              <a:buNone/>
            </a:pPr>
            <a:r>
              <a:rPr lang="en-US" sz="600" dirty="0">
                <a:solidFill>
                  <a:schemeClr val="tx1"/>
                </a:solidFill>
              </a:rPr>
              <a:t> </a:t>
            </a:r>
            <a:endParaRPr lang="en-US" sz="1500" dirty="0"/>
          </a:p>
          <a:p>
            <a:pPr indent="0" marL="0">
              <a:spcAft>
                <a:spcPts val="400"/>
              </a:spcAft>
              <a:buNone/>
            </a:pPr>
            <a:r>
              <a:rPr lang="en-US" sz="1500" dirty="0">
                <a:solidFill>
                  <a:schemeClr val="tx1"/>
                </a:solidFill>
              </a:rPr>
              <a:t>Post-event visitor experience, combined reporting, a partner review and a potential Christmas activation.</a:t>
            </a:r>
            <a:endParaRPr lang="en-US" sz="1500" dirty="0"/>
          </a:p>
        </p:txBody>
      </p:sp>
      <p:sp>
        <p:nvSpPr>
          <p:cNvPr id="11" name="FLAG — delete before sharing"/>
          <p:cNvSpPr txBox="1"/>
          <p:nvPr/>
        </p:nvSpPr>
        <p:spPr>
          <a:xfrm>
            <a:off x="548640" y="4251960"/>
            <a:ext cx="11094415" cy="640080"/>
          </a:xfrm>
          <a:prstGeom prst="rect">
            <a:avLst/>
          </a:prstGeom>
          <a:solidFill>
            <a:schemeClr val="bg1"/>
          </a:solidFill>
          <a:ln w="25400">
            <a:solidFill>
              <a:schemeClr val="accent4"/>
            </a:solidFill>
          </a:ln>
        </p:spPr>
        <p:txBody>
          <a:bodyPr wrap="square" lIns="38100" tIns="76200" rIns="76200" bIns="38100" rtlCol="0" anchor="ctr"/>
          <a:lstStyle/>
          <a:p>
            <a:pPr indent="0" marL="0">
              <a:buNone/>
            </a:pPr>
            <a:r>
              <a:rPr lang="en-US" sz="1100" dirty="0">
                <a:solidFill>
                  <a:schemeClr val="tx1"/>
                </a:solidFill>
                <a:latin typeface="Raleway SemiBold" pitchFamily="34" charset="0"/>
                <a:ea typeface="Raleway SemiBold" pitchFamily="34" charset="-122"/>
                <a:cs typeface="Raleway SemiBold" pitchFamily="34" charset="-120"/>
              </a:rPr>
              <a:t>TO DECIDE  </a:t>
            </a:r>
            <a:pPr indent="0" marL="0">
              <a:buNone/>
            </a:pPr>
            <a:r>
              <a:rPr lang="en-US" sz="1100" dirty="0">
                <a:solidFill>
                  <a:schemeClr val="tx1"/>
                </a:solidFill>
              </a:rPr>
              <a:t>The indicative price line is removed: nothing may be priced until confirmed. Pricing belongs in each organiser's proposal.</a:t>
            </a:r>
            <a:endParaRPr lang="en-US" sz="1100" dirty="0"/>
          </a:p>
        </p:txBody>
      </p:sp>
      <p:sp>
        <p:nvSpPr>
          <p:cNvPr id="25" name="Slide Number Placeholder 0"/>
          <p:cNvSpPr>
            <a:spLocks noGrp="1"/>
          </p:cNvSpPr>
          <p:nvPr>
            <p:ph type="sldNum" sz="quarter" idx="4294967295"/>
          </p:nvPr>
        </p:nvSpPr>
        <p:spPr>
          <a:xfrm>
            <a:off x="10180015"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latin typeface="Raleway Light"/>
                <a:ea typeface="Raleway Light"/>
                <a:cs typeface="Raleway Light"/>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8138160" cy="685800"/>
          </a:xfrm>
          <a:prstGeom prst="rect">
            <a:avLst/>
          </a:prstGeom>
          <a:noFill/>
          <a:ln/>
        </p:spPr>
        <p:txBody>
          <a:bodyPr wrap="square" lIns="0" tIns="0" rIns="0" bIns="0" rtlCol="0" anchor="t"/>
          <a:lstStyle/>
          <a:p>
            <a:pPr algn="l" indent="0" marL="0">
              <a:buNone/>
            </a:pPr>
            <a:r>
              <a:rPr lang="en-US" sz="3600" dirty="0">
                <a:solidFill>
                  <a:schemeClr val="tx1"/>
                </a:solidFill>
                <a:latin typeface="Raleway Light" pitchFamily="34" charset="0"/>
                <a:ea typeface="Raleway Light" pitchFamily="34" charset="-122"/>
                <a:cs typeface="Raleway Light" pitchFamily="34" charset="-120"/>
              </a:rPr>
              <a:t>A founding partnership, not exclusivity</a:t>
            </a:r>
            <a:endParaRPr lang="en-US" sz="3600" dirty="0"/>
          </a:p>
        </p:txBody>
      </p:sp>
      <p:sp>
        <p:nvSpPr>
          <p:cNvPr id="3" name="Text 1"/>
          <p:cNvSpPr/>
          <p:nvPr>
            <p:ph idx="103" type="body" hasCustomPrompt="1"/>
          </p:nvPr>
        </p:nvSpPr>
        <p:spPr>
          <a:xfrm>
            <a:off x="548640" y="1115568"/>
            <a:ext cx="11094415" cy="411480"/>
          </a:xfrm>
          <a:prstGeom prst="rect">
            <a:avLst/>
          </a:prstGeom>
          <a:noFill/>
          <a:ln/>
        </p:spPr>
        <p:txBody>
          <a:bodyPr wrap="square" lIns="0" tIns="0" rIns="0" bIns="0" rtlCol="0" anchor="t"/>
          <a:lstStyle/>
          <a:p>
            <a:pPr algn="l" indent="0" marL="0">
              <a:buNone/>
            </a:pPr>
            <a:r>
              <a:rPr lang="en-US" sz="1800" dirty="0">
                <a:solidFill>
                  <a:schemeClr val="tx1"/>
                </a:solidFill>
                <a:latin typeface="Raleway Light" pitchFamily="34" charset="0"/>
                <a:ea typeface="Raleway Light" pitchFamily="34" charset="-122"/>
                <a:cs typeface="Raleway Light" pitchFamily="34" charset="-120"/>
              </a:rPr>
              <a:t>Help shape the future of the Entre Amis event experience.</a:t>
            </a:r>
            <a:endParaRPr lang="en-US" sz="1800" dirty="0"/>
          </a:p>
        </p:txBody>
      </p:sp>
      <p:sp>
        <p:nvSpPr>
          <p:cNvPr id="4" name="Expression marker: EVENT MODE"/>
          <p:cNvSpPr txBox="1"/>
          <p:nvPr/>
        </p:nvSpPr>
        <p:spPr>
          <a:xfrm>
            <a:off x="9265615" y="457200"/>
            <a:ext cx="2377440" cy="384048"/>
          </a:xfrm>
          <a:prstGeom prst="roundRect">
            <a:avLst>
              <a:gd name="adj" fmla="val 50000"/>
            </a:avLst>
          </a:prstGeom>
          <a:solidFill>
            <a:schemeClr val="accent4"/>
          </a:solidFill>
          <a:ln/>
        </p:spPr>
        <p:txBody>
          <a:bodyPr wrap="square" lIns="0" tIns="0" rIns="0" bIns="0" rtlCol="0" anchor="ctr"/>
          <a:lstStyle/>
          <a:p>
            <a:pPr algn="ctr" indent="0" marL="0">
              <a:buNone/>
            </a:pPr>
            <a:r>
              <a:rPr lang="en-US" sz="1400" spc="150" kern="0" dirty="0">
                <a:solidFill>
                  <a:schemeClr val="tx1"/>
                </a:solidFill>
                <a:latin typeface="Raleway SemiBold" pitchFamily="34" charset="0"/>
                <a:ea typeface="Raleway SemiBold" pitchFamily="34" charset="-122"/>
                <a:cs typeface="Raleway SemiBold" pitchFamily="34" charset="-120"/>
              </a:rPr>
              <a:t>EVENT MODE</a:t>
            </a:r>
            <a:endParaRPr lang="en-US" sz="1400" dirty="0"/>
          </a:p>
        </p:txBody>
      </p:sp>
      <p:sp>
        <p:nvSpPr>
          <p:cNvPr id="5" name="Founding: FOUNDING EXPERIENCE PARTNER"/>
          <p:cNvSpPr/>
          <p:nvPr/>
        </p:nvSpPr>
        <p:spPr>
          <a:xfrm>
            <a:off x="548640" y="1783080"/>
            <a:ext cx="11094415" cy="896112"/>
          </a:xfrm>
          <a:prstGeom prst="roundRect">
            <a:avLst>
              <a:gd name="adj" fmla="val 12245"/>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6" name="Text 4"/>
          <p:cNvSpPr txBox="1"/>
          <p:nvPr/>
        </p:nvSpPr>
        <p:spPr>
          <a:xfrm>
            <a:off x="822960" y="1783080"/>
            <a:ext cx="3291840" cy="896112"/>
          </a:xfrm>
          <a:prstGeom prst="rect">
            <a:avLst/>
          </a:prstGeom>
          <a:noFill/>
          <a:ln/>
        </p:spPr>
        <p:txBody>
          <a:bodyPr wrap="square" lIns="0" tIns="0" rIns="0" bIns="0" rtlCol="0" anchor="ctr"/>
          <a:lstStyle/>
          <a:p>
            <a:pPr indent="0" marL="0">
              <a:spcAft>
                <a:spcPts val="400"/>
              </a:spcAft>
              <a:buNone/>
            </a:pPr>
            <a:r>
              <a:rPr lang="en-US" sz="1300" spc="150" kern="0" dirty="0">
                <a:solidFill>
                  <a:schemeClr val="tx1"/>
                </a:solidFill>
                <a:latin typeface="Raleway SemiBold" pitchFamily="34" charset="0"/>
                <a:ea typeface="Raleway SemiBold" pitchFamily="34" charset="-122"/>
                <a:cs typeface="Raleway SemiBold" pitchFamily="34" charset="-120"/>
              </a:rPr>
              <a:t>FOUNDING EXPERIENCE PARTNER</a:t>
            </a:r>
            <a:endParaRPr lang="en-US" sz="1300" dirty="0"/>
          </a:p>
        </p:txBody>
      </p:sp>
      <p:sp>
        <p:nvSpPr>
          <p:cNvPr id="7" name="Text 5"/>
          <p:cNvSpPr txBox="1"/>
          <p:nvPr/>
        </p:nvSpPr>
        <p:spPr>
          <a:xfrm>
            <a:off x="4297680" y="1783080"/>
            <a:ext cx="7071055" cy="896112"/>
          </a:xfrm>
          <a:prstGeom prst="rect">
            <a:avLst/>
          </a:prstGeom>
          <a:noFill/>
          <a:ln/>
        </p:spPr>
        <p:txBody>
          <a:bodyPr wrap="square" lIns="0" tIns="0" rIns="0" bIns="0" rtlCol="0" anchor="ctr"/>
          <a:lstStyle/>
          <a:p>
            <a:pPr indent="0" marL="0">
              <a:spcAft>
                <a:spcPts val="400"/>
              </a:spcAft>
              <a:buNone/>
            </a:pPr>
            <a:r>
              <a:rPr lang="en-US" sz="1500" dirty="0">
                <a:solidFill>
                  <a:schemeClr val="tx1"/>
                </a:solidFill>
              </a:rPr>
              <a:t>Co-design input, launch recognition, a tailored event set-up and a shared post-event learning review.</a:t>
            </a:r>
            <a:endParaRPr lang="en-US" sz="1500" dirty="0"/>
          </a:p>
        </p:txBody>
      </p:sp>
      <p:sp>
        <p:nvSpPr>
          <p:cNvPr id="8" name="Founding: TWO-YEAR REPORTING BENEFIT"/>
          <p:cNvSpPr/>
          <p:nvPr/>
        </p:nvSpPr>
        <p:spPr>
          <a:xfrm>
            <a:off x="548640" y="2807208"/>
            <a:ext cx="11094415" cy="896112"/>
          </a:xfrm>
          <a:prstGeom prst="roundRect">
            <a:avLst>
              <a:gd name="adj" fmla="val 12245"/>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9" name="Text 7"/>
          <p:cNvSpPr txBox="1"/>
          <p:nvPr/>
        </p:nvSpPr>
        <p:spPr>
          <a:xfrm>
            <a:off x="822960" y="2807208"/>
            <a:ext cx="3291840" cy="896112"/>
          </a:xfrm>
          <a:prstGeom prst="rect">
            <a:avLst/>
          </a:prstGeom>
          <a:noFill/>
          <a:ln/>
        </p:spPr>
        <p:txBody>
          <a:bodyPr wrap="square" lIns="0" tIns="0" rIns="0" bIns="0" rtlCol="0" anchor="ctr"/>
          <a:lstStyle/>
          <a:p>
            <a:pPr indent="0" marL="0">
              <a:spcAft>
                <a:spcPts val="400"/>
              </a:spcAft>
              <a:buNone/>
            </a:pPr>
            <a:r>
              <a:rPr lang="en-US" sz="1300" spc="150" kern="0" dirty="0">
                <a:solidFill>
                  <a:schemeClr val="tx1"/>
                </a:solidFill>
                <a:latin typeface="Raleway SemiBold" pitchFamily="34" charset="0"/>
                <a:ea typeface="Raleway SemiBold" pitchFamily="34" charset="-122"/>
                <a:cs typeface="Raleway SemiBold" pitchFamily="34" charset="-120"/>
              </a:rPr>
              <a:t>TWO-YEAR REPORTING BENEFIT</a:t>
            </a:r>
            <a:endParaRPr lang="en-US" sz="1300" dirty="0"/>
          </a:p>
        </p:txBody>
      </p:sp>
      <p:sp>
        <p:nvSpPr>
          <p:cNvPr id="10" name="Text 8"/>
          <p:cNvSpPr txBox="1"/>
          <p:nvPr/>
        </p:nvSpPr>
        <p:spPr>
          <a:xfrm>
            <a:off x="4297680" y="2807208"/>
            <a:ext cx="7071055" cy="896112"/>
          </a:xfrm>
          <a:prstGeom prst="rect">
            <a:avLst/>
          </a:prstGeom>
          <a:noFill/>
          <a:ln/>
        </p:spPr>
        <p:txBody>
          <a:bodyPr wrap="square" lIns="0" tIns="0" rIns="0" bIns="0" rtlCol="0" anchor="ctr"/>
          <a:lstStyle/>
          <a:p>
            <a:pPr indent="0" marL="0">
              <a:spcAft>
                <a:spcPts val="400"/>
              </a:spcAft>
              <a:buNone/>
            </a:pPr>
            <a:r>
              <a:rPr lang="en-US" sz="1500" dirty="0">
                <a:solidFill>
                  <a:schemeClr val="tx1"/>
                </a:solidFill>
              </a:rPr>
              <a:t>Enhanced reporting and strategic conversations about what visitors think, within agreed deliverables and data-quality thresholds.</a:t>
            </a:r>
            <a:endParaRPr lang="en-US" sz="1500" dirty="0"/>
          </a:p>
        </p:txBody>
      </p:sp>
      <p:sp>
        <p:nvSpPr>
          <p:cNvPr id="11" name="Founding: PREFERENTIAL RATES"/>
          <p:cNvSpPr/>
          <p:nvPr/>
        </p:nvSpPr>
        <p:spPr>
          <a:xfrm>
            <a:off x="548640" y="3831336"/>
            <a:ext cx="11094415" cy="896112"/>
          </a:xfrm>
          <a:prstGeom prst="roundRect">
            <a:avLst>
              <a:gd name="adj" fmla="val 12245"/>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12" name="Text 10"/>
          <p:cNvSpPr txBox="1"/>
          <p:nvPr/>
        </p:nvSpPr>
        <p:spPr>
          <a:xfrm>
            <a:off x="822960" y="3831336"/>
            <a:ext cx="3291840" cy="896112"/>
          </a:xfrm>
          <a:prstGeom prst="rect">
            <a:avLst/>
          </a:prstGeom>
          <a:noFill/>
          <a:ln/>
        </p:spPr>
        <p:txBody>
          <a:bodyPr wrap="square" lIns="0" tIns="0" rIns="0" bIns="0" rtlCol="0" anchor="ctr"/>
          <a:lstStyle/>
          <a:p>
            <a:pPr indent="0" marL="0">
              <a:spcAft>
                <a:spcPts val="400"/>
              </a:spcAft>
              <a:buNone/>
            </a:pPr>
            <a:r>
              <a:rPr lang="en-US" sz="1300" spc="150" kern="0" dirty="0">
                <a:solidFill>
                  <a:schemeClr val="tx1"/>
                </a:solidFill>
                <a:latin typeface="Raleway SemiBold" pitchFamily="34" charset="0"/>
                <a:ea typeface="Raleway SemiBold" pitchFamily="34" charset="-122"/>
                <a:cs typeface="Raleway SemiBold" pitchFamily="34" charset="-120"/>
              </a:rPr>
              <a:t>PREFERENTIAL RATES</a:t>
            </a:r>
            <a:endParaRPr lang="en-US" sz="1300" dirty="0"/>
          </a:p>
        </p:txBody>
      </p:sp>
      <p:sp>
        <p:nvSpPr>
          <p:cNvPr id="13" name="Text 11"/>
          <p:cNvSpPr txBox="1"/>
          <p:nvPr/>
        </p:nvSpPr>
        <p:spPr>
          <a:xfrm>
            <a:off x="4297680" y="3831336"/>
            <a:ext cx="7071055" cy="896112"/>
          </a:xfrm>
          <a:prstGeom prst="rect">
            <a:avLst/>
          </a:prstGeom>
          <a:noFill/>
          <a:ln/>
        </p:spPr>
        <p:txBody>
          <a:bodyPr wrap="square" lIns="0" tIns="0" rIns="0" bIns="0" rtlCol="0" anchor="ctr"/>
          <a:lstStyle/>
          <a:p>
            <a:pPr indent="0" marL="0">
              <a:spcAft>
                <a:spcPts val="400"/>
              </a:spcAft>
              <a:buNone/>
            </a:pPr>
            <a:r>
              <a:rPr lang="en-US" sz="1500" dirty="0">
                <a:solidFill>
                  <a:schemeClr val="tx1"/>
                </a:solidFill>
              </a:rPr>
              <a:t>A preferential rate for comparable future events. Annual adjustments and wider scope agreed separately. No exclusivity.</a:t>
            </a:r>
            <a:endParaRPr lang="en-US" sz="1500" dirty="0"/>
          </a:p>
        </p:txBody>
      </p:sp>
      <p:sp>
        <p:nvSpPr>
          <p:cNvPr id="14" name="FLAG — delete before sharing"/>
          <p:cNvSpPr txBox="1"/>
          <p:nvPr/>
        </p:nvSpPr>
        <p:spPr>
          <a:xfrm>
            <a:off x="548640" y="4983480"/>
            <a:ext cx="5410048" cy="731520"/>
          </a:xfrm>
          <a:prstGeom prst="rect">
            <a:avLst/>
          </a:prstGeom>
          <a:solidFill>
            <a:schemeClr val="bg1"/>
          </a:solidFill>
          <a:ln w="25400">
            <a:solidFill>
              <a:schemeClr val="accent4"/>
            </a:solidFill>
          </a:ln>
        </p:spPr>
        <p:txBody>
          <a:bodyPr wrap="square" lIns="38100" tIns="76200" rIns="76200" bIns="38100" rtlCol="0" anchor="ctr"/>
          <a:lstStyle/>
          <a:p>
            <a:pPr indent="0" marL="0">
              <a:buNone/>
            </a:pPr>
            <a:r>
              <a:rPr lang="en-US" sz="1100" dirty="0">
                <a:solidFill>
                  <a:schemeClr val="tx1"/>
                </a:solidFill>
                <a:latin typeface="Raleway SemiBold" pitchFamily="34" charset="0"/>
                <a:ea typeface="Raleway SemiBold" pitchFamily="34" charset="-122"/>
                <a:cs typeface="Raleway SemiBold" pitchFamily="34" charset="-120"/>
              </a:rPr>
              <a:t>TO DECIDE  </a:t>
            </a:r>
            <a:pPr indent="0" marL="0">
              <a:buNone/>
            </a:pPr>
            <a:r>
              <a:rPr lang="en-US" sz="1100" dirty="0">
                <a:solidFill>
                  <a:schemeClr val="tx1"/>
                </a:solidFill>
              </a:rPr>
              <a:t>Preferential rates imply pricing. Keep here, or move to the proposal?</a:t>
            </a:r>
            <a:endParaRPr lang="en-US" sz="1100" dirty="0"/>
          </a:p>
        </p:txBody>
      </p:sp>
      <p:sp>
        <p:nvSpPr>
          <p:cNvPr id="15" name="FLAG — delete before sharing"/>
          <p:cNvSpPr txBox="1"/>
          <p:nvPr/>
        </p:nvSpPr>
        <p:spPr>
          <a:xfrm>
            <a:off x="6233008" y="4983480"/>
            <a:ext cx="5410048" cy="731520"/>
          </a:xfrm>
          <a:prstGeom prst="rect">
            <a:avLst/>
          </a:prstGeom>
          <a:solidFill>
            <a:schemeClr val="bg1"/>
          </a:solidFill>
          <a:ln w="25400">
            <a:solidFill>
              <a:schemeClr val="accent4"/>
            </a:solidFill>
          </a:ln>
        </p:spPr>
        <p:txBody>
          <a:bodyPr wrap="square" lIns="38100" tIns="76200" rIns="76200" bIns="38100" rtlCol="0" anchor="ctr"/>
          <a:lstStyle/>
          <a:p>
            <a:pPr indent="0" marL="0">
              <a:buNone/>
            </a:pPr>
            <a:r>
              <a:rPr lang="en-US" sz="1100" dirty="0">
                <a:solidFill>
                  <a:schemeClr val="tx1"/>
                </a:solidFill>
                <a:latin typeface="Raleway SemiBold" pitchFamily="34" charset="0"/>
                <a:ea typeface="Raleway SemiBold" pitchFamily="34" charset="-122"/>
                <a:cs typeface="Raleway SemiBold" pitchFamily="34" charset="-120"/>
              </a:rPr>
              <a:t>TO DECIDE  </a:t>
            </a:r>
            <a:pPr indent="0" marL="0">
              <a:buNone/>
            </a:pPr>
            <a:r>
              <a:rPr lang="en-US" sz="1100" dirty="0">
                <a:solidFill>
                  <a:schemeClr val="tx1"/>
                </a:solidFill>
              </a:rPr>
              <a:t>'Launch recognition': confirm what is launching, and when.</a:t>
            </a:r>
            <a:endParaRPr lang="en-US" sz="1100" dirty="0"/>
          </a:p>
        </p:txBody>
      </p:sp>
      <p:sp>
        <p:nvSpPr>
          <p:cNvPr id="25" name="Slide Number Placeholder 0"/>
          <p:cNvSpPr>
            <a:spLocks noGrp="1"/>
          </p:cNvSpPr>
          <p:nvPr>
            <p:ph type="sldNum" sz="quarter" idx="4294967295"/>
          </p:nvPr>
        </p:nvSpPr>
        <p:spPr>
          <a:xfrm>
            <a:off x="10180015"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latin typeface="Raleway Light"/>
                <a:ea typeface="Raleway Light"/>
                <a:cs typeface="Raleway Light"/>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8138160" cy="685800"/>
          </a:xfrm>
          <a:prstGeom prst="rect">
            <a:avLst/>
          </a:prstGeom>
          <a:noFill/>
          <a:ln/>
        </p:spPr>
        <p:txBody>
          <a:bodyPr wrap="square" lIns="0" tIns="0" rIns="0" bIns="0" rtlCol="0" anchor="t"/>
          <a:lstStyle/>
          <a:p>
            <a:pPr algn="l" indent="0" marL="0">
              <a:buNone/>
            </a:pPr>
            <a:r>
              <a:rPr lang="en-US" sz="3600" dirty="0">
                <a:solidFill>
                  <a:schemeClr val="tx1"/>
                </a:solidFill>
                <a:latin typeface="Raleway Light" pitchFamily="34" charset="0"/>
                <a:ea typeface="Raleway Light" pitchFamily="34" charset="-122"/>
                <a:cs typeface="Raleway Light" pitchFamily="34" charset="-120"/>
              </a:rPr>
              <a:t>How we'll show it working</a:t>
            </a:r>
            <a:endParaRPr lang="en-US" sz="3600" dirty="0"/>
          </a:p>
        </p:txBody>
      </p:sp>
      <p:sp>
        <p:nvSpPr>
          <p:cNvPr id="3" name="Text 1"/>
          <p:cNvSpPr/>
          <p:nvPr>
            <p:ph idx="103" type="body" hasCustomPrompt="1"/>
          </p:nvPr>
        </p:nvSpPr>
        <p:spPr>
          <a:xfrm>
            <a:off x="548640" y="1115568"/>
            <a:ext cx="11094415" cy="411480"/>
          </a:xfrm>
          <a:prstGeom prst="rect">
            <a:avLst/>
          </a:prstGeom>
          <a:noFill/>
          <a:ln/>
        </p:spPr>
        <p:txBody>
          <a:bodyPr wrap="square" lIns="0" tIns="0" rIns="0" bIns="0" rtlCol="0" anchor="t"/>
          <a:lstStyle/>
          <a:p>
            <a:pPr algn="l" indent="0" marL="0">
              <a:buNone/>
            </a:pPr>
            <a:r>
              <a:rPr lang="en-US" sz="1800" dirty="0">
                <a:solidFill>
                  <a:schemeClr val="tx1"/>
                </a:solidFill>
                <a:latin typeface="Raleway Light" pitchFamily="34" charset="0"/>
                <a:ea typeface="Raleway Light" pitchFamily="34" charset="-122"/>
                <a:cs typeface="Raleway Light" pitchFamily="34" charset="-120"/>
              </a:rPr>
              <a:t>The experience and evidence first.</a:t>
            </a:r>
            <a:endParaRPr lang="en-US" sz="1800" dirty="0"/>
          </a:p>
        </p:txBody>
      </p:sp>
      <p:sp>
        <p:nvSpPr>
          <p:cNvPr id="4" name="Expression marker: EVENT MODE"/>
          <p:cNvSpPr txBox="1"/>
          <p:nvPr/>
        </p:nvSpPr>
        <p:spPr>
          <a:xfrm>
            <a:off x="9265615" y="457200"/>
            <a:ext cx="2377440" cy="384048"/>
          </a:xfrm>
          <a:prstGeom prst="roundRect">
            <a:avLst>
              <a:gd name="adj" fmla="val 50000"/>
            </a:avLst>
          </a:prstGeom>
          <a:solidFill>
            <a:schemeClr val="accent4"/>
          </a:solidFill>
          <a:ln/>
        </p:spPr>
        <p:txBody>
          <a:bodyPr wrap="square" lIns="0" tIns="0" rIns="0" bIns="0" rtlCol="0" anchor="ctr"/>
          <a:lstStyle/>
          <a:p>
            <a:pPr algn="ctr" indent="0" marL="0">
              <a:buNone/>
            </a:pPr>
            <a:r>
              <a:rPr lang="en-US" sz="1400" spc="150" kern="0" dirty="0">
                <a:solidFill>
                  <a:schemeClr val="tx1"/>
                </a:solidFill>
                <a:latin typeface="Raleway SemiBold" pitchFamily="34" charset="0"/>
                <a:ea typeface="Raleway SemiBold" pitchFamily="34" charset="-122"/>
                <a:cs typeface="Raleway SemiBold" pitchFamily="34" charset="-120"/>
              </a:rPr>
              <a:t>EVENT MODE</a:t>
            </a:r>
            <a:endParaRPr lang="en-US" sz="1400" dirty="0"/>
          </a:p>
        </p:txBody>
      </p:sp>
      <p:sp>
        <p:nvSpPr>
          <p:cNvPr id="5" name="Card: CLICKABLE PROTOTYPE"/>
          <p:cNvSpPr/>
          <p:nvPr/>
        </p:nvSpPr>
        <p:spPr>
          <a:xfrm>
            <a:off x="548640" y="1783080"/>
            <a:ext cx="3515258" cy="2377440"/>
          </a:xfrm>
          <a:prstGeom prst="roundRect">
            <a:avLst>
              <a:gd name="adj" fmla="val 4615"/>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6" name="Text 4"/>
          <p:cNvSpPr txBox="1"/>
          <p:nvPr/>
        </p:nvSpPr>
        <p:spPr>
          <a:xfrm>
            <a:off x="777240" y="2011680"/>
            <a:ext cx="3058058" cy="2011680"/>
          </a:xfrm>
          <a:prstGeom prst="rect">
            <a:avLst/>
          </a:prstGeom>
          <a:noFill/>
          <a:ln/>
        </p:spPr>
        <p:txBody>
          <a:bodyPr wrap="square" lIns="0" tIns="0" rIns="0" bIns="0" rtlCol="0" anchor="t"/>
          <a:lstStyle/>
          <a:p>
            <a:pPr indent="0" marL="0">
              <a:spcAft>
                <a:spcPts val="400"/>
              </a:spcAft>
              <a:buNone/>
            </a:pPr>
            <a:r>
              <a:rPr lang="en-US" sz="1200" spc="150" kern="0" dirty="0">
                <a:solidFill>
                  <a:schemeClr val="tx1"/>
                </a:solidFill>
                <a:latin typeface="Raleway SemiBold" pitchFamily="34" charset="0"/>
                <a:ea typeface="Raleway SemiBold" pitchFamily="34" charset="-122"/>
                <a:cs typeface="Raleway SemiBold" pitchFamily="34" charset="-120"/>
              </a:rPr>
              <a:t>CLICKABLE PROTOTYPE</a:t>
            </a:r>
            <a:endParaRPr lang="en-US" sz="1500" dirty="0"/>
          </a:p>
          <a:p>
            <a:pPr indent="0" marL="0">
              <a:spcAft>
                <a:spcPts val="400"/>
              </a:spcAft>
              <a:buNone/>
            </a:pPr>
            <a:r>
              <a:rPr lang="en-US" sz="600" dirty="0">
                <a:solidFill>
                  <a:schemeClr val="tx1"/>
                </a:solidFill>
              </a:rPr>
              <a:t> </a:t>
            </a:r>
            <a:endParaRPr lang="en-US" sz="1500" dirty="0"/>
          </a:p>
          <a:p>
            <a:pPr indent="0" marL="0">
              <a:spcAft>
                <a:spcPts val="400"/>
              </a:spcAft>
              <a:buNone/>
            </a:pPr>
            <a:r>
              <a:rPr lang="en-US" sz="1500" dirty="0">
                <a:solidFill>
                  <a:schemeClr val="tx1"/>
                </a:solidFill>
              </a:rPr>
              <a:t>Visitor screens: discover, Meet the Maker, tasting prompts, save, crown, join in, memories and consent.</a:t>
            </a:r>
            <a:endParaRPr lang="en-US" sz="1500" dirty="0"/>
          </a:p>
        </p:txBody>
      </p:sp>
      <p:sp>
        <p:nvSpPr>
          <p:cNvPr id="7" name="Card: EXAMPLE ORGANISER REPORT"/>
          <p:cNvSpPr/>
          <p:nvPr/>
        </p:nvSpPr>
        <p:spPr>
          <a:xfrm>
            <a:off x="4338218" y="1783080"/>
            <a:ext cx="3515258" cy="2377440"/>
          </a:xfrm>
          <a:prstGeom prst="roundRect">
            <a:avLst>
              <a:gd name="adj" fmla="val 4615"/>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8" name="Text 6"/>
          <p:cNvSpPr txBox="1"/>
          <p:nvPr/>
        </p:nvSpPr>
        <p:spPr>
          <a:xfrm>
            <a:off x="4566818" y="2011680"/>
            <a:ext cx="3058058" cy="2011680"/>
          </a:xfrm>
          <a:prstGeom prst="rect">
            <a:avLst/>
          </a:prstGeom>
          <a:noFill/>
          <a:ln/>
        </p:spPr>
        <p:txBody>
          <a:bodyPr wrap="square" lIns="0" tIns="0" rIns="0" bIns="0" rtlCol="0" anchor="t"/>
          <a:lstStyle/>
          <a:p>
            <a:pPr indent="0" marL="0">
              <a:spcAft>
                <a:spcPts val="400"/>
              </a:spcAft>
              <a:buNone/>
            </a:pPr>
            <a:r>
              <a:rPr lang="en-US" sz="1200" spc="150" kern="0" dirty="0">
                <a:solidFill>
                  <a:schemeClr val="tx1"/>
                </a:solidFill>
                <a:latin typeface="Raleway SemiBold" pitchFamily="34" charset="0"/>
                <a:ea typeface="Raleway SemiBold" pitchFamily="34" charset="-122"/>
                <a:cs typeface="Raleway SemiBold" pitchFamily="34" charset="-120"/>
              </a:rPr>
              <a:t>EXAMPLE ORGANISER REPORT</a:t>
            </a:r>
            <a:endParaRPr lang="en-US" sz="1500" dirty="0"/>
          </a:p>
          <a:p>
            <a:pPr indent="0" marL="0">
              <a:spcAft>
                <a:spcPts val="400"/>
              </a:spcAft>
              <a:buNone/>
            </a:pPr>
            <a:r>
              <a:rPr lang="en-US" sz="600" dirty="0">
                <a:solidFill>
                  <a:schemeClr val="tx1"/>
                </a:solidFill>
              </a:rPr>
              <a:t> </a:t>
            </a:r>
            <a:endParaRPr lang="en-US" sz="1500" dirty="0"/>
          </a:p>
          <a:p>
            <a:pPr indent="0" marL="0">
              <a:spcAft>
                <a:spcPts val="400"/>
              </a:spcAft>
              <a:buNone/>
            </a:pPr>
            <a:r>
              <a:rPr lang="en-US" sz="1500" dirty="0">
                <a:solidFill>
                  <a:schemeClr val="tx1"/>
                </a:solidFill>
              </a:rPr>
              <a:t>An illustrative dashboard and post-event report. Every number tied to a real interaction.</a:t>
            </a:r>
            <a:endParaRPr lang="en-US" sz="1500" dirty="0"/>
          </a:p>
        </p:txBody>
      </p:sp>
      <p:sp>
        <p:nvSpPr>
          <p:cNvPr id="9" name="Card: FIRST EVENT PILOT"/>
          <p:cNvSpPr/>
          <p:nvPr/>
        </p:nvSpPr>
        <p:spPr>
          <a:xfrm>
            <a:off x="8127797" y="1783080"/>
            <a:ext cx="3515258" cy="2377440"/>
          </a:xfrm>
          <a:prstGeom prst="roundRect">
            <a:avLst>
              <a:gd name="adj" fmla="val 4615"/>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10" name="Text 8"/>
          <p:cNvSpPr txBox="1"/>
          <p:nvPr/>
        </p:nvSpPr>
        <p:spPr>
          <a:xfrm>
            <a:off x="8356397" y="2011680"/>
            <a:ext cx="3058058" cy="2011680"/>
          </a:xfrm>
          <a:prstGeom prst="rect">
            <a:avLst/>
          </a:prstGeom>
          <a:noFill/>
          <a:ln/>
        </p:spPr>
        <p:txBody>
          <a:bodyPr wrap="square" lIns="0" tIns="0" rIns="0" bIns="0" rtlCol="0" anchor="t"/>
          <a:lstStyle/>
          <a:p>
            <a:pPr indent="0" marL="0">
              <a:spcAft>
                <a:spcPts val="400"/>
              </a:spcAft>
              <a:buNone/>
            </a:pPr>
            <a:r>
              <a:rPr lang="en-US" sz="1200" spc="150" kern="0" dirty="0">
                <a:solidFill>
                  <a:schemeClr val="tx1"/>
                </a:solidFill>
                <a:latin typeface="Raleway SemiBold" pitchFamily="34" charset="0"/>
                <a:ea typeface="Raleway SemiBold" pitchFamily="34" charset="-122"/>
                <a:cs typeface="Raleway SemiBold" pitchFamily="34" charset="-120"/>
              </a:rPr>
              <a:t>FIRST EVENT PILOT</a:t>
            </a:r>
            <a:endParaRPr lang="en-US" sz="1500" dirty="0"/>
          </a:p>
          <a:p>
            <a:pPr indent="0" marL="0">
              <a:spcAft>
                <a:spcPts val="400"/>
              </a:spcAft>
              <a:buNone/>
            </a:pPr>
            <a:r>
              <a:rPr lang="en-US" sz="600" dirty="0">
                <a:solidFill>
                  <a:schemeClr val="tx1"/>
                </a:solidFill>
              </a:rPr>
              <a:t> </a:t>
            </a:r>
            <a:endParaRPr lang="en-US" sz="1500" dirty="0"/>
          </a:p>
          <a:p>
            <a:pPr indent="0" marL="0">
              <a:spcAft>
                <a:spcPts val="400"/>
              </a:spcAft>
              <a:buNone/>
            </a:pPr>
            <a:r>
              <a:rPr lang="en-US" sz="1500" dirty="0">
                <a:solidFill>
                  <a:schemeClr val="tx1"/>
                </a:solidFill>
              </a:rPr>
              <a:t>Defined scope, costs, responsibilities, no exclusivity, and measures of success for the first event.</a:t>
            </a:r>
            <a:endParaRPr lang="en-US" sz="1500" dirty="0"/>
          </a:p>
        </p:txBody>
      </p:sp>
      <p:sp>
        <p:nvSpPr>
          <p:cNvPr id="11" name="FLAG — delete before sharing"/>
          <p:cNvSpPr txBox="1"/>
          <p:nvPr/>
        </p:nvSpPr>
        <p:spPr>
          <a:xfrm>
            <a:off x="548640" y="4434840"/>
            <a:ext cx="11094415" cy="640080"/>
          </a:xfrm>
          <a:prstGeom prst="rect">
            <a:avLst/>
          </a:prstGeom>
          <a:solidFill>
            <a:schemeClr val="bg1"/>
          </a:solidFill>
          <a:ln w="25400">
            <a:solidFill>
              <a:schemeClr val="accent4"/>
            </a:solidFill>
          </a:ln>
        </p:spPr>
        <p:txBody>
          <a:bodyPr wrap="square" lIns="38100" tIns="76200" rIns="76200" bIns="38100" rtlCol="0" anchor="ctr"/>
          <a:lstStyle/>
          <a:p>
            <a:pPr indent="0" marL="0">
              <a:buNone/>
            </a:pPr>
            <a:r>
              <a:rPr lang="en-US" sz="1100" dirty="0">
                <a:solidFill>
                  <a:schemeClr val="tx1"/>
                </a:solidFill>
                <a:latin typeface="Raleway SemiBold" pitchFamily="34" charset="0"/>
                <a:ea typeface="Raleway SemiBold" pitchFamily="34" charset="-122"/>
                <a:cs typeface="Raleway SemiBold" pitchFamily="34" charset="-120"/>
              </a:rPr>
              <a:t>TO ADD  </a:t>
            </a:r>
            <a:pPr indent="0" marL="0">
              <a:buNone/>
            </a:pPr>
            <a:r>
              <a:rPr lang="en-US" sz="1100" dirty="0">
                <a:solidFill>
                  <a:schemeClr val="tx1"/>
                </a:solidFill>
              </a:rPr>
              <a:t>Where each of these is today (e.g. built, in progress, planned).</a:t>
            </a:r>
            <a:endParaRPr lang="en-US" sz="1100" dirty="0"/>
          </a:p>
        </p:txBody>
      </p:sp>
      <p:sp>
        <p:nvSpPr>
          <p:cNvPr id="25" name="Slide Number Placeholder 0"/>
          <p:cNvSpPr>
            <a:spLocks noGrp="1"/>
          </p:cNvSpPr>
          <p:nvPr>
            <p:ph type="sldNum" sz="quarter" idx="4294967295"/>
          </p:nvPr>
        </p:nvSpPr>
        <p:spPr>
          <a:xfrm>
            <a:off x="10180015"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latin typeface="Raleway Light"/>
                <a:ea typeface="Raleway Light"/>
                <a:cs typeface="Raleway Light"/>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8138160" cy="685800"/>
          </a:xfrm>
          <a:prstGeom prst="rect">
            <a:avLst/>
          </a:prstGeom>
          <a:noFill/>
          <a:ln/>
        </p:spPr>
        <p:txBody>
          <a:bodyPr wrap="square" lIns="0" tIns="0" rIns="0" bIns="0" rtlCol="0" anchor="t"/>
          <a:lstStyle/>
          <a:p>
            <a:pPr algn="l" indent="0" marL="0">
              <a:buNone/>
            </a:pPr>
            <a:r>
              <a:rPr lang="en-US" sz="3600" dirty="0">
                <a:solidFill>
                  <a:schemeClr val="tx1"/>
                </a:solidFill>
                <a:latin typeface="Raleway Light" pitchFamily="34" charset="0"/>
                <a:ea typeface="Raleway Light" pitchFamily="34" charset="-122"/>
                <a:cs typeface="Raleway Light" pitchFamily="34" charset="-120"/>
              </a:rPr>
              <a:t>Responsible by design</a:t>
            </a:r>
            <a:endParaRPr lang="en-US" sz="3600" dirty="0"/>
          </a:p>
        </p:txBody>
      </p:sp>
      <p:sp>
        <p:nvSpPr>
          <p:cNvPr id="3" name="Responsible: 18+ only."/>
          <p:cNvSpPr/>
          <p:nvPr/>
        </p:nvSpPr>
        <p:spPr>
          <a:xfrm>
            <a:off x="548640" y="1417320"/>
            <a:ext cx="11094415" cy="731520"/>
          </a:xfrm>
          <a:prstGeom prst="roundRect">
            <a:avLst>
              <a:gd name="adj" fmla="val 15000"/>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4" name="Text 2"/>
          <p:cNvSpPr txBox="1"/>
          <p:nvPr/>
        </p:nvSpPr>
        <p:spPr>
          <a:xfrm>
            <a:off x="777240" y="1527048"/>
            <a:ext cx="1371600" cy="512064"/>
          </a:xfrm>
          <a:prstGeom prst="roundRect">
            <a:avLst>
              <a:gd name="adj" fmla="val 50000"/>
            </a:avLst>
          </a:prstGeom>
          <a:solidFill>
            <a:schemeClr val="tx1"/>
          </a:solidFill>
          <a:ln/>
        </p:spPr>
        <p:txBody>
          <a:bodyPr wrap="square" lIns="0" tIns="0" rIns="0" bIns="0" rtlCol="0" anchor="ctr"/>
          <a:lstStyle/>
          <a:p>
            <a:pPr algn="ctr" indent="0" marL="0">
              <a:buNone/>
            </a:pPr>
            <a:r>
              <a:rPr lang="en-US" sz="1400" dirty="0">
                <a:solidFill>
                  <a:schemeClr val="bg2"/>
                </a:solidFill>
                <a:latin typeface="Raleway SemiBold" pitchFamily="34" charset="0"/>
                <a:ea typeface="Raleway SemiBold" pitchFamily="34" charset="-122"/>
                <a:cs typeface="Raleway SemiBold" pitchFamily="34" charset="-120"/>
              </a:rPr>
              <a:t>18+</a:t>
            </a:r>
            <a:endParaRPr lang="en-US" sz="1400" dirty="0"/>
          </a:p>
        </p:txBody>
      </p:sp>
      <p:sp>
        <p:nvSpPr>
          <p:cNvPr id="5" name="Text 3"/>
          <p:cNvSpPr txBox="1"/>
          <p:nvPr/>
        </p:nvSpPr>
        <p:spPr>
          <a:xfrm>
            <a:off x="2423160" y="1417320"/>
            <a:ext cx="8991295" cy="731520"/>
          </a:xfrm>
          <a:prstGeom prst="rect">
            <a:avLst/>
          </a:prstGeom>
          <a:noFill/>
          <a:ln/>
        </p:spPr>
        <p:txBody>
          <a:bodyPr wrap="square" lIns="0" tIns="0" rIns="0" bIns="0" rtlCol="0" anchor="ctr"/>
          <a:lstStyle/>
          <a:p>
            <a:pPr indent="0" marL="0">
              <a:spcAft>
                <a:spcPts val="400"/>
              </a:spcAft>
              <a:buNone/>
            </a:pPr>
            <a:r>
              <a:rPr lang="en-US" sz="1600" dirty="0">
                <a:solidFill>
                  <a:schemeClr val="tx1"/>
                </a:solidFill>
                <a:latin typeface="Raleway SemiBold" pitchFamily="34" charset="0"/>
                <a:ea typeface="Raleway SemiBold" pitchFamily="34" charset="-122"/>
                <a:cs typeface="Raleway SemiBold" pitchFamily="34" charset="-120"/>
              </a:rPr>
              <a:t>18+ only.  </a:t>
            </a:r>
            <a:pPr indent="0" marL="0">
              <a:spcAft>
                <a:spcPts val="400"/>
              </a:spcAft>
              <a:buNone/>
            </a:pPr>
            <a:r>
              <a:rPr lang="en-US" sz="1600" dirty="0">
                <a:solidFill>
                  <a:schemeClr val="tx1"/>
                </a:solidFill>
              </a:rPr>
              <a:t>The game is clearly marked 18+, and the app has an age gate.</a:t>
            </a:r>
            <a:endParaRPr lang="en-US" sz="1600" dirty="0"/>
          </a:p>
        </p:txBody>
      </p:sp>
      <p:sp>
        <p:nvSpPr>
          <p:cNvPr id="6" name="Responsible: Never a drinking game."/>
          <p:cNvSpPr/>
          <p:nvPr/>
        </p:nvSpPr>
        <p:spPr>
          <a:xfrm>
            <a:off x="548640" y="2313432"/>
            <a:ext cx="11094415" cy="731520"/>
          </a:xfrm>
          <a:prstGeom prst="roundRect">
            <a:avLst>
              <a:gd name="adj" fmla="val 15000"/>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7" name="Text 5"/>
          <p:cNvSpPr txBox="1"/>
          <p:nvPr/>
        </p:nvSpPr>
        <p:spPr>
          <a:xfrm>
            <a:off x="777240" y="2423160"/>
            <a:ext cx="1371600" cy="512064"/>
          </a:xfrm>
          <a:prstGeom prst="roundRect">
            <a:avLst>
              <a:gd name="adj" fmla="val 50000"/>
            </a:avLst>
          </a:prstGeom>
          <a:solidFill>
            <a:schemeClr val="tx1"/>
          </a:solidFill>
          <a:ln/>
        </p:spPr>
        <p:txBody>
          <a:bodyPr wrap="square" lIns="0" tIns="0" rIns="0" bIns="0" rtlCol="0" anchor="ctr"/>
          <a:lstStyle/>
          <a:p>
            <a:pPr algn="ctr" indent="0" marL="0">
              <a:buNone/>
            </a:pPr>
            <a:r>
              <a:rPr lang="en-US" sz="1400" dirty="0">
                <a:solidFill>
                  <a:schemeClr val="bg2"/>
                </a:solidFill>
                <a:latin typeface="Raleway SemiBold" pitchFamily="34" charset="0"/>
                <a:ea typeface="Raleway SemiBold" pitchFamily="34" charset="-122"/>
                <a:cs typeface="Raleway SemiBold" pitchFamily="34" charset="-120"/>
              </a:rPr>
              <a:t>Corks</a:t>
            </a:r>
            <a:endParaRPr lang="en-US" sz="1400" dirty="0"/>
          </a:p>
        </p:txBody>
      </p:sp>
      <p:sp>
        <p:nvSpPr>
          <p:cNvPr id="8" name="Text 6"/>
          <p:cNvSpPr txBox="1"/>
          <p:nvPr/>
        </p:nvSpPr>
        <p:spPr>
          <a:xfrm>
            <a:off x="2423160" y="2313432"/>
            <a:ext cx="8991295" cy="731520"/>
          </a:xfrm>
          <a:prstGeom prst="rect">
            <a:avLst/>
          </a:prstGeom>
          <a:noFill/>
          <a:ln/>
        </p:spPr>
        <p:txBody>
          <a:bodyPr wrap="square" lIns="0" tIns="0" rIns="0" bIns="0" rtlCol="0" anchor="ctr"/>
          <a:lstStyle/>
          <a:p>
            <a:pPr indent="0" marL="0">
              <a:spcAft>
                <a:spcPts val="400"/>
              </a:spcAft>
              <a:buNone/>
            </a:pPr>
            <a:r>
              <a:rPr lang="en-US" sz="1600" dirty="0">
                <a:solidFill>
                  <a:schemeClr val="tx1"/>
                </a:solidFill>
                <a:latin typeface="Raleway SemiBold" pitchFamily="34" charset="0"/>
                <a:ea typeface="Raleway SemiBold" pitchFamily="34" charset="-122"/>
                <a:cs typeface="Raleway SemiBold" pitchFamily="34" charset="-120"/>
              </a:rPr>
              <a:t>Never a drinking game.  </a:t>
            </a:r>
            <a:pPr indent="0" marL="0">
              <a:spcAft>
                <a:spcPts val="400"/>
              </a:spcAft>
              <a:buNone/>
            </a:pPr>
            <a:r>
              <a:rPr lang="en-US" sz="1600" dirty="0">
                <a:solidFill>
                  <a:schemeClr val="tx1"/>
                </a:solidFill>
              </a:rPr>
              <a:t>Corks are won for conversation and play, never for how much anyone drinks.</a:t>
            </a:r>
            <a:endParaRPr lang="en-US" sz="1600" dirty="0"/>
          </a:p>
        </p:txBody>
      </p:sp>
      <p:sp>
        <p:nvSpPr>
          <p:cNvPr id="9" name="Responsible: A single glass is enough."/>
          <p:cNvSpPr/>
          <p:nvPr/>
        </p:nvSpPr>
        <p:spPr>
          <a:xfrm>
            <a:off x="548640" y="3209544"/>
            <a:ext cx="11094415" cy="731520"/>
          </a:xfrm>
          <a:prstGeom prst="roundRect">
            <a:avLst>
              <a:gd name="adj" fmla="val 15000"/>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10" name="Text 8"/>
          <p:cNvSpPr txBox="1"/>
          <p:nvPr/>
        </p:nvSpPr>
        <p:spPr>
          <a:xfrm>
            <a:off x="777240" y="3319272"/>
            <a:ext cx="1371600" cy="512064"/>
          </a:xfrm>
          <a:prstGeom prst="roundRect">
            <a:avLst>
              <a:gd name="adj" fmla="val 50000"/>
            </a:avLst>
          </a:prstGeom>
          <a:solidFill>
            <a:schemeClr val="tx1"/>
          </a:solidFill>
          <a:ln/>
        </p:spPr>
        <p:txBody>
          <a:bodyPr wrap="square" lIns="0" tIns="0" rIns="0" bIns="0" rtlCol="0" anchor="ctr"/>
          <a:lstStyle/>
          <a:p>
            <a:pPr algn="ctr" indent="0" marL="0">
              <a:buNone/>
            </a:pPr>
            <a:r>
              <a:rPr lang="en-US" sz="1400" dirty="0">
                <a:solidFill>
                  <a:schemeClr val="bg2"/>
                </a:solidFill>
                <a:latin typeface="Raleway SemiBold" pitchFamily="34" charset="0"/>
                <a:ea typeface="Raleway SemiBold" pitchFamily="34" charset="-122"/>
                <a:cs typeface="Raleway SemiBold" pitchFamily="34" charset="-120"/>
              </a:rPr>
              <a:t>1 glass</a:t>
            </a:r>
            <a:endParaRPr lang="en-US" sz="1400" dirty="0"/>
          </a:p>
        </p:txBody>
      </p:sp>
      <p:sp>
        <p:nvSpPr>
          <p:cNvPr id="11" name="Text 9"/>
          <p:cNvSpPr txBox="1"/>
          <p:nvPr/>
        </p:nvSpPr>
        <p:spPr>
          <a:xfrm>
            <a:off x="2423160" y="3209544"/>
            <a:ext cx="8991295" cy="731520"/>
          </a:xfrm>
          <a:prstGeom prst="rect">
            <a:avLst/>
          </a:prstGeom>
          <a:noFill/>
          <a:ln/>
        </p:spPr>
        <p:txBody>
          <a:bodyPr wrap="square" lIns="0" tIns="0" rIns="0" bIns="0" rtlCol="0" anchor="ctr"/>
          <a:lstStyle/>
          <a:p>
            <a:pPr indent="0" marL="0">
              <a:spcAft>
                <a:spcPts val="400"/>
              </a:spcAft>
              <a:buNone/>
            </a:pPr>
            <a:r>
              <a:rPr lang="en-US" sz="1600" dirty="0">
                <a:solidFill>
                  <a:schemeClr val="tx1"/>
                </a:solidFill>
                <a:latin typeface="Raleway SemiBold" pitchFamily="34" charset="0"/>
                <a:ea typeface="Raleway SemiBold" pitchFamily="34" charset="-122"/>
                <a:cs typeface="Raleway SemiBold" pitchFamily="34" charset="-120"/>
              </a:rPr>
              <a:t>A single glass is enough.  </a:t>
            </a:r>
            <a:pPr indent="0" marL="0">
              <a:spcAft>
                <a:spcPts val="400"/>
              </a:spcAft>
              <a:buNone/>
            </a:pPr>
            <a:r>
              <a:rPr lang="en-US" sz="1600" dirty="0">
                <a:solidFill>
                  <a:schemeClr val="tx1"/>
                </a:solidFill>
              </a:rPr>
              <a:t>Any wine works.</a:t>
            </a:r>
            <a:endParaRPr lang="en-US" sz="1600" dirty="0"/>
          </a:p>
        </p:txBody>
      </p:sp>
      <p:sp>
        <p:nvSpPr>
          <p:cNvPr id="12" name="Responsible: No pressure to taste."/>
          <p:cNvSpPr/>
          <p:nvPr/>
        </p:nvSpPr>
        <p:spPr>
          <a:xfrm>
            <a:off x="548640" y="4105656"/>
            <a:ext cx="11094415" cy="731520"/>
          </a:xfrm>
          <a:prstGeom prst="roundRect">
            <a:avLst>
              <a:gd name="adj" fmla="val 15000"/>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13" name="Text 11"/>
          <p:cNvSpPr txBox="1"/>
          <p:nvPr/>
        </p:nvSpPr>
        <p:spPr>
          <a:xfrm>
            <a:off x="777240" y="4215384"/>
            <a:ext cx="1371600" cy="512064"/>
          </a:xfrm>
          <a:prstGeom prst="roundRect">
            <a:avLst>
              <a:gd name="adj" fmla="val 50000"/>
            </a:avLst>
          </a:prstGeom>
          <a:solidFill>
            <a:schemeClr val="tx1"/>
          </a:solidFill>
          <a:ln/>
        </p:spPr>
        <p:txBody>
          <a:bodyPr wrap="square" lIns="0" tIns="0" rIns="0" bIns="0" rtlCol="0" anchor="ctr"/>
          <a:lstStyle/>
          <a:p>
            <a:pPr algn="ctr" indent="0" marL="0">
              <a:buNone/>
            </a:pPr>
            <a:r>
              <a:rPr lang="en-US" sz="1400" dirty="0">
                <a:solidFill>
                  <a:schemeClr val="bg2"/>
                </a:solidFill>
                <a:latin typeface="Raleway SemiBold" pitchFamily="34" charset="0"/>
                <a:ea typeface="Raleway SemiBold" pitchFamily="34" charset="-122"/>
                <a:cs typeface="Raleway SemiBold" pitchFamily="34" charset="-120"/>
              </a:rPr>
              <a:t>Optional</a:t>
            </a:r>
            <a:endParaRPr lang="en-US" sz="1400" dirty="0"/>
          </a:p>
        </p:txBody>
      </p:sp>
      <p:sp>
        <p:nvSpPr>
          <p:cNvPr id="14" name="Text 12"/>
          <p:cNvSpPr txBox="1"/>
          <p:nvPr/>
        </p:nvSpPr>
        <p:spPr>
          <a:xfrm>
            <a:off x="2423160" y="4105656"/>
            <a:ext cx="8991295" cy="731520"/>
          </a:xfrm>
          <a:prstGeom prst="rect">
            <a:avLst/>
          </a:prstGeom>
          <a:noFill/>
          <a:ln/>
        </p:spPr>
        <p:txBody>
          <a:bodyPr wrap="square" lIns="0" tIns="0" rIns="0" bIns="0" rtlCol="0" anchor="ctr"/>
          <a:lstStyle/>
          <a:p>
            <a:pPr indent="0" marL="0">
              <a:spcAft>
                <a:spcPts val="400"/>
              </a:spcAft>
              <a:buNone/>
            </a:pPr>
            <a:r>
              <a:rPr lang="en-US" sz="1600" dirty="0">
                <a:solidFill>
                  <a:schemeClr val="tx1"/>
                </a:solidFill>
                <a:latin typeface="Raleway SemiBold" pitchFamily="34" charset="0"/>
                <a:ea typeface="Raleway SemiBold" pitchFamily="34" charset="-122"/>
                <a:cs typeface="Raleway SemiBold" pitchFamily="34" charset="-120"/>
              </a:rPr>
              <a:t>No pressure to taste.  </a:t>
            </a:r>
            <a:pPr indent="0" marL="0">
              <a:spcAft>
                <a:spcPts val="400"/>
              </a:spcAft>
              <a:buNone/>
            </a:pPr>
            <a:r>
              <a:rPr lang="en-US" sz="1600" dirty="0">
                <a:solidFill>
                  <a:schemeClr val="tx1"/>
                </a:solidFill>
              </a:rPr>
              <a:t>At events, tasting is always optional.</a:t>
            </a:r>
            <a:endParaRPr lang="en-US" sz="1600" dirty="0"/>
          </a:p>
        </p:txBody>
      </p:sp>
      <p:sp>
        <p:nvSpPr>
          <p:cNvPr id="15" name="Responsible: Safe to say what you think."/>
          <p:cNvSpPr/>
          <p:nvPr/>
        </p:nvSpPr>
        <p:spPr>
          <a:xfrm>
            <a:off x="548640" y="5001768"/>
            <a:ext cx="11094415" cy="731520"/>
          </a:xfrm>
          <a:prstGeom prst="roundRect">
            <a:avLst>
              <a:gd name="adj" fmla="val 15000"/>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16" name="Text 14"/>
          <p:cNvSpPr txBox="1"/>
          <p:nvPr/>
        </p:nvSpPr>
        <p:spPr>
          <a:xfrm>
            <a:off x="777240" y="5111496"/>
            <a:ext cx="1371600" cy="512064"/>
          </a:xfrm>
          <a:prstGeom prst="roundRect">
            <a:avLst>
              <a:gd name="adj" fmla="val 50000"/>
            </a:avLst>
          </a:prstGeom>
          <a:solidFill>
            <a:schemeClr val="tx1"/>
          </a:solidFill>
          <a:ln/>
        </p:spPr>
        <p:txBody>
          <a:bodyPr wrap="square" lIns="0" tIns="0" rIns="0" bIns="0" rtlCol="0" anchor="ctr"/>
          <a:lstStyle/>
          <a:p>
            <a:pPr algn="ctr" indent="0" marL="0">
              <a:buNone/>
            </a:pPr>
            <a:r>
              <a:rPr lang="en-US" sz="1400" dirty="0">
                <a:solidFill>
                  <a:schemeClr val="bg2"/>
                </a:solidFill>
                <a:latin typeface="Raleway SemiBold" pitchFamily="34" charset="0"/>
                <a:ea typeface="Raleway SemiBold" pitchFamily="34" charset="-122"/>
                <a:cs typeface="Raleway SemiBold" pitchFamily="34" charset="-120"/>
              </a:rPr>
              <a:t>Consent</a:t>
            </a:r>
            <a:endParaRPr lang="en-US" sz="1400" dirty="0"/>
          </a:p>
        </p:txBody>
      </p:sp>
      <p:sp>
        <p:nvSpPr>
          <p:cNvPr id="17" name="Text 15"/>
          <p:cNvSpPr txBox="1"/>
          <p:nvPr/>
        </p:nvSpPr>
        <p:spPr>
          <a:xfrm>
            <a:off x="2423160" y="5001768"/>
            <a:ext cx="8991295" cy="731520"/>
          </a:xfrm>
          <a:prstGeom prst="rect">
            <a:avLst/>
          </a:prstGeom>
          <a:noFill/>
          <a:ln/>
        </p:spPr>
        <p:txBody>
          <a:bodyPr wrap="square" lIns="0" tIns="0" rIns="0" bIns="0" rtlCol="0" anchor="ctr"/>
          <a:lstStyle/>
          <a:p>
            <a:pPr indent="0" marL="0">
              <a:spcAft>
                <a:spcPts val="400"/>
              </a:spcAft>
              <a:buNone/>
            </a:pPr>
            <a:r>
              <a:rPr lang="en-US" sz="1600" dirty="0">
                <a:solidFill>
                  <a:schemeClr val="tx1"/>
                </a:solidFill>
                <a:latin typeface="Raleway SemiBold" pitchFamily="34" charset="0"/>
                <a:ea typeface="Raleway SemiBold" pitchFamily="34" charset="-122"/>
                <a:cs typeface="Raleway SemiBold" pitchFamily="34" charset="-120"/>
              </a:rPr>
              <a:t>Safe to say what you think.  </a:t>
            </a:r>
            <a:pPr indent="0" marL="0">
              <a:spcAft>
                <a:spcPts val="400"/>
              </a:spcAft>
              <a:buNone/>
            </a:pPr>
            <a:r>
              <a:rPr lang="en-US" sz="1600" dirty="0">
                <a:solidFill>
                  <a:schemeClr val="tx1"/>
                </a:solidFill>
              </a:rPr>
              <a:t>What people say is anonymised, needs their consent, and is never sold.</a:t>
            </a:r>
            <a:endParaRPr lang="en-US" sz="1600" dirty="0"/>
          </a:p>
        </p:txBody>
      </p:sp>
      <p:sp>
        <p:nvSpPr>
          <p:cNvPr id="19" name="Text 1"/>
          <p:cNvSpPr/>
          <p:nvPr>
            <p:ph idx="103" type="body" hasCustomPrompt="1"/>
          </p:nvPr>
        </p:nvSpPr>
        <p:spPr>
          <a:xfrm>
            <a:off x="548640" y="1115568"/>
            <a:ext cx="11094415" cy="411480"/>
          </a:xfrm>
          <a:prstGeom prst="rect">
            <a:avLst/>
          </a:prstGeom>
          <a:noFill/>
          <a:ln/>
        </p:spPr>
        <p:txBody>
          <a:bodyPr wrap="square" lIns="0" tIns="0" rIns="0" bIns="0" rtlCol="0" anchor="t"/>
          <a:lstStyle/>
          <a:p>
            <a:pPr algn="l" indent="0" marL="0">
              <a:buNone/>
            </a:pPr>
            <a:endParaRPr lang="en-US" sz="1800" dirty="0"/>
          </a:p>
        </p:txBody>
      </p:sp>
      <p:sp>
        <p:nvSpPr>
          <p:cNvPr id="25" name="Slide Number Placeholder 0"/>
          <p:cNvSpPr>
            <a:spLocks noGrp="1"/>
          </p:cNvSpPr>
          <p:nvPr>
            <p:ph type="sldNum" sz="quarter" idx="4294967295"/>
          </p:nvPr>
        </p:nvSpPr>
        <p:spPr>
          <a:xfrm>
            <a:off x="10180015"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latin typeface="Raleway Light"/>
                <a:ea typeface="Raleway Light"/>
                <a:cs typeface="Raleway Light"/>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8138160" cy="685800"/>
          </a:xfrm>
          <a:prstGeom prst="rect">
            <a:avLst/>
          </a:prstGeom>
          <a:noFill/>
          <a:ln/>
        </p:spPr>
        <p:txBody>
          <a:bodyPr wrap="square" lIns="0" tIns="0" rIns="0" bIns="0" rtlCol="0" anchor="t"/>
          <a:lstStyle/>
          <a:p>
            <a:pPr algn="l" indent="0" marL="0">
              <a:buNone/>
            </a:pPr>
            <a:r>
              <a:rPr lang="en-US" sz="3600" dirty="0">
                <a:solidFill>
                  <a:schemeClr val="tx1"/>
                </a:solidFill>
                <a:latin typeface="Raleway Light" pitchFamily="34" charset="0"/>
                <a:ea typeface="Raleway Light" pitchFamily="34" charset="-122"/>
                <a:cs typeface="Raleway Light" pitchFamily="34" charset="-120"/>
              </a:rPr>
              <a:t>Who's behind Entre Amis</a:t>
            </a:r>
            <a:endParaRPr lang="en-US" sz="3600" dirty="0"/>
          </a:p>
        </p:txBody>
      </p:sp>
      <p:sp>
        <p:nvSpPr>
          <p:cNvPr id="3" name="Image placeholder"/>
          <p:cNvSpPr/>
          <p:nvPr/>
        </p:nvSpPr>
        <p:spPr>
          <a:xfrm>
            <a:off x="548640" y="1463040"/>
            <a:ext cx="3474720" cy="4206240"/>
          </a:xfrm>
          <a:prstGeom prst="roundRect">
            <a:avLst>
              <a:gd name="adj" fmla="val 3158"/>
            </a:avLst>
          </a:prstGeom>
          <a:solidFill>
            <a:schemeClr val="accent3"/>
          </a:solidFill>
          <a:ln w="12700">
            <a:solidFill>
              <a:schemeClr val="tx1"/>
            </a:solidFill>
            <a:prstDash val="dash"/>
          </a:ln>
        </p:spPr>
      </p:sp>
      <p:sp>
        <p:nvSpPr>
          <p:cNvPr id="4" name="Text 2"/>
          <p:cNvSpPr txBox="1"/>
          <p:nvPr/>
        </p:nvSpPr>
        <p:spPr>
          <a:xfrm>
            <a:off x="822960" y="1463040"/>
            <a:ext cx="2926080" cy="4206240"/>
          </a:xfrm>
          <a:prstGeom prst="rect">
            <a:avLst/>
          </a:prstGeom>
          <a:noFill/>
          <a:ln/>
        </p:spPr>
        <p:txBody>
          <a:bodyPr wrap="square" lIns="0" tIns="0" rIns="0" bIns="0" rtlCol="0" anchor="ctr"/>
          <a:lstStyle/>
          <a:p>
            <a:pPr algn="ctr" indent="0" marL="0">
              <a:spcAft>
                <a:spcPts val="400"/>
              </a:spcAft>
              <a:buNone/>
            </a:pPr>
            <a:r>
              <a:rPr lang="en-US" sz="1400" dirty="0">
                <a:solidFill>
                  <a:schemeClr val="tx1"/>
                </a:solidFill>
                <a:latin typeface="Raleway SemiBold" pitchFamily="34" charset="0"/>
                <a:ea typeface="Raleway SemiBold" pitchFamily="34" charset="-122"/>
                <a:cs typeface="Raleway SemiBold" pitchFamily="34" charset="-120"/>
              </a:rPr>
              <a:t>Photo of Caroline — to add</a:t>
            </a:r>
            <a:endParaRPr lang="en-US" sz="1400" dirty="0"/>
          </a:p>
        </p:txBody>
      </p:sp>
      <p:sp>
        <p:nvSpPr>
          <p:cNvPr id="5" name="Text 3"/>
          <p:cNvSpPr txBox="1"/>
          <p:nvPr/>
        </p:nvSpPr>
        <p:spPr>
          <a:xfrm>
            <a:off x="4480560" y="1463040"/>
            <a:ext cx="7162495" cy="914400"/>
          </a:xfrm>
          <a:prstGeom prst="rect">
            <a:avLst/>
          </a:prstGeom>
          <a:noFill/>
          <a:ln/>
        </p:spPr>
        <p:txBody>
          <a:bodyPr wrap="square" lIns="0" tIns="0" rIns="0" bIns="0" rtlCol="0" anchor="t"/>
          <a:lstStyle/>
          <a:p>
            <a:pPr indent="0" marL="0">
              <a:spcAft>
                <a:spcPts val="400"/>
              </a:spcAft>
              <a:buNone/>
            </a:pPr>
            <a:r>
              <a:rPr lang="en-US" sz="3200" dirty="0">
                <a:solidFill>
                  <a:schemeClr val="tx1"/>
                </a:solidFill>
              </a:rPr>
              <a:t>Caroline [surname]</a:t>
            </a:r>
            <a:endParaRPr lang="en-US" sz="1400" dirty="0"/>
          </a:p>
          <a:p>
            <a:pPr indent="0" marL="0">
              <a:spcAft>
                <a:spcPts val="400"/>
              </a:spcAft>
              <a:buNone/>
            </a:pPr>
            <a:r>
              <a:rPr lang="en-US" sz="1400" spc="150" kern="0" dirty="0">
                <a:solidFill>
                  <a:schemeClr val="tx1"/>
                </a:solidFill>
                <a:latin typeface="Raleway SemiBold" pitchFamily="34" charset="0"/>
                <a:ea typeface="Raleway SemiBold" pitchFamily="34" charset="-122"/>
                <a:cs typeface="Raleway SemiBold" pitchFamily="34" charset="-120"/>
              </a:rPr>
              <a:t>Founder</a:t>
            </a:r>
            <a:endParaRPr lang="en-US" sz="1400" dirty="0"/>
          </a:p>
        </p:txBody>
      </p:sp>
      <p:sp>
        <p:nvSpPr>
          <p:cNvPr id="6" name="Credentials"/>
          <p:cNvSpPr/>
          <p:nvPr/>
        </p:nvSpPr>
        <p:spPr>
          <a:xfrm>
            <a:off x="4480560" y="2560320"/>
            <a:ext cx="7162495" cy="1371600"/>
          </a:xfrm>
          <a:prstGeom prst="roundRect">
            <a:avLst>
              <a:gd name="adj" fmla="val 8000"/>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7" name="Text 5"/>
          <p:cNvSpPr txBox="1"/>
          <p:nvPr/>
        </p:nvSpPr>
        <p:spPr>
          <a:xfrm>
            <a:off x="4800600" y="2743200"/>
            <a:ext cx="6522415" cy="1097280"/>
          </a:xfrm>
          <a:prstGeom prst="rect">
            <a:avLst/>
          </a:prstGeom>
          <a:noFill/>
          <a:ln/>
        </p:spPr>
        <p:txBody>
          <a:bodyPr wrap="square" lIns="0" tIns="0" rIns="0" bIns="0" rtlCol="0" anchor="t"/>
          <a:lstStyle/>
          <a:p>
            <a:pPr marL="203200" indent="-203200">
              <a:spcAft>
                <a:spcPts val="1000"/>
              </a:spcAft>
              <a:buSzPct val="100000"/>
              <a:buChar char="•"/>
            </a:pPr>
            <a:r>
              <a:rPr lang="en-US" sz="1600" dirty="0">
                <a:solidFill>
                  <a:schemeClr val="tx1"/>
                </a:solidFill>
              </a:rPr>
              <a:t>A marketing and commercial leader with over 30 years across UK and international brands.</a:t>
            </a:r>
            <a:endParaRPr lang="en-US" sz="1600" dirty="0"/>
          </a:p>
          <a:p>
            <a:pPr marL="203200" indent="-203200">
              <a:spcAft>
                <a:spcPts val="400"/>
              </a:spcAft>
              <a:buSzPct val="100000"/>
              <a:buChar char="•"/>
            </a:pPr>
            <a:r>
              <a:rPr lang="en-US" sz="1600" dirty="0">
                <a:solidFill>
                  <a:schemeClr val="tx1"/>
                </a:solidFill>
              </a:rPr>
              <a:t>WSET Level 3 in Wines, with Distinction.</a:t>
            </a:r>
            <a:endParaRPr lang="en-US" sz="1600" dirty="0"/>
          </a:p>
        </p:txBody>
      </p:sp>
      <p:sp>
        <p:nvSpPr>
          <p:cNvPr id="8" name="Text 6"/>
          <p:cNvSpPr txBox="1"/>
          <p:nvPr/>
        </p:nvSpPr>
        <p:spPr>
          <a:xfrm>
            <a:off x="4480560" y="4114800"/>
            <a:ext cx="7162495" cy="640080"/>
          </a:xfrm>
          <a:prstGeom prst="rect">
            <a:avLst/>
          </a:prstGeom>
          <a:noFill/>
          <a:ln/>
        </p:spPr>
        <p:txBody>
          <a:bodyPr wrap="square" lIns="0" tIns="0" rIns="0" bIns="0" rtlCol="0" anchor="t"/>
          <a:lstStyle/>
          <a:p>
            <a:pPr indent="0" marL="0">
              <a:spcAft>
                <a:spcPts val="400"/>
              </a:spcAft>
              <a:buNone/>
            </a:pPr>
            <a:r>
              <a:rPr lang="en-US" sz="1800" i="1" dirty="0">
                <a:solidFill>
                  <a:schemeClr val="tx1"/>
                </a:solidFill>
              </a:rPr>
              <a:t>Entre Amis brings together Caroline's marketing experience and her focus on customers.</a:t>
            </a:r>
            <a:endParaRPr lang="en-US" sz="1800" dirty="0"/>
          </a:p>
        </p:txBody>
      </p:sp>
      <p:sp>
        <p:nvSpPr>
          <p:cNvPr id="9" name="FLAG — delete before sharing"/>
          <p:cNvSpPr txBox="1"/>
          <p:nvPr/>
        </p:nvSpPr>
        <p:spPr>
          <a:xfrm>
            <a:off x="4480560" y="4937760"/>
            <a:ext cx="3444088" cy="731520"/>
          </a:xfrm>
          <a:prstGeom prst="rect">
            <a:avLst/>
          </a:prstGeom>
          <a:solidFill>
            <a:schemeClr val="bg1"/>
          </a:solidFill>
          <a:ln w="25400">
            <a:solidFill>
              <a:schemeClr val="accent4"/>
            </a:solidFill>
          </a:ln>
        </p:spPr>
        <p:txBody>
          <a:bodyPr wrap="square" lIns="38100" tIns="76200" rIns="76200" bIns="38100" rtlCol="0" anchor="ctr"/>
          <a:lstStyle/>
          <a:p>
            <a:pPr indent="0" marL="0">
              <a:buNone/>
            </a:pPr>
            <a:r>
              <a:rPr lang="en-US" sz="1100" dirty="0">
                <a:solidFill>
                  <a:schemeClr val="tx1"/>
                </a:solidFill>
                <a:latin typeface="Raleway SemiBold" pitchFamily="34" charset="0"/>
                <a:ea typeface="Raleway SemiBold" pitchFamily="34" charset="-122"/>
                <a:cs typeface="Raleway SemiBold" pitchFamily="34" charset="-120"/>
              </a:rPr>
              <a:t>TO ADD  </a:t>
            </a:r>
            <a:pPr indent="0" marL="0">
              <a:buNone/>
            </a:pPr>
            <a:r>
              <a:rPr lang="en-US" sz="1100" dirty="0">
                <a:solidFill>
                  <a:schemeClr val="tx1"/>
                </a:solidFill>
              </a:rPr>
              <a:t>Your surname and a photo.</a:t>
            </a:r>
            <a:endParaRPr lang="en-US" sz="1100" dirty="0"/>
          </a:p>
        </p:txBody>
      </p:sp>
      <p:sp>
        <p:nvSpPr>
          <p:cNvPr id="10" name="FLAG — delete before sharing"/>
          <p:cNvSpPr txBox="1"/>
          <p:nvPr/>
        </p:nvSpPr>
        <p:spPr>
          <a:xfrm>
            <a:off x="8198968" y="4937760"/>
            <a:ext cx="3444088" cy="731520"/>
          </a:xfrm>
          <a:prstGeom prst="rect">
            <a:avLst/>
          </a:prstGeom>
          <a:solidFill>
            <a:schemeClr val="bg1"/>
          </a:solidFill>
          <a:ln w="25400">
            <a:solidFill>
              <a:schemeClr val="accent4"/>
            </a:solidFill>
          </a:ln>
        </p:spPr>
        <p:txBody>
          <a:bodyPr wrap="square" lIns="38100" tIns="76200" rIns="76200" bIns="38100" rtlCol="0" anchor="ctr"/>
          <a:lstStyle/>
          <a:p>
            <a:pPr indent="0" marL="0">
              <a:buNone/>
            </a:pPr>
            <a:r>
              <a:rPr lang="en-US" sz="1100" dirty="0">
                <a:solidFill>
                  <a:schemeClr val="tx1"/>
                </a:solidFill>
                <a:latin typeface="Raleway SemiBold" pitchFamily="34" charset="0"/>
                <a:ea typeface="Raleway SemiBold" pitchFamily="34" charset="-122"/>
                <a:cs typeface="Raleway SemiBold" pitchFamily="34" charset="-120"/>
              </a:rPr>
              <a:t>TO ADD  </a:t>
            </a:r>
            <a:pPr indent="0" marL="0">
              <a:buNone/>
            </a:pPr>
            <a:r>
              <a:rPr lang="en-US" sz="1100" dirty="0">
                <a:solidFill>
                  <a:schemeClr val="tx1"/>
                </a:solidFill>
              </a:rPr>
              <a:t>Optional: a short line in your own words.</a:t>
            </a:r>
            <a:endParaRPr lang="en-US" sz="1100" dirty="0"/>
          </a:p>
        </p:txBody>
      </p:sp>
      <p:sp>
        <p:nvSpPr>
          <p:cNvPr id="12" name="Text 1"/>
          <p:cNvSpPr/>
          <p:nvPr>
            <p:ph idx="103" type="body" hasCustomPrompt="1"/>
          </p:nvPr>
        </p:nvSpPr>
        <p:spPr>
          <a:xfrm>
            <a:off x="548640" y="1115568"/>
            <a:ext cx="11094415" cy="411480"/>
          </a:xfrm>
          <a:prstGeom prst="rect">
            <a:avLst/>
          </a:prstGeom>
          <a:noFill/>
          <a:ln/>
        </p:spPr>
        <p:txBody>
          <a:bodyPr wrap="square" lIns="0" tIns="0" rIns="0" bIns="0" rtlCol="0" anchor="t"/>
          <a:lstStyle/>
          <a:p>
            <a:pPr algn="l" indent="0" marL="0">
              <a:buNone/>
            </a:pPr>
            <a:endParaRPr lang="en-US" sz="1800" dirty="0"/>
          </a:p>
        </p:txBody>
      </p:sp>
      <p:sp>
        <p:nvSpPr>
          <p:cNvPr id="25" name="Slide Number Placeholder 0"/>
          <p:cNvSpPr>
            <a:spLocks noGrp="1"/>
          </p:cNvSpPr>
          <p:nvPr>
            <p:ph type="sldNum" sz="quarter" idx="4294967295"/>
          </p:nvPr>
        </p:nvSpPr>
        <p:spPr>
          <a:xfrm>
            <a:off x="10180015"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latin typeface="Raleway Light"/>
                <a:ea typeface="Raleway Light"/>
                <a:cs typeface="Raleway Light"/>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Entre Amis logo">    </p:cNvPr>
          <p:cNvPicPr>
            <a:picLocks noChangeAspect="1"/>
          </p:cNvPicPr>
          <p:nvPr/>
        </p:nvPicPr>
        <p:blipFill>
          <a:blip r:embed="rId1"/>
          <a:stretch>
            <a:fillRect/>
          </a:stretch>
        </p:blipFill>
        <p:spPr>
          <a:xfrm>
            <a:off x="4541368" y="1828800"/>
            <a:ext cx="3108960" cy="1564707"/>
          </a:xfrm>
          <a:prstGeom prst="rect">
            <a:avLst/>
          </a:prstGeom>
        </p:spPr>
      </p:pic>
      <p:sp>
        <p:nvSpPr>
          <p:cNvPr id="3" name="Text 0"/>
          <p:cNvSpPr txBox="1"/>
          <p:nvPr/>
        </p:nvSpPr>
        <p:spPr>
          <a:xfrm>
            <a:off x="548640" y="3657600"/>
            <a:ext cx="11094415" cy="457200"/>
          </a:xfrm>
          <a:prstGeom prst="rect">
            <a:avLst/>
          </a:prstGeom>
          <a:noFill/>
          <a:ln/>
        </p:spPr>
        <p:txBody>
          <a:bodyPr wrap="square" lIns="0" tIns="0" rIns="0" bIns="0" rtlCol="0" anchor="t"/>
          <a:lstStyle/>
          <a:p>
            <a:pPr algn="ctr" indent="0" marL="0">
              <a:spcAft>
                <a:spcPts val="400"/>
              </a:spcAft>
              <a:buNone/>
            </a:pPr>
            <a:r>
              <a:rPr lang="en-US" sz="2000" dirty="0">
                <a:solidFill>
                  <a:schemeClr val="tx1"/>
                </a:solidFill>
              </a:rPr>
              <a:t>Say what you really think.</a:t>
            </a:r>
            <a:endParaRPr lang="en-US" sz="2000" dirty="0"/>
          </a:p>
        </p:txBody>
      </p:sp>
      <p:sp>
        <p:nvSpPr>
          <p:cNvPr id="4" name="FLAG — delete before sharing"/>
          <p:cNvSpPr txBox="1"/>
          <p:nvPr/>
        </p:nvSpPr>
        <p:spPr>
          <a:xfrm>
            <a:off x="3809848" y="4480560"/>
            <a:ext cx="4572000" cy="548640"/>
          </a:xfrm>
          <a:prstGeom prst="rect">
            <a:avLst/>
          </a:prstGeom>
          <a:solidFill>
            <a:schemeClr val="bg1"/>
          </a:solidFill>
          <a:ln w="25400">
            <a:solidFill>
              <a:schemeClr val="accent4"/>
            </a:solidFill>
          </a:ln>
        </p:spPr>
        <p:txBody>
          <a:bodyPr wrap="square" lIns="38100" tIns="76200" rIns="76200" bIns="38100" rtlCol="0" anchor="ctr"/>
          <a:lstStyle/>
          <a:p>
            <a:pPr indent="0" marL="0">
              <a:buNone/>
            </a:pPr>
            <a:r>
              <a:rPr lang="en-US" sz="1200" dirty="0">
                <a:solidFill>
                  <a:schemeClr val="tx1"/>
                </a:solidFill>
                <a:latin typeface="Raleway SemiBold" pitchFamily="34" charset="0"/>
                <a:ea typeface="Raleway SemiBold" pitchFamily="34" charset="-122"/>
                <a:cs typeface="Raleway SemiBold" pitchFamily="34" charset="-120"/>
              </a:rPr>
              <a:t>TO ADD  </a:t>
            </a:r>
            <a:pPr indent="0" marL="0">
              <a:buNone/>
            </a:pPr>
            <a:r>
              <a:rPr lang="en-US" sz="1200" dirty="0">
                <a:solidFill>
                  <a:schemeClr val="tx1"/>
                </a:solidFill>
              </a:rPr>
              <a:t>Contact details.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8138160" cy="685800"/>
          </a:xfrm>
          <a:prstGeom prst="rect">
            <a:avLst/>
          </a:prstGeom>
          <a:noFill/>
          <a:ln/>
        </p:spPr>
        <p:txBody>
          <a:bodyPr wrap="square" lIns="0" tIns="0" rIns="0" bIns="0" rtlCol="0" anchor="t"/>
          <a:lstStyle/>
          <a:p>
            <a:pPr algn="l" indent="0" marL="0">
              <a:buNone/>
            </a:pPr>
            <a:r>
              <a:rPr lang="en-US" sz="3600" dirty="0">
                <a:solidFill>
                  <a:schemeClr val="tx1"/>
                </a:solidFill>
                <a:latin typeface="Raleway Light" pitchFamily="34" charset="0"/>
                <a:ea typeface="Raleway Light" pitchFamily="34" charset="-122"/>
                <a:cs typeface="Raleway Light" pitchFamily="34" charset="-120"/>
              </a:rPr>
              <a:t>Before this pack is shared</a:t>
            </a:r>
            <a:endParaRPr lang="en-US" sz="3600" dirty="0"/>
          </a:p>
        </p:txBody>
      </p:sp>
      <p:sp>
        <p:nvSpPr>
          <p:cNvPr id="3" name="Text 1"/>
          <p:cNvSpPr/>
          <p:nvPr>
            <p:ph idx="103" type="body" hasCustomPrompt="1"/>
          </p:nvPr>
        </p:nvSpPr>
        <p:spPr>
          <a:xfrm>
            <a:off x="548640" y="1115568"/>
            <a:ext cx="11094415" cy="411480"/>
          </a:xfrm>
          <a:prstGeom prst="rect">
            <a:avLst/>
          </a:prstGeom>
          <a:noFill/>
          <a:ln/>
        </p:spPr>
        <p:txBody>
          <a:bodyPr wrap="square" lIns="0" tIns="0" rIns="0" bIns="0" rtlCol="0" anchor="t"/>
          <a:lstStyle/>
          <a:p>
            <a:pPr algn="l" indent="0" marL="0">
              <a:buNone/>
            </a:pPr>
            <a:r>
              <a:rPr lang="en-US" sz="1800" dirty="0">
                <a:solidFill>
                  <a:schemeClr val="tx1"/>
                </a:solidFill>
                <a:latin typeface="Raleway Light" pitchFamily="34" charset="0"/>
                <a:ea typeface="Raleway Light" pitchFamily="34" charset="-122"/>
                <a:cs typeface="Raleway Light" pitchFamily="34" charset="-120"/>
              </a:rPr>
              <a:t>Working notes. Delete this slide, and every white box with a blush border, before sharing.</a:t>
            </a:r>
            <a:endParaRPr lang="en-US" sz="1800" dirty="0"/>
          </a:p>
        </p:txBody>
      </p:sp>
      <p:sp>
        <p:nvSpPr>
          <p:cNvPr id="4" name="TO DECIDE OR CONFIRM"/>
          <p:cNvSpPr/>
          <p:nvPr/>
        </p:nvSpPr>
        <p:spPr>
          <a:xfrm>
            <a:off x="548640" y="1783080"/>
            <a:ext cx="5410048" cy="4251960"/>
          </a:xfrm>
          <a:prstGeom prst="roundRect">
            <a:avLst>
              <a:gd name="adj" fmla="val 2581"/>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5" name="Text 3"/>
          <p:cNvSpPr txBox="1"/>
          <p:nvPr/>
        </p:nvSpPr>
        <p:spPr>
          <a:xfrm>
            <a:off x="868680" y="2057400"/>
            <a:ext cx="4769968" cy="3840480"/>
          </a:xfrm>
          <a:prstGeom prst="rect">
            <a:avLst/>
          </a:prstGeom>
          <a:noFill/>
          <a:ln/>
        </p:spPr>
        <p:txBody>
          <a:bodyPr wrap="square" lIns="0" tIns="0" rIns="0" bIns="0" rtlCol="0" anchor="t"/>
          <a:lstStyle/>
          <a:p>
            <a:pPr indent="0" marL="0">
              <a:spcAft>
                <a:spcPts val="400"/>
              </a:spcAft>
              <a:buNone/>
            </a:pPr>
            <a:r>
              <a:rPr lang="en-US" sz="1400" spc="150" kern="0" dirty="0">
                <a:solidFill>
                  <a:schemeClr val="tx1"/>
                </a:solidFill>
                <a:latin typeface="Raleway SemiBold" pitchFamily="34" charset="0"/>
                <a:ea typeface="Raleway SemiBold" pitchFamily="34" charset="-122"/>
                <a:cs typeface="Raleway SemiBold" pitchFamily="34" charset="-120"/>
              </a:rPr>
              <a:t>TO DECIDE OR CONFIRM</a:t>
            </a:r>
            <a:endParaRPr lang="en-US" sz="1400" dirty="0"/>
          </a:p>
          <a:p>
            <a:pPr indent="0" marL="0">
              <a:spcAft>
                <a:spcPts val="400"/>
              </a:spcAft>
              <a:buNone/>
            </a:pPr>
            <a:r>
              <a:rPr lang="en-US" sz="600" dirty="0">
                <a:solidFill>
                  <a:schemeClr val="tx1"/>
                </a:solidFill>
              </a:rPr>
              <a:t> </a:t>
            </a:r>
            <a:endParaRPr lang="en-US" sz="1400" dirty="0"/>
          </a:p>
          <a:p>
            <a:pPr marL="203200" indent="-203200">
              <a:spcAft>
                <a:spcPts val="700"/>
              </a:spcAft>
              <a:buSzPct val="100000"/>
              <a:buChar char="•"/>
            </a:pPr>
            <a:r>
              <a:rPr lang="en-US" sz="1400" dirty="0">
                <a:solidFill>
                  <a:schemeClr val="tx1"/>
                </a:solidFill>
              </a:rPr>
              <a:t>Event Mode: confirm, and set its stage and differences from Partner Mode</a:t>
            </a:r>
            <a:endParaRPr lang="en-US" sz="1400" dirty="0"/>
          </a:p>
          <a:p>
            <a:pPr marL="203200" indent="-203200">
              <a:spcAft>
                <a:spcPts val="700"/>
              </a:spcAft>
              <a:buSzPct val="100000"/>
              <a:buChar char="•"/>
            </a:pPr>
            <a:r>
              <a:rPr lang="en-US" sz="1400" dirty="0">
                <a:solidFill>
                  <a:schemeClr val="tx1"/>
                </a:solidFill>
              </a:rPr>
              <a:t>Quizzes and prizes (slide 3)</a:t>
            </a:r>
            <a:endParaRPr lang="en-US" sz="1400" dirty="0"/>
          </a:p>
          <a:p>
            <a:pPr marL="203200" indent="-203200">
              <a:spcAft>
                <a:spcPts val="700"/>
              </a:spcAft>
              <a:buSzPct val="100000"/>
              <a:buChar char="•"/>
            </a:pPr>
            <a:r>
              <a:rPr lang="en-US" sz="1400" dirty="0">
                <a:solidFill>
                  <a:schemeClr val="tx1"/>
                </a:solidFill>
              </a:rPr>
              <a:t>Where the cost line sits (slide 6)</a:t>
            </a:r>
            <a:endParaRPr lang="en-US" sz="1400" dirty="0"/>
          </a:p>
          <a:p>
            <a:pPr marL="203200" indent="-203200">
              <a:spcAft>
                <a:spcPts val="700"/>
              </a:spcAft>
              <a:buSzPct val="100000"/>
              <a:buChar char="•"/>
            </a:pPr>
            <a:r>
              <a:rPr lang="en-US" sz="1400" dirty="0">
                <a:solidFill>
                  <a:schemeClr val="tx1"/>
                </a:solidFill>
              </a:rPr>
              <a:t>Contacts rule, legal review; reporting crowned wines (slides 7, 8)</a:t>
            </a:r>
            <a:endParaRPr lang="en-US" sz="1400" dirty="0"/>
          </a:p>
          <a:p>
            <a:pPr marL="203200" indent="-203200">
              <a:spcAft>
                <a:spcPts val="700"/>
              </a:spcAft>
              <a:buSzPct val="100000"/>
              <a:buChar char="•"/>
            </a:pPr>
            <a:r>
              <a:rPr lang="en-US" sz="1400" dirty="0">
                <a:solidFill>
                  <a:schemeClr val="tx1"/>
                </a:solidFill>
              </a:rPr>
              <a:t>'By default' and 'automatic' in the promises (slide 8)</a:t>
            </a:r>
            <a:endParaRPr lang="en-US" sz="1400" dirty="0"/>
          </a:p>
          <a:p>
            <a:pPr marL="203200" indent="-203200">
              <a:spcAft>
                <a:spcPts val="700"/>
              </a:spcAft>
              <a:buSzPct val="100000"/>
              <a:buChar char="•"/>
            </a:pPr>
            <a:r>
              <a:rPr lang="en-US" sz="1400" dirty="0">
                <a:solidFill>
                  <a:schemeClr val="tx1"/>
                </a:solidFill>
              </a:rPr>
              <a:t>Pricing and preferential rates, launch recognition (slides 9, 10)</a:t>
            </a:r>
            <a:endParaRPr lang="en-US" sz="1400" dirty="0"/>
          </a:p>
          <a:p>
            <a:pPr marL="203200" indent="-203200">
              <a:spcAft>
                <a:spcPts val="700"/>
              </a:spcAft>
              <a:buSzPct val="100000"/>
              <a:buChar char="•"/>
            </a:pPr>
            <a:r>
              <a:rPr lang="en-US" sz="1400" dirty="0">
                <a:solidFill>
                  <a:schemeClr val="tx1"/>
                </a:solidFill>
              </a:rPr>
              <a:t>Claim: 'richer experiences' (slide 7)</a:t>
            </a:r>
            <a:endParaRPr lang="en-US" sz="1400" dirty="0"/>
          </a:p>
        </p:txBody>
      </p:sp>
      <p:sp>
        <p:nvSpPr>
          <p:cNvPr id="6" name="TO ADD"/>
          <p:cNvSpPr/>
          <p:nvPr/>
        </p:nvSpPr>
        <p:spPr>
          <a:xfrm>
            <a:off x="6233008" y="1783080"/>
            <a:ext cx="5410048" cy="4251960"/>
          </a:xfrm>
          <a:prstGeom prst="roundRect">
            <a:avLst>
              <a:gd name="adj" fmla="val 2581"/>
            </a:avLst>
          </a:prstGeom>
          <a:solidFill>
            <a:schemeClr val="bg1"/>
          </a:solidFill>
          <a:ln w="12700">
            <a:solidFill>
              <a:schemeClr val="bg1"/>
            </a:solidFill>
            <a:prstDash val="solid"/>
          </a:ln>
          <a:effectLst>
            <a:outerShdw sx="100000" sy="100000" kx="0" ky="0" algn="bl" rotWithShape="0" blurRad="76200" dist="25400" dir="5400000">
              <a:srgbClr val="565A32">
                <a:alpha val="12000"/>
              </a:srgbClr>
            </a:outerShdw>
          </a:effectLst>
        </p:spPr>
      </p:sp>
      <p:sp>
        <p:nvSpPr>
          <p:cNvPr id="7" name="Text 5"/>
          <p:cNvSpPr txBox="1"/>
          <p:nvPr/>
        </p:nvSpPr>
        <p:spPr>
          <a:xfrm>
            <a:off x="6553048" y="2057400"/>
            <a:ext cx="4769968" cy="3840480"/>
          </a:xfrm>
          <a:prstGeom prst="rect">
            <a:avLst/>
          </a:prstGeom>
          <a:noFill/>
          <a:ln/>
        </p:spPr>
        <p:txBody>
          <a:bodyPr wrap="square" lIns="0" tIns="0" rIns="0" bIns="0" rtlCol="0" anchor="t"/>
          <a:lstStyle/>
          <a:p>
            <a:pPr indent="0" marL="0">
              <a:spcAft>
                <a:spcPts val="400"/>
              </a:spcAft>
              <a:buNone/>
            </a:pPr>
            <a:r>
              <a:rPr lang="en-US" sz="1400" spc="150" kern="0" dirty="0">
                <a:solidFill>
                  <a:schemeClr val="tx1"/>
                </a:solidFill>
                <a:latin typeface="Raleway SemiBold" pitchFamily="34" charset="0"/>
                <a:ea typeface="Raleway SemiBold" pitchFamily="34" charset="-122"/>
                <a:cs typeface="Raleway SemiBold" pitchFamily="34" charset="-120"/>
              </a:rPr>
              <a:t>TO ADD</a:t>
            </a:r>
            <a:endParaRPr lang="en-US" sz="1400" dirty="0"/>
          </a:p>
          <a:p>
            <a:pPr indent="0" marL="0">
              <a:spcAft>
                <a:spcPts val="400"/>
              </a:spcAft>
              <a:buNone/>
            </a:pPr>
            <a:r>
              <a:rPr lang="en-US" sz="600" dirty="0">
                <a:solidFill>
                  <a:schemeClr val="tx1"/>
                </a:solidFill>
              </a:rPr>
              <a:t> </a:t>
            </a:r>
            <a:endParaRPr lang="en-US" sz="1400" dirty="0"/>
          </a:p>
          <a:p>
            <a:pPr marL="203200" indent="-203200">
              <a:spcAft>
                <a:spcPts val="700"/>
              </a:spcAft>
              <a:buSzPct val="100000"/>
              <a:buChar char="•"/>
            </a:pPr>
            <a:r>
              <a:rPr lang="en-US" sz="1400" dirty="0">
                <a:solidFill>
                  <a:schemeClr val="tx1"/>
                </a:solidFill>
              </a:rPr>
              <a:t>Master logo artwork files</a:t>
            </a:r>
            <a:endParaRPr lang="en-US" sz="1400" dirty="0"/>
          </a:p>
          <a:p>
            <a:pPr marL="203200" indent="-203200">
              <a:spcAft>
                <a:spcPts val="700"/>
              </a:spcAft>
              <a:buSzPct val="100000"/>
              <a:buChar char="•"/>
            </a:pPr>
            <a:r>
              <a:rPr lang="en-US" sz="1400" dirty="0">
                <a:solidFill>
                  <a:schemeClr val="tx1"/>
                </a:solidFill>
              </a:rPr>
              <a:t>Visitor screens and journey screens (slides 3, 5)</a:t>
            </a:r>
            <a:endParaRPr lang="en-US" sz="1400" dirty="0"/>
          </a:p>
          <a:p>
            <a:pPr marL="203200" indent="-203200">
              <a:spcAft>
                <a:spcPts val="700"/>
              </a:spcAft>
              <a:buSzPct val="100000"/>
              <a:buChar char="•"/>
            </a:pPr>
            <a:r>
              <a:rPr lang="en-US" sz="1400" dirty="0">
                <a:solidFill>
                  <a:schemeClr val="tx1"/>
                </a:solidFill>
              </a:rPr>
              <a:t>Event and table photography (slides 4, 6)</a:t>
            </a:r>
            <a:endParaRPr lang="en-US" sz="1400" dirty="0"/>
          </a:p>
          <a:p>
            <a:pPr marL="203200" indent="-203200">
              <a:spcAft>
                <a:spcPts val="700"/>
              </a:spcAft>
              <a:buSzPct val="100000"/>
              <a:buChar char="•"/>
            </a:pPr>
            <a:r>
              <a:rPr lang="en-US" sz="1400" dirty="0">
                <a:solidFill>
                  <a:schemeClr val="tx1"/>
                </a:solidFill>
              </a:rPr>
              <a:t>Stage of each proof step (slide 11)</a:t>
            </a:r>
            <a:endParaRPr lang="en-US" sz="1400" dirty="0"/>
          </a:p>
          <a:p>
            <a:pPr marL="203200" indent="-203200">
              <a:spcAft>
                <a:spcPts val="700"/>
              </a:spcAft>
              <a:buSzPct val="100000"/>
              <a:buChar char="•"/>
            </a:pPr>
            <a:r>
              <a:rPr lang="en-US" sz="1400" dirty="0">
                <a:solidFill>
                  <a:schemeClr val="tx1"/>
                </a:solidFill>
              </a:rPr>
              <a:t>Your surname and photo (slide 13)</a:t>
            </a:r>
            <a:endParaRPr lang="en-US" sz="1400" dirty="0"/>
          </a:p>
          <a:p>
            <a:pPr marL="203200" indent="-203200">
              <a:spcAft>
                <a:spcPts val="700"/>
              </a:spcAft>
              <a:buSzPct val="100000"/>
              <a:buChar char="•"/>
            </a:pPr>
            <a:r>
              <a:rPr lang="en-US" sz="1400" dirty="0">
                <a:solidFill>
                  <a:schemeClr val="tx1"/>
                </a:solidFill>
              </a:rPr>
              <a:t>Contact details (back cover)</a:t>
            </a:r>
            <a:endParaRPr lang="en-US" sz="1400" dirty="0"/>
          </a:p>
        </p:txBody>
      </p:sp>
      <p:sp>
        <p:nvSpPr>
          <p:cNvPr id="25" name="Slide Number Placeholder 0"/>
          <p:cNvSpPr>
            <a:spLocks noGrp="1"/>
          </p:cNvSpPr>
          <p:nvPr>
            <p:ph type="sldNum" sz="quarter" idx="4294967295"/>
          </p:nvPr>
        </p:nvSpPr>
        <p:spPr>
          <a:xfrm>
            <a:off x="10180015"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latin typeface="Raleway Light"/>
                <a:ea typeface="Raleway Light"/>
                <a:cs typeface="Raleway Light"/>
              </a:defRPr>
            </a:lvl1pPr>
          </a:lstStyle>
          <a:p>
            <a:pPr algn="l"/>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Entre Amis Sous-bois">
  <a:themeElements>
    <a:clrScheme name="Entre Amis Sous-bois">
      <a:dk1>
        <a:srgbClr val="565A32"/>
      </a:dk1>
      <a:lt1>
        <a:srgbClr val="FFFFFF"/>
      </a:lt1>
      <a:dk2>
        <a:srgbClr val="565A32"/>
      </a:dk2>
      <a:lt2>
        <a:srgbClr val="EFEAE0"/>
      </a:lt2>
      <a:accent1>
        <a:srgbClr val="565A32"/>
      </a:accent1>
      <a:accent2>
        <a:srgbClr val="8B8B5C"/>
      </a:accent2>
      <a:accent3>
        <a:srgbClr val="B9BC9A"/>
      </a:accent3>
      <a:accent4>
        <a:srgbClr val="E3AC9A"/>
      </a:accent4>
      <a:accent5>
        <a:srgbClr val="EFEAE0"/>
      </a:accent5>
      <a:accent6>
        <a:srgbClr val="565A32"/>
      </a:accent6>
      <a:hlink>
        <a:srgbClr val="565A32"/>
      </a:hlink>
      <a:folHlink>
        <a:srgbClr val="8B8B5C"/>
      </a:folHlink>
    </a:clrScheme>
    <a:fontScheme name="Entre Amis Sous-bois">
      <a:majorFont>
        <a:latin typeface="Raleway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aleway Ligh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Entre Amis — Event Mode</dc:title>
  <dc:subject>PptxGenJS Presentation</dc:subject>
  <dc:creator>Entre Amis</dc:creator>
  <cp:lastModifiedBy>Entre Amis</cp:lastModifiedBy>
  <cp:revision>1</cp:revision>
  <dcterms:created xsi:type="dcterms:W3CDTF">2026-10-11T09:07:54Z</dcterms:created>
  <dcterms:modified xsi:type="dcterms:W3CDTF">2026-10-11T09:07:54Z</dcterms:modified>
</cp:coreProperties>
</file>