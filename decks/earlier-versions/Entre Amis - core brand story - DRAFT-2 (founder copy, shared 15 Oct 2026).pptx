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1daebf-a435-ca6f-9308-80124c575ce4}">
          <p14:sldIdLst>
            <p14:sldId id="256"/>
          </p14:sldIdLst>
        </p14:section>
        <p14:section name="The brand" id="{ebf8077d-2faa-305c-9c82-48e6b1a2f0b1}">
          <p14:sldIdLst>
            <p14:sldId id="257"/>
            <p14:sldId id="258"/>
            <p14:sldId id="259"/>
            <p14:sldId id="260"/>
          </p14:sldIdLst>
        </p14:section>
        <p14:section name="What we're building" id="{5e3328f8-5497-46af-ccaa-0c78b8fb8fa2}">
          <p14:sldIdLst>
            <p14:sldId id="261"/>
            <p14:sldId id="262"/>
            <p14:sldId id="263"/>
            <p14:sldId id="264"/>
          </p14:sldIdLst>
        </p14:section>
        <p14:section name="About us" id="{b279c7bc-57e7-d92f-91e1-3594f9fdcf30}">
          <p14:sldIdLst>
            <p14:sldId id="265"/>
            <p14:sldId id="266"/>
          </p14:sldIdLst>
        </p14:section>
        <p14:section name="Close" id="{2520edc1-5a63-6fc3-d931-ea0c1e7889ef}">
          <p14:sldIdLst>
            <p14:sldId id="267"/>
            <p14:sldId id="268"/>
            <p14:sldId id="269"/>
          </p14:sldIdLst>
        </p14:section>
        <p14:section name="Working notes — delete before sharing" id="{07d4b9db-b974-5f97-28e8-3dc2e8e5ea8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uses supporting line 1 (The setting changes. The spirit never does.) because it reaches beyond the game. Talk. Laugh. Remember. is proposed as the game line. The brand-wide consumer line is still to decide.
Design: Sous-bois core colours only, master logo only, no ™, Raleway Light and SemiBold.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deck slides 2 and 3. The observations are shown without quotation marks or handwriting, following the proposed unattributed observations rule. 'Even in everyday pubs, people feel they need expertise' is left out until there is evidence for it (Evidence still needed, Brand Brain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the confirmed idea wording ('flows'). 'Conversations are better when…' is a claim still under review in the Brand Brain, so it is left out. 'Makes it easier to connect' is left out because it is a benefit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deck slides 5, 6 and 7. Adds confirmed 'isn't' items partners will look for (drinking game, judge of wine, under-18s). 'Ecosystem'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table, we…' is a design label for the confirmed behaviours. Adds 'Warm, never worthy', which the October deck was missing. Deck slide 8 (Selfridges and Tesco, Mercedes-Benz and Ford, Brand Brain guardrails) stays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app and stays are shown as ways to take part in the journey, not as a Play → Discover → Experience process. If the journey isn't confirmed before sharing, delete the journey line; the rest of the slide stands without it.
GameCo, ExperienceCo, 'routes to value', IP, licences and 'insight' are removed because they are internal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photos of the prototype: the most persuasive thing the deck can show. Word Play and Wine Knowledge are app-only, so they appear on the app slide. Card family colours are used here only to signify the five families. If Talk. Laugh. Remember. isn't confirmed as the game line before sharing, move it to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recognition is deliberately left out: it isn't claimable until it's built into the app. Add app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Heading and supporting line swapped so the slide says who it is for first. Body reworded (founder, 11 October): we help capture what people say and think, and help them remember. 'Useful insight' is renamed because 'insight' as a product is internal language. Contact sharing (proposed, needs legal review) is not mentioned here; it belongs in the partner decks once confirmed. 'Make wines more memorable' is reworded to avoid a benefit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built from confirmed responsible-drinking and Partner Mode data rules. 'No pressure to taste' comes from the visitor journey slide in the October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voice about Caroline, not written as her. A first-person line would work well here, but it must be Caroline's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Removed: the trade mark (never a public claim), 'commercialised', pricing, unit economics, 'shareholder' and manufacturing costs. 'Spinners' corrected to one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'Pour another glass' removed (responsible drinking). 'One or two brilliant surprises' and 'friends who happen to know Provence rather well' cut for length; add them back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run the pre-publish check in brand-brain/03-guardrails.md. Raleway (Light and SemiBold) must be installed for the deck to display as designed; it is free from Google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A Cove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A Conten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tx1"/>
                </a:solidFill>
              </a:rPr>
              <a:t>Say what you really think.</a:t>
            </a:r>
            <a:endParaRPr lang="en-US" sz="1000" dirty="0"/>
          </a:p>
        </p:txBody>
      </p:sp>
      <p:pic>
        <p:nvPicPr>
          <p:cNvPr id="3" name="Image 0" descr="Entre Amis logo">    </p:cNvPr>
          <p:cNvPicPr>
            <a:picLocks noChangeAspect="1"/>
          </p:cNvPicPr>
          <p:nvPr/>
        </p:nvPicPr>
        <p:blipFill>
          <a:blip r:embed="rId1"/>
          <a:stretch>
            <a:fillRect/>
          </a:stretch>
        </p:blipFill>
        <p:spPr>
          <a:xfrm>
            <a:off x="10637215" y="6144768"/>
            <a:ext cx="1005840" cy="506229"/>
          </a:xfrm>
          <a:prstGeom prst="rect">
            <a:avLst/>
          </a:prstGeom>
        </p:spPr>
      </p:pic>
      <p:sp>
        <p:nvSpPr>
          <p:cNvPr id="4" name="Text 1"/>
          <p:cNvSpPr/>
          <p:nvPr>
            <p:ph idx="102" type="title" hasCustomPrompt="1"/>
          </p:nvPr>
        </p:nvSpPr>
        <p:spPr>
          <a:xfrm>
            <a:off x="548640" y="411480"/>
            <a:ext cx="8138160" cy="685800"/>
          </a:xfrm>
          <a:prstGeom prst="rect">
            <a:avLst/>
          </a:prstGeom>
          <a:noFill/>
          <a:ln/>
        </p:spPr>
        <p:txBody>
          <a:bodyPr wrap="square" rtlCol="0"/>
          <a:lstStyle>
            <a:lvl1pPr algn="l" indent="0" marL="0">
              <a:buNone/>
              <a:defRPr lang="en-US" sz="36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3600" dirty="0"/>
          </a:p>
        </p:txBody>
      </p:sp>
      <p:sp>
        <p:nvSpPr>
          <p:cNvPr id="5" name="Text 1"/>
          <p:cNvSpPr/>
          <p:nvPr>
            <p:ph idx="103" type="body" hasCustomPrompt="1"/>
          </p:nvPr>
        </p:nvSpPr>
        <p:spPr>
          <a:xfrm>
            <a:off x="548640" y="1115568"/>
            <a:ext cx="11094415" cy="411480"/>
          </a:xfrm>
          <a:prstGeom prst="rect">
            <a:avLst/>
          </a:prstGeom>
          <a:noFill/>
          <a:ln/>
        </p:spPr>
        <p:txBody>
          <a:bodyPr wrap="square" rtlCol="0"/>
          <a:lstStyle>
            <a:lvl1pPr algn="l" indent="0" marL="0">
              <a:buNone/>
              <a:defRPr lang="en-US" sz="18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267048" y="1234440"/>
            <a:ext cx="3657600" cy="1840832"/>
          </a:xfrm>
          <a:prstGeom prst="rect">
            <a:avLst/>
          </a:prstGeom>
        </p:spPr>
      </p:pic>
      <p:sp>
        <p:nvSpPr>
          <p:cNvPr id="3" name="Text 0"/>
          <p:cNvSpPr txBox="1"/>
          <p:nvPr/>
        </p:nvSpPr>
        <p:spPr>
          <a:xfrm>
            <a:off x="548640" y="3429000"/>
            <a:ext cx="11094415" cy="548640"/>
          </a:xfrm>
          <a:prstGeom prst="rect">
            <a:avLst/>
          </a:prstGeom>
          <a:noFill/>
          <a:ln/>
        </p:spPr>
        <p:txBody>
          <a:bodyPr wrap="square" lIns="0" tIns="0" rIns="0" bIns="0" rtlCol="0" anchor="t"/>
          <a:lstStyle/>
          <a:p>
            <a:pPr algn="ctr" indent="0" marL="0">
              <a:spcAft>
                <a:spcPts val="400"/>
              </a:spcAft>
              <a:buNone/>
            </a:pPr>
            <a:r>
              <a:rPr lang="en-US" sz="2800" dirty="0">
                <a:solidFill>
                  <a:schemeClr val="tx1"/>
                </a:solidFill>
              </a:rPr>
              <a:t>The setting changes. The spirit never does.</a:t>
            </a:r>
            <a:endParaRPr lang="en-US" sz="2800" dirty="0"/>
          </a:p>
        </p:txBody>
      </p:sp>
      <p:sp>
        <p:nvSpPr>
          <p:cNvPr id="4" name="Text 1"/>
          <p:cNvSpPr txBox="1"/>
          <p:nvPr/>
        </p:nvSpPr>
        <p:spPr>
          <a:xfrm>
            <a:off x="548640" y="4069080"/>
            <a:ext cx="11094415" cy="365760"/>
          </a:xfrm>
          <a:prstGeom prst="rect">
            <a:avLst/>
          </a:prstGeom>
          <a:noFill/>
          <a:ln/>
        </p:spPr>
        <p:txBody>
          <a:bodyPr wrap="square" lIns="0" tIns="0" rIns="0" bIns="0" rtlCol="0" anchor="t"/>
          <a:lstStyle/>
          <a:p>
            <a:pPr algn="ctr" indent="0" marL="0">
              <a:spcAft>
                <a:spcPts val="400"/>
              </a:spcAft>
              <a:buNone/>
            </a:pPr>
            <a:r>
              <a:rPr lang="en-US" sz="1400" dirty="0">
                <a:solidFill>
                  <a:schemeClr val="tx1"/>
                </a:solidFill>
              </a:rPr>
              <a:t>An introduction · October 2026</a:t>
            </a:r>
            <a:endParaRPr lang="en-US" sz="1400" dirty="0"/>
          </a:p>
        </p:txBody>
      </p:sp>
      <p:sp>
        <p:nvSpPr>
          <p:cNvPr id="5" name="FLAG — delete before sharing"/>
          <p:cNvSpPr txBox="1"/>
          <p:nvPr/>
        </p:nvSpPr>
        <p:spPr>
          <a:xfrm>
            <a:off x="548640"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The brand-wide consumer line. Talk. Laugh. Remember. is proposed as the game line (slide 7), so the cover uses supporting line 1 for now.</a:t>
            </a:r>
            <a:endParaRPr lang="en-US" sz="1100" dirty="0"/>
          </a:p>
        </p:txBody>
      </p:sp>
      <p:sp>
        <p:nvSpPr>
          <p:cNvPr id="6" name="FLAG — delete before sharing"/>
          <p:cNvSpPr txBox="1"/>
          <p:nvPr/>
        </p:nvSpPr>
        <p:spPr>
          <a:xfrm>
            <a:off x="6248095"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Master logo artwork files. This logo is taken from the October deck at low resolution; replace with the original artwork.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More connected. Not always closer.</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Why now, and why wine first</a:t>
            </a:r>
            <a:endParaRPr lang="en-US" sz="1800" dirty="0"/>
          </a:p>
        </p:txBody>
      </p:sp>
      <p:sp>
        <p:nvSpPr>
          <p:cNvPr id="4" name="Text 2"/>
          <p:cNvSpPr txBox="1"/>
          <p:nvPr/>
        </p:nvSpPr>
        <p:spPr>
          <a:xfrm>
            <a:off x="548640" y="1783080"/>
            <a:ext cx="6309360" cy="164592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Being in touch isn't the same as feeling close. The moments that stay with us are usually conversations, discoveries and stories shared with other people.</a:t>
            </a:r>
            <a:endParaRPr lang="en-US" sz="1600" dirty="0"/>
          </a:p>
          <a:p>
            <a:pPr indent="0" marL="0">
              <a:spcAft>
                <a:spcPts val="400"/>
              </a:spcAft>
              <a:buNone/>
            </a:pPr>
            <a:r>
              <a:rPr lang="en-US" sz="800" dirty="0">
                <a:solidFill>
                  <a:schemeClr val="tx1"/>
                </a:solidFill>
              </a:rPr>
              <a:t> </a:t>
            </a:r>
            <a:endParaRPr lang="en-US" sz="1600" dirty="0"/>
          </a:p>
          <a:p>
            <a:pPr indent="0" marL="0">
              <a:spcAft>
                <a:spcPts val="400"/>
              </a:spcAft>
              <a:buNone/>
            </a:pPr>
            <a:r>
              <a:rPr lang="en-US" sz="1600" dirty="0">
                <a:solidFill>
                  <a:schemeClr val="tx1"/>
                </a:solidFill>
              </a:rPr>
              <a:t>Wine is one of life's everyday pleasures. Yet long wine lists and specialist words can leave people unsure of their choice, and quiet about what they really think.</a:t>
            </a:r>
            <a:endParaRPr lang="en-US" sz="1600" dirty="0"/>
          </a:p>
        </p:txBody>
      </p:sp>
      <p:sp>
        <p:nvSpPr>
          <p:cNvPr id="5" name="What we often hear"/>
          <p:cNvSpPr/>
          <p:nvPr/>
        </p:nvSpPr>
        <p:spPr>
          <a:xfrm>
            <a:off x="7223760" y="1783080"/>
            <a:ext cx="4419295" cy="1645920"/>
          </a:xfrm>
          <a:prstGeom prst="roundRect">
            <a:avLst>
              <a:gd name="adj" fmla="val 6667"/>
            </a:avLst>
          </a:prstGeom>
          <a:solidFill>
            <a:schemeClr val="tx1"/>
          </a:solidFill>
          <a:ln w="12700">
            <a:solidFill>
              <a:schemeClr val="tx1"/>
            </a:solidFill>
            <a:prstDash val="solid"/>
          </a:ln>
        </p:spPr>
      </p:sp>
      <p:sp>
        <p:nvSpPr>
          <p:cNvPr id="6" name="Text 4"/>
          <p:cNvSpPr txBox="1"/>
          <p:nvPr/>
        </p:nvSpPr>
        <p:spPr>
          <a:xfrm>
            <a:off x="7498080" y="1965960"/>
            <a:ext cx="3870655" cy="1371600"/>
          </a:xfrm>
          <a:prstGeom prst="rect">
            <a:avLst/>
          </a:prstGeom>
          <a:noFill/>
          <a:ln/>
        </p:spPr>
        <p:txBody>
          <a:bodyPr wrap="square" lIns="0" tIns="0" rIns="0" bIns="0" rtlCol="0" anchor="t"/>
          <a:lstStyle/>
          <a:p>
            <a:pPr indent="0" marL="0">
              <a:spcAft>
                <a:spcPts val="400"/>
              </a:spcAft>
              <a:buNone/>
            </a:pPr>
            <a:r>
              <a:rPr lang="en-US" sz="1200" spc="150" kern="0" dirty="0">
                <a:solidFill>
                  <a:schemeClr val="bg2"/>
                </a:solidFill>
                <a:latin typeface="Raleway SemiBold" pitchFamily="34" charset="0"/>
                <a:ea typeface="Raleway SemiBold" pitchFamily="34" charset="-122"/>
                <a:cs typeface="Raleway SemiBold" pitchFamily="34" charset="-120"/>
              </a:rPr>
              <a:t>WHAT WE OFTEN HEAR</a:t>
            </a:r>
            <a:endParaRPr lang="en-US" sz="1500" dirty="0"/>
          </a:p>
          <a:p>
            <a:pPr indent="0" marL="0">
              <a:spcAft>
                <a:spcPts val="400"/>
              </a:spcAft>
              <a:buNone/>
            </a:pPr>
            <a:r>
              <a:rPr lang="en-US" sz="600" dirty="0">
                <a:solidFill>
                  <a:schemeClr val="bg2"/>
                </a:solidFill>
              </a:rPr>
              <a:t> </a:t>
            </a:r>
            <a:endParaRPr lang="en-US" sz="1500" dirty="0"/>
          </a:p>
          <a:p>
            <a:pPr indent="0" marL="0">
              <a:spcAft>
                <a:spcPts val="400"/>
              </a:spcAft>
              <a:buNone/>
            </a:pPr>
            <a:r>
              <a:rPr lang="en-US" sz="1500" i="1" dirty="0">
                <a:solidFill>
                  <a:schemeClr val="bg2"/>
                </a:solidFill>
              </a:rPr>
              <a:t>You'll be better at choosing the wine than me.</a:t>
            </a:r>
            <a:endParaRPr lang="en-US" sz="1500" dirty="0"/>
          </a:p>
          <a:p>
            <a:pPr indent="0" marL="0">
              <a:spcAft>
                <a:spcPts val="400"/>
              </a:spcAft>
              <a:buNone/>
            </a:pPr>
            <a:r>
              <a:rPr lang="en-US" sz="600" dirty="0">
                <a:solidFill>
                  <a:schemeClr val="bg2"/>
                </a:solidFill>
              </a:rPr>
              <a:t> </a:t>
            </a:r>
            <a:endParaRPr lang="en-US" sz="1500" dirty="0"/>
          </a:p>
          <a:p>
            <a:pPr indent="0" marL="0">
              <a:spcAft>
                <a:spcPts val="400"/>
              </a:spcAft>
              <a:buNone/>
            </a:pPr>
            <a:r>
              <a:rPr lang="en-US" sz="1500" i="1" dirty="0">
                <a:solidFill>
                  <a:schemeClr val="bg2"/>
                </a:solidFill>
              </a:rPr>
              <a:t>People want to enjoy themselves, not prove themselves.</a:t>
            </a:r>
            <a:endParaRPr lang="en-US" sz="1500" dirty="0"/>
          </a:p>
        </p:txBody>
      </p:sp>
      <p:sp>
        <p:nvSpPr>
          <p:cNvPr id="7" name="Card: DIGITAL EVERYWHERE"/>
          <p:cNvSpPr/>
          <p:nvPr/>
        </p:nvSpPr>
        <p:spPr>
          <a:xfrm>
            <a:off x="548640"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777240"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DIGITAL EVERYWHERE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We talk and discover through screens, but closeness happens in person.</a:t>
            </a:r>
            <a:endParaRPr lang="en-US" sz="1400" dirty="0"/>
          </a:p>
        </p:txBody>
      </p:sp>
      <p:sp>
        <p:nvSpPr>
          <p:cNvPr id="9" name="Card: TIME TOGETHER"/>
          <p:cNvSpPr/>
          <p:nvPr/>
        </p:nvSpPr>
        <p:spPr>
          <a:xfrm>
            <a:off x="4338218"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4566818"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TIME TOGETHER</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A shared table gives people room to be present, curious and open.</a:t>
            </a:r>
            <a:endParaRPr lang="en-US" sz="1400" dirty="0"/>
          </a:p>
        </p:txBody>
      </p:sp>
      <p:sp>
        <p:nvSpPr>
          <p:cNvPr id="11" name="Card: WINE, FIRST"/>
          <p:cNvSpPr/>
          <p:nvPr/>
        </p:nvSpPr>
        <p:spPr>
          <a:xfrm>
            <a:off x="8127797" y="3703320"/>
            <a:ext cx="3515258" cy="1600200"/>
          </a:xfrm>
          <a:prstGeom prst="roundRect">
            <a:avLst>
              <a:gd name="adj" fmla="val 685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2" name="Text 10"/>
          <p:cNvSpPr txBox="1"/>
          <p:nvPr/>
        </p:nvSpPr>
        <p:spPr>
          <a:xfrm>
            <a:off x="8356397" y="3931920"/>
            <a:ext cx="3058058" cy="123444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WINE, FIRST</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A glass on the table is a natural place to start a conversation.</a:t>
            </a:r>
            <a:endParaRPr lang="en-US" sz="1400" dirty="0"/>
          </a:p>
        </p:txBody>
      </p:sp>
      <p:sp>
        <p:nvSpPr>
          <p:cNvPr id="13" name="FLAG — delete before sharing"/>
          <p:cNvSpPr txBox="1"/>
          <p:nvPr/>
        </p:nvSpPr>
        <p:spPr>
          <a:xfrm>
            <a:off x="548640" y="5532120"/>
            <a:ext cx="6766560" cy="4572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Showing heard-but-unattributed lines as observations is proposed in the Brand Brain.</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Conversation, not knowledge.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The idea</a:t>
            </a:r>
            <a:endParaRPr lang="en-US" sz="1800" dirty="0"/>
          </a:p>
        </p:txBody>
      </p:sp>
      <p:sp>
        <p:nvSpPr>
          <p:cNvPr id="4" name="Idea statement"/>
          <p:cNvSpPr/>
          <p:nvPr/>
        </p:nvSpPr>
        <p:spPr>
          <a:xfrm>
            <a:off x="548640" y="1783080"/>
            <a:ext cx="11094415" cy="1234440"/>
          </a:xfrm>
          <a:prstGeom prst="roundRect">
            <a:avLst>
              <a:gd name="adj" fmla="val 8889"/>
            </a:avLst>
          </a:prstGeom>
          <a:solidFill>
            <a:schemeClr val="tx1"/>
          </a:solidFill>
          <a:ln w="12700">
            <a:solidFill>
              <a:schemeClr val="tx1"/>
            </a:solidFill>
            <a:prstDash val="solid"/>
          </a:ln>
        </p:spPr>
      </p:sp>
      <p:sp>
        <p:nvSpPr>
          <p:cNvPr id="5" name="Text 3"/>
          <p:cNvSpPr txBox="1"/>
          <p:nvPr/>
        </p:nvSpPr>
        <p:spPr>
          <a:xfrm>
            <a:off x="1005840" y="1783080"/>
            <a:ext cx="10180015" cy="1234440"/>
          </a:xfrm>
          <a:prstGeom prst="rect">
            <a:avLst/>
          </a:prstGeom>
          <a:noFill/>
          <a:ln/>
        </p:spPr>
        <p:txBody>
          <a:bodyPr wrap="square" lIns="0" tIns="0" rIns="0" bIns="0" rtlCol="0" anchor="ctr"/>
          <a:lstStyle/>
          <a:p>
            <a:pPr algn="ctr" indent="0" marL="0">
              <a:spcAft>
                <a:spcPts val="400"/>
              </a:spcAft>
              <a:buNone/>
            </a:pPr>
            <a:r>
              <a:rPr lang="en-US" sz="2400" dirty="0">
                <a:solidFill>
                  <a:schemeClr val="bg2"/>
                </a:solidFill>
              </a:rPr>
              <a:t>We start with a simple belief: conversation flows when nobody is worried about getting it right.</a:t>
            </a:r>
            <a:endParaRPr lang="en-US" sz="2400" dirty="0"/>
          </a:p>
        </p:txBody>
      </p:sp>
      <p:sp>
        <p:nvSpPr>
          <p:cNvPr id="6" name="Card: BETWEEN FRIENDS"/>
          <p:cNvSpPr/>
          <p:nvPr/>
        </p:nvSpPr>
        <p:spPr>
          <a:xfrm>
            <a:off x="548640"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BETWEEN FRIENDS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Entre Amis is French for "between friends". Any wine. Any table. Everyone has something worth saying.</a:t>
            </a:r>
            <a:endParaRPr lang="en-US" sz="1600" dirty="0"/>
          </a:p>
        </p:txBody>
      </p:sp>
      <p:sp>
        <p:nvSpPr>
          <p:cNvPr id="8" name="Card: WINE IS OUR FIRST INVITATION"/>
          <p:cNvSpPr/>
          <p:nvPr/>
        </p:nvSpPr>
        <p:spPr>
          <a:xfrm>
            <a:off x="4338218"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4566818"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WINE IS OUR FIRST INVITATION</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Wine is where we begin, not where we stop.</a:t>
            </a:r>
            <a:endParaRPr lang="en-US" sz="1600" dirty="0"/>
          </a:p>
        </p:txBody>
      </p:sp>
      <p:sp>
        <p:nvSpPr>
          <p:cNvPr id="10" name="Card: WHAT PEOPLE TAKE AWAY"/>
          <p:cNvSpPr/>
          <p:nvPr/>
        </p:nvSpPr>
        <p:spPr>
          <a:xfrm>
            <a:off x="8127797" y="333756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8356397" y="356616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PEOPLE TAKE AWAY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Not a score or a lesson. Stories, discoveries, people and moments worth coming back to.</a:t>
            </a:r>
            <a:endParaRPr lang="en-US" sz="16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What Entre Amis is, and isn't</a:t>
            </a:r>
            <a:endParaRPr lang="en-US" sz="3600" dirty="0"/>
          </a:p>
        </p:txBody>
      </p:sp>
      <p:sp>
        <p:nvSpPr>
          <p:cNvPr id="3" name="Entre Amis is"/>
          <p:cNvSpPr/>
          <p:nvPr/>
        </p:nvSpPr>
        <p:spPr>
          <a:xfrm>
            <a:off x="548640" y="1463040"/>
            <a:ext cx="5410048" cy="4023360"/>
          </a:xfrm>
          <a:prstGeom prst="roundRect">
            <a:avLst>
              <a:gd name="adj" fmla="val 272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4" name="Text 2"/>
          <p:cNvSpPr txBox="1"/>
          <p:nvPr/>
        </p:nvSpPr>
        <p:spPr>
          <a:xfrm>
            <a:off x="868680" y="1737360"/>
            <a:ext cx="4769968" cy="356616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ENTRE AMIS IS</a:t>
            </a:r>
            <a:endParaRPr lang="en-US" sz="1600" dirty="0"/>
          </a:p>
          <a:p>
            <a:pPr indent="0" marL="0">
              <a:spcAft>
                <a:spcPts val="400"/>
              </a:spcAft>
              <a:buNone/>
            </a:pPr>
            <a:r>
              <a:rPr lang="en-US" sz="800" dirty="0">
                <a:solidFill>
                  <a:schemeClr val="tx1"/>
                </a:solidFill>
              </a:rPr>
              <a:t> </a:t>
            </a:r>
            <a:endParaRPr lang="en-US" sz="1600" dirty="0"/>
          </a:p>
          <a:p>
            <a:pPr marL="203200" indent="-203200">
              <a:spcAft>
                <a:spcPts val="1000"/>
              </a:spcAft>
              <a:buSzPct val="100000"/>
              <a:buChar char="•"/>
            </a:pPr>
            <a:r>
              <a:rPr lang="en-US" sz="1600" dirty="0">
                <a:solidFill>
                  <a:schemeClr val="tx1"/>
                </a:solidFill>
              </a:rPr>
              <a:t>About conversation, discovery and belonging</a:t>
            </a:r>
            <a:endParaRPr lang="en-US" sz="1600" dirty="0"/>
          </a:p>
          <a:p>
            <a:pPr marL="203200" indent="-203200">
              <a:spcAft>
                <a:spcPts val="1000"/>
              </a:spcAft>
              <a:buSzPct val="100000"/>
              <a:buChar char="•"/>
            </a:pPr>
            <a:r>
              <a:rPr lang="en-US" sz="1600" dirty="0">
                <a:solidFill>
                  <a:schemeClr val="tx1"/>
                </a:solidFill>
              </a:rPr>
              <a:t>For anyone who enjoys wine with friends, whatever they know</a:t>
            </a:r>
            <a:endParaRPr lang="en-US" sz="1600" dirty="0"/>
          </a:p>
          <a:p>
            <a:pPr marL="203200" indent="-203200">
              <a:spcAft>
                <a:spcPts val="1000"/>
              </a:spcAft>
              <a:buSzPct val="100000"/>
              <a:buChar char="•"/>
            </a:pPr>
            <a:r>
              <a:rPr lang="en-US" sz="1600" dirty="0">
                <a:solidFill>
                  <a:schemeClr val="tx1"/>
                </a:solidFill>
              </a:rPr>
              <a:t>Quietly premium, contemporary and considered</a:t>
            </a:r>
            <a:endParaRPr lang="en-US" sz="1600" dirty="0"/>
          </a:p>
          <a:p>
            <a:pPr marL="203200" indent="-203200">
              <a:spcAft>
                <a:spcPts val="1000"/>
              </a:spcAft>
              <a:buSzPct val="100000"/>
              <a:buChar char="•"/>
            </a:pPr>
            <a:r>
              <a:rPr lang="en-US" sz="1600" dirty="0">
                <a:solidFill>
                  <a:schemeClr val="tx1"/>
                </a:solidFill>
              </a:rPr>
              <a:t>Wine-led today, with room to grow beyond wine</a:t>
            </a:r>
            <a:endParaRPr lang="en-US" sz="1600" dirty="0"/>
          </a:p>
        </p:txBody>
      </p:sp>
      <p:sp>
        <p:nvSpPr>
          <p:cNvPr id="5" name="Entre Amis isn't"/>
          <p:cNvSpPr/>
          <p:nvPr/>
        </p:nvSpPr>
        <p:spPr>
          <a:xfrm>
            <a:off x="6233008" y="1463040"/>
            <a:ext cx="5410048" cy="4023360"/>
          </a:xfrm>
          <a:prstGeom prst="roundRect">
            <a:avLst>
              <a:gd name="adj" fmla="val 2727"/>
            </a:avLst>
          </a:prstGeom>
          <a:solidFill>
            <a:schemeClr val="tx1"/>
          </a:solidFill>
          <a:ln w="12700">
            <a:solidFill>
              <a:schemeClr val="tx1"/>
            </a:solidFill>
            <a:prstDash val="solid"/>
          </a:ln>
        </p:spPr>
      </p:sp>
      <p:sp>
        <p:nvSpPr>
          <p:cNvPr id="6" name="Text 4"/>
          <p:cNvSpPr txBox="1"/>
          <p:nvPr/>
        </p:nvSpPr>
        <p:spPr>
          <a:xfrm>
            <a:off x="6553048" y="1737360"/>
            <a:ext cx="4769968" cy="3566160"/>
          </a:xfrm>
          <a:prstGeom prst="rect">
            <a:avLst/>
          </a:prstGeom>
          <a:noFill/>
          <a:ln/>
        </p:spPr>
        <p:txBody>
          <a:bodyPr wrap="square" lIns="0" tIns="0" rIns="0" bIns="0" rtlCol="0" anchor="t"/>
          <a:lstStyle/>
          <a:p>
            <a:pPr indent="0" marL="0">
              <a:spcAft>
                <a:spcPts val="600"/>
              </a:spcAft>
              <a:buNone/>
            </a:pPr>
            <a:r>
              <a:rPr lang="en-US" sz="1400" spc="150" kern="0" dirty="0">
                <a:solidFill>
                  <a:schemeClr val="bg2"/>
                </a:solidFill>
                <a:latin typeface="Raleway SemiBold" pitchFamily="34" charset="0"/>
                <a:ea typeface="Raleway SemiBold" pitchFamily="34" charset="-122"/>
                <a:cs typeface="Raleway SemiBold" pitchFamily="34" charset="-120"/>
              </a:rPr>
              <a:t>ENTRE AMIS ISN'T</a:t>
            </a:r>
            <a:endParaRPr lang="en-US" sz="1400" dirty="0"/>
          </a:p>
          <a:p>
            <a:pPr indent="0" marL="0">
              <a:spcAft>
                <a:spcPts val="600"/>
              </a:spcAft>
              <a:buNone/>
            </a:pPr>
            <a:r>
              <a:rPr lang="en-US" sz="800" dirty="0">
                <a:solidFill>
                  <a:schemeClr val="bg2"/>
                </a:solidFill>
              </a:rPr>
              <a:t> </a:t>
            </a:r>
            <a:endParaRPr lang="en-US" sz="1400" dirty="0"/>
          </a:p>
          <a:p>
            <a:pPr marL="203200" indent="-203200">
              <a:spcAft>
                <a:spcPts val="600"/>
              </a:spcAft>
              <a:buSzPct val="100000"/>
              <a:buChar char="•"/>
            </a:pPr>
            <a:r>
              <a:rPr lang="en-US" sz="1400" dirty="0">
                <a:solidFill>
                  <a:schemeClr val="bg2"/>
                </a:solidFill>
              </a:rPr>
              <a:t>A wine course or a test</a:t>
            </a:r>
            <a:endParaRPr lang="en-US" sz="1400" dirty="0"/>
          </a:p>
          <a:p>
            <a:pPr marL="203200" indent="-203200">
              <a:spcAft>
                <a:spcPts val="600"/>
              </a:spcAft>
              <a:buSzPct val="100000"/>
              <a:buChar char="•"/>
            </a:pPr>
            <a:r>
              <a:rPr lang="en-US" sz="1400" dirty="0">
                <a:solidFill>
                  <a:schemeClr val="bg2"/>
                </a:solidFill>
              </a:rPr>
              <a:t>A judge of wine. The table decides.</a:t>
            </a:r>
            <a:endParaRPr lang="en-US" sz="1400" dirty="0"/>
          </a:p>
          <a:p>
            <a:pPr marL="203200" indent="-203200">
              <a:spcAft>
                <a:spcPts val="600"/>
              </a:spcAft>
              <a:buSzPct val="100000"/>
              <a:buChar char="•"/>
            </a:pPr>
            <a:r>
              <a:rPr lang="en-US" sz="1400" dirty="0">
                <a:solidFill>
                  <a:schemeClr val="bg2"/>
                </a:solidFill>
              </a:rPr>
              <a:t>Snobbish. Any bottle belongs.</a:t>
            </a:r>
            <a:endParaRPr lang="en-US" sz="1400" dirty="0"/>
          </a:p>
          <a:p>
            <a:pPr marL="203200" indent="-203200">
              <a:spcAft>
                <a:spcPts val="600"/>
              </a:spcAft>
              <a:buSzPct val="100000"/>
              <a:buChar char="•"/>
            </a:pPr>
            <a:r>
              <a:rPr lang="en-US" sz="1400" dirty="0">
                <a:solidFill>
                  <a:schemeClr val="bg2"/>
                </a:solidFill>
              </a:rPr>
              <a:t>A drinking game. Corks are won for conversation, never for how much anyone drinks.</a:t>
            </a:r>
            <a:endParaRPr lang="en-US" sz="1400" dirty="0"/>
          </a:p>
          <a:p>
            <a:pPr marL="203200" indent="-203200">
              <a:spcAft>
                <a:spcPts val="600"/>
              </a:spcAft>
              <a:buSzPct val="100000"/>
              <a:buChar char="•"/>
            </a:pPr>
            <a:r>
              <a:rPr lang="en-US" sz="1400" dirty="0">
                <a:solidFill>
                  <a:schemeClr val="bg2"/>
                </a:solidFill>
              </a:rPr>
              <a:t>Screen-first. The app supports the table; it never becomes it.</a:t>
            </a:r>
            <a:endParaRPr lang="en-US" sz="1400" dirty="0"/>
          </a:p>
          <a:p>
            <a:pPr marL="203200" indent="-203200">
              <a:spcAft>
                <a:spcPts val="600"/>
              </a:spcAft>
              <a:buSzPct val="100000"/>
              <a:buChar char="•"/>
            </a:pPr>
            <a:r>
              <a:rPr lang="en-US" sz="1400" dirty="0">
                <a:solidFill>
                  <a:schemeClr val="bg2"/>
                </a:solidFill>
              </a:rPr>
              <a:t>A wine retailer</a:t>
            </a:r>
            <a:endParaRPr lang="en-US" sz="1400" dirty="0"/>
          </a:p>
          <a:p>
            <a:pPr marL="203200" indent="-203200">
              <a:spcAft>
                <a:spcPts val="600"/>
              </a:spcAft>
              <a:buSzPct val="100000"/>
              <a:buChar char="•"/>
            </a:pPr>
            <a:r>
              <a:rPr lang="en-US" sz="1400" dirty="0">
                <a:solidFill>
                  <a:schemeClr val="bg2"/>
                </a:solidFill>
              </a:rPr>
              <a:t>For under-18s</a:t>
            </a:r>
            <a:endParaRPr lang="en-US" sz="1400" dirty="0"/>
          </a:p>
        </p:txBody>
      </p:sp>
      <p:sp>
        <p:nvSpPr>
          <p:cNvPr id="7" name="Text 5"/>
          <p:cNvSpPr txBox="1"/>
          <p:nvPr/>
        </p:nvSpPr>
        <p:spPr>
          <a:xfrm>
            <a:off x="548640" y="5669280"/>
            <a:ext cx="11094415" cy="411480"/>
          </a:xfrm>
          <a:prstGeom prst="rect">
            <a:avLst/>
          </a:prstGeom>
          <a:noFill/>
          <a:ln/>
        </p:spPr>
        <p:txBody>
          <a:bodyPr wrap="square" lIns="0" tIns="0" rIns="0" bIns="0" rtlCol="0" anchor="t"/>
          <a:lstStyle/>
          <a:p>
            <a:pPr algn="ctr" indent="0" marL="0">
              <a:spcAft>
                <a:spcPts val="400"/>
              </a:spcAft>
              <a:buNone/>
            </a:pPr>
            <a:r>
              <a:rPr lang="en-US" sz="2000" i="1" dirty="0">
                <a:solidFill>
                  <a:schemeClr val="tx1"/>
                </a:solidFill>
              </a:rPr>
              <a:t>When you're at an Entre Amis table, nobody has to prove they belong there.</a:t>
            </a:r>
            <a:endParaRPr lang="en-US" sz="2000" dirty="0"/>
          </a:p>
        </p:txBody>
      </p:sp>
      <p:sp>
        <p:nvSpPr>
          <p:cNvPr id="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friend you want at the table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Knows enough to make things interesting. Never makes anyone feel left out.</a:t>
            </a:r>
            <a:endParaRPr lang="en-US" sz="1800" dirty="0"/>
          </a:p>
        </p:txBody>
      </p:sp>
      <p:sp>
        <p:nvSpPr>
          <p:cNvPr id="4" name="Behaviours"/>
          <p:cNvSpPr/>
          <p:nvPr/>
        </p:nvSpPr>
        <p:spPr>
          <a:xfrm>
            <a:off x="548640" y="1783080"/>
            <a:ext cx="4937760" cy="4206240"/>
          </a:xfrm>
          <a:prstGeom prst="roundRect">
            <a:avLst>
              <a:gd name="adj" fmla="val 2609"/>
            </a:avLst>
          </a:prstGeom>
          <a:solidFill>
            <a:schemeClr val="tx1"/>
          </a:solidFill>
          <a:ln w="12700">
            <a:solidFill>
              <a:schemeClr val="tx1"/>
            </a:solidFill>
            <a:prstDash val="solid"/>
          </a:ln>
        </p:spPr>
      </p:sp>
      <p:sp>
        <p:nvSpPr>
          <p:cNvPr id="5" name="Text 3"/>
          <p:cNvSpPr txBox="1"/>
          <p:nvPr/>
        </p:nvSpPr>
        <p:spPr>
          <a:xfrm>
            <a:off x="868680" y="2057400"/>
            <a:ext cx="4297680" cy="3749040"/>
          </a:xfrm>
          <a:prstGeom prst="rect">
            <a:avLst/>
          </a:prstGeom>
          <a:noFill/>
          <a:ln/>
        </p:spPr>
        <p:txBody>
          <a:bodyPr wrap="square" lIns="0" tIns="0" rIns="0" bIns="0" rtlCol="0" anchor="t"/>
          <a:lstStyle/>
          <a:p>
            <a:pPr indent="0" marL="0">
              <a:spcAft>
                <a:spcPts val="400"/>
              </a:spcAft>
              <a:buNone/>
            </a:pPr>
            <a:r>
              <a:rPr lang="en-US" sz="1300" spc="150" kern="0" dirty="0">
                <a:solidFill>
                  <a:schemeClr val="bg2"/>
                </a:solidFill>
                <a:latin typeface="Raleway SemiBold" pitchFamily="34" charset="0"/>
                <a:ea typeface="Raleway SemiBold" pitchFamily="34" charset="-122"/>
                <a:cs typeface="Raleway SemiBold" pitchFamily="34" charset="-120"/>
              </a:rPr>
              <a:t>AT THE TABLE, WE…</a:t>
            </a:r>
            <a:endParaRPr lang="en-US" sz="1500" dirty="0"/>
          </a:p>
          <a:p>
            <a:pPr indent="0" marL="0">
              <a:spcAft>
                <a:spcPts val="400"/>
              </a:spcAft>
              <a:buNone/>
            </a:pPr>
            <a:r>
              <a:rPr lang="en-US" sz="800" dirty="0">
                <a:solidFill>
                  <a:schemeClr val="bg2"/>
                </a:solidFill>
              </a:rPr>
              <a:t> </a:t>
            </a:r>
            <a:endParaRPr lang="en-US" sz="1500" dirty="0"/>
          </a:p>
          <a:p>
            <a:pPr marL="203200" indent="-203200">
              <a:spcAft>
                <a:spcPts val="900"/>
              </a:spcAft>
              <a:buSzPct val="100000"/>
              <a:buChar char="•"/>
            </a:pPr>
            <a:r>
              <a:rPr lang="en-US" sz="1500" dirty="0">
                <a:solidFill>
                  <a:schemeClr val="bg2"/>
                </a:solidFill>
              </a:rPr>
              <a:t>Pulls people in when they go quiet.</a:t>
            </a:r>
            <a:endParaRPr lang="en-US" sz="1500" dirty="0"/>
          </a:p>
          <a:p>
            <a:pPr marL="203200" indent="-203200">
              <a:spcAft>
                <a:spcPts val="900"/>
              </a:spcAft>
              <a:buSzPct val="100000"/>
              <a:buChar char="•"/>
            </a:pPr>
            <a:r>
              <a:rPr lang="en-US" sz="1500" dirty="0">
                <a:solidFill>
                  <a:schemeClr val="bg2"/>
                </a:solidFill>
              </a:rPr>
              <a:t>Shares something fascinating without turning it into a lesson.</a:t>
            </a:r>
            <a:endParaRPr lang="en-US" sz="1500" dirty="0"/>
          </a:p>
          <a:p>
            <a:pPr marL="203200" indent="-203200">
              <a:spcAft>
                <a:spcPts val="900"/>
              </a:spcAft>
              <a:buSzPct val="100000"/>
              <a:buChar char="•"/>
            </a:pPr>
            <a:r>
              <a:rPr lang="en-US" sz="1500" dirty="0">
                <a:solidFill>
                  <a:schemeClr val="bg2"/>
                </a:solidFill>
              </a:rPr>
              <a:t>Loves any bottle, the special one or the everyday one.</a:t>
            </a:r>
            <a:endParaRPr lang="en-US" sz="1500" dirty="0"/>
          </a:p>
          <a:p>
            <a:pPr marL="203200" indent="-203200">
              <a:spcAft>
                <a:spcPts val="900"/>
              </a:spcAft>
              <a:buSzPct val="100000"/>
              <a:buChar char="•"/>
            </a:pPr>
            <a:r>
              <a:rPr lang="en-US" sz="1500" dirty="0">
                <a:solidFill>
                  <a:schemeClr val="bg2"/>
                </a:solidFill>
              </a:rPr>
              <a:t>Encourages opinions, not correct answers.</a:t>
            </a:r>
            <a:endParaRPr lang="en-US" sz="1500" dirty="0"/>
          </a:p>
          <a:p>
            <a:pPr marL="203200" indent="-203200">
              <a:spcAft>
                <a:spcPts val="900"/>
              </a:spcAft>
              <a:buSzPct val="100000"/>
              <a:buChar char="•"/>
            </a:pPr>
            <a:r>
              <a:rPr lang="en-US" sz="1500" dirty="0">
                <a:solidFill>
                  <a:schemeClr val="bg2"/>
                </a:solidFill>
              </a:rPr>
              <a:t>Cares more about the company than the score.</a:t>
            </a:r>
            <a:endParaRPr lang="en-US" sz="1500" dirty="0"/>
          </a:p>
          <a:p>
            <a:pPr marL="203200" indent="-203200">
              <a:spcAft>
                <a:spcPts val="900"/>
              </a:spcAft>
              <a:buSzPct val="100000"/>
              <a:buChar char="•"/>
            </a:pPr>
            <a:r>
              <a:rPr lang="en-US" sz="1500" dirty="0">
                <a:solidFill>
                  <a:schemeClr val="bg2"/>
                </a:solidFill>
              </a:rPr>
              <a:t>Always brings a little more than you expected.</a:t>
            </a:r>
            <a:endParaRPr lang="en-US" sz="1500" dirty="0"/>
          </a:p>
        </p:txBody>
      </p:sp>
      <p:sp>
        <p:nvSpPr>
          <p:cNvPr id="6" name="Tone: WARM, NEVER WORTHY"/>
          <p:cNvSpPr/>
          <p:nvPr/>
        </p:nvSpPr>
        <p:spPr>
          <a:xfrm>
            <a:off x="5760720" y="178308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035040" y="205740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WARM, NEVER WORTHY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Knowledge shared generously, never used as status.</a:t>
            </a:r>
            <a:endParaRPr lang="en-US" sz="1600" dirty="0"/>
          </a:p>
        </p:txBody>
      </p:sp>
      <p:sp>
        <p:nvSpPr>
          <p:cNvPr id="8" name="Tone: CURIOUS, NEVER CORRECTIVE"/>
          <p:cNvSpPr/>
          <p:nvPr/>
        </p:nvSpPr>
        <p:spPr>
          <a:xfrm>
            <a:off x="8839048" y="178308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9113368" y="205740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CURIOUS, NEVER CORRECTIVE</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Any wine belongs. Every opinion counts.</a:t>
            </a:r>
            <a:endParaRPr lang="en-US" sz="1600" dirty="0"/>
          </a:p>
        </p:txBody>
      </p:sp>
      <p:sp>
        <p:nvSpPr>
          <p:cNvPr id="10" name="Tone: PREMIUM, NEVER PRECIOUS"/>
          <p:cNvSpPr/>
          <p:nvPr/>
        </p:nvSpPr>
        <p:spPr>
          <a:xfrm>
            <a:off x="5760720" y="402336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6035040" y="429768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PREMIUM, NEVER PRECIOUS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Considered design, relaxed enough to use.</a:t>
            </a:r>
            <a:endParaRPr lang="en-US" sz="1600" dirty="0"/>
          </a:p>
        </p:txBody>
      </p:sp>
      <p:sp>
        <p:nvSpPr>
          <p:cNvPr id="12" name="Tone: PLAYFUL, NEVER SILLY"/>
          <p:cNvSpPr/>
          <p:nvPr/>
        </p:nvSpPr>
        <p:spPr>
          <a:xfrm>
            <a:off x="8839048" y="4023360"/>
            <a:ext cx="2804008" cy="1965960"/>
          </a:xfrm>
          <a:prstGeom prst="roundRect">
            <a:avLst>
              <a:gd name="adj" fmla="val 5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9113368" y="4297680"/>
            <a:ext cx="2255368" cy="1508760"/>
          </a:xfrm>
          <a:prstGeom prst="rect">
            <a:avLst/>
          </a:prstGeom>
          <a:noFill/>
          <a:ln/>
        </p:spPr>
        <p:txBody>
          <a:bodyPr wrap="square" lIns="0" tIns="0" rIns="0" bIns="0" rtlCol="0" anchor="t"/>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PLAYFUL, NEVER SILLY</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Wit and a little mischief, always grown-up.</a:t>
            </a:r>
            <a:endParaRPr lang="en-US" sz="16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How it fits together</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One brand. Several ways to take part.</a:t>
            </a:r>
            <a:endParaRPr lang="en-US" sz="1800" dirty="0"/>
          </a:p>
        </p:txBody>
      </p:sp>
      <p:sp>
        <p:nvSpPr>
          <p:cNvPr id="4" name="Journey: Inspire"/>
          <p:cNvSpPr txBox="1"/>
          <p:nvPr/>
        </p:nvSpPr>
        <p:spPr>
          <a:xfrm>
            <a:off x="54864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Inspire</a:t>
            </a:r>
            <a:endParaRPr lang="en-US" sz="1800" dirty="0"/>
          </a:p>
        </p:txBody>
      </p:sp>
      <p:sp>
        <p:nvSpPr>
          <p:cNvPr id="5" name="Shape 3"/>
          <p:cNvSpPr/>
          <p:nvPr/>
        </p:nvSpPr>
        <p:spPr>
          <a:xfrm>
            <a:off x="2441448" y="1947672"/>
            <a:ext cx="283464" cy="219456"/>
          </a:xfrm>
          <a:prstGeom prst="rightArrow">
            <a:avLst/>
          </a:prstGeom>
          <a:solidFill>
            <a:schemeClr val="accent2"/>
          </a:solidFill>
          <a:ln w="12700">
            <a:solidFill>
              <a:schemeClr val="accent2"/>
            </a:solidFill>
            <a:prstDash val="solid"/>
          </a:ln>
        </p:spPr>
      </p:sp>
      <p:sp>
        <p:nvSpPr>
          <p:cNvPr id="6" name="Journey: Discover"/>
          <p:cNvSpPr txBox="1"/>
          <p:nvPr/>
        </p:nvSpPr>
        <p:spPr>
          <a:xfrm>
            <a:off x="278892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Discover</a:t>
            </a:r>
            <a:endParaRPr lang="en-US" sz="1800" dirty="0"/>
          </a:p>
        </p:txBody>
      </p:sp>
      <p:sp>
        <p:nvSpPr>
          <p:cNvPr id="7" name="Shape 5"/>
          <p:cNvSpPr/>
          <p:nvPr/>
        </p:nvSpPr>
        <p:spPr>
          <a:xfrm>
            <a:off x="4681728" y="1947672"/>
            <a:ext cx="283464" cy="219456"/>
          </a:xfrm>
          <a:prstGeom prst="rightArrow">
            <a:avLst/>
          </a:prstGeom>
          <a:solidFill>
            <a:schemeClr val="accent2"/>
          </a:solidFill>
          <a:ln w="12700">
            <a:solidFill>
              <a:schemeClr val="accent2"/>
            </a:solidFill>
            <a:prstDash val="solid"/>
          </a:ln>
        </p:spPr>
      </p:sp>
      <p:sp>
        <p:nvSpPr>
          <p:cNvPr id="8" name="Journey: Experience"/>
          <p:cNvSpPr txBox="1"/>
          <p:nvPr/>
        </p:nvSpPr>
        <p:spPr>
          <a:xfrm>
            <a:off x="502920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Experience</a:t>
            </a:r>
            <a:endParaRPr lang="en-US" sz="1800" dirty="0"/>
          </a:p>
        </p:txBody>
      </p:sp>
      <p:sp>
        <p:nvSpPr>
          <p:cNvPr id="9" name="Shape 7"/>
          <p:cNvSpPr/>
          <p:nvPr/>
        </p:nvSpPr>
        <p:spPr>
          <a:xfrm>
            <a:off x="6922008" y="1947672"/>
            <a:ext cx="283464" cy="219456"/>
          </a:xfrm>
          <a:prstGeom prst="rightArrow">
            <a:avLst/>
          </a:prstGeom>
          <a:solidFill>
            <a:schemeClr val="accent2"/>
          </a:solidFill>
          <a:ln w="12700">
            <a:solidFill>
              <a:schemeClr val="accent2"/>
            </a:solidFill>
            <a:prstDash val="solid"/>
          </a:ln>
        </p:spPr>
      </p:sp>
      <p:sp>
        <p:nvSpPr>
          <p:cNvPr id="10" name="Journey: Belong"/>
          <p:cNvSpPr txBox="1"/>
          <p:nvPr/>
        </p:nvSpPr>
        <p:spPr>
          <a:xfrm>
            <a:off x="7269480" y="1783080"/>
            <a:ext cx="1783080" cy="548640"/>
          </a:xfrm>
          <a:prstGeom prst="roundRect">
            <a:avLst>
              <a:gd name="adj" fmla="val 50000"/>
            </a:avLst>
          </a:prstGeom>
          <a:solidFill>
            <a:schemeClr val="tx1"/>
          </a:solidFill>
          <a:ln/>
        </p:spPr>
        <p:txBody>
          <a:bodyPr wrap="square" lIns="0" tIns="0" rIns="0" bIns="0" rtlCol="0" anchor="ctr"/>
          <a:lstStyle/>
          <a:p>
            <a:pPr algn="ctr" indent="0" marL="0">
              <a:buNone/>
            </a:pPr>
            <a:r>
              <a:rPr lang="en-US" sz="1800" dirty="0">
                <a:solidFill>
                  <a:schemeClr val="bg2"/>
                </a:solidFill>
              </a:rPr>
              <a:t>Belong</a:t>
            </a:r>
            <a:endParaRPr lang="en-US" sz="1800" dirty="0"/>
          </a:p>
        </p:txBody>
      </p:sp>
      <p:sp>
        <p:nvSpPr>
          <p:cNvPr id="11" name="FLAG — delete before sharing"/>
          <p:cNvSpPr txBox="1"/>
          <p:nvPr/>
        </p:nvSpPr>
        <p:spPr>
          <a:xfrm>
            <a:off x="9326880" y="1783080"/>
            <a:ext cx="2316175"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Journey proposed in the Brand Brain.</a:t>
            </a:r>
            <a:endParaRPr lang="en-US" sz="1100" dirty="0"/>
          </a:p>
        </p:txBody>
      </p:sp>
      <p:sp>
        <p:nvSpPr>
          <p:cNvPr id="12" name="Offer: THE GAME"/>
          <p:cNvSpPr/>
          <p:nvPr/>
        </p:nvSpPr>
        <p:spPr>
          <a:xfrm>
            <a:off x="548640"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Expression marker: THE GAME"/>
          <p:cNvSpPr txBox="1"/>
          <p:nvPr/>
        </p:nvSpPr>
        <p:spPr>
          <a:xfrm>
            <a:off x="777240" y="2743200"/>
            <a:ext cx="2110664"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400" spc="150" kern="0" dirty="0">
                <a:solidFill>
                  <a:schemeClr val="bg2"/>
                </a:solidFill>
                <a:latin typeface="Raleway SemiBold" pitchFamily="34" charset="0"/>
                <a:ea typeface="Raleway SemiBold" pitchFamily="34" charset="-122"/>
                <a:cs typeface="Raleway SemiBold" pitchFamily="34" charset="-120"/>
              </a:rPr>
              <a:t>THE GAME</a:t>
            </a:r>
            <a:endParaRPr lang="en-US" sz="1400" dirty="0"/>
          </a:p>
        </p:txBody>
      </p:sp>
      <p:sp>
        <p:nvSpPr>
          <p:cNvPr id="14" name="Text 12"/>
          <p:cNvSpPr txBox="1"/>
          <p:nvPr/>
        </p:nvSpPr>
        <p:spPr>
          <a:xfrm>
            <a:off x="777240"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 premium, giftable table game that turns any wine into conversation.</a:t>
            </a:r>
            <a:endParaRPr lang="en-US" sz="1400" dirty="0"/>
          </a:p>
        </p:txBody>
      </p:sp>
      <p:sp>
        <p:nvSpPr>
          <p:cNvPr id="15" name="Stage tag"/>
          <p:cNvSpPr txBox="1"/>
          <p:nvPr/>
        </p:nvSpPr>
        <p:spPr>
          <a:xfrm>
            <a:off x="777240"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 playable</a:t>
            </a:r>
            <a:endParaRPr lang="en-US" sz="1200" dirty="0"/>
          </a:p>
        </p:txBody>
      </p:sp>
      <p:sp>
        <p:nvSpPr>
          <p:cNvPr id="16" name="Offer: THE APP"/>
          <p:cNvSpPr/>
          <p:nvPr/>
        </p:nvSpPr>
        <p:spPr>
          <a:xfrm>
            <a:off x="3390824"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7" name="Expression marker: THE APP"/>
          <p:cNvSpPr txBox="1"/>
          <p:nvPr/>
        </p:nvSpPr>
        <p:spPr>
          <a:xfrm>
            <a:off x="3619424" y="2743200"/>
            <a:ext cx="2110664"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spc="150" kern="0" dirty="0">
                <a:solidFill>
                  <a:schemeClr val="bg1"/>
                </a:solidFill>
                <a:latin typeface="Raleway SemiBold" pitchFamily="34" charset="0"/>
                <a:ea typeface="Raleway SemiBold" pitchFamily="34" charset="-122"/>
                <a:cs typeface="Raleway SemiBold" pitchFamily="34" charset="-120"/>
              </a:rPr>
              <a:t>THE APP</a:t>
            </a:r>
            <a:endParaRPr lang="en-US" sz="1400" dirty="0"/>
          </a:p>
        </p:txBody>
      </p:sp>
      <p:sp>
        <p:nvSpPr>
          <p:cNvPr id="18" name="Text 16"/>
          <p:cNvSpPr txBox="1"/>
          <p:nvPr/>
        </p:nvSpPr>
        <p:spPr>
          <a:xfrm>
            <a:off x="3619424"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Hosts the game, adds plain-English wine information when curiosity appears, and keeps the wines and moments people want to remember.</a:t>
            </a:r>
            <a:endParaRPr lang="en-US" sz="1400" dirty="0"/>
          </a:p>
        </p:txBody>
      </p:sp>
      <p:sp>
        <p:nvSpPr>
          <p:cNvPr id="19" name="Stage tag"/>
          <p:cNvSpPr txBox="1"/>
          <p:nvPr/>
        </p:nvSpPr>
        <p:spPr>
          <a:xfrm>
            <a:off x="3619424"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 Host and Guest tested</a:t>
            </a:r>
            <a:endParaRPr lang="en-US" sz="1200" dirty="0"/>
          </a:p>
        </p:txBody>
      </p:sp>
      <p:sp>
        <p:nvSpPr>
          <p:cNvPr id="20" name="Offer: ENTRE AMIS STAYS"/>
          <p:cNvSpPr/>
          <p:nvPr/>
        </p:nvSpPr>
        <p:spPr>
          <a:xfrm>
            <a:off x="6233008"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1" name="Expression marker: ENTRE AMIS STAYS"/>
          <p:cNvSpPr txBox="1"/>
          <p:nvPr/>
        </p:nvSpPr>
        <p:spPr>
          <a:xfrm>
            <a:off x="6461608" y="2743200"/>
            <a:ext cx="2110664"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ENTRE AMIS STAYS</a:t>
            </a:r>
            <a:endParaRPr lang="en-US" sz="1400" dirty="0"/>
          </a:p>
        </p:txBody>
      </p:sp>
      <p:sp>
        <p:nvSpPr>
          <p:cNvPr id="22" name="Text 20"/>
          <p:cNvSpPr txBox="1"/>
          <p:nvPr/>
        </p:nvSpPr>
        <p:spPr>
          <a:xfrm>
            <a:off x="6461608"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Entre Amis lived for a few days, rather than played for an evening.</a:t>
            </a:r>
            <a:endParaRPr lang="en-US" sz="1400" dirty="0"/>
          </a:p>
        </p:txBody>
      </p:sp>
      <p:sp>
        <p:nvSpPr>
          <p:cNvPr id="23" name="Stage tag"/>
          <p:cNvSpPr txBox="1"/>
          <p:nvPr/>
        </p:nvSpPr>
        <p:spPr>
          <a:xfrm>
            <a:off x="6461608"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A future ambition</a:t>
            </a:r>
            <a:endParaRPr lang="en-US" sz="1200" dirty="0"/>
          </a:p>
        </p:txBody>
      </p:sp>
      <p:sp>
        <p:nvSpPr>
          <p:cNvPr id="24" name="Offer: WITH PARTNERS"/>
          <p:cNvSpPr/>
          <p:nvPr/>
        </p:nvSpPr>
        <p:spPr>
          <a:xfrm>
            <a:off x="9075191" y="2514600"/>
            <a:ext cx="2567864" cy="2926080"/>
          </a:xfrm>
          <a:prstGeom prst="roundRect">
            <a:avLst>
              <a:gd name="adj" fmla="val 427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5" name="Expression marker: WITH PARTNERS"/>
          <p:cNvSpPr txBox="1"/>
          <p:nvPr/>
        </p:nvSpPr>
        <p:spPr>
          <a:xfrm>
            <a:off x="9303791" y="2743200"/>
            <a:ext cx="2110664"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WITH PARTNERS</a:t>
            </a:r>
            <a:endParaRPr lang="en-US" sz="1400" dirty="0"/>
          </a:p>
        </p:txBody>
      </p:sp>
      <p:sp>
        <p:nvSpPr>
          <p:cNvPr id="26" name="Text 24"/>
          <p:cNvSpPr txBox="1"/>
          <p:nvPr/>
        </p:nvSpPr>
        <p:spPr>
          <a:xfrm>
            <a:off x="9303791" y="3291840"/>
            <a:ext cx="2110664" cy="14630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Partner Mode and Event Mode. Bringing the Entre Amis table to vineyards, retailers, wine clubs and wine events.</a:t>
            </a:r>
            <a:endParaRPr lang="en-US" sz="1400" dirty="0"/>
          </a:p>
        </p:txBody>
      </p:sp>
      <p:sp>
        <p:nvSpPr>
          <p:cNvPr id="27" name="Stage tag"/>
          <p:cNvSpPr txBox="1"/>
          <p:nvPr/>
        </p:nvSpPr>
        <p:spPr>
          <a:xfrm>
            <a:off x="9303791" y="4800600"/>
            <a:ext cx="2110664" cy="457200"/>
          </a:xfrm>
          <a:prstGeom prst="roundRect">
            <a:avLst>
              <a:gd name="adj" fmla="val 32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Prototype</a:t>
            </a:r>
            <a:endParaRPr lang="en-US" sz="1200" dirty="0"/>
          </a:p>
        </p:txBody>
      </p:sp>
      <p:sp>
        <p:nvSpPr>
          <p:cNvPr id="28" name="FLAG — delete before sharing"/>
          <p:cNvSpPr txBox="1"/>
          <p:nvPr/>
        </p:nvSpPr>
        <p:spPr>
          <a:xfrm>
            <a:off x="6233008" y="5532120"/>
            <a:ext cx="2567864"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000" dirty="0">
                <a:solidFill>
                  <a:schemeClr val="tx1"/>
                </a:solidFill>
              </a:rPr>
              <a:t>Your approval to show stays as a future ambition.</a:t>
            </a:r>
            <a:endParaRPr lang="en-US" sz="1000" dirty="0"/>
          </a:p>
        </p:txBody>
      </p:sp>
      <p:sp>
        <p:nvSpPr>
          <p:cNvPr id="29" name="FLAG — delete before sharing"/>
          <p:cNvSpPr txBox="1"/>
          <p:nvPr/>
        </p:nvSpPr>
        <p:spPr>
          <a:xfrm>
            <a:off x="9075191" y="5532120"/>
            <a:ext cx="2567864"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000" dirty="0">
                <a:solidFill>
                  <a:schemeClr val="tx1"/>
                </a:solidFill>
              </a:rPr>
              <a:t>Event Mode's stage. Until then, say Partner Mode only.</a:t>
            </a:r>
            <a:endParaRPr lang="en-US" sz="10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game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 wine game for people who would rather have an opinion than know the answer.</a:t>
            </a:r>
            <a:endParaRPr lang="en-US" sz="1800" dirty="0"/>
          </a:p>
        </p:txBody>
      </p:sp>
      <p:sp>
        <p:nvSpPr>
          <p:cNvPr id="4" name="Expression marker: THE GAME"/>
          <p:cNvSpPr txBox="1"/>
          <p:nvPr/>
        </p:nvSpPr>
        <p:spPr>
          <a:xfrm>
            <a:off x="9265615" y="457200"/>
            <a:ext cx="2377440" cy="384048"/>
          </a:xfrm>
          <a:prstGeom prst="roundRect">
            <a:avLst>
              <a:gd name="adj" fmla="val 50000"/>
            </a:avLst>
          </a:prstGeom>
          <a:solidFill>
            <a:schemeClr val="tx1"/>
          </a:solidFill>
          <a:ln/>
        </p:spPr>
        <p:txBody>
          <a:bodyPr wrap="square" lIns="0" tIns="0" rIns="0" bIns="0" rtlCol="0" anchor="ctr"/>
          <a:lstStyle/>
          <a:p>
            <a:pPr algn="ctr" indent="0" marL="0">
              <a:buNone/>
            </a:pPr>
            <a:r>
              <a:rPr lang="en-US" sz="1400" spc="150" kern="0" dirty="0">
                <a:solidFill>
                  <a:schemeClr val="bg2"/>
                </a:solidFill>
                <a:latin typeface="Raleway SemiBold" pitchFamily="34" charset="0"/>
                <a:ea typeface="Raleway SemiBold" pitchFamily="34" charset="-122"/>
                <a:cs typeface="Raleway SemiBold" pitchFamily="34" charset="-120"/>
              </a:rPr>
              <a:t>THE GAME</a:t>
            </a:r>
            <a:endParaRPr lang="en-US" sz="1400" dirty="0"/>
          </a:p>
        </p:txBody>
      </p:sp>
      <p:sp>
        <p:nvSpPr>
          <p:cNvPr id="5" name="Stage tag"/>
          <p:cNvSpPr txBox="1"/>
          <p:nvPr/>
        </p:nvSpPr>
        <p:spPr>
          <a:xfrm>
            <a:off x="9265615" y="914400"/>
            <a:ext cx="2377440" cy="292608"/>
          </a:xfrm>
          <a:prstGeom prst="roundRect">
            <a:avLst>
              <a:gd name="adj" fmla="val 50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In development</a:t>
            </a:r>
            <a:endParaRPr lang="en-US" sz="1200" dirty="0"/>
          </a:p>
        </p:txBody>
      </p:sp>
      <p:sp>
        <p:nvSpPr>
          <p:cNvPr id="6" name="Image placeholder"/>
          <p:cNvSpPr/>
          <p:nvPr/>
        </p:nvSpPr>
        <p:spPr>
          <a:xfrm>
            <a:off x="548640" y="1783080"/>
            <a:ext cx="3840480" cy="2331720"/>
          </a:xfrm>
          <a:prstGeom prst="roundRect">
            <a:avLst>
              <a:gd name="adj" fmla="val 4706"/>
            </a:avLst>
          </a:prstGeom>
          <a:solidFill>
            <a:schemeClr val="accent3"/>
          </a:solidFill>
          <a:ln w="12700">
            <a:solidFill>
              <a:schemeClr val="tx1"/>
            </a:solidFill>
            <a:prstDash val="dash"/>
          </a:ln>
        </p:spPr>
      </p:sp>
      <p:sp>
        <p:nvSpPr>
          <p:cNvPr id="7" name="Text 5"/>
          <p:cNvSpPr txBox="1"/>
          <p:nvPr/>
        </p:nvSpPr>
        <p:spPr>
          <a:xfrm>
            <a:off x="822960" y="1783080"/>
            <a:ext cx="3291840" cy="233172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the prototype — to add</a:t>
            </a:r>
            <a:endParaRPr lang="en-US" sz="1400" dirty="0"/>
          </a:p>
        </p:txBody>
      </p:sp>
      <p:sp>
        <p:nvSpPr>
          <p:cNvPr id="8" name="Text 6"/>
          <p:cNvSpPr txBox="1"/>
          <p:nvPr/>
        </p:nvSpPr>
        <p:spPr>
          <a:xfrm>
            <a:off x="548640" y="4224528"/>
            <a:ext cx="3840480" cy="365760"/>
          </a:xfrm>
          <a:prstGeom prst="rect">
            <a:avLst/>
          </a:prstGeom>
          <a:noFill/>
          <a:ln/>
        </p:spPr>
        <p:txBody>
          <a:bodyPr wrap="square" lIns="0" tIns="0" rIns="0" bIns="0" rtlCol="0" anchor="t"/>
          <a:lstStyle/>
          <a:p>
            <a:pPr indent="0" marL="0">
              <a:spcAft>
                <a:spcPts val="400"/>
              </a:spcAft>
              <a:buNone/>
            </a:pPr>
            <a:r>
              <a:rPr lang="en-US" sz="2000" dirty="0">
                <a:solidFill>
                  <a:schemeClr val="tx1"/>
                </a:solidFill>
              </a:rPr>
              <a:t>Talk. Laugh. Remember.</a:t>
            </a:r>
            <a:endParaRPr lang="en-US" sz="2000" dirty="0"/>
          </a:p>
        </p:txBody>
      </p:sp>
      <p:sp>
        <p:nvSpPr>
          <p:cNvPr id="9" name="Text 7"/>
          <p:cNvSpPr txBox="1"/>
          <p:nvPr/>
        </p:nvSpPr>
        <p:spPr>
          <a:xfrm>
            <a:off x="4754880" y="1783080"/>
            <a:ext cx="6888175" cy="594360"/>
          </a:xfrm>
          <a:prstGeom prst="rect">
            <a:avLst/>
          </a:prstGeom>
          <a:noFill/>
          <a:ln/>
        </p:spPr>
        <p:txBody>
          <a:bodyPr wrap="square" lIns="0" tIns="0" rIns="0" bIns="0" rtlCol="0" anchor="t"/>
          <a:lstStyle/>
          <a:p>
            <a:pPr indent="0" marL="0">
              <a:buNone/>
            </a:pPr>
            <a:r>
              <a:rPr lang="en-US" sz="1500" dirty="0">
                <a:solidFill>
                  <a:schemeClr val="tx1"/>
                </a:solidFill>
              </a:rPr>
              <a:t>A beautifully made table game that turns any wine into conversation.</a:t>
            </a:r>
            <a:endParaRPr lang="en-US" sz="1500" dirty="0"/>
          </a:p>
          <a:p>
            <a:pPr indent="0" marL="0">
              <a:buNone/>
            </a:pPr>
            <a:r>
              <a:rPr lang="en-US" sz="1500" dirty="0">
                <a:solidFill>
                  <a:schemeClr val="tx1"/>
                </a:solidFill>
                <a:latin typeface="Raleway SemiBold" pitchFamily="34" charset="0"/>
                <a:ea typeface="Raleway SemiBold" pitchFamily="34" charset="-122"/>
                <a:cs typeface="Raleway SemiBold" pitchFamily="34" charset="-120"/>
              </a:rPr>
              <a:t>Pour. Spin. Play. Talk.</a:t>
            </a:r>
            <a:endParaRPr lang="en-US" sz="1500" dirty="0"/>
          </a:p>
        </p:txBody>
      </p:sp>
      <p:sp>
        <p:nvSpPr>
          <p:cNvPr id="10" name="Family colour: Savour"/>
          <p:cNvSpPr/>
          <p:nvPr/>
        </p:nvSpPr>
        <p:spPr>
          <a:xfrm>
            <a:off x="4754880" y="2505456"/>
            <a:ext cx="219456" cy="219456"/>
          </a:xfrm>
          <a:prstGeom prst="ellipse">
            <a:avLst/>
          </a:prstGeom>
          <a:solidFill>
            <a:srgbClr val="8D84A6"/>
          </a:solidFill>
          <a:ln w="12700">
            <a:solidFill>
              <a:srgbClr val="8D84A6"/>
            </a:solidFill>
            <a:prstDash val="solid"/>
          </a:ln>
        </p:spPr>
      </p:sp>
      <p:sp>
        <p:nvSpPr>
          <p:cNvPr id="11" name="Text 9"/>
          <p:cNvSpPr txBox="1"/>
          <p:nvPr/>
        </p:nvSpPr>
        <p:spPr>
          <a:xfrm>
            <a:off x="5102352" y="2450592"/>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Savour: </a:t>
            </a:r>
            <a:pPr indent="0" marL="0">
              <a:spcAft>
                <a:spcPts val="400"/>
              </a:spcAft>
              <a:buNone/>
            </a:pPr>
            <a:r>
              <a:rPr lang="en-US" sz="1400" dirty="0">
                <a:solidFill>
                  <a:schemeClr val="tx1"/>
                </a:solidFill>
              </a:rPr>
              <a:t>the flavours, tastes and look of the wine.</a:t>
            </a:r>
            <a:endParaRPr lang="en-US" sz="1400" dirty="0"/>
          </a:p>
        </p:txBody>
      </p:sp>
      <p:sp>
        <p:nvSpPr>
          <p:cNvPr id="12" name="Family colour: Pour"/>
          <p:cNvSpPr/>
          <p:nvPr/>
        </p:nvSpPr>
        <p:spPr>
          <a:xfrm>
            <a:off x="4754880" y="2843784"/>
            <a:ext cx="219456" cy="219456"/>
          </a:xfrm>
          <a:prstGeom prst="ellipse">
            <a:avLst/>
          </a:prstGeom>
          <a:solidFill>
            <a:srgbClr val="C89B3C"/>
          </a:solidFill>
          <a:ln w="12700">
            <a:solidFill>
              <a:srgbClr val="C89B3C"/>
            </a:solidFill>
            <a:prstDash val="solid"/>
          </a:ln>
        </p:spPr>
      </p:sp>
      <p:sp>
        <p:nvSpPr>
          <p:cNvPr id="13" name="Text 11"/>
          <p:cNvSpPr txBox="1"/>
          <p:nvPr/>
        </p:nvSpPr>
        <p:spPr>
          <a:xfrm>
            <a:off x="5102352" y="2788920"/>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Pour: </a:t>
            </a:r>
            <a:pPr indent="0" marL="0">
              <a:spcAft>
                <a:spcPts val="400"/>
              </a:spcAft>
              <a:buNone/>
            </a:pPr>
            <a:r>
              <a:rPr lang="en-US" sz="1400" dirty="0">
                <a:solidFill>
                  <a:schemeClr val="tx1"/>
                </a:solidFill>
              </a:rPr>
              <a:t>the occasions and places a wine might be enjoyed.</a:t>
            </a:r>
            <a:endParaRPr lang="en-US" sz="1400" dirty="0"/>
          </a:p>
        </p:txBody>
      </p:sp>
      <p:sp>
        <p:nvSpPr>
          <p:cNvPr id="14" name="Family colour: Mischief"/>
          <p:cNvSpPr/>
          <p:nvPr/>
        </p:nvSpPr>
        <p:spPr>
          <a:xfrm>
            <a:off x="4754880" y="3182112"/>
            <a:ext cx="219456" cy="219456"/>
          </a:xfrm>
          <a:prstGeom prst="ellipse">
            <a:avLst/>
          </a:prstGeom>
          <a:solidFill>
            <a:srgbClr val="BC6B4A"/>
          </a:solidFill>
          <a:ln w="12700">
            <a:solidFill>
              <a:srgbClr val="BC6B4A"/>
            </a:solidFill>
            <a:prstDash val="solid"/>
          </a:ln>
        </p:spPr>
      </p:sp>
      <p:sp>
        <p:nvSpPr>
          <p:cNvPr id="15" name="Text 13"/>
          <p:cNvSpPr txBox="1"/>
          <p:nvPr/>
        </p:nvSpPr>
        <p:spPr>
          <a:xfrm>
            <a:off x="5102352" y="3127248"/>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Mischief: </a:t>
            </a:r>
            <a:pPr indent="0" marL="0">
              <a:spcAft>
                <a:spcPts val="400"/>
              </a:spcAft>
              <a:buNone/>
            </a:pPr>
            <a:r>
              <a:rPr lang="en-US" sz="1400" dirty="0">
                <a:solidFill>
                  <a:schemeClr val="tx1"/>
                </a:solidFill>
              </a:rPr>
              <a:t>changes the course of the game.</a:t>
            </a:r>
            <a:endParaRPr lang="en-US" sz="1400" dirty="0"/>
          </a:p>
        </p:txBody>
      </p:sp>
      <p:sp>
        <p:nvSpPr>
          <p:cNvPr id="16" name="Family colour: Wild"/>
          <p:cNvSpPr/>
          <p:nvPr/>
        </p:nvSpPr>
        <p:spPr>
          <a:xfrm>
            <a:off x="4754880" y="3520440"/>
            <a:ext cx="219456" cy="219456"/>
          </a:xfrm>
          <a:prstGeom prst="ellipse">
            <a:avLst/>
          </a:prstGeom>
          <a:solidFill>
            <a:srgbClr val="A8503F"/>
          </a:solidFill>
          <a:ln w="12700">
            <a:solidFill>
              <a:srgbClr val="A8503F"/>
            </a:solidFill>
            <a:prstDash val="solid"/>
          </a:ln>
        </p:spPr>
      </p:sp>
      <p:sp>
        <p:nvSpPr>
          <p:cNvPr id="17" name="Text 15"/>
          <p:cNvSpPr txBox="1"/>
          <p:nvPr/>
        </p:nvSpPr>
        <p:spPr>
          <a:xfrm>
            <a:off x="5102352" y="3465576"/>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Wild: </a:t>
            </a:r>
            <a:pPr indent="0" marL="0">
              <a:spcAft>
                <a:spcPts val="400"/>
              </a:spcAft>
              <a:buNone/>
            </a:pPr>
            <a:r>
              <a:rPr lang="en-US" sz="1400" dirty="0">
                <a:solidFill>
                  <a:schemeClr val="tx1"/>
                </a:solidFill>
              </a:rPr>
              <a:t>questions that simply get people talking.</a:t>
            </a:r>
            <a:endParaRPr lang="en-US" sz="1400" dirty="0"/>
          </a:p>
        </p:txBody>
      </p:sp>
      <p:sp>
        <p:nvSpPr>
          <p:cNvPr id="18" name="Family colour: Secret Missions"/>
          <p:cNvSpPr/>
          <p:nvPr/>
        </p:nvSpPr>
        <p:spPr>
          <a:xfrm>
            <a:off x="4754880" y="3858768"/>
            <a:ext cx="219456" cy="219456"/>
          </a:xfrm>
          <a:prstGeom prst="ellipse">
            <a:avLst/>
          </a:prstGeom>
          <a:solidFill>
            <a:srgbClr val="6E8B93"/>
          </a:solidFill>
          <a:ln w="12700">
            <a:solidFill>
              <a:srgbClr val="6E8B93"/>
            </a:solidFill>
            <a:prstDash val="solid"/>
          </a:ln>
        </p:spPr>
      </p:sp>
      <p:sp>
        <p:nvSpPr>
          <p:cNvPr id="19" name="Text 17"/>
          <p:cNvSpPr txBox="1"/>
          <p:nvPr/>
        </p:nvSpPr>
        <p:spPr>
          <a:xfrm>
            <a:off x="5102352" y="3803904"/>
            <a:ext cx="6540703" cy="329184"/>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Secret Missions: </a:t>
            </a:r>
            <a:pPr indent="0" marL="0">
              <a:spcAft>
                <a:spcPts val="400"/>
              </a:spcAft>
              <a:buNone/>
            </a:pPr>
            <a:r>
              <a:rPr lang="en-US" sz="1400" dirty="0">
                <a:solidFill>
                  <a:schemeClr val="tx1"/>
                </a:solidFill>
              </a:rPr>
              <a:t>private challenges, brought up by the spinner.</a:t>
            </a:r>
            <a:endParaRPr lang="en-US" sz="1400" dirty="0"/>
          </a:p>
        </p:txBody>
      </p:sp>
      <p:sp>
        <p:nvSpPr>
          <p:cNvPr id="20" name="Text 18"/>
          <p:cNvSpPr txBox="1"/>
          <p:nvPr/>
        </p:nvSpPr>
        <p:spPr>
          <a:xfrm>
            <a:off x="4754880" y="4187952"/>
            <a:ext cx="6888175" cy="5029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At the end, the table chooses its favourite wine together and gives it the crown. </a:t>
            </a:r>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Corks are won for conversation and play, never for how much anyone drinks.</a:t>
            </a:r>
            <a:endParaRPr lang="en-US" sz="1400" dirty="0"/>
          </a:p>
        </p:txBody>
      </p:sp>
      <p:sp>
        <p:nvSpPr>
          <p:cNvPr id="21" name="Fact: 2–8 PLAYERS"/>
          <p:cNvSpPr/>
          <p:nvPr/>
        </p:nvSpPr>
        <p:spPr>
          <a:xfrm>
            <a:off x="548640"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2" name="Text 20"/>
          <p:cNvSpPr txBox="1"/>
          <p:nvPr/>
        </p:nvSpPr>
        <p:spPr>
          <a:xfrm>
            <a:off x="713232"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2–8 PLAYERS</a:t>
            </a:r>
            <a:endParaRPr lang="en-US" sz="1200" dirty="0"/>
          </a:p>
          <a:p>
            <a:pPr indent="0" marL="0">
              <a:spcAft>
                <a:spcPts val="400"/>
              </a:spcAft>
              <a:buNone/>
            </a:pPr>
            <a:r>
              <a:rPr lang="en-US" sz="1200" dirty="0">
                <a:solidFill>
                  <a:schemeClr val="tx1"/>
                </a:solidFill>
              </a:rPr>
              <a:t>Easy to start, easy to join.</a:t>
            </a:r>
            <a:endParaRPr lang="en-US" sz="1200" dirty="0"/>
          </a:p>
        </p:txBody>
      </p:sp>
      <p:sp>
        <p:nvSpPr>
          <p:cNvPr id="23" name="Fact: ANY WINE"/>
          <p:cNvSpPr/>
          <p:nvPr/>
        </p:nvSpPr>
        <p:spPr>
          <a:xfrm>
            <a:off x="2804099"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4" name="Text 22"/>
          <p:cNvSpPr txBox="1"/>
          <p:nvPr/>
        </p:nvSpPr>
        <p:spPr>
          <a:xfrm>
            <a:off x="2968691"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ANY WINE</a:t>
            </a:r>
            <a:endParaRPr lang="en-US" sz="1200" dirty="0"/>
          </a:p>
          <a:p>
            <a:pPr indent="0" marL="0">
              <a:spcAft>
                <a:spcPts val="400"/>
              </a:spcAft>
              <a:buNone/>
            </a:pPr>
            <a:r>
              <a:rPr lang="en-US" sz="1200" dirty="0">
                <a:solidFill>
                  <a:schemeClr val="tx1"/>
                </a:solidFill>
              </a:rPr>
              <a:t>A single glass is enough to play.</a:t>
            </a:r>
            <a:endParaRPr lang="en-US" sz="1200" dirty="0"/>
          </a:p>
        </p:txBody>
      </p:sp>
      <p:sp>
        <p:nvSpPr>
          <p:cNvPr id="25" name="Fact: ANY TIME OF DAY"/>
          <p:cNvSpPr/>
          <p:nvPr/>
        </p:nvSpPr>
        <p:spPr>
          <a:xfrm>
            <a:off x="5059558"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6" name="Text 24"/>
          <p:cNvSpPr txBox="1"/>
          <p:nvPr/>
        </p:nvSpPr>
        <p:spPr>
          <a:xfrm>
            <a:off x="5224150"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ANY TIME OF DAY</a:t>
            </a:r>
            <a:endParaRPr lang="en-US" sz="1200" dirty="0"/>
          </a:p>
          <a:p>
            <a:pPr indent="0" marL="0">
              <a:spcAft>
                <a:spcPts val="400"/>
              </a:spcAft>
              <a:buNone/>
            </a:pPr>
            <a:r>
              <a:rPr lang="en-US" sz="1200" dirty="0">
                <a:solidFill>
                  <a:schemeClr val="tx1"/>
                </a:solidFill>
              </a:rPr>
              <a:t>Lunch or evening.</a:t>
            </a:r>
            <a:endParaRPr lang="en-US" sz="1200" dirty="0"/>
          </a:p>
        </p:txBody>
      </p:sp>
      <p:sp>
        <p:nvSpPr>
          <p:cNvPr id="27" name="Fact: NO APP NEEDED"/>
          <p:cNvSpPr/>
          <p:nvPr/>
        </p:nvSpPr>
        <p:spPr>
          <a:xfrm>
            <a:off x="7315017"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8" name="Text 26"/>
          <p:cNvSpPr txBox="1"/>
          <p:nvPr/>
        </p:nvSpPr>
        <p:spPr>
          <a:xfrm>
            <a:off x="7479609"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NO APP NEEDED</a:t>
            </a:r>
            <a:endParaRPr lang="en-US" sz="1200" dirty="0"/>
          </a:p>
          <a:p>
            <a:pPr indent="0" marL="0">
              <a:spcAft>
                <a:spcPts val="400"/>
              </a:spcAft>
              <a:buNone/>
            </a:pPr>
            <a:r>
              <a:rPr lang="en-US" sz="1200" dirty="0">
                <a:solidFill>
                  <a:schemeClr val="tx1"/>
                </a:solidFill>
              </a:rPr>
              <a:t>Complete on its own; the app adds more.</a:t>
            </a:r>
            <a:endParaRPr lang="en-US" sz="1200" dirty="0"/>
          </a:p>
        </p:txBody>
      </p:sp>
      <p:sp>
        <p:nvSpPr>
          <p:cNvPr id="29" name="Fact: 18+"/>
          <p:cNvSpPr/>
          <p:nvPr/>
        </p:nvSpPr>
        <p:spPr>
          <a:xfrm>
            <a:off x="9570476" y="4754880"/>
            <a:ext cx="2072579"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30" name="Text 28"/>
          <p:cNvSpPr txBox="1"/>
          <p:nvPr/>
        </p:nvSpPr>
        <p:spPr>
          <a:xfrm>
            <a:off x="9735068" y="4882896"/>
            <a:ext cx="1743395" cy="7315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18+</a:t>
            </a:r>
            <a:endParaRPr lang="en-US" sz="1200" dirty="0"/>
          </a:p>
          <a:p>
            <a:pPr indent="0" marL="0">
              <a:spcAft>
                <a:spcPts val="400"/>
              </a:spcAft>
              <a:buNone/>
            </a:pPr>
            <a:r>
              <a:rPr lang="en-US" sz="1200" dirty="0">
                <a:solidFill>
                  <a:schemeClr val="tx1"/>
                </a:solidFill>
              </a:rPr>
              <a:t>For adults only.</a:t>
            </a:r>
            <a:endParaRPr lang="en-US" sz="1200" dirty="0"/>
          </a:p>
        </p:txBody>
      </p:sp>
      <p:sp>
        <p:nvSpPr>
          <p:cNvPr id="31" name="FLAG — delete before sharing"/>
          <p:cNvSpPr txBox="1"/>
          <p:nvPr/>
        </p:nvSpPr>
        <p:spPr>
          <a:xfrm>
            <a:off x="548640" y="5760720"/>
            <a:ext cx="4206240" cy="347472"/>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000" dirty="0">
                <a:solidFill>
                  <a:schemeClr val="tx1"/>
                </a:solidFill>
              </a:rPr>
              <a:t>Talk. Laugh. Remember. as the game line (proposed).</a:t>
            </a:r>
            <a:endParaRPr lang="en-US" sz="10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app</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Works with the table, never instead of it.</a:t>
            </a:r>
            <a:endParaRPr lang="en-US" sz="1800" dirty="0"/>
          </a:p>
        </p:txBody>
      </p:sp>
      <p:sp>
        <p:nvSpPr>
          <p:cNvPr id="4" name="Expression marker: THE APP"/>
          <p:cNvSpPr txBox="1"/>
          <p:nvPr/>
        </p:nvSpPr>
        <p:spPr>
          <a:xfrm>
            <a:off x="9265615" y="457200"/>
            <a:ext cx="237744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spc="150" kern="0" dirty="0">
                <a:solidFill>
                  <a:schemeClr val="bg1"/>
                </a:solidFill>
                <a:latin typeface="Raleway SemiBold" pitchFamily="34" charset="0"/>
                <a:ea typeface="Raleway SemiBold" pitchFamily="34" charset="-122"/>
                <a:cs typeface="Raleway SemiBold" pitchFamily="34" charset="-120"/>
              </a:rPr>
              <a:t>THE APP</a:t>
            </a:r>
            <a:endParaRPr lang="en-US" sz="1400" dirty="0"/>
          </a:p>
        </p:txBody>
      </p:sp>
      <p:sp>
        <p:nvSpPr>
          <p:cNvPr id="5" name="Stage tag"/>
          <p:cNvSpPr txBox="1"/>
          <p:nvPr/>
        </p:nvSpPr>
        <p:spPr>
          <a:xfrm>
            <a:off x="9265615" y="914400"/>
            <a:ext cx="2377440" cy="292608"/>
          </a:xfrm>
          <a:prstGeom prst="roundRect">
            <a:avLst>
              <a:gd name="adj" fmla="val 50000"/>
            </a:avLst>
          </a:prstGeom>
          <a:solidFill>
            <a:schemeClr val="bg2"/>
          </a:solidFill>
          <a:ln w="12700">
            <a:solidFill>
              <a:schemeClr val="tx1"/>
            </a:solidFill>
          </a:ln>
        </p:spPr>
        <p:txBody>
          <a:bodyPr wrap="square" lIns="0" tIns="0" rIns="0" bIns="0" rtlCol="0" anchor="ctr"/>
          <a:lstStyle/>
          <a:p>
            <a:pPr algn="ctr" indent="0" marL="0">
              <a:buNone/>
            </a:pPr>
            <a:r>
              <a:rPr lang="en-US" sz="1200" dirty="0">
                <a:solidFill>
                  <a:schemeClr val="tx1"/>
                </a:solidFill>
                <a:latin typeface="Raleway SemiBold" pitchFamily="34" charset="0"/>
                <a:ea typeface="Raleway SemiBold" pitchFamily="34" charset="-122"/>
                <a:cs typeface="Raleway SemiBold" pitchFamily="34" charset="-120"/>
              </a:rPr>
              <a:t>In development</a:t>
            </a:r>
            <a:endParaRPr lang="en-US" sz="1200" dirty="0"/>
          </a:p>
        </p:txBody>
      </p:sp>
      <p:sp>
        <p:nvSpPr>
          <p:cNvPr id="6" name="App features"/>
          <p:cNvSpPr/>
          <p:nvPr/>
        </p:nvSpPr>
        <p:spPr>
          <a:xfrm>
            <a:off x="548640" y="1783080"/>
            <a:ext cx="6035040"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868680" y="2057400"/>
            <a:ext cx="5394960" cy="32918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Hosts and Guests play together.</a:t>
            </a:r>
            <a:endParaRPr lang="en-US" sz="1600" dirty="0"/>
          </a:p>
          <a:p>
            <a:pPr marL="203200" indent="-203200">
              <a:spcAft>
                <a:spcPts val="1000"/>
              </a:spcAft>
              <a:buSzPct val="100000"/>
              <a:buChar char="•"/>
            </a:pPr>
            <a:r>
              <a:rPr lang="en-US" sz="1600" dirty="0">
                <a:solidFill>
                  <a:schemeClr val="tx1"/>
                </a:solidFill>
              </a:rPr>
              <a:t>Runs the game, including a digital spinner.</a:t>
            </a:r>
            <a:endParaRPr lang="en-US" sz="1600" dirty="0"/>
          </a:p>
          <a:p>
            <a:pPr marL="203200" indent="-203200">
              <a:spcAft>
                <a:spcPts val="1000"/>
              </a:spcAft>
              <a:buSzPct val="100000"/>
              <a:buChar char="•"/>
            </a:pPr>
            <a:r>
              <a:rPr lang="en-US" sz="1600" dirty="0">
                <a:solidFill>
                  <a:schemeClr val="tx1"/>
                </a:solidFill>
              </a:rPr>
              <a:t>Plain-English hints and descriptions, when curiosity appears.</a:t>
            </a:r>
            <a:endParaRPr lang="en-US" sz="1600" dirty="0"/>
          </a:p>
          <a:p>
            <a:pPr marL="203200" indent="-203200">
              <a:spcAft>
                <a:spcPts val="1000"/>
              </a:spcAft>
              <a:buSzPct val="100000"/>
              <a:buChar char="•"/>
            </a:pPr>
            <a:r>
              <a:rPr lang="en-US" sz="1600" dirty="0">
                <a:solidFill>
                  <a:schemeClr val="tx1"/>
                </a:solidFill>
              </a:rPr>
              <a:t>Saves the occasion and the scores.</a:t>
            </a:r>
            <a:endParaRPr lang="en-US" sz="1600" dirty="0"/>
          </a:p>
          <a:p>
            <a:pPr marL="203200" indent="-203200">
              <a:spcAft>
                <a:spcPts val="1000"/>
              </a:spcAft>
              <a:buSzPct val="100000"/>
              <a:buChar char="•"/>
            </a:pPr>
            <a:r>
              <a:rPr lang="en-US" sz="1600" dirty="0">
                <a:solidFill>
                  <a:schemeClr val="tx1"/>
                </a:solidFill>
              </a:rPr>
              <a:t>Wine 101: a personal library of wines and moments.</a:t>
            </a:r>
            <a:endParaRPr lang="en-US" sz="1600" dirty="0"/>
          </a:p>
          <a:p>
            <a:pPr marL="203200" indent="-203200">
              <a:spcAft>
                <a:spcPts val="1000"/>
              </a:spcAft>
              <a:buSzPct val="100000"/>
              <a:buChar char="•"/>
            </a:pPr>
            <a:r>
              <a:rPr lang="en-US" sz="1600" dirty="0">
                <a:solidFill>
                  <a:schemeClr val="tx1"/>
                </a:solidFill>
              </a:rPr>
              <a:t>Optional Word Play and Wine Knowledge levels.</a:t>
            </a:r>
            <a:endParaRPr lang="en-US" sz="1600" dirty="0"/>
          </a:p>
          <a:p>
            <a:pPr marL="203200" indent="-203200">
              <a:spcAft>
                <a:spcPts val="1000"/>
              </a:spcAft>
              <a:buSzPct val="100000"/>
              <a:buChar char="•"/>
            </a:pPr>
            <a:r>
              <a:rPr lang="en-US" sz="1600" dirty="0">
                <a:solidFill>
                  <a:schemeClr val="tx1"/>
                </a:solidFill>
              </a:rPr>
              <a:t>Hosts can also use it for their own tasting and exploration.</a:t>
            </a:r>
            <a:endParaRPr lang="en-US" sz="1600" dirty="0"/>
          </a:p>
        </p:txBody>
      </p:sp>
      <p:sp>
        <p:nvSpPr>
          <p:cNvPr id="8" name="Text 6"/>
          <p:cNvSpPr txBox="1"/>
          <p:nvPr/>
        </p:nvSpPr>
        <p:spPr>
          <a:xfrm>
            <a:off x="868680" y="5532120"/>
            <a:ext cx="5394960" cy="320040"/>
          </a:xfrm>
          <a:prstGeom prst="rect">
            <a:avLst/>
          </a:prstGeom>
          <a:noFill/>
          <a:ln/>
        </p:spPr>
        <p:txBody>
          <a:bodyPr wrap="square" lIns="0" tIns="0" rIns="0" bIns="0" rtlCol="0" anchor="t"/>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18+ age gate on entry.</a:t>
            </a:r>
            <a:endParaRPr lang="en-US" sz="1400" dirty="0"/>
          </a:p>
        </p:txBody>
      </p:sp>
      <p:sp>
        <p:nvSpPr>
          <p:cNvPr id="9" name="Image placeholder"/>
          <p:cNvSpPr/>
          <p:nvPr/>
        </p:nvSpPr>
        <p:spPr>
          <a:xfrm>
            <a:off x="6903720" y="1783080"/>
            <a:ext cx="2232508" cy="4251960"/>
          </a:xfrm>
          <a:prstGeom prst="roundRect">
            <a:avLst>
              <a:gd name="adj" fmla="val 4915"/>
            </a:avLst>
          </a:prstGeom>
          <a:solidFill>
            <a:schemeClr val="accent3"/>
          </a:solidFill>
          <a:ln w="12700">
            <a:solidFill>
              <a:schemeClr val="tx1"/>
            </a:solidFill>
            <a:prstDash val="dash"/>
          </a:ln>
        </p:spPr>
      </p:sp>
      <p:sp>
        <p:nvSpPr>
          <p:cNvPr id="10" name="Text 8"/>
          <p:cNvSpPr txBox="1"/>
          <p:nvPr/>
        </p:nvSpPr>
        <p:spPr>
          <a:xfrm>
            <a:off x="7178040" y="1783080"/>
            <a:ext cx="1683868" cy="425196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App screen — to add</a:t>
            </a:r>
            <a:endParaRPr lang="en-US" sz="1400" dirty="0"/>
          </a:p>
        </p:txBody>
      </p:sp>
      <p:sp>
        <p:nvSpPr>
          <p:cNvPr id="11" name="Image placeholder"/>
          <p:cNvSpPr/>
          <p:nvPr/>
        </p:nvSpPr>
        <p:spPr>
          <a:xfrm>
            <a:off x="9410548" y="1783080"/>
            <a:ext cx="2232508" cy="4251960"/>
          </a:xfrm>
          <a:prstGeom prst="roundRect">
            <a:avLst>
              <a:gd name="adj" fmla="val 4915"/>
            </a:avLst>
          </a:prstGeom>
          <a:solidFill>
            <a:schemeClr val="accent3"/>
          </a:solidFill>
          <a:ln w="12700">
            <a:solidFill>
              <a:schemeClr val="tx1"/>
            </a:solidFill>
            <a:prstDash val="dash"/>
          </a:ln>
        </p:spPr>
      </p:sp>
      <p:sp>
        <p:nvSpPr>
          <p:cNvPr id="12" name="Text 10"/>
          <p:cNvSpPr txBox="1"/>
          <p:nvPr/>
        </p:nvSpPr>
        <p:spPr>
          <a:xfrm>
            <a:off x="9684868" y="1783080"/>
            <a:ext cx="1683868" cy="425196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App screen — to add</a:t>
            </a:r>
            <a:endParaRPr lang="en-US" sz="14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For vineyards, retailers, wine clubs and wine events</a:t>
            </a:r>
            <a:endParaRPr lang="en-US" sz="3600" dirty="0"/>
          </a:p>
        </p:txBody>
      </p:sp>
      <p:sp>
        <p:nvSpPr>
          <p:cNvPr id="3" name="Text 1"/>
          <p:cNvSpPr txBox="1"/>
          <p:nvPr/>
        </p:nvSpPr>
        <p:spPr>
          <a:xfrm>
            <a:off x="548640" y="1536192"/>
            <a:ext cx="11094415" cy="365760"/>
          </a:xfrm>
          <a:prstGeom prst="rect">
            <a:avLst/>
          </a:prstGeom>
          <a:noFill/>
          <a:ln/>
        </p:spPr>
        <p:txBody>
          <a:bodyPr wrap="square" lIns="0" tIns="0" rIns="0" bIns="0" rtlCol="0" anchor="t"/>
          <a:lstStyle/>
          <a:p>
            <a:pPr indent="0" marL="0">
              <a:spcAft>
                <a:spcPts val="400"/>
              </a:spcAft>
              <a:buNone/>
            </a:pPr>
            <a:r>
              <a:rPr lang="en-US" sz="1800" dirty="0">
                <a:solidFill>
                  <a:schemeClr val="tx1"/>
                </a:solidFill>
              </a:rPr>
              <a:t>What we add isn't content. It's connection.</a:t>
            </a:r>
            <a:endParaRPr lang="en-US" sz="1800" dirty="0"/>
          </a:p>
        </p:txBody>
      </p:sp>
      <p:sp>
        <p:nvSpPr>
          <p:cNvPr id="4" name="Expression marker: PARTNERS"/>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PARTNERS</a:t>
            </a:r>
            <a:endParaRPr lang="en-US" sz="1400" dirty="0"/>
          </a:p>
        </p:txBody>
      </p:sp>
      <p:sp>
        <p:nvSpPr>
          <p:cNvPr id="5" name="Text 3"/>
          <p:cNvSpPr txBox="1"/>
          <p:nvPr/>
        </p:nvSpPr>
        <p:spPr>
          <a:xfrm>
            <a:off x="548640" y="1965960"/>
            <a:ext cx="11094415" cy="59436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Wine businesses already have stories, tasting notes and expertise. We help capture what people say and really think about your wines, and help them remember those wines afterwards.</a:t>
            </a:r>
            <a:endParaRPr lang="en-US" sz="1600" dirty="0"/>
          </a:p>
        </p:txBody>
      </p:sp>
      <p:sp>
        <p:nvSpPr>
          <p:cNvPr id="6" name="Card: BETWEEN PEOPLE"/>
          <p:cNvSpPr/>
          <p:nvPr/>
        </p:nvSpPr>
        <p:spPr>
          <a:xfrm>
            <a:off x="548640"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BETWEEN PEOPLE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Tasting becomes conversation and shared discovery.</a:t>
            </a:r>
            <a:endParaRPr lang="en-US" sz="1400" dirty="0"/>
          </a:p>
        </p:txBody>
      </p:sp>
      <p:sp>
        <p:nvSpPr>
          <p:cNvPr id="8" name="Card: WITH THE WINE"/>
          <p:cNvSpPr/>
          <p:nvPr/>
        </p:nvSpPr>
        <p:spPr>
          <a:xfrm>
            <a:off x="3390824"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3619424"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WITH THE WINE</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People taste, talk and choose, so your wines become part of the occasion.</a:t>
            </a:r>
            <a:endParaRPr lang="en-US" sz="1400" dirty="0"/>
          </a:p>
        </p:txBody>
      </p:sp>
      <p:sp>
        <p:nvSpPr>
          <p:cNvPr id="10" name="Card: BEYOND THE MOMENT"/>
          <p:cNvSpPr/>
          <p:nvPr/>
        </p:nvSpPr>
        <p:spPr>
          <a:xfrm>
            <a:off x="6233008"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6461608"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BEYOND THE MOMENT</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Wines and memories saved, so the relationship carries on.</a:t>
            </a:r>
            <a:endParaRPr lang="en-US" sz="1400" dirty="0"/>
          </a:p>
        </p:txBody>
      </p:sp>
      <p:sp>
        <p:nvSpPr>
          <p:cNvPr id="12" name="Card: WHAT PEOPLE REALLY THINK"/>
          <p:cNvSpPr/>
          <p:nvPr/>
        </p:nvSpPr>
        <p:spPr>
          <a:xfrm>
            <a:off x="9075191" y="2606040"/>
            <a:ext cx="2567864" cy="1783080"/>
          </a:xfrm>
          <a:prstGeom prst="roundRect">
            <a:avLst>
              <a:gd name="adj" fmla="val 615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9303791" y="2834640"/>
            <a:ext cx="2110664" cy="141732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PEOPLE REALLY THINK</a:t>
            </a:r>
            <a:endParaRPr lang="en-US" sz="1400" dirty="0"/>
          </a:p>
          <a:p>
            <a:pPr indent="0" marL="0">
              <a:spcAft>
                <a:spcPts val="400"/>
              </a:spcAft>
              <a:buNone/>
            </a:pPr>
            <a:r>
              <a:rPr lang="en-US" sz="600" dirty="0">
                <a:solidFill>
                  <a:schemeClr val="tx1"/>
                </a:solidFill>
              </a:rPr>
              <a:t> </a:t>
            </a:r>
            <a:endParaRPr lang="en-US" sz="1400" dirty="0"/>
          </a:p>
          <a:p>
            <a:pPr indent="0" marL="0">
              <a:spcAft>
                <a:spcPts val="400"/>
              </a:spcAft>
              <a:buNone/>
            </a:pPr>
            <a:r>
              <a:rPr lang="en-US" sz="1400" dirty="0">
                <a:solidFill>
                  <a:schemeClr val="tx1"/>
                </a:solidFill>
              </a:rPr>
              <a:t>In the words people naturally use. Anonymised, and only with consent.</a:t>
            </a:r>
            <a:endParaRPr lang="en-US" sz="1400" dirty="0"/>
          </a:p>
        </p:txBody>
      </p:sp>
      <p:sp>
        <p:nvSpPr>
          <p:cNvPr id="14" name="Two ways in"/>
          <p:cNvSpPr/>
          <p:nvPr/>
        </p:nvSpPr>
        <p:spPr>
          <a:xfrm>
            <a:off x="548640" y="4572000"/>
            <a:ext cx="7863840" cy="1325880"/>
          </a:xfrm>
          <a:prstGeom prst="roundRect">
            <a:avLst>
              <a:gd name="adj" fmla="val 8276"/>
            </a:avLst>
          </a:prstGeom>
          <a:solidFill>
            <a:schemeClr val="tx1"/>
          </a:solidFill>
          <a:ln w="12700">
            <a:solidFill>
              <a:schemeClr val="tx1"/>
            </a:solidFill>
            <a:prstDash val="solid"/>
          </a:ln>
        </p:spPr>
      </p:sp>
      <p:sp>
        <p:nvSpPr>
          <p:cNvPr id="15" name="Text 13"/>
          <p:cNvSpPr txBox="1"/>
          <p:nvPr/>
        </p:nvSpPr>
        <p:spPr>
          <a:xfrm>
            <a:off x="868680" y="4681728"/>
            <a:ext cx="7315200" cy="1188720"/>
          </a:xfrm>
          <a:prstGeom prst="rect">
            <a:avLst/>
          </a:prstGeom>
          <a:noFill/>
          <a:ln/>
        </p:spPr>
        <p:txBody>
          <a:bodyPr wrap="square" lIns="0" tIns="0" rIns="0" bIns="0" rtlCol="0" anchor="t"/>
          <a:lstStyle/>
          <a:p>
            <a:pPr indent="0" marL="0">
              <a:spcAft>
                <a:spcPts val="300"/>
              </a:spcAft>
              <a:buNone/>
            </a:pPr>
            <a:r>
              <a:rPr lang="en-US" sz="1300" spc="150" kern="0" dirty="0">
                <a:solidFill>
                  <a:schemeClr val="bg2"/>
                </a:solidFill>
                <a:latin typeface="Raleway SemiBold" pitchFamily="34" charset="0"/>
                <a:ea typeface="Raleway SemiBold" pitchFamily="34" charset="-122"/>
                <a:cs typeface="Raleway SemiBold" pitchFamily="34" charset="-120"/>
              </a:rPr>
              <a:t>TWO WAYS IN</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Partner Mode: </a:t>
            </a:r>
            <a:pPr indent="0" marL="0">
              <a:spcAft>
                <a:spcPts val="300"/>
              </a:spcAft>
              <a:buNone/>
            </a:pPr>
            <a:r>
              <a:rPr lang="en-US" sz="1400" dirty="0">
                <a:solidFill>
                  <a:schemeClr val="bg2"/>
                </a:solidFill>
              </a:rPr>
              <a:t>for a vineyard, wine brand, retailer or wine club.</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Event Mode: </a:t>
            </a:r>
            <a:pPr indent="0" marL="0">
              <a:spcAft>
                <a:spcPts val="300"/>
              </a:spcAft>
              <a:buNone/>
            </a:pPr>
            <a:r>
              <a:rPr lang="en-US" sz="1400" dirty="0">
                <a:solidFill>
                  <a:schemeClr val="bg2"/>
                </a:solidFill>
              </a:rPr>
              <a:t>for organisers bringing several vineyards together.</a:t>
            </a:r>
            <a:endParaRPr lang="en-US" sz="1400" dirty="0"/>
          </a:p>
          <a:p>
            <a:pPr indent="0" marL="0">
              <a:spcAft>
                <a:spcPts val="300"/>
              </a:spcAft>
              <a:buNone/>
            </a:pPr>
            <a:r>
              <a:rPr lang="en-US" sz="1400" dirty="0">
                <a:solidFill>
                  <a:schemeClr val="bg2"/>
                </a:solidFill>
                <a:latin typeface="Raleway SemiBold" pitchFamily="34" charset="0"/>
                <a:ea typeface="Raleway SemiBold" pitchFamily="34" charset="-122"/>
                <a:cs typeface="Raleway SemiBold" pitchFamily="34" charset="-120"/>
              </a:rPr>
              <a:t>Meet the Maker </a:t>
            </a:r>
            <a:pPr indent="0" marL="0">
              <a:spcAft>
                <a:spcPts val="300"/>
              </a:spcAft>
              <a:buNone/>
            </a:pPr>
            <a:r>
              <a:rPr lang="en-US" sz="1400" dirty="0">
                <a:solidFill>
                  <a:schemeClr val="bg2"/>
                </a:solidFill>
              </a:rPr>
              <a:t>stories and videos work in both.</a:t>
            </a:r>
            <a:endParaRPr lang="en-US" sz="1400" dirty="0"/>
          </a:p>
        </p:txBody>
      </p:sp>
      <p:sp>
        <p:nvSpPr>
          <p:cNvPr id="16" name="FLAG — delete before sharing"/>
          <p:cNvSpPr txBox="1"/>
          <p:nvPr/>
        </p:nvSpPr>
        <p:spPr>
          <a:xfrm>
            <a:off x="8686800" y="4572000"/>
            <a:ext cx="2956255" cy="621792"/>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Partner Mode and Event Mode are proposed in the Brand Brain.</a:t>
            </a:r>
            <a:endParaRPr lang="en-US" sz="1100" dirty="0"/>
          </a:p>
        </p:txBody>
      </p:sp>
      <p:sp>
        <p:nvSpPr>
          <p:cNvPr id="17" name="FLAG — delete before sharing"/>
          <p:cNvSpPr txBox="1"/>
          <p:nvPr/>
        </p:nvSpPr>
        <p:spPr>
          <a:xfrm>
            <a:off x="8686800" y="5257800"/>
            <a:ext cx="2956255" cy="6400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Event Mode's stage, and how it differs from Partner Mode.</a:t>
            </a:r>
            <a:endParaRPr lang="en-US" sz="1100" dirty="0"/>
          </a:p>
        </p:txBody>
      </p:sp>
      <p:sp>
        <p:nvSpPr>
          <p:cNvPr id="1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Responsible by design</a:t>
            </a:r>
            <a:endParaRPr lang="en-US" sz="3600" dirty="0"/>
          </a:p>
        </p:txBody>
      </p:sp>
      <p:sp>
        <p:nvSpPr>
          <p:cNvPr id="3" name="Responsible: 18+ only."/>
          <p:cNvSpPr/>
          <p:nvPr/>
        </p:nvSpPr>
        <p:spPr>
          <a:xfrm>
            <a:off x="548640" y="1417320"/>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4" name="Text 2"/>
          <p:cNvSpPr txBox="1"/>
          <p:nvPr/>
        </p:nvSpPr>
        <p:spPr>
          <a:xfrm>
            <a:off x="777240" y="1527048"/>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18+</a:t>
            </a:r>
            <a:endParaRPr lang="en-US" sz="1400" dirty="0"/>
          </a:p>
        </p:txBody>
      </p:sp>
      <p:sp>
        <p:nvSpPr>
          <p:cNvPr id="5" name="Text 3"/>
          <p:cNvSpPr txBox="1"/>
          <p:nvPr/>
        </p:nvSpPr>
        <p:spPr>
          <a:xfrm>
            <a:off x="2423160" y="1417320"/>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18+ only.  </a:t>
            </a:r>
            <a:pPr indent="0" marL="0">
              <a:spcAft>
                <a:spcPts val="400"/>
              </a:spcAft>
              <a:buNone/>
            </a:pPr>
            <a:r>
              <a:rPr lang="en-US" sz="1600" dirty="0">
                <a:solidFill>
                  <a:schemeClr val="tx1"/>
                </a:solidFill>
              </a:rPr>
              <a:t>The game is clearly marked 18+, and the app has an age gate.</a:t>
            </a:r>
            <a:endParaRPr lang="en-US" sz="1600" dirty="0"/>
          </a:p>
        </p:txBody>
      </p:sp>
      <p:sp>
        <p:nvSpPr>
          <p:cNvPr id="6" name="Responsible: Never a drinking game."/>
          <p:cNvSpPr/>
          <p:nvPr/>
        </p:nvSpPr>
        <p:spPr>
          <a:xfrm>
            <a:off x="548640" y="2313432"/>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2423160"/>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Corks</a:t>
            </a:r>
            <a:endParaRPr lang="en-US" sz="1400" dirty="0"/>
          </a:p>
        </p:txBody>
      </p:sp>
      <p:sp>
        <p:nvSpPr>
          <p:cNvPr id="8" name="Text 6"/>
          <p:cNvSpPr txBox="1"/>
          <p:nvPr/>
        </p:nvSpPr>
        <p:spPr>
          <a:xfrm>
            <a:off x="2423160" y="2313432"/>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Never a drinking game.  </a:t>
            </a:r>
            <a:pPr indent="0" marL="0">
              <a:spcAft>
                <a:spcPts val="400"/>
              </a:spcAft>
              <a:buNone/>
            </a:pPr>
            <a:r>
              <a:rPr lang="en-US" sz="1600" dirty="0">
                <a:solidFill>
                  <a:schemeClr val="tx1"/>
                </a:solidFill>
              </a:rPr>
              <a:t>Corks are won for conversation and play, never for how much anyone drinks.</a:t>
            </a:r>
            <a:endParaRPr lang="en-US" sz="1600" dirty="0"/>
          </a:p>
        </p:txBody>
      </p:sp>
      <p:sp>
        <p:nvSpPr>
          <p:cNvPr id="9" name="Responsible: A single glass is enough."/>
          <p:cNvSpPr/>
          <p:nvPr/>
        </p:nvSpPr>
        <p:spPr>
          <a:xfrm>
            <a:off x="548640" y="3209544"/>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777240" y="3319272"/>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 glass</a:t>
            </a:r>
            <a:endParaRPr lang="en-US" sz="1400" dirty="0"/>
          </a:p>
        </p:txBody>
      </p:sp>
      <p:sp>
        <p:nvSpPr>
          <p:cNvPr id="11" name="Text 9"/>
          <p:cNvSpPr txBox="1"/>
          <p:nvPr/>
        </p:nvSpPr>
        <p:spPr>
          <a:xfrm>
            <a:off x="2423160" y="3209544"/>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A single glass is enough.  </a:t>
            </a:r>
            <a:pPr indent="0" marL="0">
              <a:spcAft>
                <a:spcPts val="400"/>
              </a:spcAft>
              <a:buNone/>
            </a:pPr>
            <a:r>
              <a:rPr lang="en-US" sz="1600" dirty="0">
                <a:solidFill>
                  <a:schemeClr val="tx1"/>
                </a:solidFill>
              </a:rPr>
              <a:t>Any wine works.</a:t>
            </a:r>
            <a:endParaRPr lang="en-US" sz="1600" dirty="0"/>
          </a:p>
        </p:txBody>
      </p:sp>
      <p:sp>
        <p:nvSpPr>
          <p:cNvPr id="12" name="Responsible: No pressure to taste."/>
          <p:cNvSpPr/>
          <p:nvPr/>
        </p:nvSpPr>
        <p:spPr>
          <a:xfrm>
            <a:off x="548640" y="4105656"/>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777240" y="4215384"/>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Optional</a:t>
            </a:r>
            <a:endParaRPr lang="en-US" sz="1400" dirty="0"/>
          </a:p>
        </p:txBody>
      </p:sp>
      <p:sp>
        <p:nvSpPr>
          <p:cNvPr id="14" name="Text 12"/>
          <p:cNvSpPr txBox="1"/>
          <p:nvPr/>
        </p:nvSpPr>
        <p:spPr>
          <a:xfrm>
            <a:off x="2423160" y="4105656"/>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No pressure to taste.  </a:t>
            </a:r>
            <a:pPr indent="0" marL="0">
              <a:spcAft>
                <a:spcPts val="400"/>
              </a:spcAft>
              <a:buNone/>
            </a:pPr>
            <a:r>
              <a:rPr lang="en-US" sz="1600" dirty="0">
                <a:solidFill>
                  <a:schemeClr val="tx1"/>
                </a:solidFill>
              </a:rPr>
              <a:t>At events, tasting is always optional.</a:t>
            </a:r>
            <a:endParaRPr lang="en-US" sz="1600" dirty="0"/>
          </a:p>
        </p:txBody>
      </p:sp>
      <p:sp>
        <p:nvSpPr>
          <p:cNvPr id="15" name="Responsible: Safe to say what you think."/>
          <p:cNvSpPr/>
          <p:nvPr/>
        </p:nvSpPr>
        <p:spPr>
          <a:xfrm>
            <a:off x="548640" y="5001768"/>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6" name="Text 14"/>
          <p:cNvSpPr txBox="1"/>
          <p:nvPr/>
        </p:nvSpPr>
        <p:spPr>
          <a:xfrm>
            <a:off x="777240" y="5111496"/>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Consent</a:t>
            </a:r>
            <a:endParaRPr lang="en-US" sz="1400" dirty="0"/>
          </a:p>
        </p:txBody>
      </p:sp>
      <p:sp>
        <p:nvSpPr>
          <p:cNvPr id="17" name="Text 15"/>
          <p:cNvSpPr txBox="1"/>
          <p:nvPr/>
        </p:nvSpPr>
        <p:spPr>
          <a:xfrm>
            <a:off x="2423160" y="5001768"/>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Safe to say what you think.  </a:t>
            </a:r>
            <a:pPr indent="0" marL="0">
              <a:spcAft>
                <a:spcPts val="400"/>
              </a:spcAft>
              <a:buNone/>
            </a:pPr>
            <a:r>
              <a:rPr lang="en-US" sz="1600" dirty="0">
                <a:solidFill>
                  <a:schemeClr val="tx1"/>
                </a:solidFill>
              </a:rPr>
              <a:t>What people say is anonymised, needs their consent, and is never sold.</a:t>
            </a:r>
            <a:endParaRPr lang="en-US" sz="1600" dirty="0"/>
          </a:p>
        </p:txBody>
      </p:sp>
      <p:sp>
        <p:nvSpPr>
          <p:cNvPr id="1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Who's behind Entre Amis</a:t>
            </a:r>
            <a:endParaRPr lang="en-US" sz="3600" dirty="0"/>
          </a:p>
        </p:txBody>
      </p:sp>
      <p:sp>
        <p:nvSpPr>
          <p:cNvPr id="3" name="Image placeholder"/>
          <p:cNvSpPr/>
          <p:nvPr/>
        </p:nvSpPr>
        <p:spPr>
          <a:xfrm>
            <a:off x="548640" y="1463040"/>
            <a:ext cx="3474720" cy="4206240"/>
          </a:xfrm>
          <a:prstGeom prst="roundRect">
            <a:avLst>
              <a:gd name="adj" fmla="val 3158"/>
            </a:avLst>
          </a:prstGeom>
          <a:solidFill>
            <a:schemeClr val="accent3"/>
          </a:solidFill>
          <a:ln w="12700">
            <a:solidFill>
              <a:schemeClr val="tx1"/>
            </a:solidFill>
            <a:prstDash val="dash"/>
          </a:ln>
        </p:spPr>
      </p:sp>
      <p:sp>
        <p:nvSpPr>
          <p:cNvPr id="4" name="Text 2"/>
          <p:cNvSpPr txBox="1"/>
          <p:nvPr/>
        </p:nvSpPr>
        <p:spPr>
          <a:xfrm>
            <a:off x="822960" y="1463040"/>
            <a:ext cx="2926080" cy="420624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Caroline — to add</a:t>
            </a:r>
            <a:endParaRPr lang="en-US" sz="1400" dirty="0"/>
          </a:p>
        </p:txBody>
      </p:sp>
      <p:sp>
        <p:nvSpPr>
          <p:cNvPr id="5" name="Text 3"/>
          <p:cNvSpPr txBox="1"/>
          <p:nvPr/>
        </p:nvSpPr>
        <p:spPr>
          <a:xfrm>
            <a:off x="4480560" y="1463040"/>
            <a:ext cx="7162495" cy="914400"/>
          </a:xfrm>
          <a:prstGeom prst="rect">
            <a:avLst/>
          </a:prstGeom>
          <a:noFill/>
          <a:ln/>
        </p:spPr>
        <p:txBody>
          <a:bodyPr wrap="square" lIns="0" tIns="0" rIns="0" bIns="0" rtlCol="0" anchor="t"/>
          <a:lstStyle/>
          <a:p>
            <a:pPr indent="0" marL="0">
              <a:spcAft>
                <a:spcPts val="400"/>
              </a:spcAft>
              <a:buNone/>
            </a:pPr>
            <a:r>
              <a:rPr lang="en-US" sz="3200" dirty="0">
                <a:solidFill>
                  <a:schemeClr val="tx1"/>
                </a:solidFill>
              </a:rPr>
              <a:t>Caroline [surname]</a:t>
            </a:r>
            <a:endParaRPr lang="en-US" sz="1400" dirty="0"/>
          </a:p>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Founder</a:t>
            </a:r>
            <a:endParaRPr lang="en-US" sz="1400" dirty="0"/>
          </a:p>
        </p:txBody>
      </p:sp>
      <p:sp>
        <p:nvSpPr>
          <p:cNvPr id="6" name="Credentials"/>
          <p:cNvSpPr/>
          <p:nvPr/>
        </p:nvSpPr>
        <p:spPr>
          <a:xfrm>
            <a:off x="4480560" y="2560320"/>
            <a:ext cx="7162495"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4800600" y="2743200"/>
            <a:ext cx="6522415" cy="1097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A marketing and commercial leader with over 30 years across UK and international brands.</a:t>
            </a:r>
            <a:endParaRPr lang="en-US" sz="1600" dirty="0"/>
          </a:p>
          <a:p>
            <a:pPr marL="203200" indent="-203200">
              <a:spcAft>
                <a:spcPts val="400"/>
              </a:spcAft>
              <a:buSzPct val="100000"/>
              <a:buChar char="•"/>
            </a:pPr>
            <a:r>
              <a:rPr lang="en-US" sz="1600" dirty="0">
                <a:solidFill>
                  <a:schemeClr val="tx1"/>
                </a:solidFill>
              </a:rPr>
              <a:t>WSET Level 3 in Wines, with Distinction.</a:t>
            </a:r>
            <a:endParaRPr lang="en-US" sz="1600" dirty="0"/>
          </a:p>
        </p:txBody>
      </p:sp>
      <p:sp>
        <p:nvSpPr>
          <p:cNvPr id="8" name="Text 6"/>
          <p:cNvSpPr txBox="1"/>
          <p:nvPr/>
        </p:nvSpPr>
        <p:spPr>
          <a:xfrm>
            <a:off x="4480560" y="4114800"/>
            <a:ext cx="7162495" cy="640080"/>
          </a:xfrm>
          <a:prstGeom prst="rect">
            <a:avLst/>
          </a:prstGeom>
          <a:noFill/>
          <a:ln/>
        </p:spPr>
        <p:txBody>
          <a:bodyPr wrap="square" lIns="0" tIns="0" rIns="0" bIns="0" rtlCol="0" anchor="t"/>
          <a:lstStyle/>
          <a:p>
            <a:pPr indent="0" marL="0">
              <a:spcAft>
                <a:spcPts val="400"/>
              </a:spcAft>
              <a:buNone/>
            </a:pPr>
            <a:r>
              <a:rPr lang="en-US" sz="1800" i="1" dirty="0">
                <a:solidFill>
                  <a:schemeClr val="tx1"/>
                </a:solidFill>
              </a:rPr>
              <a:t>Entre Amis brings together Caroline's marketing experience and her focus on customers.</a:t>
            </a:r>
            <a:endParaRPr lang="en-US" sz="1800" dirty="0"/>
          </a:p>
        </p:txBody>
      </p:sp>
      <p:sp>
        <p:nvSpPr>
          <p:cNvPr id="9" name="FLAG — delete before sharing"/>
          <p:cNvSpPr txBox="1"/>
          <p:nvPr/>
        </p:nvSpPr>
        <p:spPr>
          <a:xfrm>
            <a:off x="4480560"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Your surname and a photo.</a:t>
            </a:r>
            <a:endParaRPr lang="en-US" sz="1100" dirty="0"/>
          </a:p>
        </p:txBody>
      </p:sp>
      <p:sp>
        <p:nvSpPr>
          <p:cNvPr id="10" name="FLAG — delete before sharing"/>
          <p:cNvSpPr txBox="1"/>
          <p:nvPr/>
        </p:nvSpPr>
        <p:spPr>
          <a:xfrm>
            <a:off x="8198968"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Optional: a short line in your own words.</a:t>
            </a:r>
            <a:endParaRPr lang="en-US" sz="1100" dirty="0"/>
          </a:p>
        </p:txBody>
      </p:sp>
      <p:sp>
        <p:nvSpPr>
          <p:cNvPr id="12"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Where we are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Prototype and validation stage. Nothing is on sale yet.</a:t>
            </a:r>
            <a:endParaRPr lang="en-US" sz="1800" dirty="0"/>
          </a:p>
        </p:txBody>
      </p:sp>
      <p:sp>
        <p:nvSpPr>
          <p:cNvPr id="4" name="BUILT"/>
          <p:cNvSpPr/>
          <p:nvPr/>
        </p:nvSpPr>
        <p:spPr>
          <a:xfrm>
            <a:off x="548640" y="1783080"/>
            <a:ext cx="5410048"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5" name="Text 3"/>
          <p:cNvSpPr txBox="1"/>
          <p:nvPr/>
        </p:nvSpPr>
        <p:spPr>
          <a:xfrm>
            <a:off x="868680" y="2057400"/>
            <a:ext cx="4769968" cy="210312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BUILT</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Physical game assembled and playable: cards, spinner, game mat, crown and printed materials working together.</a:t>
            </a:r>
            <a:endParaRPr lang="en-US" sz="1500" dirty="0"/>
          </a:p>
          <a:p>
            <a:pPr marL="203200" indent="-203200">
              <a:spcAft>
                <a:spcPts val="800"/>
              </a:spcAft>
              <a:buSzPct val="100000"/>
              <a:buChar char="•"/>
            </a:pPr>
            <a:r>
              <a:rPr lang="en-US" sz="1500" dirty="0">
                <a:solidFill>
                  <a:schemeClr val="tx1"/>
                </a:solidFill>
              </a:rPr>
              <a:t>App developed, with Host and Guest tested together.</a:t>
            </a:r>
            <a:endParaRPr lang="en-US" sz="1500" dirty="0"/>
          </a:p>
          <a:p>
            <a:pPr marL="203200" indent="-203200">
              <a:spcAft>
                <a:spcPts val="800"/>
              </a:spcAft>
              <a:buSzPct val="100000"/>
              <a:buChar char="•"/>
            </a:pPr>
            <a:r>
              <a:rPr lang="en-US" sz="1500" dirty="0">
                <a:solidFill>
                  <a:schemeClr val="tx1"/>
                </a:solidFill>
              </a:rPr>
              <a:t>Partner Mode prototype built.</a:t>
            </a:r>
            <a:endParaRPr lang="en-US" sz="1500" dirty="0"/>
          </a:p>
        </p:txBody>
      </p:sp>
      <p:sp>
        <p:nvSpPr>
          <p:cNvPr id="6" name="NEXT"/>
          <p:cNvSpPr/>
          <p:nvPr/>
        </p:nvSpPr>
        <p:spPr>
          <a:xfrm>
            <a:off x="6233008" y="1783080"/>
            <a:ext cx="5410048" cy="2514600"/>
          </a:xfrm>
          <a:prstGeom prst="roundRect">
            <a:avLst>
              <a:gd name="adj" fmla="val 4364"/>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553048" y="2057400"/>
            <a:ext cx="4769968" cy="210312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NEXT</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Structured playtesting at real tables.</a:t>
            </a:r>
            <a:endParaRPr lang="en-US" sz="1500" dirty="0"/>
          </a:p>
          <a:p>
            <a:pPr marL="203200" indent="-203200">
              <a:spcAft>
                <a:spcPts val="800"/>
              </a:spcAft>
              <a:buSzPct val="100000"/>
              <a:buChar char="•"/>
            </a:pPr>
            <a:r>
              <a:rPr lang="en-US" sz="1500" dirty="0">
                <a:solidFill>
                  <a:schemeClr val="tx1"/>
                </a:solidFill>
              </a:rPr>
              <a:t>Testing Partner Mode with selected partners.</a:t>
            </a:r>
            <a:endParaRPr lang="en-US" sz="1500" dirty="0"/>
          </a:p>
          <a:p>
            <a:pPr marL="203200" indent="-203200">
              <a:spcAft>
                <a:spcPts val="800"/>
              </a:spcAft>
              <a:buSzPct val="100000"/>
              <a:buChar char="•"/>
            </a:pPr>
            <a:r>
              <a:rPr lang="en-US" sz="1500" dirty="0">
                <a:solidFill>
                  <a:schemeClr val="tx1"/>
                </a:solidFill>
              </a:rPr>
              <a:t>Conversations across the wine industry.</a:t>
            </a:r>
            <a:endParaRPr lang="en-US" sz="1500" dirty="0"/>
          </a:p>
          <a:p>
            <a:pPr marL="203200" indent="-203200">
              <a:spcAft>
                <a:spcPts val="800"/>
              </a:spcAft>
              <a:buSzPct val="100000"/>
              <a:buChar char="•"/>
            </a:pPr>
            <a:r>
              <a:rPr lang="en-US" sz="1500" dirty="0">
                <a:solidFill>
                  <a:schemeClr val="tx1"/>
                </a:solidFill>
              </a:rPr>
              <a:t>Refining from what we learn.</a:t>
            </a:r>
            <a:endParaRPr lang="en-US" sz="1500" dirty="0"/>
          </a:p>
        </p:txBody>
      </p:sp>
      <p:sp>
        <p:nvSpPr>
          <p:cNvPr id="8" name="The real test"/>
          <p:cNvSpPr/>
          <p:nvPr/>
        </p:nvSpPr>
        <p:spPr>
          <a:xfrm>
            <a:off x="548640" y="4526280"/>
            <a:ext cx="11094415" cy="868680"/>
          </a:xfrm>
          <a:prstGeom prst="roundRect">
            <a:avLst>
              <a:gd name="adj" fmla="val 12632"/>
            </a:avLst>
          </a:prstGeom>
          <a:solidFill>
            <a:schemeClr val="tx1"/>
          </a:solidFill>
          <a:ln w="12700">
            <a:solidFill>
              <a:schemeClr val="tx1"/>
            </a:solidFill>
            <a:prstDash val="solid"/>
          </a:ln>
        </p:spPr>
      </p:sp>
      <p:sp>
        <p:nvSpPr>
          <p:cNvPr id="9" name="Text 7"/>
          <p:cNvSpPr txBox="1"/>
          <p:nvPr/>
        </p:nvSpPr>
        <p:spPr>
          <a:xfrm>
            <a:off x="914400" y="4526280"/>
            <a:ext cx="10362895" cy="868680"/>
          </a:xfrm>
          <a:prstGeom prst="rect">
            <a:avLst/>
          </a:prstGeom>
          <a:noFill/>
          <a:ln/>
        </p:spPr>
        <p:txBody>
          <a:bodyPr wrap="square" lIns="0" tIns="0" rIns="0" bIns="0" rtlCol="0" anchor="ctr"/>
          <a:lstStyle/>
          <a:p>
            <a:pPr algn="ctr" indent="0" marL="0">
              <a:spcAft>
                <a:spcPts val="400"/>
              </a:spcAft>
              <a:buNone/>
            </a:pPr>
            <a:r>
              <a:rPr lang="en-US" sz="2200" dirty="0">
                <a:solidFill>
                  <a:schemeClr val="bg2"/>
                </a:solidFill>
              </a:rPr>
              <a:t>The real test: does this feel like something you'd want at your table?</a:t>
            </a:r>
            <a:endParaRPr lang="en-US" sz="2200" dirty="0"/>
          </a:p>
        </p:txBody>
      </p:sp>
      <p:sp>
        <p:nvSpPr>
          <p:cNvPr id="10" name="FLAG — delete before sharing"/>
          <p:cNvSpPr txBox="1"/>
          <p:nvPr/>
        </p:nvSpPr>
        <p:spPr>
          <a:xfrm>
            <a:off x="548640" y="5532120"/>
            <a:ext cx="5410048"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The ask, for each audience (e.g. join a playtest).</a:t>
            </a:r>
            <a:endParaRPr lang="en-US" sz="1100" dirty="0"/>
          </a:p>
        </p:txBody>
      </p:sp>
      <p:sp>
        <p:nvSpPr>
          <p:cNvPr id="11" name="FLAG — delete before sharing"/>
          <p:cNvSpPr txBox="1"/>
          <p:nvPr/>
        </p:nvSpPr>
        <p:spPr>
          <a:xfrm>
            <a:off x="6233008" y="5532120"/>
            <a:ext cx="5410048"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Playtest results, once you have them.</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Looking ahead: Entre Amis stays</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 future ambition.</a:t>
            </a:r>
            <a:endParaRPr lang="en-US" sz="1800" dirty="0"/>
          </a:p>
        </p:txBody>
      </p:sp>
      <p:sp>
        <p:nvSpPr>
          <p:cNvPr id="4" name="Expression marker: ENTRE AMIS STAYS"/>
          <p:cNvSpPr txBox="1"/>
          <p:nvPr/>
        </p:nvSpPr>
        <p:spPr>
          <a:xfrm>
            <a:off x="8716975" y="457200"/>
            <a:ext cx="292608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ENTRE AMIS STAYS</a:t>
            </a:r>
            <a:endParaRPr lang="en-US" sz="1400" dirty="0"/>
          </a:p>
        </p:txBody>
      </p:sp>
      <p:sp>
        <p:nvSpPr>
          <p:cNvPr id="5" name="Stays statement"/>
          <p:cNvSpPr/>
          <p:nvPr/>
        </p:nvSpPr>
        <p:spPr>
          <a:xfrm>
            <a:off x="548640" y="1783080"/>
            <a:ext cx="4754880" cy="3749040"/>
          </a:xfrm>
          <a:prstGeom prst="roundRect">
            <a:avLst>
              <a:gd name="adj" fmla="val 2927"/>
            </a:avLst>
          </a:prstGeom>
          <a:solidFill>
            <a:schemeClr val="tx1"/>
          </a:solidFill>
          <a:ln w="12700">
            <a:solidFill>
              <a:schemeClr val="tx1"/>
            </a:solidFill>
            <a:prstDash val="solid"/>
          </a:ln>
        </p:spPr>
      </p:sp>
      <p:sp>
        <p:nvSpPr>
          <p:cNvPr id="6" name="Text 4"/>
          <p:cNvSpPr txBox="1"/>
          <p:nvPr/>
        </p:nvSpPr>
        <p:spPr>
          <a:xfrm>
            <a:off x="914400" y="2057400"/>
            <a:ext cx="4023360" cy="3291840"/>
          </a:xfrm>
          <a:prstGeom prst="rect">
            <a:avLst/>
          </a:prstGeom>
          <a:noFill/>
          <a:ln/>
        </p:spPr>
        <p:txBody>
          <a:bodyPr wrap="square" lIns="0" tIns="0" rIns="0" bIns="0" rtlCol="0" anchor="t"/>
          <a:lstStyle/>
          <a:p>
            <a:pPr indent="0" marL="0">
              <a:spcAft>
                <a:spcPts val="400"/>
              </a:spcAft>
              <a:buNone/>
            </a:pPr>
            <a:r>
              <a:rPr lang="en-US" sz="2200" dirty="0">
                <a:solidFill>
                  <a:schemeClr val="bg2"/>
                </a:solidFill>
              </a:rPr>
              <a:t>Not a tour. Not a retreat. More like staying with friends who know all the good places.</a:t>
            </a:r>
            <a:endParaRPr lang="en-US" sz="1400" dirty="0"/>
          </a:p>
          <a:p>
            <a:pPr indent="0" marL="0">
              <a:spcAft>
                <a:spcPts val="400"/>
              </a:spcAft>
              <a:buNone/>
            </a:pPr>
            <a:r>
              <a:rPr lang="en-US" sz="1000" dirty="0">
                <a:solidFill>
                  <a:schemeClr val="bg2"/>
                </a:solidFill>
              </a:rPr>
              <a:t> </a:t>
            </a:r>
            <a:endParaRPr lang="en-US" sz="1400" dirty="0"/>
          </a:p>
          <a:p>
            <a:pPr indent="0" marL="0">
              <a:spcAft>
                <a:spcPts val="400"/>
              </a:spcAft>
              <a:buNone/>
            </a:pPr>
            <a:r>
              <a:rPr lang="en-US" sz="1600" i="1" dirty="0">
                <a:solidFill>
                  <a:schemeClr val="bg2"/>
                </a:solidFill>
              </a:rPr>
              <a:t>Entre Amis, lived for a few days rather than played for an evening.</a:t>
            </a:r>
            <a:endParaRPr lang="en-US" sz="1400" dirty="0"/>
          </a:p>
        </p:txBody>
      </p:sp>
      <p:sp>
        <p:nvSpPr>
          <p:cNvPr id="7" name="Stays details"/>
          <p:cNvSpPr/>
          <p:nvPr/>
        </p:nvSpPr>
        <p:spPr>
          <a:xfrm>
            <a:off x="5577840" y="1783080"/>
            <a:ext cx="6065215" cy="3749040"/>
          </a:xfrm>
          <a:prstGeom prst="roundRect">
            <a:avLst>
              <a:gd name="adj" fmla="val 2927"/>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5897880" y="2057400"/>
            <a:ext cx="5425135" cy="32918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tx1"/>
                </a:solidFill>
              </a:rPr>
              <a:t>Shared tables, never rigid itineraries.</a:t>
            </a:r>
            <a:endParaRPr lang="en-US" sz="1600" dirty="0"/>
          </a:p>
          <a:p>
            <a:pPr marL="203200" indent="-203200">
              <a:spcAft>
                <a:spcPts val="900"/>
              </a:spcAft>
              <a:buSzPct val="100000"/>
              <a:buChar char="•"/>
            </a:pPr>
            <a:r>
              <a:rPr lang="en-US" sz="1600" dirty="0">
                <a:solidFill>
                  <a:schemeClr val="tx1"/>
                </a:solidFill>
              </a:rPr>
              <a:t>Everything is optional.</a:t>
            </a:r>
            <a:endParaRPr lang="en-US" sz="1600" dirty="0"/>
          </a:p>
          <a:p>
            <a:pPr marL="203200" indent="-203200">
              <a:spcAft>
                <a:spcPts val="900"/>
              </a:spcAft>
              <a:buSzPct val="100000"/>
              <a:buChar char="•"/>
            </a:pPr>
            <a:r>
              <a:rPr lang="en-US" sz="1600" dirty="0">
                <a:solidFill>
                  <a:schemeClr val="tx1"/>
                </a:solidFill>
              </a:rPr>
              <a:t>Wine explained when you're curious, not taught at you.</a:t>
            </a:r>
            <a:endParaRPr lang="en-US" sz="1600" dirty="0"/>
          </a:p>
          <a:p>
            <a:pPr marL="203200" indent="-203200">
              <a:spcAft>
                <a:spcPts val="900"/>
              </a:spcAft>
              <a:buSzPct val="100000"/>
              <a:buChar char="•"/>
            </a:pPr>
            <a:r>
              <a:rPr lang="en-US" sz="1600" dirty="0">
                <a:solidFill>
                  <a:schemeClr val="tx1"/>
                </a:solidFill>
              </a:rPr>
              <a:t>Local places chosen because we love them, not because they're on a checklist.</a:t>
            </a:r>
            <a:endParaRPr lang="en-US" sz="1600" dirty="0"/>
          </a:p>
          <a:p>
            <a:pPr marL="203200" indent="-203200">
              <a:spcAft>
                <a:spcPts val="900"/>
              </a:spcAft>
              <a:buSzPct val="100000"/>
              <a:buChar char="•"/>
            </a:pPr>
            <a:r>
              <a:rPr lang="en-US" sz="1600" dirty="0">
                <a:solidFill>
                  <a:schemeClr val="tx1"/>
                </a:solidFill>
              </a:rPr>
              <a:t>Time to disappear for an afternoon if you want to.</a:t>
            </a:r>
            <a:endParaRPr lang="en-US" sz="1600" dirty="0"/>
          </a:p>
          <a:p>
            <a:pPr marL="203200" indent="-203200">
              <a:spcAft>
                <a:spcPts val="900"/>
              </a:spcAft>
              <a:buSzPct val="100000"/>
              <a:buChar char="•"/>
            </a:pPr>
            <a:r>
              <a:rPr lang="en-US" sz="1600" dirty="0">
                <a:solidFill>
                  <a:schemeClr val="tx1"/>
                </a:solidFill>
              </a:rPr>
              <a:t>A relaxed Provençal home where you can wander, read and swim.</a:t>
            </a:r>
            <a:endParaRPr lang="en-US" sz="1600" dirty="0"/>
          </a:p>
        </p:txBody>
      </p:sp>
      <p:sp>
        <p:nvSpPr>
          <p:cNvPr id="9" name="Text 7"/>
          <p:cNvSpPr txBox="1"/>
          <p:nvPr/>
        </p:nvSpPr>
        <p:spPr>
          <a:xfrm>
            <a:off x="548640" y="5623560"/>
            <a:ext cx="6858000" cy="411480"/>
          </a:xfrm>
          <a:prstGeom prst="rect">
            <a:avLst/>
          </a:prstGeom>
          <a:noFill/>
          <a:ln/>
        </p:spPr>
        <p:txBody>
          <a:bodyPr wrap="square" lIns="0" tIns="0" rIns="0" bIns="0" rtlCol="0" anchor="t"/>
          <a:lstStyle/>
          <a:p>
            <a:pPr indent="0" marL="0">
              <a:spcAft>
                <a:spcPts val="400"/>
              </a:spcAft>
              <a:buNone/>
            </a:pPr>
            <a:r>
              <a:rPr lang="en-US" sz="2000" i="1" dirty="0">
                <a:solidFill>
                  <a:schemeClr val="tx1"/>
                </a:solidFill>
              </a:rPr>
              <a:t>The setting changes. The spirit never does.</a:t>
            </a:r>
            <a:endParaRPr lang="en-US" sz="2000" dirty="0"/>
          </a:p>
        </p:txBody>
      </p:sp>
      <p:sp>
        <p:nvSpPr>
          <p:cNvPr id="10" name="FLAG — delete before sharing"/>
          <p:cNvSpPr txBox="1"/>
          <p:nvPr/>
        </p:nvSpPr>
        <p:spPr>
          <a:xfrm>
            <a:off x="7680960" y="5623560"/>
            <a:ext cx="3962095" cy="4572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Your approval to show stays as a future ambition.</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541368" y="1828800"/>
            <a:ext cx="3108960" cy="1564707"/>
          </a:xfrm>
          <a:prstGeom prst="rect">
            <a:avLst/>
          </a:prstGeom>
        </p:spPr>
      </p:pic>
      <p:sp>
        <p:nvSpPr>
          <p:cNvPr id="3" name="Text 0"/>
          <p:cNvSpPr txBox="1"/>
          <p:nvPr/>
        </p:nvSpPr>
        <p:spPr>
          <a:xfrm>
            <a:off x="548640" y="3657600"/>
            <a:ext cx="11094415" cy="457200"/>
          </a:xfrm>
          <a:prstGeom prst="rect">
            <a:avLst/>
          </a:prstGeom>
          <a:noFill/>
          <a:ln/>
        </p:spPr>
        <p:txBody>
          <a:bodyPr wrap="square" lIns="0" tIns="0" rIns="0" bIns="0" rtlCol="0" anchor="t"/>
          <a:lstStyle/>
          <a:p>
            <a:pPr algn="ctr" indent="0" marL="0">
              <a:spcAft>
                <a:spcPts val="400"/>
              </a:spcAft>
              <a:buNone/>
            </a:pPr>
            <a:r>
              <a:rPr lang="en-US" sz="2000" dirty="0">
                <a:solidFill>
                  <a:schemeClr val="tx1"/>
                </a:solidFill>
              </a:rPr>
              <a:t>Say what you really think.</a:t>
            </a:r>
            <a:endParaRPr lang="en-US" sz="2000" dirty="0"/>
          </a:p>
        </p:txBody>
      </p:sp>
      <p:sp>
        <p:nvSpPr>
          <p:cNvPr id="4" name="FLAG — delete before sharing"/>
          <p:cNvSpPr txBox="1"/>
          <p:nvPr/>
        </p:nvSpPr>
        <p:spPr>
          <a:xfrm>
            <a:off x="3809848" y="4480560"/>
            <a:ext cx="4572000"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2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200" dirty="0">
                <a:solidFill>
                  <a:schemeClr val="tx1"/>
                </a:solidFill>
              </a:rPr>
              <a:t>Contact details.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Before this deck is shared</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Working notes. Delete this slide, and every white box with a blush border, before sharing.</a:t>
            </a:r>
            <a:endParaRPr lang="en-US" sz="1800" dirty="0"/>
          </a:p>
        </p:txBody>
      </p:sp>
      <p:sp>
        <p:nvSpPr>
          <p:cNvPr id="4" name="TO DECIDE OR CONFIRM"/>
          <p:cNvSpPr/>
          <p:nvPr/>
        </p:nvSpPr>
        <p:spPr>
          <a:xfrm>
            <a:off x="548640"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5" name="Text 3"/>
          <p:cNvSpPr txBox="1"/>
          <p:nvPr/>
        </p:nvSpPr>
        <p:spPr>
          <a:xfrm>
            <a:off x="868680"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DECIDE OR CONFIRM</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Brand-wide consumer line (cover)</a:t>
            </a:r>
            <a:endParaRPr lang="en-US" sz="1500" dirty="0"/>
          </a:p>
          <a:p>
            <a:pPr marL="203200" indent="-203200">
              <a:spcAft>
                <a:spcPts val="800"/>
              </a:spcAft>
              <a:buSzPct val="100000"/>
              <a:buChar char="•"/>
            </a:pPr>
            <a:r>
              <a:rPr lang="en-US" sz="1500" dirty="0">
                <a:solidFill>
                  <a:schemeClr val="tx1"/>
                </a:solidFill>
              </a:rPr>
              <a:t>Talk. Laugh. Remember. as the game line (slide 7)</a:t>
            </a:r>
            <a:endParaRPr lang="en-US" sz="1500" dirty="0"/>
          </a:p>
          <a:p>
            <a:pPr marL="203200" indent="-203200">
              <a:spcAft>
                <a:spcPts val="800"/>
              </a:spcAft>
              <a:buSzPct val="100000"/>
              <a:buChar char="•"/>
            </a:pPr>
            <a:r>
              <a:rPr lang="en-US" sz="1500" dirty="0">
                <a:solidFill>
                  <a:schemeClr val="tx1"/>
                </a:solidFill>
              </a:rPr>
              <a:t>Journey, Partner Mode and Event Mode, observations rule: confirm in the Brand Brain</a:t>
            </a:r>
            <a:endParaRPr lang="en-US" sz="1500" dirty="0"/>
          </a:p>
          <a:p>
            <a:pPr marL="203200" indent="-203200">
              <a:spcAft>
                <a:spcPts val="800"/>
              </a:spcAft>
              <a:buSzPct val="100000"/>
              <a:buChar char="•"/>
            </a:pPr>
            <a:r>
              <a:rPr lang="en-US" sz="1500" dirty="0">
                <a:solidFill>
                  <a:schemeClr val="tx1"/>
                </a:solidFill>
              </a:rPr>
              <a:t>Event Mode's stage and product differences (slides 6, 9)</a:t>
            </a:r>
            <a:endParaRPr lang="en-US" sz="1500" dirty="0"/>
          </a:p>
          <a:p>
            <a:pPr marL="203200" indent="-203200">
              <a:spcAft>
                <a:spcPts val="800"/>
              </a:spcAft>
              <a:buSzPct val="100000"/>
              <a:buChar char="•"/>
            </a:pPr>
            <a:r>
              <a:rPr lang="en-US" sz="1500" dirty="0">
                <a:solidFill>
                  <a:schemeClr val="tx1"/>
                </a:solidFill>
              </a:rPr>
              <a:t>Approval to show stays as a future ambition (slides 6, 13)</a:t>
            </a:r>
            <a:endParaRPr lang="en-US" sz="1500" dirty="0"/>
          </a:p>
          <a:p>
            <a:pPr marL="203200" indent="-203200">
              <a:spcAft>
                <a:spcPts val="800"/>
              </a:spcAft>
              <a:buSzPct val="100000"/>
              <a:buChar char="•"/>
            </a:pPr>
            <a:r>
              <a:rPr lang="en-US" sz="1500" dirty="0">
                <a:solidFill>
                  <a:schemeClr val="tx1"/>
                </a:solidFill>
              </a:rPr>
              <a:t>The ask, for each audience (slide 12)</a:t>
            </a:r>
            <a:endParaRPr lang="en-US" sz="1500" dirty="0"/>
          </a:p>
        </p:txBody>
      </p:sp>
      <p:sp>
        <p:nvSpPr>
          <p:cNvPr id="6" name="TO ADD"/>
          <p:cNvSpPr/>
          <p:nvPr/>
        </p:nvSpPr>
        <p:spPr>
          <a:xfrm>
            <a:off x="6233008"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553048"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ADD</a:t>
            </a:r>
            <a:endParaRPr lang="en-US" sz="1500" dirty="0"/>
          </a:p>
          <a:p>
            <a:pPr indent="0" marL="0">
              <a:spcAft>
                <a:spcPts val="400"/>
              </a:spcAft>
              <a:buNone/>
            </a:pPr>
            <a:r>
              <a:rPr lang="en-US" sz="600" dirty="0">
                <a:solidFill>
                  <a:schemeClr val="tx1"/>
                </a:solidFill>
              </a:rPr>
              <a:t> </a:t>
            </a:r>
            <a:endParaRPr lang="en-US" sz="1500" dirty="0"/>
          </a:p>
          <a:p>
            <a:pPr marL="203200" indent="-203200">
              <a:spcAft>
                <a:spcPts val="800"/>
              </a:spcAft>
              <a:buSzPct val="100000"/>
              <a:buChar char="•"/>
            </a:pPr>
            <a:r>
              <a:rPr lang="en-US" sz="1500" dirty="0">
                <a:solidFill>
                  <a:schemeClr val="tx1"/>
                </a:solidFill>
              </a:rPr>
              <a:t>Master logo artwork files</a:t>
            </a:r>
            <a:endParaRPr lang="en-US" sz="1500" dirty="0"/>
          </a:p>
          <a:p>
            <a:pPr marL="203200" indent="-203200">
              <a:spcAft>
                <a:spcPts val="800"/>
              </a:spcAft>
              <a:buSzPct val="100000"/>
              <a:buChar char="•"/>
            </a:pPr>
            <a:r>
              <a:rPr lang="en-US" sz="1500" dirty="0">
                <a:solidFill>
                  <a:schemeClr val="tx1"/>
                </a:solidFill>
              </a:rPr>
              <a:t>Photos of the prototype (slide 7)</a:t>
            </a:r>
            <a:endParaRPr lang="en-US" sz="1500" dirty="0"/>
          </a:p>
          <a:p>
            <a:pPr marL="203200" indent="-203200">
              <a:spcAft>
                <a:spcPts val="800"/>
              </a:spcAft>
              <a:buSzPct val="100000"/>
              <a:buChar char="•"/>
            </a:pPr>
            <a:r>
              <a:rPr lang="en-US" sz="1500" dirty="0">
                <a:solidFill>
                  <a:schemeClr val="tx1"/>
                </a:solidFill>
              </a:rPr>
              <a:t>App screens (slide 8)</a:t>
            </a:r>
            <a:endParaRPr lang="en-US" sz="1500" dirty="0"/>
          </a:p>
          <a:p>
            <a:pPr marL="203200" indent="-203200">
              <a:spcAft>
                <a:spcPts val="800"/>
              </a:spcAft>
              <a:buSzPct val="100000"/>
              <a:buChar char="•"/>
            </a:pPr>
            <a:r>
              <a:rPr lang="en-US" sz="1500" dirty="0">
                <a:solidFill>
                  <a:schemeClr val="tx1"/>
                </a:solidFill>
              </a:rPr>
              <a:t>Your surname and photo; optional line in your words (slide 11)</a:t>
            </a:r>
            <a:endParaRPr lang="en-US" sz="1500" dirty="0"/>
          </a:p>
          <a:p>
            <a:pPr marL="203200" indent="-203200">
              <a:spcAft>
                <a:spcPts val="800"/>
              </a:spcAft>
              <a:buSzPct val="100000"/>
              <a:buChar char="•"/>
            </a:pPr>
            <a:r>
              <a:rPr lang="en-US" sz="1500" dirty="0">
                <a:solidFill>
                  <a:schemeClr val="tx1"/>
                </a:solidFill>
              </a:rPr>
              <a:t>Playtest results, when available (slide 12)</a:t>
            </a:r>
            <a:endParaRPr lang="en-US" sz="1500" dirty="0"/>
          </a:p>
          <a:p>
            <a:pPr marL="203200" indent="-203200">
              <a:spcAft>
                <a:spcPts val="800"/>
              </a:spcAft>
              <a:buSzPct val="100000"/>
              <a:buChar char="•"/>
            </a:pPr>
            <a:r>
              <a:rPr lang="en-US" sz="1500" dirty="0">
                <a:solidFill>
                  <a:schemeClr val="tx1"/>
                </a:solidFill>
              </a:rPr>
              <a:t>Contact details (back cover)</a:t>
            </a:r>
            <a:endParaRPr lang="en-US" sz="15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Entre Amis Sous-bois">
      <a:majorFont>
        <a:latin typeface="Raleway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leway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 Amis — core brand story</dc:title>
  <dc:subject>PptxGenJS Presentation</dc:subject>
  <dc:creator>Entre Amis</dc:creator>
  <cp:lastModifiedBy>Entre Amis</cp:lastModifiedBy>
  <cp:revision>1</cp:revision>
  <dcterms:created xsi:type="dcterms:W3CDTF">2026-10-11T09:07:54Z</dcterms:created>
  <dcterms:modified xsi:type="dcterms:W3CDTF">2026-10-11T09:07:54Z</dcterms:modified>
</cp:coreProperties>
</file>