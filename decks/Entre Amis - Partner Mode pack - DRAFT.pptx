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23005c2-b73b-1c73-c65a-92a1dc682de1}">
          <p14:sldIdLst>
            <p14:sldId id="256"/>
            <p14:sldId id="257"/>
          </p14:sldIdLst>
        </p14:section>
        <p14:section name="Partner Mode" id="{e1c4fd89-dc98-5d4b-9b10-85a449e5cce0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Working together" id="{2cceaa0b-103a-0a79-935f-e87661c0181b}">
          <p14:sldIdLst>
            <p14:sldId id="264"/>
            <p14:sldId id="265"/>
          </p14:sldIdLst>
        </p14:section>
        <p14:section name="About us" id="{500f71be-f248-29ca-391d-f4d7945fe674}">
          <p14:sldIdLst>
            <p14:sldId id="266"/>
            <p14:sldId id="267"/>
            <p14:sldId id="268"/>
          </p14:sldIdLst>
        </p14:section>
        <p14:section name="Working notes — delete before sharing" id="{6c6bd1f2-d2c6-f34d-ef4c-8e7be578d5a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to the host: a single vineyard, wine brand, bar, restaurant, retailer or wine club running its own tasting. Named partners are kept out so the pack can go to anyone.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it explicit that this is the brand. The closing line is the partner line (founder, 12 October): for Partner Mode and Event Mode materials only, not a consumer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Event Mode pack. 'Entre Amis adds the social layer' comes from slide 24 of the October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your description (12 October): hosted tasting; Savour and Pour cards as an option; host-specific questions and quizzes; interactive voting shared as a learning experience; guests collate and share notes; information about the wines and the vineyard; favourite and store wines in a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spine as the Event Mode pack. Guests' own notes are not part of your insight unless they consent (proposed, Brand Brain 00). Favourites are among your own wines only; we never compare your wines with anyone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Savour and Pour are the card families used in the partner set-up (confirmed, Brand Brain 02). When describing your wines we stay neutral: what they're like, never better than anyone else's.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Partner Mode, contacts go to that one host only (proposed, Brand Brain 03). Wider Entre Amis trends are not promised in Partner Mode: they depend on how it is built (founder, 12 October).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the confirmed Partner Mode data rules ('That trust is the brand — Say what you really think only works if people are safe to do so') and the promises from the October deck's 'Three layers of insight'.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Lets a host see where they fit, and points organisers to the Event Mode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'Partner Mode prototype built' is confirmed in the core brand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slide, built from confirmed responsible-drinking and Partner Mode data rules. 'No pressure to taste' comes from the visitor journey slide in the October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 voice about Caroline, not written as her. A first-person line would work well here, but it must be Caroline's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run the pre-publish check in brand-brain/03-guardrails.md.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A Cov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A 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Say what you really think.</a:t>
            </a:r>
            <a:endParaRPr lang="en-US" sz="1000" dirty="0"/>
          </a:p>
        </p:txBody>
      </p:sp>
      <p:pic>
        <p:nvPicPr>
          <p:cNvPr id="3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6144768"/>
            <a:ext cx="1005840" cy="506229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1005840"/>
            <a:ext cx="3108960" cy="1564707"/>
          </a:xfrm>
          <a:prstGeom prst="rect">
            <a:avLst/>
          </a:prstGeom>
        </p:spPr>
      </p:pic>
      <p:sp>
        <p:nvSpPr>
          <p:cNvPr id="3" name="Expression marker: PARTNER MODE"/>
          <p:cNvSpPr txBox="1"/>
          <p:nvPr/>
        </p:nvSpPr>
        <p:spPr>
          <a:xfrm>
            <a:off x="4632808" y="2834640"/>
            <a:ext cx="292608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474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dirty="0">
                <a:solidFill>
                  <a:schemeClr val="tx1"/>
                </a:solidFill>
              </a:rPr>
              <a:t>For vineyards, bars, restaurants, retailers and wine clubs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Conversation creates connection. Connection creates insight.</a:t>
            </a:r>
            <a:endParaRPr lang="en-US" sz="1600" dirty="0"/>
          </a:p>
        </p:txBody>
      </p:sp>
      <p:sp>
        <p:nvSpPr>
          <p:cNvPr id="6" name="FLAG — delete before sharing"/>
          <p:cNvSpPr txBox="1"/>
          <p:nvPr/>
        </p:nvSpPr>
        <p:spPr>
          <a:xfrm>
            <a:off x="6248095" y="5074920"/>
            <a:ext cx="5394960" cy="8686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Master logo artwork files (this logo is low resolution).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brand behind Partner Mode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Conversation, not knowledge.</a:t>
            </a:r>
            <a:endParaRPr lang="en-US" sz="1800" dirty="0"/>
          </a:p>
        </p:txBody>
      </p:sp>
      <p:sp>
        <p:nvSpPr>
          <p:cNvPr id="4" name="Idea statement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chemeClr val="bg2"/>
                </a:solidFill>
              </a:rPr>
              <a:t>We start with a simple belief: conversation flows when nobody is worried about getting it right.</a:t>
            </a:r>
            <a:endParaRPr lang="en-US" sz="2200" dirty="0"/>
          </a:p>
        </p:txBody>
      </p:sp>
      <p:sp>
        <p:nvSpPr>
          <p:cNvPr id="6" name="Card: WHO WE ARE"/>
          <p:cNvSpPr/>
          <p:nvPr/>
        </p:nvSpPr>
        <p:spPr>
          <a:xfrm>
            <a:off x="548640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WHO WE ARE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Entre Amis is French for "between friends". A wine brand where everyone has something worth saying, whatever they know.</a:t>
            </a:r>
            <a:endParaRPr lang="en-US" sz="1500" dirty="0"/>
          </a:p>
        </p:txBody>
      </p:sp>
      <p:sp>
        <p:nvSpPr>
          <p:cNvPr id="8" name="Card: WHAT WE MAKE"/>
          <p:cNvSpPr/>
          <p:nvPr/>
        </p:nvSpPr>
        <p:spPr>
          <a:xfrm>
            <a:off x="4338218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66818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WE MAKE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 table game and an app that turn any wine into conversation, and Partner Mode and Event Mode for the wine world.</a:t>
            </a:r>
            <a:endParaRPr lang="en-US" sz="1500" dirty="0"/>
          </a:p>
        </p:txBody>
      </p:sp>
      <p:sp>
        <p:nvSpPr>
          <p:cNvPr id="10" name="Card: WHAT WE BRING YOU"/>
          <p:cNvSpPr/>
          <p:nvPr/>
        </p:nvSpPr>
        <p:spPr>
          <a:xfrm>
            <a:off x="8127797" y="2926080"/>
            <a:ext cx="3515258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56397" y="3154680"/>
            <a:ext cx="305805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WE BRING YOU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What we add isn't content. It's connection.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Conversation creates connection. Connection creates insight.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What you know after a tasting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Your guests taste, talk and leave. What did they really think?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WHAT THEY THOUGHT"/>
          <p:cNvSpPr/>
          <p:nvPr/>
        </p:nvSpPr>
        <p:spPr>
          <a:xfrm>
            <a:off x="548640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THEY THOUGHT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Guests talk about your wines all through a tasting. Most of what they say isn't captured.</a:t>
            </a:r>
            <a:endParaRPr lang="en-US" sz="1600" dirty="0"/>
          </a:p>
        </p:txBody>
      </p:sp>
      <p:sp>
        <p:nvSpPr>
          <p:cNvPr id="7" name="Card: WHAT THEY REMEMBER"/>
          <p:cNvSpPr/>
          <p:nvPr/>
        </p:nvSpPr>
        <p:spPr>
          <a:xfrm>
            <a:off x="4338218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6818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THEY REMEMBER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Which wines they liked, and why, is easily forgotten once they leave.</a:t>
            </a:r>
            <a:endParaRPr lang="en-US" sz="1600" dirty="0"/>
          </a:p>
        </p:txBody>
      </p:sp>
      <p:sp>
        <p:nvSpPr>
          <p:cNvPr id="9" name="Card: WHAT HAPPENS NEXT"/>
          <p:cNvSpPr/>
          <p:nvPr/>
        </p:nvSpPr>
        <p:spPr>
          <a:xfrm>
            <a:off x="8127797" y="1783080"/>
            <a:ext cx="351525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56397" y="2011680"/>
            <a:ext cx="30580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WHAT HAPPENS NEXT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Without a way to stay in touch, the relationship often ends at the door.</a:t>
            </a:r>
            <a:endParaRPr lang="en-US" sz="1600" dirty="0"/>
          </a:p>
        </p:txBody>
      </p:sp>
      <p:sp>
        <p:nvSpPr>
          <p:cNvPr id="11" name="Partner Mode answer"/>
          <p:cNvSpPr/>
          <p:nvPr/>
        </p:nvSpPr>
        <p:spPr>
          <a:xfrm>
            <a:off x="548640" y="4160520"/>
            <a:ext cx="11094415" cy="914400"/>
          </a:xfrm>
          <a:prstGeom prst="roundRect">
            <a:avLst>
              <a:gd name="adj" fmla="val 12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1605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2"/>
                </a:solidFill>
              </a:rPr>
              <a:t>Partner Mode gives your tasting a social layer: guests take part, keep what they discover, and you hear what they really think.</a:t>
            </a:r>
            <a:endParaRPr lang="en-US" sz="18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548640" y="525780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Evidence for these three points from host conversations, so they read as findings, not assumptions.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How a Partner Mode tasting works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 host. We add the conversation.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Step: Join"/>
          <p:cNvSpPr txBox="1"/>
          <p:nvPr/>
        </p:nvSpPr>
        <p:spPr>
          <a:xfrm>
            <a:off x="548640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Join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75499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tep: Taste and talk"/>
          <p:cNvSpPr txBox="1"/>
          <p:nvPr/>
        </p:nvSpPr>
        <p:spPr>
          <a:xfrm>
            <a:off x="2831531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Taste and talk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58390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: Vote and discover"/>
          <p:cNvSpPr txBox="1"/>
          <p:nvPr/>
        </p:nvSpPr>
        <p:spPr>
          <a:xfrm>
            <a:off x="5114422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Vote and discover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41281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: Note and favourite"/>
          <p:cNvSpPr txBox="1"/>
          <p:nvPr/>
        </p:nvSpPr>
        <p:spPr>
          <a:xfrm>
            <a:off x="7397313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Note and favourite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24172" y="2048256"/>
            <a:ext cx="201168" cy="201168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: Share and keep"/>
          <p:cNvSpPr txBox="1"/>
          <p:nvPr/>
        </p:nvSpPr>
        <p:spPr>
          <a:xfrm>
            <a:off x="9680204" y="1828800"/>
            <a:ext cx="1962851" cy="640080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Share and keep</a:t>
            </a:r>
            <a:endParaRPr lang="en-US" sz="1500" dirty="0"/>
          </a:p>
        </p:txBody>
      </p:sp>
      <p:sp>
        <p:nvSpPr>
          <p:cNvPr id="14" name="Step detail 1"/>
          <p:cNvSpPr/>
          <p:nvPr/>
        </p:nvSpPr>
        <p:spPr>
          <a:xfrm>
            <a:off x="548640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31520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Guests join your tasting on their phones.</a:t>
            </a:r>
            <a:endParaRPr lang="en-US" sz="1400" dirty="0"/>
          </a:p>
        </p:txBody>
      </p:sp>
      <p:sp>
        <p:nvSpPr>
          <p:cNvPr id="16" name="Step detail 2"/>
          <p:cNvSpPr/>
          <p:nvPr/>
        </p:nvSpPr>
        <p:spPr>
          <a:xfrm>
            <a:off x="2831531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014411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Information on each wine and on you. Savour and Pour cards get people talking, if you'd like them.</a:t>
            </a:r>
            <a:endParaRPr lang="en-US" sz="1400" dirty="0"/>
          </a:p>
        </p:txBody>
      </p:sp>
      <p:sp>
        <p:nvSpPr>
          <p:cNvPr id="18" name="Step detail 3"/>
          <p:cNvSpPr/>
          <p:nvPr/>
        </p:nvSpPr>
        <p:spPr>
          <a:xfrm>
            <a:off x="5114422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97302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Live votes and your own questions and quizzes, shared with the group as they learn.</a:t>
            </a:r>
            <a:endParaRPr lang="en-US" sz="1400" dirty="0"/>
          </a:p>
        </p:txBody>
      </p:sp>
      <p:sp>
        <p:nvSpPr>
          <p:cNvPr id="20" name="Step detail 4"/>
          <p:cNvSpPr/>
          <p:nvPr/>
        </p:nvSpPr>
        <p:spPr>
          <a:xfrm>
            <a:off x="7397313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0193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Guests keep their own notes and favourite the wines they like.</a:t>
            </a:r>
            <a:endParaRPr lang="en-US" sz="1400" dirty="0"/>
          </a:p>
        </p:txBody>
      </p:sp>
      <p:sp>
        <p:nvSpPr>
          <p:cNvPr id="22" name="Step detail 5"/>
          <p:cNvSpPr/>
          <p:nvPr/>
        </p:nvSpPr>
        <p:spPr>
          <a:xfrm>
            <a:off x="9680204" y="2697480"/>
            <a:ext cx="1962851" cy="2011680"/>
          </a:xfrm>
          <a:prstGeom prst="roundRect">
            <a:avLst>
              <a:gd name="adj" fmla="val 55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863084" y="2880360"/>
            <a:ext cx="1597091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Favourites are saved under My wines in their account. Notes are theirs to keep or share.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What your guests get. What you get.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One tasting, two sets of benefits.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Your guests get"/>
          <p:cNvSpPr/>
          <p:nvPr/>
        </p:nvSpPr>
        <p:spPr>
          <a:xfrm>
            <a:off x="548640" y="1783080"/>
            <a:ext cx="5410048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2057400"/>
            <a:ext cx="47699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GUESTS GET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tasting they take part in, not just listen to.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Plain information on each wine and on you.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Questions, quizzes and votes to learn as a group.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Their own notes, in one place, to keep or share.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Their favourite wines, saved under My wines.</a:t>
            </a:r>
            <a:endParaRPr lang="en-US" sz="1600" dirty="0"/>
          </a:p>
        </p:txBody>
      </p:sp>
      <p:sp>
        <p:nvSpPr>
          <p:cNvPr id="7" name="You get"/>
          <p:cNvSpPr/>
          <p:nvPr/>
        </p:nvSpPr>
        <p:spPr>
          <a:xfrm>
            <a:off x="6233008" y="1783080"/>
            <a:ext cx="5410048" cy="3749040"/>
          </a:xfrm>
          <a:prstGeom prst="roundRect">
            <a:avLst>
              <a:gd name="adj" fmla="val 292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057400"/>
            <a:ext cx="47699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 GET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Insight into what guests really think about your wines, in their own words.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Live votes and responses, combined and anonymised.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 view of which of your wines guests favourite.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 home for your story, and your makers' voices.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New contacts, where guests choose to hear from you.</a:t>
            </a:r>
            <a:endParaRPr lang="en-US" sz="1600" dirty="0"/>
          </a:p>
        </p:txBody>
      </p:sp>
      <p:sp>
        <p:nvSpPr>
          <p:cNvPr id="9" name="FLAG — delete before sharing"/>
          <p:cNvSpPr txBox="1"/>
          <p:nvPr/>
        </p:nvSpPr>
        <p:spPr>
          <a:xfrm>
            <a:off x="6233008" y="5623560"/>
            <a:ext cx="5410048" cy="45720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Contacts: proposed rule, needs legal review.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Your tasting, your way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Set up around your wines, your story and your space.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YOUR WINES"/>
          <p:cNvSpPr/>
          <p:nvPr/>
        </p:nvSpPr>
        <p:spPr>
          <a:xfrm>
            <a:off x="548640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WINES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Information on each wine you pour, in plain English.</a:t>
            </a:r>
            <a:endParaRPr lang="en-US" sz="1500" dirty="0"/>
          </a:p>
        </p:txBody>
      </p:sp>
      <p:sp>
        <p:nvSpPr>
          <p:cNvPr id="7" name="Card: YOUR STORY"/>
          <p:cNvSpPr/>
          <p:nvPr/>
        </p:nvSpPr>
        <p:spPr>
          <a:xfrm>
            <a:off x="3390824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9424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STORY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vineyard or venue, and Meet the Maker videos.</a:t>
            </a:r>
            <a:endParaRPr lang="en-US" sz="1500" dirty="0"/>
          </a:p>
        </p:txBody>
      </p:sp>
      <p:sp>
        <p:nvSpPr>
          <p:cNvPr id="9" name="Card: YOUR QUESTIONS"/>
          <p:cNvSpPr/>
          <p:nvPr/>
        </p:nvSpPr>
        <p:spPr>
          <a:xfrm>
            <a:off x="6233008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61608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QUESTIONS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Questions and quizzes written around you.</a:t>
            </a:r>
            <a:endParaRPr lang="en-US" sz="1500" dirty="0"/>
          </a:p>
        </p:txBody>
      </p:sp>
      <p:sp>
        <p:nvSpPr>
          <p:cNvPr id="11" name="Card: YOUR CHOICE"/>
          <p:cNvSpPr/>
          <p:nvPr/>
        </p:nvSpPr>
        <p:spPr>
          <a:xfrm>
            <a:off x="9075191" y="1783080"/>
            <a:ext cx="2567864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9303791" y="2011680"/>
            <a:ext cx="21106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CHOICE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Savour and Pour cards, if you'd like them.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886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WHERE IT WORKS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At the cellar door or vineyard.  In a bar or restaurant.  In store, or at a wine club tasting.</a:t>
            </a:r>
            <a:endParaRPr lang="en-US" sz="1500" dirty="0"/>
          </a:p>
        </p:txBody>
      </p:sp>
      <p:sp>
        <p:nvSpPr>
          <p:cNvPr id="14" name="Image placeholder"/>
          <p:cNvSpPr/>
          <p:nvPr/>
        </p:nvSpPr>
        <p:spPr>
          <a:xfrm>
            <a:off x="7955280" y="3840480"/>
            <a:ext cx="3687775" cy="20574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29600" y="3840480"/>
            <a:ext cx="313913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Photo of a hosted tasting — to add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insight you receive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Two layers, both built on consent.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Layer: Your tasting"/>
          <p:cNvSpPr/>
          <p:nvPr/>
        </p:nvSpPr>
        <p:spPr>
          <a:xfrm>
            <a:off x="548640" y="178308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8308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tasting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Combined votes, quiz and tasting responses, favourites, and how guests used your content.</a:t>
            </a:r>
            <a:endParaRPr lang="en-US" sz="1600" dirty="0"/>
          </a:p>
        </p:txBody>
      </p:sp>
      <p:sp>
        <p:nvSpPr>
          <p:cNvPr id="9" name="Layer: Your new contacts"/>
          <p:cNvSpPr/>
          <p:nvPr/>
        </p:nvSpPr>
        <p:spPr>
          <a:xfrm>
            <a:off x="548640" y="2880360"/>
            <a:ext cx="11094415" cy="96012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0632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88036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Your new contacts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880360"/>
            <a:ext cx="69796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Individual guests who choose to hear from you, and only them.</a:t>
            </a:r>
            <a:endParaRPr lang="en-US" sz="1600" dirty="0"/>
          </a:p>
        </p:txBody>
      </p:sp>
      <p:sp>
        <p:nvSpPr>
          <p:cNvPr id="13" name="FLAG — delete before sharing"/>
          <p:cNvSpPr txBox="1"/>
          <p:nvPr/>
        </p:nvSpPr>
        <p:spPr>
          <a:xfrm>
            <a:off x="548640" y="4069080"/>
            <a:ext cx="11094415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CONFIRM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Layer 2 depends on the proposed contact rule and legal review.</a:t>
            </a:r>
            <a:endParaRPr lang="en-US" sz="1100" dirty="0"/>
          </a:p>
        </p:txBody>
      </p:sp>
      <p:sp>
        <p:nvSpPr>
          <p:cNvPr id="14" name="Image placeholder"/>
          <p:cNvSpPr/>
          <p:nvPr/>
        </p:nvSpPr>
        <p:spPr>
          <a:xfrm>
            <a:off x="548640" y="4800600"/>
            <a:ext cx="11094415" cy="1143000"/>
          </a:xfrm>
          <a:prstGeom prst="roundRect">
            <a:avLst>
              <a:gd name="adj" fmla="val 9600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2960" y="480060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Example insight report — to add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Honest insight starts with trust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People only say what they really think when it's safe to.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9265615" y="457200"/>
            <a:ext cx="237744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Promise: Consent first"/>
          <p:cNvSpPr/>
          <p:nvPr/>
        </p:nvSpPr>
        <p:spPr>
          <a:xfrm>
            <a:off x="548640" y="1783080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Consent first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Nothing is collected for your insight without clear, informed consent.</a:t>
            </a:r>
            <a:endParaRPr lang="en-US" sz="1400" dirty="0"/>
          </a:p>
        </p:txBody>
      </p:sp>
      <p:sp>
        <p:nvSpPr>
          <p:cNvPr id="7" name="Promise: Anonymised"/>
          <p:cNvSpPr/>
          <p:nvPr/>
        </p:nvSpPr>
        <p:spPr>
          <a:xfrm>
            <a:off x="548640" y="2386584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386584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Anonymised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Opinions and responses are combined and anonymised, never linked to a name.</a:t>
            </a:r>
            <a:endParaRPr lang="en-US" sz="1400" dirty="0"/>
          </a:p>
        </p:txBody>
      </p:sp>
      <p:sp>
        <p:nvSpPr>
          <p:cNvPr id="9" name="Promise: Never sold"/>
          <p:cNvSpPr/>
          <p:nvPr/>
        </p:nvSpPr>
        <p:spPr>
          <a:xfrm>
            <a:off x="548640" y="2990088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2990088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Never sold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What someone says is never sold or passed on as individual data.</a:t>
            </a:r>
            <a:endParaRPr lang="en-US" sz="1400" dirty="0"/>
          </a:p>
        </p:txBody>
      </p:sp>
      <p:sp>
        <p:nvSpPr>
          <p:cNvPr id="11" name="Promise: Notes belong to guests"/>
          <p:cNvSpPr/>
          <p:nvPr/>
        </p:nvSpPr>
        <p:spPr>
          <a:xfrm>
            <a:off x="548640" y="3593592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" y="3593592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Notes belong to guests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Their tasting notes are theirs to keep or share.</a:t>
            </a:r>
            <a:endParaRPr lang="en-US" sz="1400" dirty="0"/>
          </a:p>
        </p:txBody>
      </p:sp>
      <p:sp>
        <p:nvSpPr>
          <p:cNvPr id="13" name="Promise: Personal crowns stay personal"/>
          <p:cNvSpPr/>
          <p:nvPr/>
        </p:nvSpPr>
        <p:spPr>
          <a:xfrm>
            <a:off x="548640" y="4197096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4197096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Personal crowns stay personal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public ranking of producers by default.</a:t>
            </a:r>
            <a:endParaRPr lang="en-US" sz="1400" dirty="0"/>
          </a:p>
        </p:txBody>
      </p:sp>
      <p:sp>
        <p:nvSpPr>
          <p:cNvPr id="15" name="Promise: No re-identification"/>
          <p:cNvSpPr/>
          <p:nvPr/>
        </p:nvSpPr>
        <p:spPr>
          <a:xfrm>
            <a:off x="548640" y="4800600"/>
            <a:ext cx="7680960" cy="493776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2960" y="4800600"/>
            <a:ext cx="7223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 re-identification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automatic data sharing across platforms.</a:t>
            </a:r>
            <a:endParaRPr lang="en-US" sz="1400" dirty="0"/>
          </a:p>
        </p:txBody>
      </p:sp>
      <p:sp>
        <p:nvSpPr>
          <p:cNvPr id="17" name="Why it matters"/>
          <p:cNvSpPr/>
          <p:nvPr/>
        </p:nvSpPr>
        <p:spPr>
          <a:xfrm>
            <a:off x="8503920" y="1783080"/>
            <a:ext cx="3139135" cy="3456432"/>
          </a:xfrm>
          <a:prstGeom prst="roundRect">
            <a:avLst>
              <a:gd name="adj" fmla="val 349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0" y="2011680"/>
            <a:ext cx="25904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spc="150" kern="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WHY IT MATTERS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bg2"/>
                </a:solidFill>
              </a:rPr>
              <a:t> 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2"/>
                </a:solidFill>
              </a:rPr>
              <a:t>Say what you really think. It only works if people are safe to. That trust is what makes the insight worth having.</a:t>
            </a:r>
            <a:endParaRPr lang="en-US" sz="1700" dirty="0"/>
          </a:p>
        </p:txBody>
      </p:sp>
      <p:sp>
        <p:nvSpPr>
          <p:cNvPr id="19" name="FLAG — delete before sharing"/>
          <p:cNvSpPr txBox="1"/>
          <p:nvPr/>
        </p:nvSpPr>
        <p:spPr>
          <a:xfrm>
            <a:off x="548640" y="5440680"/>
            <a:ext cx="11094415" cy="5029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'By default' and 'automatic' suggest exceptions. Keep, or make absolute?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Two ways to work with us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Partner Mode for your own tastings. Event Mode for combined events.</a:t>
            </a:r>
            <a:endParaRPr lang="en-US" sz="1800" dirty="0"/>
          </a:p>
        </p:txBody>
      </p:sp>
      <p:sp>
        <p:nvSpPr>
          <p:cNvPr id="4" name="PARTNER MODE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5" name="Expression marker: PARTNER MODE"/>
          <p:cNvSpPr txBox="1"/>
          <p:nvPr/>
        </p:nvSpPr>
        <p:spPr>
          <a:xfrm>
            <a:off x="868680" y="20574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47699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Hosted by you: a vineyard, bar, restaurant, retailer or wine club.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Your own tasting, around your wines.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Your guests, your questions, your story.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Insight on your tasting and your wines.</a:t>
            </a:r>
            <a:endParaRPr lang="en-US" sz="1600" dirty="0"/>
          </a:p>
        </p:txBody>
      </p:sp>
      <p:sp>
        <p:nvSpPr>
          <p:cNvPr id="7" name="EVENT MODE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32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Expression marker: EVENT MODE"/>
          <p:cNvSpPr txBox="1"/>
          <p:nvPr/>
        </p:nvSpPr>
        <p:spPr>
          <a:xfrm>
            <a:off x="6553048" y="20574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EVENT MODE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51760"/>
            <a:ext cx="476996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by an organiser: a festival, tasting event or regional wine body.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Many producers at one combined event.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Visitors move between tastings at their own pace.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Insight for the organiser across the event.</a:t>
            </a:r>
            <a:endParaRPr lang="en-US" sz="1600" dirty="0"/>
          </a:p>
        </p:txBody>
      </p:sp>
      <p:sp>
        <p:nvSpPr>
          <p:cNvPr id="10" name="FLAG — delete before sharing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Detailed feature differences between Partner Mode and Event Mode.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How we'll show it working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The experience and evidence first.</a:t>
            </a:r>
            <a:endParaRPr lang="en-US" sz="1800" dirty="0"/>
          </a:p>
        </p:txBody>
      </p:sp>
      <p:sp>
        <p:nvSpPr>
          <p:cNvPr id="4" name="Expression marker: PARTNER MODE"/>
          <p:cNvSpPr txBox="1"/>
          <p:nvPr/>
        </p:nvSpPr>
        <p:spPr>
          <a:xfrm>
            <a:off x="8991295" y="457200"/>
            <a:ext cx="2651760" cy="38404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PARTNER MODE</a:t>
            </a:r>
            <a:endParaRPr lang="en-US" sz="1400" dirty="0"/>
          </a:p>
        </p:txBody>
      </p:sp>
      <p:sp>
        <p:nvSpPr>
          <p:cNvPr id="5" name="Card: CLICKABLE PROTOTYPE"/>
          <p:cNvSpPr/>
          <p:nvPr/>
        </p:nvSpPr>
        <p:spPr>
          <a:xfrm>
            <a:off x="548640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CLICKABLE PROTOTYPE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Your guests' screens: join, wine and vineyard information, votes and quizzes, notes, favourites and consent.</a:t>
            </a:r>
            <a:endParaRPr lang="en-US" sz="1500" dirty="0"/>
          </a:p>
        </p:txBody>
      </p:sp>
      <p:sp>
        <p:nvSpPr>
          <p:cNvPr id="7" name="Card: EXAMPLE INSIGHT REPORT"/>
          <p:cNvSpPr/>
          <p:nvPr/>
        </p:nvSpPr>
        <p:spPr>
          <a:xfrm>
            <a:off x="4338218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6818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EXAMPLE INSIGHT REPORT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An illustrative report after a tasting. Every number tied to a real interaction.</a:t>
            </a:r>
            <a:endParaRPr lang="en-US" sz="1500" dirty="0"/>
          </a:p>
        </p:txBody>
      </p:sp>
      <p:sp>
        <p:nvSpPr>
          <p:cNvPr id="9" name="Card: FIRST TASTING PILOT"/>
          <p:cNvSpPr/>
          <p:nvPr/>
        </p:nvSpPr>
        <p:spPr>
          <a:xfrm>
            <a:off x="8127797" y="1783080"/>
            <a:ext cx="3515258" cy="2377440"/>
          </a:xfrm>
          <a:prstGeom prst="roundRect">
            <a:avLst>
              <a:gd name="adj" fmla="val 461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56397" y="2011680"/>
            <a:ext cx="30580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FIRST TASTING PILOT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Defined scope, responsibilities and measures of success for your first hosted tasting.</a:t>
            </a:r>
            <a:endParaRPr lang="en-US" sz="1500" dirty="0"/>
          </a:p>
        </p:txBody>
      </p:sp>
      <p:sp>
        <p:nvSpPr>
          <p:cNvPr id="11" name="FLAG — delete before sharing"/>
          <p:cNvSpPr txBox="1"/>
          <p:nvPr/>
        </p:nvSpPr>
        <p:spPr>
          <a:xfrm>
            <a:off x="548640" y="4434840"/>
            <a:ext cx="11094415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Where each of these is today. The Partner Mode prototype is built; confirm what guests and hosts can see in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Responsible by design</a:t>
            </a:r>
            <a:endParaRPr lang="en-US" sz="3600" dirty="0"/>
          </a:p>
        </p:txBody>
      </p:sp>
      <p:sp>
        <p:nvSpPr>
          <p:cNvPr id="3" name="Responsible: 18+ only."/>
          <p:cNvSpPr/>
          <p:nvPr/>
        </p:nvSpPr>
        <p:spPr>
          <a:xfrm>
            <a:off x="548640" y="1417320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527048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18+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23160" y="1417320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18+ only.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game is clearly marked 18+, and the app has an age gate.</a:t>
            </a:r>
            <a:endParaRPr lang="en-US" sz="1600" dirty="0"/>
          </a:p>
        </p:txBody>
      </p:sp>
      <p:sp>
        <p:nvSpPr>
          <p:cNvPr id="6" name="Responsible: Never a drinking game."/>
          <p:cNvSpPr/>
          <p:nvPr/>
        </p:nvSpPr>
        <p:spPr>
          <a:xfrm>
            <a:off x="548640" y="2313432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Corks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313432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Never a drinking game.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Corks are won for conversation and play, never for how much anyone drinks.</a:t>
            </a:r>
            <a:endParaRPr lang="en-US" sz="1600" dirty="0"/>
          </a:p>
        </p:txBody>
      </p:sp>
      <p:sp>
        <p:nvSpPr>
          <p:cNvPr id="9" name="Responsible: A single glass is enough."/>
          <p:cNvSpPr/>
          <p:nvPr/>
        </p:nvSpPr>
        <p:spPr>
          <a:xfrm>
            <a:off x="548640" y="3209544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319272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1 glass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209544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A single glass is enough.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wine works.</a:t>
            </a:r>
            <a:endParaRPr lang="en-US" sz="1600" dirty="0"/>
          </a:p>
        </p:txBody>
      </p:sp>
      <p:sp>
        <p:nvSpPr>
          <p:cNvPr id="12" name="Responsible: No pressure to taste."/>
          <p:cNvSpPr/>
          <p:nvPr/>
        </p:nvSpPr>
        <p:spPr>
          <a:xfrm>
            <a:off x="548640" y="4105656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215384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Optional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4105656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No pressure to taste.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events, tasting is always optional.</a:t>
            </a:r>
            <a:endParaRPr lang="en-US" sz="1600" dirty="0"/>
          </a:p>
        </p:txBody>
      </p:sp>
      <p:sp>
        <p:nvSpPr>
          <p:cNvPr id="15" name="Responsible: Safe to say what you think."/>
          <p:cNvSpPr/>
          <p:nvPr/>
        </p:nvSpPr>
        <p:spPr>
          <a:xfrm>
            <a:off x="548640" y="500176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5111496"/>
            <a:ext cx="1371600" cy="51206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Consent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423160" y="5001768"/>
            <a:ext cx="8991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Safe to say what you think.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What people say is anonymised, needs their consent, and is never sold.</a:t>
            </a:r>
            <a:endParaRPr lang="en-US" sz="1600" dirty="0"/>
          </a:p>
        </p:txBody>
      </p:sp>
      <p:sp>
        <p:nvSpPr>
          <p:cNvPr id="19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Who's behind Entre Amis</a:t>
            </a:r>
            <a:endParaRPr lang="en-US" sz="3600" dirty="0"/>
          </a:p>
        </p:txBody>
      </p:sp>
      <p:sp>
        <p:nvSpPr>
          <p:cNvPr id="3" name="Image placeholder"/>
          <p:cNvSpPr/>
          <p:nvPr/>
        </p:nvSpPr>
        <p:spPr>
          <a:xfrm>
            <a:off x="548640" y="146304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chemeClr val="tx1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Photo of Caroline — to add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7162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dirty="0">
                <a:solidFill>
                  <a:schemeClr val="tx1"/>
                </a:solidFill>
              </a:rPr>
              <a:t>Caroline [surname]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Founder</a:t>
            </a:r>
            <a:endParaRPr lang="en-US" sz="1400" dirty="0"/>
          </a:p>
        </p:txBody>
      </p:sp>
      <p:sp>
        <p:nvSpPr>
          <p:cNvPr id="6" name="Credentials"/>
          <p:cNvSpPr/>
          <p:nvPr/>
        </p:nvSpPr>
        <p:spPr>
          <a:xfrm>
            <a:off x="4480560" y="2560320"/>
            <a:ext cx="7162495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800600" y="2743200"/>
            <a:ext cx="6522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marketing and commercial leader with over 30 years across UK and international brands.</a:t>
            </a:r>
            <a:endParaRPr lang="en-US" sz="16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WSET Level 3 in Wines, with Distinction.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4114800"/>
            <a:ext cx="7162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Entre Amis brings together Caroline's marketing experience and her focus on customers.</a:t>
            </a:r>
            <a:endParaRPr lang="en-US" sz="1800" dirty="0"/>
          </a:p>
        </p:txBody>
      </p:sp>
      <p:sp>
        <p:nvSpPr>
          <p:cNvPr id="9" name="FLAG — delete before sharing"/>
          <p:cNvSpPr txBox="1"/>
          <p:nvPr/>
        </p:nvSpPr>
        <p:spPr>
          <a:xfrm>
            <a:off x="4480560" y="4937760"/>
            <a:ext cx="344408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Your surname and a photo.</a:t>
            </a:r>
            <a:endParaRPr lang="en-US" sz="1100" dirty="0"/>
          </a:p>
        </p:txBody>
      </p:sp>
      <p:sp>
        <p:nvSpPr>
          <p:cNvPr id="10" name="FLAG — delete before sharing"/>
          <p:cNvSpPr txBox="1"/>
          <p:nvPr/>
        </p:nvSpPr>
        <p:spPr>
          <a:xfrm>
            <a:off x="8198968" y="4937760"/>
            <a:ext cx="3444088" cy="73152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Optional: a short line in your own words.</a:t>
            </a:r>
            <a:endParaRPr lang="en-US" sz="1100" dirty="0"/>
          </a:p>
        </p:txBody>
      </p:sp>
      <p:sp>
        <p:nvSpPr>
          <p:cNvPr id="12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ntre Ami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1828800"/>
            <a:ext cx="3108960" cy="1564707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Say what you really think.</a:t>
            </a:r>
            <a:endParaRPr lang="en-US" sz="2000" dirty="0"/>
          </a:p>
        </p:txBody>
      </p:sp>
      <p:sp>
        <p:nvSpPr>
          <p:cNvPr id="4" name="FLAG — delete before sharing"/>
          <p:cNvSpPr txBox="1"/>
          <p:nvPr/>
        </p:nvSpPr>
        <p:spPr>
          <a:xfrm>
            <a:off x="3809848" y="4480560"/>
            <a:ext cx="4572000" cy="54864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38100" tIns="76200" rIns="76200" bIns="381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 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Contact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Before this pack is shared</a:t>
            </a:r>
            <a:endParaRPr lang="en-US" sz="3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111556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Working notes. Delete this slide, and every white box with a blush border, before sharing.</a:t>
            </a:r>
            <a:endParaRPr lang="en-US" sz="1800" dirty="0"/>
          </a:p>
        </p:txBody>
      </p:sp>
      <p:sp>
        <p:nvSpPr>
          <p:cNvPr id="4" name="TO DECIDE OR CONFIRM"/>
          <p:cNvSpPr/>
          <p:nvPr/>
        </p:nvSpPr>
        <p:spPr>
          <a:xfrm>
            <a:off x="548640" y="1783080"/>
            <a:ext cx="5410048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699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DECIDE OR CONFIRM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Contacts rule, legal review (slides 5, 7)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'By default' and 'automatic' (slide 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differences from Event Mode (slide 9)</a:t>
            </a:r>
            <a:endParaRPr lang="en-US" sz="1400" dirty="0"/>
          </a:p>
        </p:txBody>
      </p:sp>
      <p:sp>
        <p:nvSpPr>
          <p:cNvPr id="6" name="TO ADD"/>
          <p:cNvSpPr/>
          <p:nvPr/>
        </p:nvSpPr>
        <p:spPr>
          <a:xfrm>
            <a:off x="6233008" y="1783080"/>
            <a:ext cx="5410048" cy="4251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565A32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53048" y="2057400"/>
            <a:ext cx="4769968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spc="150" kern="0" dirty="0">
                <a:solidFill>
                  <a:schemeClr val="tx1"/>
                </a:solidFill>
                <a:latin typeface="Raleway SemiBold" pitchFamily="34" charset="0"/>
                <a:ea typeface="Raleway SemiBold" pitchFamily="34" charset="-122"/>
                <a:cs typeface="Raleway SemiBold" pitchFamily="34" charset="-120"/>
              </a:rPr>
              <a:t>TO ADD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Master logo artwork files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Host evidence for slide 3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Photo of a hosted tasting (slide 6)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Stage of each proof step (slide 10)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Your surname and photo (slide 12)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Contact details (back cover)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15" y="63550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Raleway Light"/>
                <a:ea typeface="Raleway Light"/>
                <a:cs typeface="Raleway Light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ntre Amis Sous-bois">
  <a:themeElements>
    <a:clrScheme name="Entre Amis Sous-bois">
      <a:dk1>
        <a:srgbClr val="565A32"/>
      </a:dk1>
      <a:lt1>
        <a:srgbClr val="FFFFFF"/>
      </a:lt1>
      <a:dk2>
        <a:srgbClr val="565A32"/>
      </a:dk2>
      <a:lt2>
        <a:srgbClr val="EFEAE0"/>
      </a:lt2>
      <a:accent1>
        <a:srgbClr val="565A32"/>
      </a:accent1>
      <a:accent2>
        <a:srgbClr val="8B8B5C"/>
      </a:accent2>
      <a:accent3>
        <a:srgbClr val="B9BC9A"/>
      </a:accent3>
      <a:accent4>
        <a:srgbClr val="E3AC9A"/>
      </a:accent4>
      <a:accent5>
        <a:srgbClr val="EFEAE0"/>
      </a:accent5>
      <a:accent6>
        <a:srgbClr val="565A32"/>
      </a:accent6>
      <a:hlink>
        <a:srgbClr val="565A32"/>
      </a:hlink>
      <a:folHlink>
        <a:srgbClr val="8B8B5C"/>
      </a:folHlink>
    </a:clrScheme>
    <a:fontScheme name="Entre Amis Sous-bois">
      <a:majorFont>
        <a:latin typeface="Raleway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 Ligh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Entre Amis — Partner Mode</dc:title>
  <dc:subject>PptxGenJS Presentation</dc:subject>
  <dc:creator>Entre Amis</dc:creator>
  <cp:lastModifiedBy>Entre Amis</cp:lastModifiedBy>
  <cp:revision>1</cp:revision>
  <dcterms:created xsi:type="dcterms:W3CDTF">2026-10-12T07:02:10Z</dcterms:created>
  <dcterms:modified xsi:type="dcterms:W3CDTF">2026-10-12T07:02:10Z</dcterms:modified>
</cp:coreProperties>
</file>